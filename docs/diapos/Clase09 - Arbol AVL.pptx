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12192000"/>
  <p:notesSz cx="6858000" cy="9144000"/>
  <p:embeddedFontLst>
    <p:embeddedFont>
      <p:font typeface="Roboto Mono"/>
      <p:regular r:id="rId43"/>
      <p:bold r:id="rId44"/>
      <p:italic r:id="rId45"/>
      <p:boldItalic r:id="rId46"/>
    </p:embeddedFont>
    <p:embeddedFont>
      <p:font typeface="Century Gothic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1" roundtripDataSignature="AMtx7mivNLBmad8UV6avGB0gJzvvkMYl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4.xml"/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42" Type="http://schemas.openxmlformats.org/officeDocument/2006/relationships/slide" Target="slides/slide37.xml"/><Relationship Id="rId47" Type="http://schemas.openxmlformats.org/officeDocument/2006/relationships/font" Target="fonts/CenturyGothic-regular.fntdata"/><Relationship Id="rId34" Type="http://schemas.openxmlformats.org/officeDocument/2006/relationships/slide" Target="slides/slide29.xml"/><Relationship Id="rId21" Type="http://schemas.openxmlformats.org/officeDocument/2006/relationships/slide" Target="slides/slide16.xml"/><Relationship Id="rId50" Type="http://schemas.openxmlformats.org/officeDocument/2006/relationships/font" Target="fonts/CenturyGothic-boldItalic.fntdata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slide" Target="slides/slide35.xml"/><Relationship Id="rId45" Type="http://schemas.openxmlformats.org/officeDocument/2006/relationships/font" Target="fonts/RobotoMono-italic.fntdata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24" Type="http://schemas.openxmlformats.org/officeDocument/2006/relationships/slide" Target="slides/slide19.xml"/><Relationship Id="rId11" Type="http://schemas.openxmlformats.org/officeDocument/2006/relationships/slide" Target="slides/slide6.xml"/><Relationship Id="rId53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44" Type="http://schemas.openxmlformats.org/officeDocument/2006/relationships/font" Target="fonts/RobotoMono-bold.fntdata"/><Relationship Id="rId31" Type="http://schemas.openxmlformats.org/officeDocument/2006/relationships/slide" Target="slides/slide2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52" Type="http://schemas.openxmlformats.org/officeDocument/2006/relationships/customXml" Target="../customXml/item1.xml"/><Relationship Id="rId43" Type="http://schemas.openxmlformats.org/officeDocument/2006/relationships/font" Target="fonts/RobotoMono-regular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enturyGothic-bold.fntdata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51" Type="http://customschemas.google.com/relationships/presentationmetadata" Target="metadata"/><Relationship Id="rId3" Type="http://schemas.openxmlformats.org/officeDocument/2006/relationships/presProps" Target="presProps.xml"/><Relationship Id="rId46" Type="http://schemas.openxmlformats.org/officeDocument/2006/relationships/font" Target="fonts/RobotoMono-boldItalic.fntdata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54" Type="http://schemas.openxmlformats.org/officeDocument/2006/relationships/customXml" Target="../customXml/item3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49" Type="http://schemas.openxmlformats.org/officeDocument/2006/relationships/font" Target="fonts/CenturyGothic-italic.fntdata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5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8be773fe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a8be773fe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abe2462a0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9abe2462a0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8be773fe5_0_6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a8be773fe5_0_6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8be773fe5_0_6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a8be773fe5_0_6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8be773fe5_0_6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a8be773fe5_0_6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8be773fe5_0_6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a8be773fe5_0_6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be773fe5_0_5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a8be773fe5_0_5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8be773fe5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a8be773fe5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8be773fe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a8be773fe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8be773fe5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a8be773fe5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8be773fe5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a8be773fe5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8be773fe5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a8be773fe5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8be773fe5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a8be773fe5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8be773fe5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a8be773fe5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8be773fe5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a8be773fe5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8be773fe5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3a8be773fe5_0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8be773fe5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g3a8be773fe5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8be773fe5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a8be773fe5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8be773fe5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a8be773fe5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8be773fe5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g3a8be773fe5_0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8be773fe5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g3a8be773fe5_0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8be773fe5_0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g3a8be773fe5_0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a8be773fe5_0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g3a8be773fe5_0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8be773fe5_0_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a8be773fe5_0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8be773fe5_0_2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g3a8be773fe5_0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8be773fe5_0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g3a8be773fe5_0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a8be773fe5_0_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g3a8be773fe5_0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a8be773fe5_0_2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3a8be773fe5_0_2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a8be773fe5_0_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g3a8be773fe5_0_2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8be773fe5_0_3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g3a8be773fe5_0_3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a8be773fe5_0_3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3a8be773fe5_0_3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a8be773fe5_0_3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g3a8be773fe5_0_3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8be773fe5_0_3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g3a8be773fe5_0_3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8be773fe5_0_4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g3a8be773fe5_0_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a8be773fe5_0_4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9" name="Google Shape;669;g3a8be773fe5_0_4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8be773fe5_0_4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g3a8be773fe5_0_4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5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3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AR"/>
              <a:t>Árbol </a:t>
            </a:r>
            <a:r>
              <a:rPr lang="es-AR"/>
              <a:t>AVL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s-AR" sz="4000">
                <a:solidFill>
                  <a:srgbClr val="A5A5A5"/>
                </a:solidFill>
              </a:rPr>
              <a:t>Programación II</a:t>
            </a:r>
            <a:endParaRPr/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be773fe5_0_0"/>
          <p:cNvSpPr txBox="1"/>
          <p:nvPr>
            <p:ph idx="4294967295" type="ctrTitle"/>
          </p:nvPr>
        </p:nvSpPr>
        <p:spPr>
          <a:xfrm>
            <a:off x="1324159" y="1872886"/>
            <a:ext cx="95436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FACTOR DE </a:t>
            </a:r>
            <a:endParaRPr sz="6600">
              <a:solidFill>
                <a:srgbClr val="43FFF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BALANCEO EN BST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be2462a0_0_6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FACTOR DE BALANCEO EN BST</a:t>
            </a:r>
            <a:endParaRPr/>
          </a:p>
        </p:txBody>
      </p:sp>
      <p:sp>
        <p:nvSpPr>
          <p:cNvPr id="132" name="Google Shape;132;g39abe2462a0_0_61"/>
          <p:cNvSpPr txBox="1"/>
          <p:nvPr>
            <p:ph idx="1" type="body"/>
          </p:nvPr>
        </p:nvSpPr>
        <p:spPr>
          <a:xfrm>
            <a:off x="288981" y="2326106"/>
            <a:ext cx="11604900" cy="1906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Factor de Balanceo: </a:t>
            </a:r>
            <a:r>
              <a:rPr lang="es-AR" sz="2600">
                <a:solidFill>
                  <a:schemeClr val="lt1"/>
                </a:solidFill>
              </a:rPr>
              <a:t>altura del subárbol izq – altura subárbol der.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No se cuenta el root.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Ejemplo: 3 – 2 = 1.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33" name="Google Shape;133;g39abe2462a0_0_61"/>
          <p:cNvGrpSpPr/>
          <p:nvPr/>
        </p:nvGrpSpPr>
        <p:grpSpPr>
          <a:xfrm>
            <a:off x="5845550" y="3269252"/>
            <a:ext cx="4357489" cy="3188230"/>
            <a:chOff x="282033" y="2374056"/>
            <a:chExt cx="5716239" cy="4193384"/>
          </a:xfrm>
        </p:grpSpPr>
        <p:sp>
          <p:nvSpPr>
            <p:cNvPr id="134" name="Google Shape;134;g39abe2462a0_0_61"/>
            <p:cNvSpPr/>
            <p:nvPr/>
          </p:nvSpPr>
          <p:spPr>
            <a:xfrm>
              <a:off x="2697690" y="2374056"/>
              <a:ext cx="671400" cy="636900"/>
            </a:xfrm>
            <a:prstGeom prst="ellipse">
              <a:avLst/>
            </a:prstGeom>
            <a:solidFill>
              <a:srgbClr val="002060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AR" sz="1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20</a:t>
              </a:r>
              <a:endParaRPr b="1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5" name="Google Shape;135;g39abe2462a0_0_61"/>
            <p:cNvSpPr/>
            <p:nvPr/>
          </p:nvSpPr>
          <p:spPr>
            <a:xfrm>
              <a:off x="1097135" y="3333044"/>
              <a:ext cx="656100" cy="636900"/>
            </a:xfrm>
            <a:prstGeom prst="ellipse">
              <a:avLst/>
            </a:prstGeom>
            <a:solidFill>
              <a:srgbClr val="93C627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AR" sz="1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10</a:t>
              </a:r>
              <a:endParaRPr b="1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6" name="Google Shape;136;g39abe2462a0_0_61"/>
            <p:cNvSpPr/>
            <p:nvPr/>
          </p:nvSpPr>
          <p:spPr>
            <a:xfrm>
              <a:off x="1865546" y="4153287"/>
              <a:ext cx="706200" cy="669600"/>
            </a:xfrm>
            <a:prstGeom prst="ellipse">
              <a:avLst/>
            </a:prstGeom>
            <a:solidFill>
              <a:srgbClr val="DB8E14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AR" sz="1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18</a:t>
              </a:r>
              <a:endParaRPr b="1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7" name="Google Shape;137;g39abe2462a0_0_61"/>
            <p:cNvSpPr/>
            <p:nvPr/>
          </p:nvSpPr>
          <p:spPr>
            <a:xfrm>
              <a:off x="282033" y="4214164"/>
              <a:ext cx="694500" cy="669600"/>
            </a:xfrm>
            <a:prstGeom prst="ellipse">
              <a:avLst/>
            </a:prstGeom>
            <a:solidFill>
              <a:srgbClr val="DB8E14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AR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8" name="Google Shape;138;g39abe2462a0_0_61"/>
            <p:cNvSpPr/>
            <p:nvPr/>
          </p:nvSpPr>
          <p:spPr>
            <a:xfrm>
              <a:off x="4478222" y="3323133"/>
              <a:ext cx="656100" cy="636900"/>
            </a:xfrm>
            <a:prstGeom prst="ellipse">
              <a:avLst/>
            </a:prstGeom>
            <a:solidFill>
              <a:srgbClr val="93C627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AR" sz="1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35</a:t>
              </a:r>
              <a:endParaRPr b="1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9" name="Google Shape;139;g39abe2462a0_0_61"/>
            <p:cNvSpPr/>
            <p:nvPr/>
          </p:nvSpPr>
          <p:spPr>
            <a:xfrm>
              <a:off x="3836545" y="4125116"/>
              <a:ext cx="656100" cy="636900"/>
            </a:xfrm>
            <a:prstGeom prst="ellipse">
              <a:avLst/>
            </a:prstGeom>
            <a:solidFill>
              <a:srgbClr val="DB8E14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AR" sz="1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26</a:t>
              </a:r>
              <a:endParaRPr b="1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0" name="Google Shape;140;g39abe2462a0_0_61"/>
            <p:cNvSpPr/>
            <p:nvPr/>
          </p:nvSpPr>
          <p:spPr>
            <a:xfrm>
              <a:off x="5342172" y="4124912"/>
              <a:ext cx="656100" cy="660900"/>
            </a:xfrm>
            <a:prstGeom prst="ellipse">
              <a:avLst/>
            </a:prstGeom>
            <a:solidFill>
              <a:srgbClr val="DB8E14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AR" sz="1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40</a:t>
              </a:r>
              <a:endParaRPr b="1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1" name="Google Shape;141;g39abe2462a0_0_61"/>
            <p:cNvSpPr/>
            <p:nvPr/>
          </p:nvSpPr>
          <p:spPr>
            <a:xfrm>
              <a:off x="1211109" y="5083468"/>
              <a:ext cx="682500" cy="632400"/>
            </a:xfrm>
            <a:prstGeom prst="ellipse">
              <a:avLst/>
            </a:prstGeom>
            <a:solidFill>
              <a:srgbClr val="C00000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AR" sz="1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14</a:t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9abe2462a0_0_61"/>
            <p:cNvSpPr/>
            <p:nvPr/>
          </p:nvSpPr>
          <p:spPr>
            <a:xfrm>
              <a:off x="3184534" y="4913236"/>
              <a:ext cx="682500" cy="669600"/>
            </a:xfrm>
            <a:prstGeom prst="ellipse">
              <a:avLst/>
            </a:prstGeom>
            <a:solidFill>
              <a:srgbClr val="C00000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AR" sz="1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23</a:t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9abe2462a0_0_61"/>
            <p:cNvSpPr/>
            <p:nvPr/>
          </p:nvSpPr>
          <p:spPr>
            <a:xfrm>
              <a:off x="4642310" y="4887091"/>
              <a:ext cx="682500" cy="650400"/>
            </a:xfrm>
            <a:prstGeom prst="ellipse">
              <a:avLst/>
            </a:prstGeom>
            <a:solidFill>
              <a:srgbClr val="C00000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AR" sz="1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30</a:t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4" name="Google Shape;144;g39abe2462a0_0_61"/>
            <p:cNvCxnSpPr/>
            <p:nvPr/>
          </p:nvCxnSpPr>
          <p:spPr>
            <a:xfrm flipH="1">
              <a:off x="1425090" y="3010956"/>
              <a:ext cx="1608300" cy="322200"/>
            </a:xfrm>
            <a:prstGeom prst="straightConnector1">
              <a:avLst/>
            </a:prstGeom>
            <a:noFill/>
            <a:ln cap="rnd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g39abe2462a0_0_61"/>
            <p:cNvCxnSpPr/>
            <p:nvPr/>
          </p:nvCxnSpPr>
          <p:spPr>
            <a:xfrm>
              <a:off x="3033390" y="3010956"/>
              <a:ext cx="1773000" cy="312300"/>
            </a:xfrm>
            <a:prstGeom prst="straightConnector1">
              <a:avLst/>
            </a:prstGeom>
            <a:noFill/>
            <a:ln cap="rnd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g39abe2462a0_0_61"/>
            <p:cNvCxnSpPr/>
            <p:nvPr/>
          </p:nvCxnSpPr>
          <p:spPr>
            <a:xfrm flipH="1">
              <a:off x="629285" y="3969944"/>
              <a:ext cx="795900" cy="244200"/>
            </a:xfrm>
            <a:prstGeom prst="straightConnector1">
              <a:avLst/>
            </a:prstGeom>
            <a:noFill/>
            <a:ln cap="rnd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g39abe2462a0_0_61"/>
            <p:cNvCxnSpPr/>
            <p:nvPr/>
          </p:nvCxnSpPr>
          <p:spPr>
            <a:xfrm>
              <a:off x="1425185" y="3969944"/>
              <a:ext cx="793500" cy="183300"/>
            </a:xfrm>
            <a:prstGeom prst="straightConnector1">
              <a:avLst/>
            </a:prstGeom>
            <a:noFill/>
            <a:ln cap="rnd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g39abe2462a0_0_61"/>
            <p:cNvCxnSpPr/>
            <p:nvPr/>
          </p:nvCxnSpPr>
          <p:spPr>
            <a:xfrm flipH="1">
              <a:off x="1552346" y="4822887"/>
              <a:ext cx="666300" cy="260700"/>
            </a:xfrm>
            <a:prstGeom prst="straightConnector1">
              <a:avLst/>
            </a:prstGeom>
            <a:noFill/>
            <a:ln cap="rnd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g39abe2462a0_0_61"/>
            <p:cNvCxnSpPr/>
            <p:nvPr/>
          </p:nvCxnSpPr>
          <p:spPr>
            <a:xfrm flipH="1">
              <a:off x="4164572" y="3960033"/>
              <a:ext cx="641700" cy="165000"/>
            </a:xfrm>
            <a:prstGeom prst="straightConnector1">
              <a:avLst/>
            </a:prstGeom>
            <a:noFill/>
            <a:ln cap="rnd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g39abe2462a0_0_61"/>
            <p:cNvCxnSpPr/>
            <p:nvPr/>
          </p:nvCxnSpPr>
          <p:spPr>
            <a:xfrm>
              <a:off x="4806272" y="3960033"/>
              <a:ext cx="864000" cy="165000"/>
            </a:xfrm>
            <a:prstGeom prst="straightConnector1">
              <a:avLst/>
            </a:prstGeom>
            <a:noFill/>
            <a:ln cap="rnd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g39abe2462a0_0_61"/>
            <p:cNvCxnSpPr/>
            <p:nvPr/>
          </p:nvCxnSpPr>
          <p:spPr>
            <a:xfrm flipH="1">
              <a:off x="3525895" y="4762016"/>
              <a:ext cx="638700" cy="151200"/>
            </a:xfrm>
            <a:prstGeom prst="straightConnector1">
              <a:avLst/>
            </a:prstGeom>
            <a:noFill/>
            <a:ln cap="rnd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g39abe2462a0_0_61"/>
            <p:cNvCxnSpPr/>
            <p:nvPr/>
          </p:nvCxnSpPr>
          <p:spPr>
            <a:xfrm>
              <a:off x="4164595" y="4762016"/>
              <a:ext cx="819000" cy="125100"/>
            </a:xfrm>
            <a:prstGeom prst="straightConnector1">
              <a:avLst/>
            </a:prstGeom>
            <a:noFill/>
            <a:ln cap="rnd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" name="Google Shape;153;g39abe2462a0_0_61"/>
            <p:cNvSpPr/>
            <p:nvPr/>
          </p:nvSpPr>
          <p:spPr>
            <a:xfrm>
              <a:off x="557499" y="5897840"/>
              <a:ext cx="682500" cy="669600"/>
            </a:xfrm>
            <a:prstGeom prst="ellipse">
              <a:avLst/>
            </a:prstGeom>
            <a:solidFill>
              <a:srgbClr val="7030A0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AR" sz="1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12</a:t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g39abe2462a0_0_61"/>
            <p:cNvSpPr/>
            <p:nvPr/>
          </p:nvSpPr>
          <p:spPr>
            <a:xfrm>
              <a:off x="2015275" y="5871695"/>
              <a:ext cx="682500" cy="650400"/>
            </a:xfrm>
            <a:prstGeom prst="ellipse">
              <a:avLst/>
            </a:prstGeom>
            <a:solidFill>
              <a:srgbClr val="7030A0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AR" sz="1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15</a:t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" name="Google Shape;155;g39abe2462a0_0_61"/>
            <p:cNvCxnSpPr/>
            <p:nvPr/>
          </p:nvCxnSpPr>
          <p:spPr>
            <a:xfrm flipH="1">
              <a:off x="898749" y="5746640"/>
              <a:ext cx="638700" cy="151200"/>
            </a:xfrm>
            <a:prstGeom prst="straightConnector1">
              <a:avLst/>
            </a:prstGeom>
            <a:noFill/>
            <a:ln cap="rnd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g39abe2462a0_0_61"/>
            <p:cNvCxnSpPr/>
            <p:nvPr/>
          </p:nvCxnSpPr>
          <p:spPr>
            <a:xfrm>
              <a:off x="1537525" y="5746595"/>
              <a:ext cx="819000" cy="125100"/>
            </a:xfrm>
            <a:prstGeom prst="straightConnector1">
              <a:avLst/>
            </a:prstGeom>
            <a:noFill/>
            <a:ln cap="rnd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7" name="Google Shape;157;g39abe2462a0_0_61"/>
          <p:cNvSpPr txBox="1"/>
          <p:nvPr/>
        </p:nvSpPr>
        <p:spPr>
          <a:xfrm>
            <a:off x="4439418" y="3594461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Altura (Izq)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g39abe2462a0_0_61"/>
          <p:cNvCxnSpPr/>
          <p:nvPr/>
        </p:nvCxnSpPr>
        <p:spPr>
          <a:xfrm flipH="1">
            <a:off x="5380010" y="4064017"/>
            <a:ext cx="4500" cy="24207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" name="Google Shape;159;g39abe2462a0_0_61"/>
          <p:cNvSpPr txBox="1"/>
          <p:nvPr/>
        </p:nvSpPr>
        <p:spPr>
          <a:xfrm>
            <a:off x="5366671" y="4136124"/>
            <a:ext cx="3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9abe2462a0_0_61"/>
          <p:cNvSpPr txBox="1"/>
          <p:nvPr/>
        </p:nvSpPr>
        <p:spPr>
          <a:xfrm>
            <a:off x="5357490" y="4755822"/>
            <a:ext cx="3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9abe2462a0_0_61"/>
          <p:cNvSpPr txBox="1"/>
          <p:nvPr/>
        </p:nvSpPr>
        <p:spPr>
          <a:xfrm>
            <a:off x="5366671" y="5375520"/>
            <a:ext cx="3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9abe2462a0_0_61"/>
          <p:cNvSpPr txBox="1"/>
          <p:nvPr/>
        </p:nvSpPr>
        <p:spPr>
          <a:xfrm>
            <a:off x="5385032" y="5995219"/>
            <a:ext cx="3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9abe2462a0_0_61"/>
          <p:cNvSpPr txBox="1"/>
          <p:nvPr/>
        </p:nvSpPr>
        <p:spPr>
          <a:xfrm>
            <a:off x="9530129" y="3594461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Altura (Der)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g39abe2462a0_0_61"/>
          <p:cNvCxnSpPr/>
          <p:nvPr/>
        </p:nvCxnSpPr>
        <p:spPr>
          <a:xfrm>
            <a:off x="10470631" y="4050245"/>
            <a:ext cx="9300" cy="17046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" name="Google Shape;165;g39abe2462a0_0_61"/>
          <p:cNvSpPr txBox="1"/>
          <p:nvPr/>
        </p:nvSpPr>
        <p:spPr>
          <a:xfrm>
            <a:off x="10452792" y="4136124"/>
            <a:ext cx="3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9abe2462a0_0_61"/>
          <p:cNvSpPr txBox="1"/>
          <p:nvPr/>
        </p:nvSpPr>
        <p:spPr>
          <a:xfrm>
            <a:off x="10448201" y="4755822"/>
            <a:ext cx="3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9abe2462a0_0_61"/>
          <p:cNvSpPr txBox="1"/>
          <p:nvPr/>
        </p:nvSpPr>
        <p:spPr>
          <a:xfrm>
            <a:off x="10452792" y="5375520"/>
            <a:ext cx="3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8be773fe5_0_60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ALTURA DE UN </a:t>
            </a:r>
            <a:r>
              <a:rPr lang="es-AR"/>
              <a:t>ÁRBOL</a:t>
            </a:r>
            <a:endParaRPr/>
          </a:p>
        </p:txBody>
      </p:sp>
      <p:sp>
        <p:nvSpPr>
          <p:cNvPr id="173" name="Google Shape;173;g3a8be773fe5_0_603"/>
          <p:cNvSpPr txBox="1"/>
          <p:nvPr>
            <p:ph idx="1" type="body"/>
          </p:nvPr>
        </p:nvSpPr>
        <p:spPr>
          <a:xfrm>
            <a:off x="288981" y="2326106"/>
            <a:ext cx="11604900" cy="1906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¿Cómo calculamos la altura de un (sub)árbol?</a:t>
            </a:r>
            <a:r>
              <a:rPr b="1" lang="es-AR" sz="2600">
                <a:solidFill>
                  <a:srgbClr val="FF7B61"/>
                </a:solidFill>
              </a:rPr>
              <a:t> 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AR" sz="2600"/>
              <a:t>(</a:t>
            </a:r>
            <a:r>
              <a:rPr i="1" lang="es-AR" sz="2600">
                <a:solidFill>
                  <a:srgbClr val="FF7B61"/>
                </a:solidFill>
              </a:rPr>
              <a:t>Cantidad</a:t>
            </a:r>
            <a:r>
              <a:rPr i="1" lang="es-AR" sz="2600"/>
              <a:t> de aristas hasta la hoja </a:t>
            </a:r>
            <a:r>
              <a:rPr i="1" lang="es-AR" sz="2600">
                <a:solidFill>
                  <a:srgbClr val="FF7B61"/>
                </a:solidFill>
              </a:rPr>
              <a:t>más lejana</a:t>
            </a:r>
            <a:r>
              <a:rPr i="1" lang="es-AR" sz="2600"/>
              <a:t>)</a:t>
            </a:r>
            <a:endParaRPr i="1" sz="2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8be773fe5_0_65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ALTURA DE UN ÁRBOL</a:t>
            </a:r>
            <a:endParaRPr/>
          </a:p>
        </p:txBody>
      </p:sp>
      <p:sp>
        <p:nvSpPr>
          <p:cNvPr id="179" name="Google Shape;179;g3a8be773fe5_0_653"/>
          <p:cNvSpPr txBox="1"/>
          <p:nvPr>
            <p:ph idx="1" type="body"/>
          </p:nvPr>
        </p:nvSpPr>
        <p:spPr>
          <a:xfrm>
            <a:off x="288981" y="2326106"/>
            <a:ext cx="11604900" cy="1906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¿Cómo calculamos la altura de un (sub)árbol? 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AR" sz="2600"/>
              <a:t>(</a:t>
            </a:r>
            <a:r>
              <a:rPr i="1" lang="es-AR" sz="2600">
                <a:solidFill>
                  <a:srgbClr val="FF7B61"/>
                </a:solidFill>
              </a:rPr>
              <a:t>Cantidad</a:t>
            </a:r>
            <a:r>
              <a:rPr i="1" lang="es-AR" sz="2600"/>
              <a:t> de aristas hasta la hoja </a:t>
            </a:r>
            <a:r>
              <a:rPr i="1" lang="es-AR" sz="2600">
                <a:solidFill>
                  <a:srgbClr val="FF7B61"/>
                </a:solidFill>
              </a:rPr>
              <a:t>más lejana</a:t>
            </a:r>
            <a:r>
              <a:rPr i="1" lang="es-AR" sz="2600"/>
              <a:t>)</a:t>
            </a:r>
            <a:endParaRPr i="1" sz="2600"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/>
              <a:t>¡Recursivamente!</a:t>
            </a:r>
            <a:endParaRPr i="1" sz="2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8be773fe5_0_65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ALTURA DE UN ÁRBOL</a:t>
            </a:r>
            <a:endParaRPr/>
          </a:p>
        </p:txBody>
      </p:sp>
      <p:sp>
        <p:nvSpPr>
          <p:cNvPr id="185" name="Google Shape;185;g3a8be773fe5_0_658"/>
          <p:cNvSpPr txBox="1"/>
          <p:nvPr>
            <p:ph idx="1" type="body"/>
          </p:nvPr>
        </p:nvSpPr>
        <p:spPr>
          <a:xfrm>
            <a:off x="288975" y="2326101"/>
            <a:ext cx="11604900" cy="3919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Cantidad </a:t>
            </a:r>
            <a:r>
              <a:rPr lang="es-AR" sz="2600"/>
              <a:t>-&gt; </a:t>
            </a:r>
            <a:r>
              <a:rPr b="1" lang="es-AR" sz="2600">
                <a:solidFill>
                  <a:srgbClr val="FF7B61"/>
                </a:solidFill>
              </a:rPr>
              <a:t>contar</a:t>
            </a:r>
            <a:r>
              <a:rPr lang="es-AR" sz="2600"/>
              <a:t>: a cada llamado de la función, sumamos 1.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➢"/>
            </a:pPr>
            <a:r>
              <a:rPr lang="es-AR" sz="2600"/>
              <a:t>Para mantener consistencia, en el caso base </a:t>
            </a:r>
            <a:r>
              <a:rPr lang="es-AR" sz="24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400">
                <a:solidFill>
                  <a:srgbClr val="B0E7FF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400">
                <a:latin typeface="Roboto Mono"/>
                <a:ea typeface="Roboto Mono"/>
                <a:cs typeface="Roboto Mono"/>
                <a:sym typeface="Roboto Mono"/>
              </a:rPr>
              <a:t> == </a:t>
            </a:r>
            <a:r>
              <a:rPr lang="es-AR" sz="24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-AR" sz="24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AR" sz="2600"/>
              <a:t> devolvemos -1. Un árbol de 1 nodo tiene altura 0.</a:t>
            </a:r>
            <a:endParaRPr sz="2600"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Hoja más lejana</a:t>
            </a:r>
            <a:r>
              <a:rPr lang="es-AR" sz="2600"/>
              <a:t>: elegimos la altura máxima de entre ambos hijos.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➢"/>
            </a:pPr>
            <a:r>
              <a:rPr lang="es-AR" sz="2600"/>
              <a:t>Para ello, usamos </a:t>
            </a:r>
            <a:r>
              <a:rPr lang="es-AR" sz="2600">
                <a:solidFill>
                  <a:srgbClr val="0086E6"/>
                </a:solidFill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lang="es-AR" sz="2600"/>
              <a:t>.</a:t>
            </a:r>
            <a:endParaRPr sz="2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8be773fe5_0_66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ALTURA DE UN ÁRBOL</a:t>
            </a:r>
            <a:endParaRPr/>
          </a:p>
        </p:txBody>
      </p:sp>
      <p:pic>
        <p:nvPicPr>
          <p:cNvPr id="191" name="Google Shape;191;g3a8be773fe5_0_6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763" y="3253525"/>
            <a:ext cx="11672474" cy="2154375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rgbClr val="43FFF5">
                <a:alpha val="7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8be773fe5_0_599"/>
          <p:cNvSpPr txBox="1"/>
          <p:nvPr>
            <p:ph idx="4294967295" type="ctrTitle"/>
          </p:nvPr>
        </p:nvSpPr>
        <p:spPr>
          <a:xfrm>
            <a:off x="1324159" y="1872886"/>
            <a:ext cx="95436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AVL TREE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8be773fe5_0_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DESCRIPCIÓN</a:t>
            </a:r>
            <a:endParaRPr/>
          </a:p>
        </p:txBody>
      </p:sp>
      <p:sp>
        <p:nvSpPr>
          <p:cNvPr id="202" name="Google Shape;202;g3a8be773fe5_0_4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Un </a:t>
            </a:r>
            <a:r>
              <a:rPr b="1" lang="es-AR" sz="2600">
                <a:solidFill>
                  <a:srgbClr val="FF7B61"/>
                </a:solidFill>
              </a:rPr>
              <a:t>AVL Tree</a:t>
            </a:r>
            <a:r>
              <a:rPr lang="es-AR" sz="2600"/>
              <a:t> es un tipo de árbol binario de búsqueda (BST).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Su característica es que </a:t>
            </a:r>
            <a:r>
              <a:rPr lang="es-AR" sz="2600">
                <a:solidFill>
                  <a:srgbClr val="FF7B61"/>
                </a:solidFill>
              </a:rPr>
              <a:t>siempre está balanceado. </a:t>
            </a:r>
            <a:endParaRPr>
              <a:solidFill>
                <a:srgbClr val="FF7B61"/>
              </a:solidFill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chemeClr val="lt1"/>
                </a:solidFill>
              </a:rPr>
              <a:t>El factor de balance </a:t>
            </a:r>
            <a:r>
              <a:rPr lang="es-AR" sz="2600"/>
              <a:t>sólo</a:t>
            </a:r>
            <a:r>
              <a:rPr lang="es-AR" sz="2600">
                <a:solidFill>
                  <a:schemeClr val="lt1"/>
                </a:solidFill>
              </a:rPr>
              <a:t> puede ser –1, 0 y 1.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chemeClr val="lt1"/>
                </a:solidFill>
              </a:rPr>
              <a:t>Su nombre viene de sus creadores, </a:t>
            </a:r>
            <a:r>
              <a:rPr b="1" lang="es-AR" sz="2600">
                <a:solidFill>
                  <a:schemeClr val="lt1"/>
                </a:solidFill>
              </a:rPr>
              <a:t>Adelson-Velskii</a:t>
            </a:r>
            <a:r>
              <a:rPr lang="es-AR" sz="2600">
                <a:solidFill>
                  <a:schemeClr val="lt1"/>
                </a:solidFill>
              </a:rPr>
              <a:t> y </a:t>
            </a:r>
            <a:r>
              <a:rPr b="1" lang="es-AR" sz="2600">
                <a:solidFill>
                  <a:schemeClr val="lt1"/>
                </a:solidFill>
              </a:rPr>
              <a:t>Landis</a:t>
            </a:r>
            <a:r>
              <a:rPr lang="es-AR" sz="2600">
                <a:solidFill>
                  <a:schemeClr val="lt1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8be773fe5_0_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SIMPLE</a:t>
            </a:r>
            <a:endParaRPr/>
          </a:p>
        </p:txBody>
      </p:sp>
      <p:sp>
        <p:nvSpPr>
          <p:cNvPr id="208" name="Google Shape;208;g3a8be773fe5_0_9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Un BST puede quedar desbalanceado luego de insertar o remover.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Para evitar esto y mantener el balance, el AVL Tree usa </a:t>
            </a:r>
            <a:r>
              <a:rPr lang="es-AR" sz="2600">
                <a:solidFill>
                  <a:srgbClr val="FF7B61"/>
                </a:solidFill>
              </a:rPr>
              <a:t>rotaciones.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Una rotación consiste en cambiar de lugar dos nodos.</a:t>
            </a:r>
            <a:endParaRPr/>
          </a:p>
          <a:p>
            <a:pPr indent="-342900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Podemos rotar hacia la izquierda (contrarreloj) o derecha (reloj).</a:t>
            </a:r>
            <a:endParaRPr/>
          </a:p>
          <a:p>
            <a:pPr indent="-342900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También debemos encargarnos de los hijos de los nodos a rotar.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8be773fe5_0_1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SIMPLE IZQUIERDA</a:t>
            </a:r>
            <a:endParaRPr/>
          </a:p>
        </p:txBody>
      </p:sp>
      <p:sp>
        <p:nvSpPr>
          <p:cNvPr id="214" name="Google Shape;214;g3a8be773fe5_0_14"/>
          <p:cNvSpPr txBox="1"/>
          <p:nvPr>
            <p:ph idx="1" type="body"/>
          </p:nvPr>
        </p:nvSpPr>
        <p:spPr>
          <a:xfrm>
            <a:off x="288981" y="2326106"/>
            <a:ext cx="11604900" cy="72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Tomamos como ejemplo el siguiente árbol, al que le insertamos 5:</a:t>
            </a:r>
            <a:endParaRPr/>
          </a:p>
        </p:txBody>
      </p:sp>
      <p:sp>
        <p:nvSpPr>
          <p:cNvPr id="215" name="Google Shape;215;g3a8be773fe5_0_14"/>
          <p:cNvSpPr/>
          <p:nvPr/>
        </p:nvSpPr>
        <p:spPr>
          <a:xfrm>
            <a:off x="8361216" y="3848412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g3a8be773fe5_0_14"/>
          <p:cNvSpPr/>
          <p:nvPr/>
        </p:nvSpPr>
        <p:spPr>
          <a:xfrm>
            <a:off x="9033722" y="4658359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17" name="Google Shape;217;g3a8be773fe5_0_14"/>
          <p:cNvCxnSpPr/>
          <p:nvPr/>
        </p:nvCxnSpPr>
        <p:spPr>
          <a:xfrm>
            <a:off x="8706074" y="4489898"/>
            <a:ext cx="651000" cy="1641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g3a8be773fe5_0_14"/>
          <p:cNvSpPr/>
          <p:nvPr/>
        </p:nvSpPr>
        <p:spPr>
          <a:xfrm>
            <a:off x="9786540" y="5401997"/>
            <a:ext cx="656100" cy="636900"/>
          </a:xfrm>
          <a:prstGeom prst="ellipse">
            <a:avLst/>
          </a:prstGeom>
          <a:solidFill>
            <a:schemeClr val="accent5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19" name="Google Shape;219;g3a8be773fe5_0_14"/>
          <p:cNvCxnSpPr/>
          <p:nvPr/>
        </p:nvCxnSpPr>
        <p:spPr>
          <a:xfrm>
            <a:off x="9468074" y="5284029"/>
            <a:ext cx="637200" cy="1227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g3a8be773fe5_0_14"/>
          <p:cNvSpPr/>
          <p:nvPr/>
        </p:nvSpPr>
        <p:spPr>
          <a:xfrm>
            <a:off x="5285135" y="4392839"/>
            <a:ext cx="1614300" cy="73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2FFF7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a8be773fe5_0_14"/>
          <p:cNvSpPr/>
          <p:nvPr/>
        </p:nvSpPr>
        <p:spPr>
          <a:xfrm>
            <a:off x="1815360" y="3843821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2" name="Google Shape;222;g3a8be773fe5_0_14"/>
          <p:cNvSpPr/>
          <p:nvPr/>
        </p:nvSpPr>
        <p:spPr>
          <a:xfrm>
            <a:off x="2487866" y="4653768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23" name="Google Shape;223;g3a8be773fe5_0_14"/>
          <p:cNvCxnSpPr/>
          <p:nvPr/>
        </p:nvCxnSpPr>
        <p:spPr>
          <a:xfrm>
            <a:off x="2160218" y="4485307"/>
            <a:ext cx="651000" cy="1641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8be773fe5_0_2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SIMPLE IZQUIERDA</a:t>
            </a:r>
            <a:endParaRPr/>
          </a:p>
        </p:txBody>
      </p:sp>
      <p:sp>
        <p:nvSpPr>
          <p:cNvPr id="229" name="Google Shape;229;g3a8be773fe5_0_28"/>
          <p:cNvSpPr txBox="1"/>
          <p:nvPr>
            <p:ph idx="1" type="body"/>
          </p:nvPr>
        </p:nvSpPr>
        <p:spPr>
          <a:xfrm>
            <a:off x="288981" y="2326106"/>
            <a:ext cx="11604900" cy="72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Su Factor de Balanceo (-1-1) es -2, entonces está desbalanceado.</a:t>
            </a:r>
            <a:endParaRPr/>
          </a:p>
        </p:txBody>
      </p:sp>
      <p:sp>
        <p:nvSpPr>
          <p:cNvPr id="230" name="Google Shape;230;g3a8be773fe5_0_28"/>
          <p:cNvSpPr txBox="1"/>
          <p:nvPr/>
        </p:nvSpPr>
        <p:spPr>
          <a:xfrm>
            <a:off x="2846563" y="4246292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Altura (I)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a8be773fe5_0_28"/>
          <p:cNvSpPr txBox="1"/>
          <p:nvPr/>
        </p:nvSpPr>
        <p:spPr>
          <a:xfrm>
            <a:off x="3755455" y="4792544"/>
            <a:ext cx="4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a8be773fe5_0_28"/>
          <p:cNvSpPr/>
          <p:nvPr/>
        </p:nvSpPr>
        <p:spPr>
          <a:xfrm>
            <a:off x="4753192" y="3848412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3a8be773fe5_0_28"/>
          <p:cNvSpPr/>
          <p:nvPr/>
        </p:nvSpPr>
        <p:spPr>
          <a:xfrm>
            <a:off x="5425698" y="4658359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34" name="Google Shape;234;g3a8be773fe5_0_28"/>
          <p:cNvCxnSpPr/>
          <p:nvPr/>
        </p:nvCxnSpPr>
        <p:spPr>
          <a:xfrm>
            <a:off x="5098050" y="4489898"/>
            <a:ext cx="651000" cy="1641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g3a8be773fe5_0_28"/>
          <p:cNvSpPr/>
          <p:nvPr/>
        </p:nvSpPr>
        <p:spPr>
          <a:xfrm>
            <a:off x="6178516" y="5466262"/>
            <a:ext cx="656100" cy="636900"/>
          </a:xfrm>
          <a:prstGeom prst="ellipse">
            <a:avLst/>
          </a:prstGeom>
          <a:solidFill>
            <a:schemeClr val="accent5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36" name="Google Shape;236;g3a8be773fe5_0_28"/>
          <p:cNvCxnSpPr/>
          <p:nvPr/>
        </p:nvCxnSpPr>
        <p:spPr>
          <a:xfrm>
            <a:off x="5786605" y="5311571"/>
            <a:ext cx="674100" cy="1503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g3a8be773fe5_0_28"/>
          <p:cNvSpPr txBox="1"/>
          <p:nvPr/>
        </p:nvSpPr>
        <p:spPr>
          <a:xfrm>
            <a:off x="6505081" y="4255472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Altura (D)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g3a8be773fe5_0_28"/>
          <p:cNvCxnSpPr/>
          <p:nvPr/>
        </p:nvCxnSpPr>
        <p:spPr>
          <a:xfrm>
            <a:off x="7436403" y="4697487"/>
            <a:ext cx="0" cy="13971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" name="Google Shape;239;g3a8be773fe5_0_28"/>
          <p:cNvSpPr txBox="1"/>
          <p:nvPr/>
        </p:nvSpPr>
        <p:spPr>
          <a:xfrm>
            <a:off x="7432334" y="4801726"/>
            <a:ext cx="3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a8be773fe5_0_28"/>
          <p:cNvSpPr txBox="1"/>
          <p:nvPr/>
        </p:nvSpPr>
        <p:spPr>
          <a:xfrm>
            <a:off x="7423153" y="5609629"/>
            <a:ext cx="3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8be773fe5_0_4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SIMPLE IZQUIERDA</a:t>
            </a:r>
            <a:endParaRPr/>
          </a:p>
        </p:txBody>
      </p:sp>
      <p:sp>
        <p:nvSpPr>
          <p:cNvPr id="246" name="Google Shape;246;g3a8be773fe5_0_44"/>
          <p:cNvSpPr txBox="1"/>
          <p:nvPr>
            <p:ph idx="1" type="body"/>
          </p:nvPr>
        </p:nvSpPr>
        <p:spPr>
          <a:xfrm>
            <a:off x="288981" y="2326106"/>
            <a:ext cx="11604900" cy="1943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Con una rotación izquierda, el árbol satisface todas las condiciones: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FE = 0, dos hijos máx por nodo.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Todos los nodos menores a la izquierda, mayores a la derecha.</a:t>
            </a:r>
            <a:endParaRPr/>
          </a:p>
        </p:txBody>
      </p:sp>
      <p:sp>
        <p:nvSpPr>
          <p:cNvPr id="247" name="Google Shape;247;g3a8be773fe5_0_44"/>
          <p:cNvSpPr/>
          <p:nvPr/>
        </p:nvSpPr>
        <p:spPr>
          <a:xfrm>
            <a:off x="4948300" y="4658359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48" name="Google Shape;248;g3a8be773fe5_0_44"/>
          <p:cNvCxnSpPr/>
          <p:nvPr/>
        </p:nvCxnSpPr>
        <p:spPr>
          <a:xfrm rot="10800000">
            <a:off x="5253399" y="5305763"/>
            <a:ext cx="726000" cy="1527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g3a8be773fe5_0_44"/>
          <p:cNvCxnSpPr/>
          <p:nvPr/>
        </p:nvCxnSpPr>
        <p:spPr>
          <a:xfrm flipH="1">
            <a:off x="4615278" y="5297801"/>
            <a:ext cx="707700" cy="1686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g3a8be773fe5_0_44"/>
          <p:cNvSpPr txBox="1"/>
          <p:nvPr/>
        </p:nvSpPr>
        <p:spPr>
          <a:xfrm>
            <a:off x="2190142" y="5035834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Altura (I)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g3a8be773fe5_0_44"/>
          <p:cNvCxnSpPr/>
          <p:nvPr/>
        </p:nvCxnSpPr>
        <p:spPr>
          <a:xfrm>
            <a:off x="3130643" y="5477848"/>
            <a:ext cx="0" cy="6534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2" name="Google Shape;252;g3a8be773fe5_0_44"/>
          <p:cNvSpPr txBox="1"/>
          <p:nvPr/>
        </p:nvSpPr>
        <p:spPr>
          <a:xfrm>
            <a:off x="3108213" y="5600448"/>
            <a:ext cx="3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a8be773fe5_0_44"/>
          <p:cNvSpPr txBox="1"/>
          <p:nvPr/>
        </p:nvSpPr>
        <p:spPr>
          <a:xfrm>
            <a:off x="6344419" y="5026653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Altura (D)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g3a8be773fe5_0_44"/>
          <p:cNvCxnSpPr/>
          <p:nvPr/>
        </p:nvCxnSpPr>
        <p:spPr>
          <a:xfrm>
            <a:off x="7284921" y="5468667"/>
            <a:ext cx="0" cy="6534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5" name="Google Shape;255;g3a8be773fe5_0_44"/>
          <p:cNvSpPr txBox="1"/>
          <p:nvPr/>
        </p:nvSpPr>
        <p:spPr>
          <a:xfrm>
            <a:off x="7262491" y="5591267"/>
            <a:ext cx="3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a8be773fe5_0_44"/>
          <p:cNvSpPr/>
          <p:nvPr/>
        </p:nvSpPr>
        <p:spPr>
          <a:xfrm>
            <a:off x="3910579" y="4474879"/>
            <a:ext cx="378600" cy="9396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a8be773fe5_0_44"/>
          <p:cNvSpPr/>
          <p:nvPr/>
        </p:nvSpPr>
        <p:spPr>
          <a:xfrm>
            <a:off x="4271204" y="5477991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g3a8be773fe5_0_44"/>
          <p:cNvSpPr/>
          <p:nvPr/>
        </p:nvSpPr>
        <p:spPr>
          <a:xfrm>
            <a:off x="5687347" y="5466262"/>
            <a:ext cx="656100" cy="636900"/>
          </a:xfrm>
          <a:prstGeom prst="ellipse">
            <a:avLst/>
          </a:prstGeom>
          <a:solidFill>
            <a:schemeClr val="accent5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8be773fe5_0_6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SIMPLE DERECHA</a:t>
            </a:r>
            <a:endParaRPr/>
          </a:p>
        </p:txBody>
      </p:sp>
      <p:sp>
        <p:nvSpPr>
          <p:cNvPr id="264" name="Google Shape;264;g3a8be773fe5_0_61"/>
          <p:cNvSpPr txBox="1"/>
          <p:nvPr>
            <p:ph idx="1" type="body"/>
          </p:nvPr>
        </p:nvSpPr>
        <p:spPr>
          <a:xfrm>
            <a:off x="288981" y="2326106"/>
            <a:ext cx="11604900" cy="72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Repetimos con el siguiente árbol, al que le insertamos 1:</a:t>
            </a:r>
            <a:endParaRPr/>
          </a:p>
        </p:txBody>
      </p:sp>
      <p:sp>
        <p:nvSpPr>
          <p:cNvPr id="265" name="Google Shape;265;g3a8be773fe5_0_61"/>
          <p:cNvSpPr/>
          <p:nvPr/>
        </p:nvSpPr>
        <p:spPr>
          <a:xfrm>
            <a:off x="2558999" y="3825460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g3a8be773fe5_0_61"/>
          <p:cNvSpPr/>
          <p:nvPr/>
        </p:nvSpPr>
        <p:spPr>
          <a:xfrm>
            <a:off x="1868167" y="4635407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67" name="Google Shape;267;g3a8be773fe5_0_61"/>
          <p:cNvCxnSpPr/>
          <p:nvPr/>
        </p:nvCxnSpPr>
        <p:spPr>
          <a:xfrm flipH="1">
            <a:off x="2196157" y="4466946"/>
            <a:ext cx="707700" cy="1686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g3a8be773fe5_0_61"/>
          <p:cNvSpPr/>
          <p:nvPr/>
        </p:nvSpPr>
        <p:spPr>
          <a:xfrm>
            <a:off x="9591433" y="3848412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g3a8be773fe5_0_61"/>
          <p:cNvSpPr/>
          <p:nvPr/>
        </p:nvSpPr>
        <p:spPr>
          <a:xfrm>
            <a:off x="8900601" y="4658359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70" name="Google Shape;270;g3a8be773fe5_0_61"/>
          <p:cNvCxnSpPr/>
          <p:nvPr/>
        </p:nvCxnSpPr>
        <p:spPr>
          <a:xfrm flipH="1">
            <a:off x="9228591" y="4489898"/>
            <a:ext cx="707700" cy="1686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g3a8be773fe5_0_61"/>
          <p:cNvSpPr/>
          <p:nvPr/>
        </p:nvSpPr>
        <p:spPr>
          <a:xfrm>
            <a:off x="8239589" y="5466262"/>
            <a:ext cx="656100" cy="636900"/>
          </a:xfrm>
          <a:prstGeom prst="ellipse">
            <a:avLst/>
          </a:prstGeom>
          <a:solidFill>
            <a:schemeClr val="accent5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72" name="Google Shape;272;g3a8be773fe5_0_61"/>
          <p:cNvCxnSpPr/>
          <p:nvPr/>
        </p:nvCxnSpPr>
        <p:spPr>
          <a:xfrm flipH="1">
            <a:off x="8567579" y="5297801"/>
            <a:ext cx="707700" cy="1686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g3a8be773fe5_0_61"/>
          <p:cNvSpPr/>
          <p:nvPr/>
        </p:nvSpPr>
        <p:spPr>
          <a:xfrm>
            <a:off x="5285135" y="4392839"/>
            <a:ext cx="1614300" cy="73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2FFF7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8be773fe5_0_7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SIMPLE DERECHA</a:t>
            </a:r>
            <a:endParaRPr/>
          </a:p>
        </p:txBody>
      </p:sp>
      <p:sp>
        <p:nvSpPr>
          <p:cNvPr id="279" name="Google Shape;279;g3a8be773fe5_0_75"/>
          <p:cNvSpPr txBox="1"/>
          <p:nvPr>
            <p:ph idx="1" type="body"/>
          </p:nvPr>
        </p:nvSpPr>
        <p:spPr>
          <a:xfrm>
            <a:off x="288981" y="2326106"/>
            <a:ext cx="11604900" cy="72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Su Factor de Balanceo (1-(-1)) es 2, entonces está desbalanceado.</a:t>
            </a:r>
            <a:endParaRPr/>
          </a:p>
        </p:txBody>
      </p:sp>
      <p:sp>
        <p:nvSpPr>
          <p:cNvPr id="280" name="Google Shape;280;g3a8be773fe5_0_75"/>
          <p:cNvSpPr/>
          <p:nvPr/>
        </p:nvSpPr>
        <p:spPr>
          <a:xfrm>
            <a:off x="5639132" y="3848412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g3a8be773fe5_0_75"/>
          <p:cNvSpPr/>
          <p:nvPr/>
        </p:nvSpPr>
        <p:spPr>
          <a:xfrm>
            <a:off x="4948300" y="4658359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82" name="Google Shape;282;g3a8be773fe5_0_75"/>
          <p:cNvCxnSpPr/>
          <p:nvPr/>
        </p:nvCxnSpPr>
        <p:spPr>
          <a:xfrm flipH="1">
            <a:off x="5276290" y="4489898"/>
            <a:ext cx="707700" cy="1686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g3a8be773fe5_0_75"/>
          <p:cNvSpPr/>
          <p:nvPr/>
        </p:nvSpPr>
        <p:spPr>
          <a:xfrm>
            <a:off x="4287288" y="5466262"/>
            <a:ext cx="656100" cy="636900"/>
          </a:xfrm>
          <a:prstGeom prst="ellipse">
            <a:avLst/>
          </a:prstGeom>
          <a:solidFill>
            <a:schemeClr val="accent5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84" name="Google Shape;284;g3a8be773fe5_0_75"/>
          <p:cNvCxnSpPr/>
          <p:nvPr/>
        </p:nvCxnSpPr>
        <p:spPr>
          <a:xfrm flipH="1">
            <a:off x="4615278" y="5297801"/>
            <a:ext cx="707700" cy="1686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g3a8be773fe5_0_75"/>
          <p:cNvSpPr txBox="1"/>
          <p:nvPr/>
        </p:nvSpPr>
        <p:spPr>
          <a:xfrm>
            <a:off x="2846563" y="4246292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Altura (I)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g3a8be773fe5_0_75"/>
          <p:cNvCxnSpPr/>
          <p:nvPr/>
        </p:nvCxnSpPr>
        <p:spPr>
          <a:xfrm>
            <a:off x="3777885" y="4688306"/>
            <a:ext cx="0" cy="13971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7" name="Google Shape;287;g3a8be773fe5_0_75"/>
          <p:cNvSpPr txBox="1"/>
          <p:nvPr/>
        </p:nvSpPr>
        <p:spPr>
          <a:xfrm>
            <a:off x="3773816" y="4792545"/>
            <a:ext cx="3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a8be773fe5_0_75"/>
          <p:cNvSpPr txBox="1"/>
          <p:nvPr/>
        </p:nvSpPr>
        <p:spPr>
          <a:xfrm>
            <a:off x="3764635" y="5600448"/>
            <a:ext cx="3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a8be773fe5_0_75"/>
          <p:cNvSpPr txBox="1"/>
          <p:nvPr/>
        </p:nvSpPr>
        <p:spPr>
          <a:xfrm>
            <a:off x="6573936" y="4241701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Altura (D)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a8be773fe5_0_75"/>
          <p:cNvSpPr txBox="1"/>
          <p:nvPr/>
        </p:nvSpPr>
        <p:spPr>
          <a:xfrm>
            <a:off x="7280853" y="4792544"/>
            <a:ext cx="4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8be773fe5_0_9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SIMPLE DERECHA</a:t>
            </a:r>
            <a:endParaRPr/>
          </a:p>
        </p:txBody>
      </p:sp>
      <p:sp>
        <p:nvSpPr>
          <p:cNvPr id="296" name="Google Shape;296;g3a8be773fe5_0_91"/>
          <p:cNvSpPr txBox="1"/>
          <p:nvPr>
            <p:ph idx="1" type="body"/>
          </p:nvPr>
        </p:nvSpPr>
        <p:spPr>
          <a:xfrm>
            <a:off x="288981" y="2326106"/>
            <a:ext cx="11604900" cy="1943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Con una rotación derecha, el árbol satisface todas las condiciones: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FE = 0, dos hijos máx por nodo.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Todos los nodos menores a la izquierda, mayores a la derecha.</a:t>
            </a:r>
            <a:endParaRPr/>
          </a:p>
        </p:txBody>
      </p:sp>
      <p:sp>
        <p:nvSpPr>
          <p:cNvPr id="297" name="Google Shape;297;g3a8be773fe5_0_91"/>
          <p:cNvSpPr/>
          <p:nvPr/>
        </p:nvSpPr>
        <p:spPr>
          <a:xfrm>
            <a:off x="5648313" y="5464219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8" name="Google Shape;298;g3a8be773fe5_0_91"/>
          <p:cNvSpPr/>
          <p:nvPr/>
        </p:nvSpPr>
        <p:spPr>
          <a:xfrm>
            <a:off x="4948300" y="4658359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99" name="Google Shape;299;g3a8be773fe5_0_91"/>
          <p:cNvCxnSpPr/>
          <p:nvPr/>
        </p:nvCxnSpPr>
        <p:spPr>
          <a:xfrm rot="10800000">
            <a:off x="5253399" y="5305763"/>
            <a:ext cx="726000" cy="1527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g3a8be773fe5_0_91"/>
          <p:cNvSpPr/>
          <p:nvPr/>
        </p:nvSpPr>
        <p:spPr>
          <a:xfrm>
            <a:off x="4287288" y="5466262"/>
            <a:ext cx="656100" cy="636900"/>
          </a:xfrm>
          <a:prstGeom prst="ellipse">
            <a:avLst/>
          </a:prstGeom>
          <a:solidFill>
            <a:schemeClr val="accent5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01" name="Google Shape;301;g3a8be773fe5_0_91"/>
          <p:cNvCxnSpPr/>
          <p:nvPr/>
        </p:nvCxnSpPr>
        <p:spPr>
          <a:xfrm flipH="1">
            <a:off x="4615278" y="5297801"/>
            <a:ext cx="707700" cy="1686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g3a8be773fe5_0_91"/>
          <p:cNvSpPr txBox="1"/>
          <p:nvPr/>
        </p:nvSpPr>
        <p:spPr>
          <a:xfrm>
            <a:off x="2190142" y="5035834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Altura (I)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g3a8be773fe5_0_91"/>
          <p:cNvCxnSpPr/>
          <p:nvPr/>
        </p:nvCxnSpPr>
        <p:spPr>
          <a:xfrm>
            <a:off x="3130643" y="5477848"/>
            <a:ext cx="0" cy="6534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4" name="Google Shape;304;g3a8be773fe5_0_91"/>
          <p:cNvSpPr txBox="1"/>
          <p:nvPr/>
        </p:nvSpPr>
        <p:spPr>
          <a:xfrm>
            <a:off x="3108213" y="5600448"/>
            <a:ext cx="3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a8be773fe5_0_91"/>
          <p:cNvSpPr txBox="1"/>
          <p:nvPr/>
        </p:nvSpPr>
        <p:spPr>
          <a:xfrm>
            <a:off x="6344419" y="5026653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Altura (D)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g3a8be773fe5_0_91"/>
          <p:cNvCxnSpPr/>
          <p:nvPr/>
        </p:nvCxnSpPr>
        <p:spPr>
          <a:xfrm>
            <a:off x="7284921" y="5468667"/>
            <a:ext cx="0" cy="6534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7" name="Google Shape;307;g3a8be773fe5_0_91"/>
          <p:cNvSpPr txBox="1"/>
          <p:nvPr/>
        </p:nvSpPr>
        <p:spPr>
          <a:xfrm>
            <a:off x="7262491" y="5591267"/>
            <a:ext cx="3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a8be773fe5_0_91"/>
          <p:cNvSpPr/>
          <p:nvPr/>
        </p:nvSpPr>
        <p:spPr>
          <a:xfrm flipH="1" rot="239580">
            <a:off x="6355541" y="4524757"/>
            <a:ext cx="383431" cy="939479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8be773fe5_0_108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DERECHA-IZQUIERDA</a:t>
            </a:r>
            <a:endParaRPr/>
          </a:p>
        </p:txBody>
      </p:sp>
      <p:sp>
        <p:nvSpPr>
          <p:cNvPr id="314" name="Google Shape;314;g3a8be773fe5_0_108"/>
          <p:cNvSpPr txBox="1"/>
          <p:nvPr>
            <p:ph idx="1" type="body"/>
          </p:nvPr>
        </p:nvSpPr>
        <p:spPr>
          <a:xfrm>
            <a:off x="288981" y="2326106"/>
            <a:ext cx="11604900" cy="72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A veces, una sola rotación no alcanza. En este árbol queda distinto:</a:t>
            </a:r>
            <a:endParaRPr/>
          </a:p>
        </p:txBody>
      </p:sp>
      <p:sp>
        <p:nvSpPr>
          <p:cNvPr id="315" name="Google Shape;315;g3a8be773fe5_0_108"/>
          <p:cNvSpPr/>
          <p:nvPr/>
        </p:nvSpPr>
        <p:spPr>
          <a:xfrm>
            <a:off x="8361216" y="3848412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6" name="Google Shape;316;g3a8be773fe5_0_108"/>
          <p:cNvSpPr/>
          <p:nvPr/>
        </p:nvSpPr>
        <p:spPr>
          <a:xfrm>
            <a:off x="9451445" y="4653769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17" name="Google Shape;317;g3a8be773fe5_0_108"/>
          <p:cNvCxnSpPr/>
          <p:nvPr/>
        </p:nvCxnSpPr>
        <p:spPr>
          <a:xfrm>
            <a:off x="8706074" y="4489898"/>
            <a:ext cx="1073400" cy="1593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g3a8be773fe5_0_108"/>
          <p:cNvSpPr/>
          <p:nvPr/>
        </p:nvSpPr>
        <p:spPr>
          <a:xfrm>
            <a:off x="8909781" y="5392816"/>
            <a:ext cx="656100" cy="636900"/>
          </a:xfrm>
          <a:prstGeom prst="ellipse">
            <a:avLst/>
          </a:prstGeom>
          <a:solidFill>
            <a:schemeClr val="accent5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19" name="Google Shape;319;g3a8be773fe5_0_108"/>
          <p:cNvCxnSpPr/>
          <p:nvPr/>
        </p:nvCxnSpPr>
        <p:spPr>
          <a:xfrm flipH="1">
            <a:off x="9214718" y="5297800"/>
            <a:ext cx="565500" cy="951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g3a8be773fe5_0_108"/>
          <p:cNvSpPr/>
          <p:nvPr/>
        </p:nvSpPr>
        <p:spPr>
          <a:xfrm>
            <a:off x="5285135" y="4392839"/>
            <a:ext cx="1614300" cy="73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2FFF7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a8be773fe5_0_108"/>
          <p:cNvSpPr/>
          <p:nvPr/>
        </p:nvSpPr>
        <p:spPr>
          <a:xfrm>
            <a:off x="1815360" y="3843821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2" name="Google Shape;322;g3a8be773fe5_0_108"/>
          <p:cNvSpPr/>
          <p:nvPr/>
        </p:nvSpPr>
        <p:spPr>
          <a:xfrm>
            <a:off x="2487866" y="4653768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23" name="Google Shape;323;g3a8be773fe5_0_108"/>
          <p:cNvCxnSpPr/>
          <p:nvPr/>
        </p:nvCxnSpPr>
        <p:spPr>
          <a:xfrm>
            <a:off x="2160218" y="4485307"/>
            <a:ext cx="651000" cy="1641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8be773fe5_0_122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DERECHA-IZQUIERDA</a:t>
            </a:r>
            <a:endParaRPr/>
          </a:p>
        </p:txBody>
      </p:sp>
      <p:sp>
        <p:nvSpPr>
          <p:cNvPr id="329" name="Google Shape;329;g3a8be773fe5_0_122"/>
          <p:cNvSpPr txBox="1"/>
          <p:nvPr>
            <p:ph idx="1" type="body"/>
          </p:nvPr>
        </p:nvSpPr>
        <p:spPr>
          <a:xfrm>
            <a:off x="288981" y="2326106"/>
            <a:ext cx="11604900" cy="72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Esto es lo que llamamos un </a:t>
            </a:r>
            <a:r>
              <a:rPr b="1" lang="es-AR" sz="2600">
                <a:solidFill>
                  <a:srgbClr val="FF7B61"/>
                </a:solidFill>
              </a:rPr>
              <a:t>Caso RL</a:t>
            </a:r>
            <a:r>
              <a:rPr lang="es-AR" sz="2600">
                <a:solidFill>
                  <a:srgbClr val="FF7B61"/>
                </a:solidFill>
              </a:rPr>
              <a:t> </a:t>
            </a:r>
            <a:r>
              <a:rPr i="1" lang="es-AR" sz="2600">
                <a:solidFill>
                  <a:srgbClr val="FF7B61"/>
                </a:solidFill>
              </a:rPr>
              <a:t>(Derecha-Izquierda)</a:t>
            </a:r>
            <a:endParaRPr i="1">
              <a:solidFill>
                <a:srgbClr val="FF7B61"/>
              </a:solidFill>
            </a:endParaRPr>
          </a:p>
        </p:txBody>
      </p:sp>
      <p:sp>
        <p:nvSpPr>
          <p:cNvPr id="330" name="Google Shape;330;g3a8be773fe5_0_122"/>
          <p:cNvSpPr/>
          <p:nvPr/>
        </p:nvSpPr>
        <p:spPr>
          <a:xfrm>
            <a:off x="8361216" y="3848412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1" name="Google Shape;331;g3a8be773fe5_0_122"/>
          <p:cNvSpPr/>
          <p:nvPr/>
        </p:nvSpPr>
        <p:spPr>
          <a:xfrm>
            <a:off x="9451445" y="4653769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32" name="Google Shape;332;g3a8be773fe5_0_122"/>
          <p:cNvCxnSpPr/>
          <p:nvPr/>
        </p:nvCxnSpPr>
        <p:spPr>
          <a:xfrm>
            <a:off x="8706074" y="4489898"/>
            <a:ext cx="1073400" cy="1593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g3a8be773fe5_0_122"/>
          <p:cNvSpPr/>
          <p:nvPr/>
        </p:nvSpPr>
        <p:spPr>
          <a:xfrm>
            <a:off x="8909781" y="5392816"/>
            <a:ext cx="656100" cy="636900"/>
          </a:xfrm>
          <a:prstGeom prst="ellipse">
            <a:avLst/>
          </a:prstGeom>
          <a:solidFill>
            <a:schemeClr val="accent5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34" name="Google Shape;334;g3a8be773fe5_0_122"/>
          <p:cNvCxnSpPr/>
          <p:nvPr/>
        </p:nvCxnSpPr>
        <p:spPr>
          <a:xfrm flipH="1">
            <a:off x="9214718" y="5297800"/>
            <a:ext cx="565500" cy="951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g3a8be773fe5_0_122"/>
          <p:cNvSpPr/>
          <p:nvPr/>
        </p:nvSpPr>
        <p:spPr>
          <a:xfrm>
            <a:off x="5285135" y="4392839"/>
            <a:ext cx="1614300" cy="73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2FFF7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a8be773fe5_0_122"/>
          <p:cNvSpPr/>
          <p:nvPr/>
        </p:nvSpPr>
        <p:spPr>
          <a:xfrm>
            <a:off x="1815360" y="3843821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7" name="Google Shape;337;g3a8be773fe5_0_122"/>
          <p:cNvSpPr/>
          <p:nvPr/>
        </p:nvSpPr>
        <p:spPr>
          <a:xfrm>
            <a:off x="2487866" y="4653768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38" name="Google Shape;338;g3a8be773fe5_0_122"/>
          <p:cNvCxnSpPr/>
          <p:nvPr/>
        </p:nvCxnSpPr>
        <p:spPr>
          <a:xfrm>
            <a:off x="2160218" y="4485307"/>
            <a:ext cx="651000" cy="1641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g3a8be773fe5_0_122"/>
          <p:cNvSpPr txBox="1"/>
          <p:nvPr/>
        </p:nvSpPr>
        <p:spPr>
          <a:xfrm rot="420286">
            <a:off x="9065967" y="4094624"/>
            <a:ext cx="514138" cy="492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</a:t>
            </a:r>
            <a:endParaRPr/>
          </a:p>
        </p:txBody>
      </p:sp>
      <p:sp>
        <p:nvSpPr>
          <p:cNvPr id="340" name="Google Shape;340;g3a8be773fe5_0_122"/>
          <p:cNvSpPr txBox="1"/>
          <p:nvPr/>
        </p:nvSpPr>
        <p:spPr>
          <a:xfrm rot="-660103">
            <a:off x="9010846" y="4884150"/>
            <a:ext cx="514047" cy="492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8be773fe5_0_138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DERECHA-IZQUIERDA</a:t>
            </a:r>
            <a:endParaRPr/>
          </a:p>
        </p:txBody>
      </p:sp>
      <p:sp>
        <p:nvSpPr>
          <p:cNvPr id="346" name="Google Shape;346;g3a8be773fe5_0_138"/>
          <p:cNvSpPr txBox="1"/>
          <p:nvPr>
            <p:ph idx="1" type="body"/>
          </p:nvPr>
        </p:nvSpPr>
        <p:spPr>
          <a:xfrm>
            <a:off x="288981" y="2326106"/>
            <a:ext cx="11604900" cy="72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Para balancearlo, primero hacemos una rotación derecha.</a:t>
            </a:r>
            <a:endParaRPr/>
          </a:p>
        </p:txBody>
      </p:sp>
      <p:sp>
        <p:nvSpPr>
          <p:cNvPr id="347" name="Google Shape;347;g3a8be773fe5_0_138"/>
          <p:cNvSpPr/>
          <p:nvPr/>
        </p:nvSpPr>
        <p:spPr>
          <a:xfrm>
            <a:off x="5285135" y="4392839"/>
            <a:ext cx="1614300" cy="73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2FFF7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a8be773fe5_0_138"/>
          <p:cNvSpPr/>
          <p:nvPr/>
        </p:nvSpPr>
        <p:spPr>
          <a:xfrm>
            <a:off x="1815361" y="3839231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9" name="Google Shape;349;g3a8be773fe5_0_138"/>
          <p:cNvSpPr/>
          <p:nvPr/>
        </p:nvSpPr>
        <p:spPr>
          <a:xfrm>
            <a:off x="2905590" y="4644588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50" name="Google Shape;350;g3a8be773fe5_0_138"/>
          <p:cNvCxnSpPr/>
          <p:nvPr/>
        </p:nvCxnSpPr>
        <p:spPr>
          <a:xfrm>
            <a:off x="2160219" y="4480717"/>
            <a:ext cx="1073400" cy="1593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g3a8be773fe5_0_138"/>
          <p:cNvSpPr/>
          <p:nvPr/>
        </p:nvSpPr>
        <p:spPr>
          <a:xfrm>
            <a:off x="2363926" y="5383635"/>
            <a:ext cx="656100" cy="636900"/>
          </a:xfrm>
          <a:prstGeom prst="ellipse">
            <a:avLst/>
          </a:prstGeom>
          <a:solidFill>
            <a:schemeClr val="accent5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52" name="Google Shape;352;g3a8be773fe5_0_138"/>
          <p:cNvCxnSpPr/>
          <p:nvPr/>
        </p:nvCxnSpPr>
        <p:spPr>
          <a:xfrm flipH="1">
            <a:off x="2668863" y="5288619"/>
            <a:ext cx="565500" cy="951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g3a8be773fe5_0_138"/>
          <p:cNvSpPr/>
          <p:nvPr/>
        </p:nvSpPr>
        <p:spPr>
          <a:xfrm>
            <a:off x="8361216" y="3848412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4" name="Google Shape;354;g3a8be773fe5_0_138"/>
          <p:cNvSpPr/>
          <p:nvPr/>
        </p:nvSpPr>
        <p:spPr>
          <a:xfrm>
            <a:off x="9033722" y="4658359"/>
            <a:ext cx="656100" cy="636900"/>
          </a:xfrm>
          <a:prstGeom prst="ellipse">
            <a:avLst/>
          </a:prstGeom>
          <a:solidFill>
            <a:srgbClr val="EF755F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55" name="Google Shape;355;g3a8be773fe5_0_138"/>
          <p:cNvCxnSpPr/>
          <p:nvPr/>
        </p:nvCxnSpPr>
        <p:spPr>
          <a:xfrm>
            <a:off x="8706074" y="4489898"/>
            <a:ext cx="651000" cy="1641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g3a8be773fe5_0_138"/>
          <p:cNvSpPr/>
          <p:nvPr/>
        </p:nvSpPr>
        <p:spPr>
          <a:xfrm>
            <a:off x="9786540" y="5401997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57" name="Google Shape;357;g3a8be773fe5_0_138"/>
          <p:cNvCxnSpPr/>
          <p:nvPr/>
        </p:nvCxnSpPr>
        <p:spPr>
          <a:xfrm>
            <a:off x="9468074" y="5284029"/>
            <a:ext cx="637200" cy="1227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g3a8be773fe5_0_138"/>
          <p:cNvSpPr/>
          <p:nvPr/>
        </p:nvSpPr>
        <p:spPr>
          <a:xfrm flipH="1" rot="239686">
            <a:off x="10470344" y="4674106"/>
            <a:ext cx="310053" cy="856782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8be773fe5_0_155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DERECHA-IZQUIERDA</a:t>
            </a:r>
            <a:endParaRPr/>
          </a:p>
        </p:txBody>
      </p:sp>
      <p:sp>
        <p:nvSpPr>
          <p:cNvPr id="364" name="Google Shape;364;g3a8be773fe5_0_155"/>
          <p:cNvSpPr txBox="1"/>
          <p:nvPr>
            <p:ph idx="1" type="body"/>
          </p:nvPr>
        </p:nvSpPr>
        <p:spPr>
          <a:xfrm>
            <a:off x="288981" y="2326106"/>
            <a:ext cx="11604900" cy="72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Sigue desbalanceado, pero podemos hacer una rotación izquierda.</a:t>
            </a:r>
            <a:endParaRPr/>
          </a:p>
        </p:txBody>
      </p:sp>
      <p:sp>
        <p:nvSpPr>
          <p:cNvPr id="365" name="Google Shape;365;g3a8be773fe5_0_155"/>
          <p:cNvSpPr/>
          <p:nvPr/>
        </p:nvSpPr>
        <p:spPr>
          <a:xfrm>
            <a:off x="5285135" y="4392839"/>
            <a:ext cx="1614300" cy="73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2FFF7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a8be773fe5_0_155"/>
          <p:cNvSpPr/>
          <p:nvPr/>
        </p:nvSpPr>
        <p:spPr>
          <a:xfrm>
            <a:off x="8361216" y="5399954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7" name="Google Shape;367;g3a8be773fe5_0_155"/>
          <p:cNvSpPr/>
          <p:nvPr/>
        </p:nvSpPr>
        <p:spPr>
          <a:xfrm>
            <a:off x="9033722" y="4658359"/>
            <a:ext cx="656100" cy="636900"/>
          </a:xfrm>
          <a:prstGeom prst="ellipse">
            <a:avLst/>
          </a:prstGeom>
          <a:solidFill>
            <a:srgbClr val="EF755F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68" name="Google Shape;368;g3a8be773fe5_0_155"/>
          <p:cNvCxnSpPr/>
          <p:nvPr/>
        </p:nvCxnSpPr>
        <p:spPr>
          <a:xfrm flipH="1" rot="10800000">
            <a:off x="8696893" y="5296518"/>
            <a:ext cx="642000" cy="885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g3a8be773fe5_0_155"/>
          <p:cNvSpPr/>
          <p:nvPr/>
        </p:nvSpPr>
        <p:spPr>
          <a:xfrm>
            <a:off x="9786540" y="5401997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0" name="Google Shape;370;g3a8be773fe5_0_155"/>
          <p:cNvCxnSpPr/>
          <p:nvPr/>
        </p:nvCxnSpPr>
        <p:spPr>
          <a:xfrm>
            <a:off x="9408400" y="5293209"/>
            <a:ext cx="701400" cy="1182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g3a8be773fe5_0_155"/>
          <p:cNvSpPr/>
          <p:nvPr/>
        </p:nvSpPr>
        <p:spPr>
          <a:xfrm rot="-181317">
            <a:off x="8213825" y="4486684"/>
            <a:ext cx="295911" cy="843254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a8be773fe5_0_155"/>
          <p:cNvSpPr/>
          <p:nvPr/>
        </p:nvSpPr>
        <p:spPr>
          <a:xfrm>
            <a:off x="1824541" y="3862183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3" name="Google Shape;373;g3a8be773fe5_0_155"/>
          <p:cNvSpPr/>
          <p:nvPr/>
        </p:nvSpPr>
        <p:spPr>
          <a:xfrm>
            <a:off x="2497047" y="4672130"/>
            <a:ext cx="656100" cy="636900"/>
          </a:xfrm>
          <a:prstGeom prst="ellipse">
            <a:avLst/>
          </a:prstGeom>
          <a:solidFill>
            <a:srgbClr val="EF755F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4" name="Google Shape;374;g3a8be773fe5_0_155"/>
          <p:cNvCxnSpPr/>
          <p:nvPr/>
        </p:nvCxnSpPr>
        <p:spPr>
          <a:xfrm>
            <a:off x="2169399" y="4503669"/>
            <a:ext cx="651000" cy="1641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g3a8be773fe5_0_155"/>
          <p:cNvSpPr/>
          <p:nvPr/>
        </p:nvSpPr>
        <p:spPr>
          <a:xfrm>
            <a:off x="3249865" y="5415768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6" name="Google Shape;376;g3a8be773fe5_0_155"/>
          <p:cNvCxnSpPr/>
          <p:nvPr/>
        </p:nvCxnSpPr>
        <p:spPr>
          <a:xfrm>
            <a:off x="2931399" y="5297800"/>
            <a:ext cx="637200" cy="1227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8be773fe5_0_172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IZQUIERDA-DERECHA</a:t>
            </a:r>
            <a:endParaRPr/>
          </a:p>
        </p:txBody>
      </p:sp>
      <p:sp>
        <p:nvSpPr>
          <p:cNvPr id="382" name="Google Shape;382;g3a8be773fe5_0_172"/>
          <p:cNvSpPr txBox="1"/>
          <p:nvPr>
            <p:ph idx="1" type="body"/>
          </p:nvPr>
        </p:nvSpPr>
        <p:spPr>
          <a:xfrm>
            <a:off x="288981" y="2326106"/>
            <a:ext cx="11604900" cy="72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Lo mismo puede ocurrir con el </a:t>
            </a:r>
            <a:r>
              <a:rPr b="1" lang="es-AR" sz="2600">
                <a:solidFill>
                  <a:srgbClr val="FF7B61"/>
                </a:solidFill>
              </a:rPr>
              <a:t>Caso LR</a:t>
            </a:r>
            <a:r>
              <a:rPr lang="es-AR" sz="2600">
                <a:solidFill>
                  <a:srgbClr val="FF7B61"/>
                </a:solidFill>
              </a:rPr>
              <a:t> </a:t>
            </a:r>
            <a:r>
              <a:rPr i="1" lang="es-AR" sz="2600">
                <a:solidFill>
                  <a:srgbClr val="FF7B61"/>
                </a:solidFill>
              </a:rPr>
              <a:t>(Izquierda-Derecha)</a:t>
            </a:r>
            <a:endParaRPr i="1">
              <a:solidFill>
                <a:srgbClr val="FF7B61"/>
              </a:solidFill>
            </a:endParaRPr>
          </a:p>
        </p:txBody>
      </p:sp>
      <p:sp>
        <p:nvSpPr>
          <p:cNvPr id="383" name="Google Shape;383;g3a8be773fe5_0_172"/>
          <p:cNvSpPr/>
          <p:nvPr/>
        </p:nvSpPr>
        <p:spPr>
          <a:xfrm>
            <a:off x="5285135" y="4392839"/>
            <a:ext cx="1614300" cy="73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2FFF7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a8be773fe5_0_172"/>
          <p:cNvSpPr/>
          <p:nvPr/>
        </p:nvSpPr>
        <p:spPr>
          <a:xfrm>
            <a:off x="9921939" y="3848412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5" name="Google Shape;385;g3a8be773fe5_0_172"/>
          <p:cNvSpPr/>
          <p:nvPr/>
        </p:nvSpPr>
        <p:spPr>
          <a:xfrm>
            <a:off x="8960276" y="4653769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86" name="Google Shape;386;g3a8be773fe5_0_172"/>
          <p:cNvCxnSpPr/>
          <p:nvPr/>
        </p:nvCxnSpPr>
        <p:spPr>
          <a:xfrm flipH="1">
            <a:off x="9334097" y="4489898"/>
            <a:ext cx="932700" cy="1641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g3a8be773fe5_0_172"/>
          <p:cNvSpPr/>
          <p:nvPr/>
        </p:nvSpPr>
        <p:spPr>
          <a:xfrm>
            <a:off x="9442264" y="5443310"/>
            <a:ext cx="656100" cy="636900"/>
          </a:xfrm>
          <a:prstGeom prst="ellipse">
            <a:avLst/>
          </a:prstGeom>
          <a:solidFill>
            <a:schemeClr val="accent5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88" name="Google Shape;388;g3a8be773fe5_0_172"/>
          <p:cNvCxnSpPr/>
          <p:nvPr/>
        </p:nvCxnSpPr>
        <p:spPr>
          <a:xfrm rot="10800000">
            <a:off x="9247060" y="5296493"/>
            <a:ext cx="560700" cy="1482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g3a8be773fe5_0_172"/>
          <p:cNvSpPr/>
          <p:nvPr/>
        </p:nvSpPr>
        <p:spPr>
          <a:xfrm>
            <a:off x="2751795" y="3853002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0" name="Google Shape;390;g3a8be773fe5_0_172"/>
          <p:cNvSpPr/>
          <p:nvPr/>
        </p:nvSpPr>
        <p:spPr>
          <a:xfrm>
            <a:off x="2060963" y="4662949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91" name="Google Shape;391;g3a8be773fe5_0_172"/>
          <p:cNvCxnSpPr/>
          <p:nvPr/>
        </p:nvCxnSpPr>
        <p:spPr>
          <a:xfrm flipH="1">
            <a:off x="2388953" y="4494488"/>
            <a:ext cx="707700" cy="1686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8be773fe5_0_186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IZQUIERDA-DERECHA</a:t>
            </a:r>
            <a:endParaRPr/>
          </a:p>
        </p:txBody>
      </p:sp>
      <p:sp>
        <p:nvSpPr>
          <p:cNvPr id="397" name="Google Shape;397;g3a8be773fe5_0_186"/>
          <p:cNvSpPr txBox="1"/>
          <p:nvPr>
            <p:ph idx="1" type="body"/>
          </p:nvPr>
        </p:nvSpPr>
        <p:spPr>
          <a:xfrm>
            <a:off x="288981" y="2326106"/>
            <a:ext cx="11604900" cy="72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En este caso, primero hacemos una rotación izquierda.</a:t>
            </a:r>
            <a:endParaRPr/>
          </a:p>
        </p:txBody>
      </p:sp>
      <p:sp>
        <p:nvSpPr>
          <p:cNvPr id="398" name="Google Shape;398;g3a8be773fe5_0_186"/>
          <p:cNvSpPr/>
          <p:nvPr/>
        </p:nvSpPr>
        <p:spPr>
          <a:xfrm>
            <a:off x="5285135" y="4392839"/>
            <a:ext cx="1614300" cy="73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2FFF7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a8be773fe5_0_186"/>
          <p:cNvSpPr/>
          <p:nvPr/>
        </p:nvSpPr>
        <p:spPr>
          <a:xfrm rot="-238816">
            <a:off x="7961060" y="4623281"/>
            <a:ext cx="337113" cy="856782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a8be773fe5_0_186"/>
          <p:cNvSpPr/>
          <p:nvPr/>
        </p:nvSpPr>
        <p:spPr>
          <a:xfrm>
            <a:off x="2857373" y="3848412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1" name="Google Shape;401;g3a8be773fe5_0_186"/>
          <p:cNvSpPr/>
          <p:nvPr/>
        </p:nvSpPr>
        <p:spPr>
          <a:xfrm>
            <a:off x="1895710" y="4653769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02" name="Google Shape;402;g3a8be773fe5_0_186"/>
          <p:cNvCxnSpPr/>
          <p:nvPr/>
        </p:nvCxnSpPr>
        <p:spPr>
          <a:xfrm flipH="1">
            <a:off x="2269531" y="4489898"/>
            <a:ext cx="932700" cy="1641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g3a8be773fe5_0_186"/>
          <p:cNvSpPr/>
          <p:nvPr/>
        </p:nvSpPr>
        <p:spPr>
          <a:xfrm>
            <a:off x="2377698" y="5443310"/>
            <a:ext cx="656100" cy="636900"/>
          </a:xfrm>
          <a:prstGeom prst="ellipse">
            <a:avLst/>
          </a:prstGeom>
          <a:solidFill>
            <a:schemeClr val="accent5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04" name="Google Shape;404;g3a8be773fe5_0_186"/>
          <p:cNvCxnSpPr/>
          <p:nvPr/>
        </p:nvCxnSpPr>
        <p:spPr>
          <a:xfrm rot="10800000">
            <a:off x="2182494" y="5296493"/>
            <a:ext cx="560700" cy="1482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g3a8be773fe5_0_186"/>
          <p:cNvSpPr/>
          <p:nvPr/>
        </p:nvSpPr>
        <p:spPr>
          <a:xfrm>
            <a:off x="9678650" y="3848412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6" name="Google Shape;406;g3a8be773fe5_0_186"/>
          <p:cNvSpPr/>
          <p:nvPr/>
        </p:nvSpPr>
        <p:spPr>
          <a:xfrm>
            <a:off x="8987818" y="4658359"/>
            <a:ext cx="656100" cy="636900"/>
          </a:xfrm>
          <a:prstGeom prst="ellipse">
            <a:avLst/>
          </a:prstGeom>
          <a:solidFill>
            <a:srgbClr val="EF755F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07" name="Google Shape;407;g3a8be773fe5_0_186"/>
          <p:cNvCxnSpPr/>
          <p:nvPr/>
        </p:nvCxnSpPr>
        <p:spPr>
          <a:xfrm flipH="1">
            <a:off x="9315808" y="4489898"/>
            <a:ext cx="707700" cy="1686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g3a8be773fe5_0_186"/>
          <p:cNvSpPr/>
          <p:nvPr/>
        </p:nvSpPr>
        <p:spPr>
          <a:xfrm>
            <a:off x="8326806" y="5466262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09" name="Google Shape;409;g3a8be773fe5_0_186"/>
          <p:cNvCxnSpPr/>
          <p:nvPr/>
        </p:nvCxnSpPr>
        <p:spPr>
          <a:xfrm flipH="1">
            <a:off x="8654796" y="5297801"/>
            <a:ext cx="707700" cy="1686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8be773fe5_0_203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IZQUIERDA-DERECHA</a:t>
            </a:r>
            <a:endParaRPr/>
          </a:p>
        </p:txBody>
      </p:sp>
      <p:sp>
        <p:nvSpPr>
          <p:cNvPr id="415" name="Google Shape;415;g3a8be773fe5_0_203"/>
          <p:cNvSpPr txBox="1"/>
          <p:nvPr>
            <p:ph idx="1" type="body"/>
          </p:nvPr>
        </p:nvSpPr>
        <p:spPr>
          <a:xfrm>
            <a:off x="288981" y="2326106"/>
            <a:ext cx="11604900" cy="72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Finalmente, lo balanceamos con una rotación derecha.</a:t>
            </a:r>
            <a:endParaRPr/>
          </a:p>
        </p:txBody>
      </p:sp>
      <p:sp>
        <p:nvSpPr>
          <p:cNvPr id="416" name="Google Shape;416;g3a8be773fe5_0_203"/>
          <p:cNvSpPr/>
          <p:nvPr/>
        </p:nvSpPr>
        <p:spPr>
          <a:xfrm>
            <a:off x="5285135" y="4392839"/>
            <a:ext cx="1614300" cy="73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2FFF7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a8be773fe5_0_203"/>
          <p:cNvSpPr/>
          <p:nvPr/>
        </p:nvSpPr>
        <p:spPr>
          <a:xfrm>
            <a:off x="9736046" y="5457082"/>
            <a:ext cx="6561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18" name="Google Shape;418;g3a8be773fe5_0_203"/>
          <p:cNvCxnSpPr/>
          <p:nvPr/>
        </p:nvCxnSpPr>
        <p:spPr>
          <a:xfrm>
            <a:off x="9362496" y="5288619"/>
            <a:ext cx="692400" cy="1641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g3a8be773fe5_0_203"/>
          <p:cNvSpPr/>
          <p:nvPr/>
        </p:nvSpPr>
        <p:spPr>
          <a:xfrm flipH="1" rot="478923">
            <a:off x="10303808" y="4512744"/>
            <a:ext cx="328381" cy="83856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a8be773fe5_0_203"/>
          <p:cNvSpPr/>
          <p:nvPr/>
        </p:nvSpPr>
        <p:spPr>
          <a:xfrm>
            <a:off x="2829830" y="3848412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1" name="Google Shape;421;g3a8be773fe5_0_203"/>
          <p:cNvSpPr/>
          <p:nvPr/>
        </p:nvSpPr>
        <p:spPr>
          <a:xfrm>
            <a:off x="2138998" y="4658359"/>
            <a:ext cx="656100" cy="636900"/>
          </a:xfrm>
          <a:prstGeom prst="ellipse">
            <a:avLst/>
          </a:prstGeom>
          <a:solidFill>
            <a:srgbClr val="EF755F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22" name="Google Shape;422;g3a8be773fe5_0_203"/>
          <p:cNvCxnSpPr/>
          <p:nvPr/>
        </p:nvCxnSpPr>
        <p:spPr>
          <a:xfrm flipH="1">
            <a:off x="2466988" y="4489898"/>
            <a:ext cx="707700" cy="1686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g3a8be773fe5_0_203"/>
          <p:cNvSpPr/>
          <p:nvPr/>
        </p:nvSpPr>
        <p:spPr>
          <a:xfrm>
            <a:off x="1477986" y="5466262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24" name="Google Shape;424;g3a8be773fe5_0_203"/>
          <p:cNvCxnSpPr/>
          <p:nvPr/>
        </p:nvCxnSpPr>
        <p:spPr>
          <a:xfrm flipH="1">
            <a:off x="1805976" y="5297801"/>
            <a:ext cx="707700" cy="1686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g3a8be773fe5_0_203"/>
          <p:cNvSpPr/>
          <p:nvPr/>
        </p:nvSpPr>
        <p:spPr>
          <a:xfrm>
            <a:off x="8992408" y="4649178"/>
            <a:ext cx="656100" cy="636900"/>
          </a:xfrm>
          <a:prstGeom prst="ellipse">
            <a:avLst/>
          </a:prstGeom>
          <a:solidFill>
            <a:srgbClr val="EF755F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6" name="Google Shape;426;g3a8be773fe5_0_203"/>
          <p:cNvSpPr/>
          <p:nvPr/>
        </p:nvSpPr>
        <p:spPr>
          <a:xfrm>
            <a:off x="8331396" y="5457081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27" name="Google Shape;427;g3a8be773fe5_0_203"/>
          <p:cNvCxnSpPr/>
          <p:nvPr/>
        </p:nvCxnSpPr>
        <p:spPr>
          <a:xfrm flipH="1">
            <a:off x="8659386" y="5288620"/>
            <a:ext cx="707700" cy="168600"/>
          </a:xfrm>
          <a:prstGeom prst="straightConnector1">
            <a:avLst/>
          </a:prstGeom>
          <a:noFill/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8be773fe5_0_22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ROTACIONES</a:t>
            </a:r>
            <a:endParaRPr/>
          </a:p>
        </p:txBody>
      </p:sp>
      <p:sp>
        <p:nvSpPr>
          <p:cNvPr id="433" name="Google Shape;433;g3a8be773fe5_0_220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Pasando en limpio: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Caso RR:</a:t>
            </a:r>
            <a:r>
              <a:rPr lang="es-AR" sz="2600">
                <a:solidFill>
                  <a:schemeClr val="lt1"/>
                </a:solidFill>
              </a:rPr>
              <a:t> rotación izquierda.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Caso LL: </a:t>
            </a:r>
            <a:r>
              <a:rPr lang="es-AR" sz="2600">
                <a:solidFill>
                  <a:schemeClr val="lt1"/>
                </a:solidFill>
              </a:rPr>
              <a:t>rotación derecha.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Caso RL:</a:t>
            </a:r>
            <a:r>
              <a:rPr lang="es-AR" sz="2600">
                <a:solidFill>
                  <a:schemeClr val="lt1"/>
                </a:solidFill>
              </a:rPr>
              <a:t> rotación derecha + rotación izquierda.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Caso LR:</a:t>
            </a:r>
            <a:r>
              <a:rPr lang="es-AR" sz="2600">
                <a:solidFill>
                  <a:schemeClr val="lt1"/>
                </a:solidFill>
              </a:rPr>
              <a:t> rotación izquierda + rotación derecha.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8be773fe5_0_22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ROTACIONES</a:t>
            </a:r>
            <a:endParaRPr/>
          </a:p>
        </p:txBody>
      </p:sp>
      <p:sp>
        <p:nvSpPr>
          <p:cNvPr id="439" name="Google Shape;439;g3a8be773fe5_0_225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¿Cuándo ocurre cada una? (nodo actual = 2 arriba del insertado)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Caso LL: </a:t>
            </a:r>
            <a:r>
              <a:rPr lang="es-AR" sz="2600">
                <a:solidFill>
                  <a:schemeClr val="lt1"/>
                </a:solidFill>
              </a:rPr>
              <a:t>FB &gt; 1 y FB del hijo izquierdo &gt;= 0.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Caso RR:</a:t>
            </a:r>
            <a:r>
              <a:rPr lang="es-AR" sz="2600">
                <a:solidFill>
                  <a:schemeClr val="lt1"/>
                </a:solidFill>
              </a:rPr>
              <a:t> FB &lt; -1 y FB del hijo derecho &lt;= 0.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Caso RL:</a:t>
            </a:r>
            <a:r>
              <a:rPr lang="es-AR" sz="2600">
                <a:solidFill>
                  <a:schemeClr val="lt1"/>
                </a:solidFill>
              </a:rPr>
              <a:t> FB &lt; -1 y FB del hijo derecho &gt; 0.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Caso LR:</a:t>
            </a:r>
            <a:r>
              <a:rPr lang="es-AR" sz="2600">
                <a:solidFill>
                  <a:schemeClr val="lt1"/>
                </a:solidFill>
              </a:rPr>
              <a:t> FB &gt; 1 y FB del hijo izquierdo &lt; 0.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8be773fe5_0_23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ROTACIONES</a:t>
            </a:r>
            <a:endParaRPr/>
          </a:p>
        </p:txBody>
      </p:sp>
      <p:sp>
        <p:nvSpPr>
          <p:cNvPr id="445" name="Google Shape;445;g3a8be773fe5_0_230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Podemos refinarlo con una jerarquía: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Casos Lx: </a:t>
            </a:r>
            <a:r>
              <a:rPr lang="es-AR" sz="2600">
                <a:solidFill>
                  <a:schemeClr val="lt1"/>
                </a:solidFill>
              </a:rPr>
              <a:t>FB &gt; 1.</a:t>
            </a:r>
            <a:endParaRPr/>
          </a:p>
          <a:p>
            <a:pPr indent="-342900" lvl="2" marL="1257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LL: </a:t>
            </a:r>
            <a:r>
              <a:rPr lang="es-AR" sz="2600">
                <a:solidFill>
                  <a:schemeClr val="lt1"/>
                </a:solidFill>
              </a:rPr>
              <a:t>FB del hijo izquierdo &gt;= 0.</a:t>
            </a:r>
            <a:endParaRPr/>
          </a:p>
          <a:p>
            <a:pPr indent="-342900" lvl="2" marL="1257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LR: </a:t>
            </a:r>
            <a:r>
              <a:rPr lang="es-AR" sz="2600">
                <a:solidFill>
                  <a:schemeClr val="lt1"/>
                </a:solidFill>
              </a:rPr>
              <a:t>FB del hijo izquierdo &lt; 0.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Casos Rx:</a:t>
            </a:r>
            <a:r>
              <a:rPr lang="es-AR" sz="2600">
                <a:solidFill>
                  <a:schemeClr val="lt1"/>
                </a:solidFill>
              </a:rPr>
              <a:t> FB &lt; -1. </a:t>
            </a:r>
            <a:endParaRPr/>
          </a:p>
          <a:p>
            <a:pPr indent="-342900" lvl="2" marL="1257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RR: </a:t>
            </a:r>
            <a:r>
              <a:rPr lang="es-AR" sz="2600">
                <a:solidFill>
                  <a:schemeClr val="lt1"/>
                </a:solidFill>
              </a:rPr>
              <a:t>FB del hijo derecho &lt;= 0.</a:t>
            </a:r>
            <a:endParaRPr/>
          </a:p>
          <a:p>
            <a:pPr indent="-342900" lvl="2" marL="1257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EF755F"/>
                </a:solidFill>
              </a:rPr>
              <a:t>RL: </a:t>
            </a:r>
            <a:r>
              <a:rPr lang="es-AR" sz="2600">
                <a:solidFill>
                  <a:schemeClr val="lt1"/>
                </a:solidFill>
              </a:rPr>
              <a:t>FB del hijo derecho &gt; 0.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8be773fe5_0_235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ROTACIONES</a:t>
            </a:r>
            <a:endParaRPr/>
          </a:p>
        </p:txBody>
      </p:sp>
      <p:sp>
        <p:nvSpPr>
          <p:cNvPr id="451" name="Google Shape;451;g3a8be773fe5_0_235"/>
          <p:cNvSpPr txBox="1"/>
          <p:nvPr>
            <p:ph idx="1" type="body"/>
          </p:nvPr>
        </p:nvSpPr>
        <p:spPr>
          <a:xfrm>
            <a:off x="288981" y="2326106"/>
            <a:ext cx="11604900" cy="1493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¿Qué pasa cuando hay otros nodos involucrados?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Ej: rotación derecha Y.</a:t>
            </a:r>
            <a:endParaRPr/>
          </a:p>
        </p:txBody>
      </p:sp>
      <p:sp>
        <p:nvSpPr>
          <p:cNvPr id="452" name="Google Shape;452;g3a8be773fe5_0_235"/>
          <p:cNvSpPr/>
          <p:nvPr/>
        </p:nvSpPr>
        <p:spPr>
          <a:xfrm>
            <a:off x="5478469" y="3582171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3" name="Google Shape;453;g3a8be773fe5_0_235"/>
          <p:cNvSpPr/>
          <p:nvPr/>
        </p:nvSpPr>
        <p:spPr>
          <a:xfrm>
            <a:off x="4778457" y="4387527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54" name="Google Shape;454;g3a8be773fe5_0_235"/>
          <p:cNvCxnSpPr/>
          <p:nvPr/>
        </p:nvCxnSpPr>
        <p:spPr>
          <a:xfrm flipH="1">
            <a:off x="5106447" y="4219066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g3a8be773fe5_0_235"/>
          <p:cNvCxnSpPr/>
          <p:nvPr/>
        </p:nvCxnSpPr>
        <p:spPr>
          <a:xfrm>
            <a:off x="5814147" y="4219066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g3a8be773fe5_0_235"/>
          <p:cNvCxnSpPr/>
          <p:nvPr/>
        </p:nvCxnSpPr>
        <p:spPr>
          <a:xfrm flipH="1">
            <a:off x="4478545" y="5024422"/>
            <a:ext cx="6279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g3a8be773fe5_0_235"/>
          <p:cNvCxnSpPr/>
          <p:nvPr/>
        </p:nvCxnSpPr>
        <p:spPr>
          <a:xfrm>
            <a:off x="5106445" y="5024422"/>
            <a:ext cx="615300" cy="174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" name="Google Shape;458;g3a8be773fe5_0_235"/>
          <p:cNvSpPr/>
          <p:nvPr/>
        </p:nvSpPr>
        <p:spPr>
          <a:xfrm>
            <a:off x="4014484" y="5183807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9" name="Google Shape;459;g3a8be773fe5_0_235"/>
          <p:cNvSpPr/>
          <p:nvPr/>
        </p:nvSpPr>
        <p:spPr>
          <a:xfrm>
            <a:off x="5257892" y="5199163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0" name="Google Shape;460;g3a8be773fe5_0_235"/>
          <p:cNvSpPr/>
          <p:nvPr/>
        </p:nvSpPr>
        <p:spPr>
          <a:xfrm>
            <a:off x="6229241" y="4387527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61" name="Google Shape;461;g3a8be773fe5_0_235"/>
          <p:cNvCxnSpPr/>
          <p:nvPr/>
        </p:nvCxnSpPr>
        <p:spPr>
          <a:xfrm rot="10800000">
            <a:off x="7266448" y="5245188"/>
            <a:ext cx="1244100" cy="8799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2" name="Google Shape;462;g3a8be773fe5_0_235"/>
          <p:cNvCxnSpPr/>
          <p:nvPr/>
        </p:nvCxnSpPr>
        <p:spPr>
          <a:xfrm rot="10800000">
            <a:off x="6151013" y="5635461"/>
            <a:ext cx="1900500" cy="5493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3" name="Google Shape;463;g3a8be773fe5_0_235"/>
          <p:cNvCxnSpPr/>
          <p:nvPr/>
        </p:nvCxnSpPr>
        <p:spPr>
          <a:xfrm rot="10800000">
            <a:off x="4847530" y="6076295"/>
            <a:ext cx="3052500" cy="282900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4" name="Google Shape;464;g3a8be773fe5_0_235"/>
          <p:cNvSpPr txBox="1"/>
          <p:nvPr/>
        </p:nvSpPr>
        <p:spPr>
          <a:xfrm>
            <a:off x="8033672" y="6132932"/>
            <a:ext cx="18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Subárboles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a8be773fe5_0_253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ROTACIONES</a:t>
            </a:r>
            <a:endParaRPr/>
          </a:p>
        </p:txBody>
      </p:sp>
      <p:sp>
        <p:nvSpPr>
          <p:cNvPr id="470" name="Google Shape;470;g3a8be773fe5_0_253"/>
          <p:cNvSpPr txBox="1"/>
          <p:nvPr>
            <p:ph idx="1" type="body"/>
          </p:nvPr>
        </p:nvSpPr>
        <p:spPr>
          <a:xfrm>
            <a:off x="288981" y="2326106"/>
            <a:ext cx="11604900" cy="1493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Como el hijo derecho de X ahora es Y, su hijo anterior se mueve.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Ahora es hijo izquierdo de Y.</a:t>
            </a:r>
            <a:endParaRPr/>
          </a:p>
        </p:txBody>
      </p:sp>
      <p:sp>
        <p:nvSpPr>
          <p:cNvPr id="471" name="Google Shape;471;g3a8be773fe5_0_253"/>
          <p:cNvSpPr/>
          <p:nvPr/>
        </p:nvSpPr>
        <p:spPr>
          <a:xfrm>
            <a:off x="6515890" y="4390075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2" name="Google Shape;472;g3a8be773fe5_0_253"/>
          <p:cNvSpPr/>
          <p:nvPr/>
        </p:nvSpPr>
        <p:spPr>
          <a:xfrm>
            <a:off x="5522096" y="3602575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73" name="Google Shape;473;g3a8be773fe5_0_253"/>
          <p:cNvCxnSpPr/>
          <p:nvPr/>
        </p:nvCxnSpPr>
        <p:spPr>
          <a:xfrm flipH="1">
            <a:off x="6120916" y="5026969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g3a8be773fe5_0_253"/>
          <p:cNvCxnSpPr/>
          <p:nvPr/>
        </p:nvCxnSpPr>
        <p:spPr>
          <a:xfrm>
            <a:off x="6851568" y="5026970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g3a8be773fe5_0_253"/>
          <p:cNvCxnSpPr/>
          <p:nvPr/>
        </p:nvCxnSpPr>
        <p:spPr>
          <a:xfrm flipH="1">
            <a:off x="4946694" y="4248650"/>
            <a:ext cx="8988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6" name="Google Shape;476;g3a8be773fe5_0_253"/>
          <p:cNvCxnSpPr/>
          <p:nvPr/>
        </p:nvCxnSpPr>
        <p:spPr>
          <a:xfrm>
            <a:off x="5850084" y="4244060"/>
            <a:ext cx="1010100" cy="151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7" name="Google Shape;477;g3a8be773fe5_0_253"/>
          <p:cNvSpPr/>
          <p:nvPr/>
        </p:nvSpPr>
        <p:spPr>
          <a:xfrm>
            <a:off x="4464340" y="4398855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8" name="Google Shape;478;g3a8be773fe5_0_253"/>
          <p:cNvSpPr/>
          <p:nvPr/>
        </p:nvSpPr>
        <p:spPr>
          <a:xfrm>
            <a:off x="5643482" y="5199163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9" name="Google Shape;479;g3a8be773fe5_0_253"/>
          <p:cNvSpPr/>
          <p:nvPr/>
        </p:nvSpPr>
        <p:spPr>
          <a:xfrm>
            <a:off x="7266662" y="5195431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0" name="Google Shape;480;g3a8be773fe5_0_253"/>
          <p:cNvSpPr/>
          <p:nvPr/>
        </p:nvSpPr>
        <p:spPr>
          <a:xfrm flipH="1" rot="179718">
            <a:off x="7232628" y="3618324"/>
            <a:ext cx="310024" cy="856767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a8be773fe5_0_253"/>
          <p:cNvSpPr/>
          <p:nvPr/>
        </p:nvSpPr>
        <p:spPr>
          <a:xfrm rot="9959120">
            <a:off x="5911735" y="4415658"/>
            <a:ext cx="193252" cy="622395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8be773fe5_0_269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ROTACIONES</a:t>
            </a:r>
            <a:endParaRPr/>
          </a:p>
        </p:txBody>
      </p:sp>
      <p:sp>
        <p:nvSpPr>
          <p:cNvPr id="487" name="Google Shape;487;g3a8be773fe5_0_269"/>
          <p:cNvSpPr txBox="1"/>
          <p:nvPr>
            <p:ph idx="1" type="body"/>
          </p:nvPr>
        </p:nvSpPr>
        <p:spPr>
          <a:xfrm>
            <a:off x="288981" y="2326106"/>
            <a:ext cx="11604900" cy="77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Esta rotación respeta todos los requisitos de BST antes y después:</a:t>
            </a:r>
            <a:endParaRPr/>
          </a:p>
        </p:txBody>
      </p:sp>
      <p:sp>
        <p:nvSpPr>
          <p:cNvPr id="488" name="Google Shape;488;g3a8be773fe5_0_269"/>
          <p:cNvSpPr/>
          <p:nvPr/>
        </p:nvSpPr>
        <p:spPr>
          <a:xfrm>
            <a:off x="8182191" y="4454340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9" name="Google Shape;489;g3a8be773fe5_0_269"/>
          <p:cNvSpPr/>
          <p:nvPr/>
        </p:nvSpPr>
        <p:spPr>
          <a:xfrm>
            <a:off x="7188397" y="3666841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90" name="Google Shape;490;g3a8be773fe5_0_269"/>
          <p:cNvCxnSpPr/>
          <p:nvPr/>
        </p:nvCxnSpPr>
        <p:spPr>
          <a:xfrm flipH="1">
            <a:off x="7787217" y="5091234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g3a8be773fe5_0_269"/>
          <p:cNvCxnSpPr/>
          <p:nvPr/>
        </p:nvCxnSpPr>
        <p:spPr>
          <a:xfrm>
            <a:off x="8517869" y="5091235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g3a8be773fe5_0_269"/>
          <p:cNvCxnSpPr/>
          <p:nvPr/>
        </p:nvCxnSpPr>
        <p:spPr>
          <a:xfrm flipH="1">
            <a:off x="6612995" y="4312915"/>
            <a:ext cx="8988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g3a8be773fe5_0_269"/>
          <p:cNvCxnSpPr/>
          <p:nvPr/>
        </p:nvCxnSpPr>
        <p:spPr>
          <a:xfrm>
            <a:off x="7516385" y="4308325"/>
            <a:ext cx="1010100" cy="151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4" name="Google Shape;494;g3a8be773fe5_0_269"/>
          <p:cNvSpPr/>
          <p:nvPr/>
        </p:nvSpPr>
        <p:spPr>
          <a:xfrm>
            <a:off x="6130641" y="4463121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5" name="Google Shape;495;g3a8be773fe5_0_269"/>
          <p:cNvSpPr/>
          <p:nvPr/>
        </p:nvSpPr>
        <p:spPr>
          <a:xfrm>
            <a:off x="7309783" y="5263428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6" name="Google Shape;496;g3a8be773fe5_0_269"/>
          <p:cNvSpPr/>
          <p:nvPr/>
        </p:nvSpPr>
        <p:spPr>
          <a:xfrm>
            <a:off x="8932963" y="5259696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7" name="Google Shape;497;g3a8be773fe5_0_269"/>
          <p:cNvSpPr/>
          <p:nvPr/>
        </p:nvSpPr>
        <p:spPr>
          <a:xfrm>
            <a:off x="3752493" y="3646436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8" name="Google Shape;498;g3a8be773fe5_0_269"/>
          <p:cNvSpPr/>
          <p:nvPr/>
        </p:nvSpPr>
        <p:spPr>
          <a:xfrm>
            <a:off x="3052481" y="4451793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99" name="Google Shape;499;g3a8be773fe5_0_269"/>
          <p:cNvCxnSpPr/>
          <p:nvPr/>
        </p:nvCxnSpPr>
        <p:spPr>
          <a:xfrm flipH="1">
            <a:off x="3380471" y="4283332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g3a8be773fe5_0_269"/>
          <p:cNvCxnSpPr/>
          <p:nvPr/>
        </p:nvCxnSpPr>
        <p:spPr>
          <a:xfrm>
            <a:off x="4088171" y="4283332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g3a8be773fe5_0_269"/>
          <p:cNvCxnSpPr/>
          <p:nvPr/>
        </p:nvCxnSpPr>
        <p:spPr>
          <a:xfrm flipH="1">
            <a:off x="2752569" y="5088687"/>
            <a:ext cx="6279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g3a8be773fe5_0_269"/>
          <p:cNvCxnSpPr/>
          <p:nvPr/>
        </p:nvCxnSpPr>
        <p:spPr>
          <a:xfrm>
            <a:off x="3380469" y="5088687"/>
            <a:ext cx="615300" cy="174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g3a8be773fe5_0_269"/>
          <p:cNvSpPr/>
          <p:nvPr/>
        </p:nvSpPr>
        <p:spPr>
          <a:xfrm>
            <a:off x="2288508" y="5248072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4" name="Google Shape;504;g3a8be773fe5_0_269"/>
          <p:cNvSpPr/>
          <p:nvPr/>
        </p:nvSpPr>
        <p:spPr>
          <a:xfrm>
            <a:off x="3531916" y="5263428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5" name="Google Shape;505;g3a8be773fe5_0_269"/>
          <p:cNvSpPr/>
          <p:nvPr/>
        </p:nvSpPr>
        <p:spPr>
          <a:xfrm>
            <a:off x="4503265" y="4451793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8be773fe5_0_292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ROTACIONES</a:t>
            </a:r>
            <a:endParaRPr/>
          </a:p>
        </p:txBody>
      </p:sp>
      <p:sp>
        <p:nvSpPr>
          <p:cNvPr id="511" name="Google Shape;511;g3a8be773fe5_0_292"/>
          <p:cNvSpPr txBox="1"/>
          <p:nvPr>
            <p:ph idx="1" type="body"/>
          </p:nvPr>
        </p:nvSpPr>
        <p:spPr>
          <a:xfrm>
            <a:off x="288981" y="2326106"/>
            <a:ext cx="11604900" cy="77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Y es mayor que X.</a:t>
            </a:r>
            <a:endParaRPr/>
          </a:p>
        </p:txBody>
      </p:sp>
      <p:sp>
        <p:nvSpPr>
          <p:cNvPr id="512" name="Google Shape;512;g3a8be773fe5_0_292"/>
          <p:cNvSpPr/>
          <p:nvPr/>
        </p:nvSpPr>
        <p:spPr>
          <a:xfrm>
            <a:off x="8182191" y="4454340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3" name="Google Shape;513;g3a8be773fe5_0_292"/>
          <p:cNvSpPr/>
          <p:nvPr/>
        </p:nvSpPr>
        <p:spPr>
          <a:xfrm>
            <a:off x="7188397" y="3666841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14" name="Google Shape;514;g3a8be773fe5_0_292"/>
          <p:cNvCxnSpPr/>
          <p:nvPr/>
        </p:nvCxnSpPr>
        <p:spPr>
          <a:xfrm flipH="1">
            <a:off x="7787217" y="5091234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g3a8be773fe5_0_292"/>
          <p:cNvCxnSpPr/>
          <p:nvPr/>
        </p:nvCxnSpPr>
        <p:spPr>
          <a:xfrm>
            <a:off x="8517869" y="5091235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g3a8be773fe5_0_292"/>
          <p:cNvCxnSpPr/>
          <p:nvPr/>
        </p:nvCxnSpPr>
        <p:spPr>
          <a:xfrm flipH="1">
            <a:off x="6612995" y="4312915"/>
            <a:ext cx="8988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g3a8be773fe5_0_292"/>
          <p:cNvCxnSpPr/>
          <p:nvPr/>
        </p:nvCxnSpPr>
        <p:spPr>
          <a:xfrm>
            <a:off x="7516385" y="4308325"/>
            <a:ext cx="1010100" cy="151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g3a8be773fe5_0_292"/>
          <p:cNvSpPr/>
          <p:nvPr/>
        </p:nvSpPr>
        <p:spPr>
          <a:xfrm>
            <a:off x="6130641" y="4463121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9" name="Google Shape;519;g3a8be773fe5_0_292"/>
          <p:cNvSpPr/>
          <p:nvPr/>
        </p:nvSpPr>
        <p:spPr>
          <a:xfrm>
            <a:off x="7309783" y="5263428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0" name="Google Shape;520;g3a8be773fe5_0_292"/>
          <p:cNvSpPr/>
          <p:nvPr/>
        </p:nvSpPr>
        <p:spPr>
          <a:xfrm>
            <a:off x="8932963" y="5259696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1" name="Google Shape;521;g3a8be773fe5_0_292"/>
          <p:cNvSpPr/>
          <p:nvPr/>
        </p:nvSpPr>
        <p:spPr>
          <a:xfrm>
            <a:off x="3752493" y="3646436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2" name="Google Shape;522;g3a8be773fe5_0_292"/>
          <p:cNvSpPr/>
          <p:nvPr/>
        </p:nvSpPr>
        <p:spPr>
          <a:xfrm>
            <a:off x="3052481" y="4451793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23" name="Google Shape;523;g3a8be773fe5_0_292"/>
          <p:cNvCxnSpPr/>
          <p:nvPr/>
        </p:nvCxnSpPr>
        <p:spPr>
          <a:xfrm flipH="1">
            <a:off x="3380471" y="4283332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4" name="Google Shape;524;g3a8be773fe5_0_292"/>
          <p:cNvCxnSpPr/>
          <p:nvPr/>
        </p:nvCxnSpPr>
        <p:spPr>
          <a:xfrm>
            <a:off x="4088171" y="4283332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5" name="Google Shape;525;g3a8be773fe5_0_292"/>
          <p:cNvCxnSpPr/>
          <p:nvPr/>
        </p:nvCxnSpPr>
        <p:spPr>
          <a:xfrm flipH="1">
            <a:off x="2752569" y="5088687"/>
            <a:ext cx="6279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6" name="Google Shape;526;g3a8be773fe5_0_292"/>
          <p:cNvCxnSpPr/>
          <p:nvPr/>
        </p:nvCxnSpPr>
        <p:spPr>
          <a:xfrm>
            <a:off x="3380469" y="5088687"/>
            <a:ext cx="615300" cy="174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g3a8be773fe5_0_292"/>
          <p:cNvSpPr/>
          <p:nvPr/>
        </p:nvSpPr>
        <p:spPr>
          <a:xfrm>
            <a:off x="2288508" y="5248072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8" name="Google Shape;528;g3a8be773fe5_0_292"/>
          <p:cNvSpPr/>
          <p:nvPr/>
        </p:nvSpPr>
        <p:spPr>
          <a:xfrm>
            <a:off x="3531916" y="5263428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9" name="Google Shape;529;g3a8be773fe5_0_292"/>
          <p:cNvSpPr/>
          <p:nvPr/>
        </p:nvSpPr>
        <p:spPr>
          <a:xfrm>
            <a:off x="4503265" y="4451793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a8be773fe5_0_315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ROTACIONES</a:t>
            </a:r>
            <a:endParaRPr/>
          </a:p>
        </p:txBody>
      </p:sp>
      <p:sp>
        <p:nvSpPr>
          <p:cNvPr id="535" name="Google Shape;535;g3a8be773fe5_0_315"/>
          <p:cNvSpPr txBox="1"/>
          <p:nvPr>
            <p:ph idx="1" type="body"/>
          </p:nvPr>
        </p:nvSpPr>
        <p:spPr>
          <a:xfrm>
            <a:off x="288981" y="2326106"/>
            <a:ext cx="11604900" cy="77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Todo el subárbol C es mayor que Y.</a:t>
            </a:r>
            <a:endParaRPr/>
          </a:p>
        </p:txBody>
      </p:sp>
      <p:sp>
        <p:nvSpPr>
          <p:cNvPr id="536" name="Google Shape;536;g3a8be773fe5_0_315"/>
          <p:cNvSpPr/>
          <p:nvPr/>
        </p:nvSpPr>
        <p:spPr>
          <a:xfrm>
            <a:off x="8182191" y="4454340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7" name="Google Shape;537;g3a8be773fe5_0_315"/>
          <p:cNvSpPr/>
          <p:nvPr/>
        </p:nvSpPr>
        <p:spPr>
          <a:xfrm>
            <a:off x="7188397" y="3666841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38" name="Google Shape;538;g3a8be773fe5_0_315"/>
          <p:cNvCxnSpPr/>
          <p:nvPr/>
        </p:nvCxnSpPr>
        <p:spPr>
          <a:xfrm flipH="1">
            <a:off x="7787217" y="5091234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9" name="Google Shape;539;g3a8be773fe5_0_315"/>
          <p:cNvCxnSpPr/>
          <p:nvPr/>
        </p:nvCxnSpPr>
        <p:spPr>
          <a:xfrm>
            <a:off x="8517869" y="5091235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g3a8be773fe5_0_315"/>
          <p:cNvCxnSpPr/>
          <p:nvPr/>
        </p:nvCxnSpPr>
        <p:spPr>
          <a:xfrm flipH="1">
            <a:off x="6612995" y="4312915"/>
            <a:ext cx="8988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g3a8be773fe5_0_315"/>
          <p:cNvCxnSpPr/>
          <p:nvPr/>
        </p:nvCxnSpPr>
        <p:spPr>
          <a:xfrm>
            <a:off x="7516385" y="4308325"/>
            <a:ext cx="1010100" cy="151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g3a8be773fe5_0_315"/>
          <p:cNvSpPr/>
          <p:nvPr/>
        </p:nvSpPr>
        <p:spPr>
          <a:xfrm>
            <a:off x="6130641" y="4463121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3" name="Google Shape;543;g3a8be773fe5_0_315"/>
          <p:cNvSpPr/>
          <p:nvPr/>
        </p:nvSpPr>
        <p:spPr>
          <a:xfrm>
            <a:off x="7309783" y="5263428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4" name="Google Shape;544;g3a8be773fe5_0_315"/>
          <p:cNvSpPr/>
          <p:nvPr/>
        </p:nvSpPr>
        <p:spPr>
          <a:xfrm>
            <a:off x="8932963" y="5259696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5" name="Google Shape;545;g3a8be773fe5_0_315"/>
          <p:cNvSpPr/>
          <p:nvPr/>
        </p:nvSpPr>
        <p:spPr>
          <a:xfrm>
            <a:off x="3752493" y="3646436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6" name="Google Shape;546;g3a8be773fe5_0_315"/>
          <p:cNvSpPr/>
          <p:nvPr/>
        </p:nvSpPr>
        <p:spPr>
          <a:xfrm>
            <a:off x="3052481" y="4451793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47" name="Google Shape;547;g3a8be773fe5_0_315"/>
          <p:cNvCxnSpPr/>
          <p:nvPr/>
        </p:nvCxnSpPr>
        <p:spPr>
          <a:xfrm flipH="1">
            <a:off x="3380471" y="4283332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8" name="Google Shape;548;g3a8be773fe5_0_315"/>
          <p:cNvCxnSpPr/>
          <p:nvPr/>
        </p:nvCxnSpPr>
        <p:spPr>
          <a:xfrm>
            <a:off x="4088171" y="4283332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9" name="Google Shape;549;g3a8be773fe5_0_315"/>
          <p:cNvCxnSpPr/>
          <p:nvPr/>
        </p:nvCxnSpPr>
        <p:spPr>
          <a:xfrm flipH="1">
            <a:off x="2752569" y="5088687"/>
            <a:ext cx="6279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0" name="Google Shape;550;g3a8be773fe5_0_315"/>
          <p:cNvCxnSpPr/>
          <p:nvPr/>
        </p:nvCxnSpPr>
        <p:spPr>
          <a:xfrm>
            <a:off x="3380469" y="5088687"/>
            <a:ext cx="615300" cy="174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1" name="Google Shape;551;g3a8be773fe5_0_315"/>
          <p:cNvSpPr/>
          <p:nvPr/>
        </p:nvSpPr>
        <p:spPr>
          <a:xfrm>
            <a:off x="2288508" y="5248072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2" name="Google Shape;552;g3a8be773fe5_0_315"/>
          <p:cNvSpPr/>
          <p:nvPr/>
        </p:nvSpPr>
        <p:spPr>
          <a:xfrm>
            <a:off x="3531916" y="5263428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3" name="Google Shape;553;g3a8be773fe5_0_315"/>
          <p:cNvSpPr/>
          <p:nvPr/>
        </p:nvSpPr>
        <p:spPr>
          <a:xfrm>
            <a:off x="4503265" y="4451793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a8be773fe5_0_338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ROTACIONES</a:t>
            </a:r>
            <a:endParaRPr/>
          </a:p>
        </p:txBody>
      </p:sp>
      <p:sp>
        <p:nvSpPr>
          <p:cNvPr id="559" name="Google Shape;559;g3a8be773fe5_0_338"/>
          <p:cNvSpPr txBox="1"/>
          <p:nvPr>
            <p:ph idx="1" type="body"/>
          </p:nvPr>
        </p:nvSpPr>
        <p:spPr>
          <a:xfrm>
            <a:off x="288981" y="2326106"/>
            <a:ext cx="11604900" cy="77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Todo el subárbol A es menor que X.</a:t>
            </a:r>
            <a:endParaRPr/>
          </a:p>
        </p:txBody>
      </p:sp>
      <p:sp>
        <p:nvSpPr>
          <p:cNvPr id="560" name="Google Shape;560;g3a8be773fe5_0_338"/>
          <p:cNvSpPr/>
          <p:nvPr/>
        </p:nvSpPr>
        <p:spPr>
          <a:xfrm>
            <a:off x="8182191" y="4454340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1" name="Google Shape;561;g3a8be773fe5_0_338"/>
          <p:cNvSpPr/>
          <p:nvPr/>
        </p:nvSpPr>
        <p:spPr>
          <a:xfrm>
            <a:off x="7188397" y="3666841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62" name="Google Shape;562;g3a8be773fe5_0_338"/>
          <p:cNvCxnSpPr/>
          <p:nvPr/>
        </p:nvCxnSpPr>
        <p:spPr>
          <a:xfrm flipH="1">
            <a:off x="7787217" y="5091234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g3a8be773fe5_0_338"/>
          <p:cNvCxnSpPr/>
          <p:nvPr/>
        </p:nvCxnSpPr>
        <p:spPr>
          <a:xfrm>
            <a:off x="8517869" y="5091235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g3a8be773fe5_0_338"/>
          <p:cNvCxnSpPr/>
          <p:nvPr/>
        </p:nvCxnSpPr>
        <p:spPr>
          <a:xfrm flipH="1">
            <a:off x="6612995" y="4312915"/>
            <a:ext cx="8988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g3a8be773fe5_0_338"/>
          <p:cNvCxnSpPr/>
          <p:nvPr/>
        </p:nvCxnSpPr>
        <p:spPr>
          <a:xfrm>
            <a:off x="7516385" y="4308325"/>
            <a:ext cx="1010100" cy="151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6" name="Google Shape;566;g3a8be773fe5_0_338"/>
          <p:cNvSpPr/>
          <p:nvPr/>
        </p:nvSpPr>
        <p:spPr>
          <a:xfrm>
            <a:off x="6130641" y="4463121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7" name="Google Shape;567;g3a8be773fe5_0_338"/>
          <p:cNvSpPr/>
          <p:nvPr/>
        </p:nvSpPr>
        <p:spPr>
          <a:xfrm>
            <a:off x="7309783" y="5263428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8" name="Google Shape;568;g3a8be773fe5_0_338"/>
          <p:cNvSpPr/>
          <p:nvPr/>
        </p:nvSpPr>
        <p:spPr>
          <a:xfrm>
            <a:off x="8932963" y="5259696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9" name="Google Shape;569;g3a8be773fe5_0_338"/>
          <p:cNvSpPr/>
          <p:nvPr/>
        </p:nvSpPr>
        <p:spPr>
          <a:xfrm>
            <a:off x="3752493" y="3646436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0" name="Google Shape;570;g3a8be773fe5_0_338"/>
          <p:cNvSpPr/>
          <p:nvPr/>
        </p:nvSpPr>
        <p:spPr>
          <a:xfrm>
            <a:off x="3052481" y="4451793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71" name="Google Shape;571;g3a8be773fe5_0_338"/>
          <p:cNvCxnSpPr/>
          <p:nvPr/>
        </p:nvCxnSpPr>
        <p:spPr>
          <a:xfrm flipH="1">
            <a:off x="3380471" y="4283332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2" name="Google Shape;572;g3a8be773fe5_0_338"/>
          <p:cNvCxnSpPr/>
          <p:nvPr/>
        </p:nvCxnSpPr>
        <p:spPr>
          <a:xfrm>
            <a:off x="4088171" y="4283332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3" name="Google Shape;573;g3a8be773fe5_0_338"/>
          <p:cNvCxnSpPr/>
          <p:nvPr/>
        </p:nvCxnSpPr>
        <p:spPr>
          <a:xfrm flipH="1">
            <a:off x="2752569" y="5088687"/>
            <a:ext cx="6279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4" name="Google Shape;574;g3a8be773fe5_0_338"/>
          <p:cNvCxnSpPr/>
          <p:nvPr/>
        </p:nvCxnSpPr>
        <p:spPr>
          <a:xfrm>
            <a:off x="3380469" y="5088687"/>
            <a:ext cx="615300" cy="174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g3a8be773fe5_0_338"/>
          <p:cNvSpPr/>
          <p:nvPr/>
        </p:nvSpPr>
        <p:spPr>
          <a:xfrm>
            <a:off x="2288508" y="5248072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6" name="Google Shape;576;g3a8be773fe5_0_338"/>
          <p:cNvSpPr/>
          <p:nvPr/>
        </p:nvSpPr>
        <p:spPr>
          <a:xfrm>
            <a:off x="3531916" y="5263428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7" name="Google Shape;577;g3a8be773fe5_0_338"/>
          <p:cNvSpPr/>
          <p:nvPr/>
        </p:nvSpPr>
        <p:spPr>
          <a:xfrm>
            <a:off x="4503265" y="4451793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a8be773fe5_0_361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ROTACIONES</a:t>
            </a:r>
            <a:endParaRPr/>
          </a:p>
        </p:txBody>
      </p:sp>
      <p:sp>
        <p:nvSpPr>
          <p:cNvPr id="583" name="Google Shape;583;g3a8be773fe5_0_361"/>
          <p:cNvSpPr txBox="1"/>
          <p:nvPr>
            <p:ph idx="1" type="body"/>
          </p:nvPr>
        </p:nvSpPr>
        <p:spPr>
          <a:xfrm>
            <a:off x="288981" y="2326106"/>
            <a:ext cx="11604900" cy="77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Todo el subárbol B (el que movimos) es mayor que X y menor que Y.</a:t>
            </a:r>
            <a:endParaRPr/>
          </a:p>
        </p:txBody>
      </p:sp>
      <p:sp>
        <p:nvSpPr>
          <p:cNvPr id="584" name="Google Shape;584;g3a8be773fe5_0_361"/>
          <p:cNvSpPr/>
          <p:nvPr/>
        </p:nvSpPr>
        <p:spPr>
          <a:xfrm>
            <a:off x="8182191" y="4454340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5" name="Google Shape;585;g3a8be773fe5_0_361"/>
          <p:cNvSpPr/>
          <p:nvPr/>
        </p:nvSpPr>
        <p:spPr>
          <a:xfrm>
            <a:off x="7188397" y="3666841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86" name="Google Shape;586;g3a8be773fe5_0_361"/>
          <p:cNvCxnSpPr/>
          <p:nvPr/>
        </p:nvCxnSpPr>
        <p:spPr>
          <a:xfrm flipH="1">
            <a:off x="7787217" y="5091234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g3a8be773fe5_0_361"/>
          <p:cNvCxnSpPr/>
          <p:nvPr/>
        </p:nvCxnSpPr>
        <p:spPr>
          <a:xfrm>
            <a:off x="8517869" y="5091235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8" name="Google Shape;588;g3a8be773fe5_0_361"/>
          <p:cNvCxnSpPr/>
          <p:nvPr/>
        </p:nvCxnSpPr>
        <p:spPr>
          <a:xfrm flipH="1">
            <a:off x="6612995" y="4312915"/>
            <a:ext cx="8988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9" name="Google Shape;589;g3a8be773fe5_0_361"/>
          <p:cNvCxnSpPr/>
          <p:nvPr/>
        </p:nvCxnSpPr>
        <p:spPr>
          <a:xfrm>
            <a:off x="7516385" y="4308325"/>
            <a:ext cx="1010100" cy="151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g3a8be773fe5_0_361"/>
          <p:cNvSpPr/>
          <p:nvPr/>
        </p:nvSpPr>
        <p:spPr>
          <a:xfrm>
            <a:off x="6130641" y="4463121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1" name="Google Shape;591;g3a8be773fe5_0_361"/>
          <p:cNvSpPr/>
          <p:nvPr/>
        </p:nvSpPr>
        <p:spPr>
          <a:xfrm>
            <a:off x="7309783" y="5263428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2" name="Google Shape;592;g3a8be773fe5_0_361"/>
          <p:cNvSpPr/>
          <p:nvPr/>
        </p:nvSpPr>
        <p:spPr>
          <a:xfrm>
            <a:off x="8932963" y="5259696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3" name="Google Shape;593;g3a8be773fe5_0_361"/>
          <p:cNvSpPr/>
          <p:nvPr/>
        </p:nvSpPr>
        <p:spPr>
          <a:xfrm>
            <a:off x="3752493" y="3646436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4" name="Google Shape;594;g3a8be773fe5_0_361"/>
          <p:cNvSpPr/>
          <p:nvPr/>
        </p:nvSpPr>
        <p:spPr>
          <a:xfrm>
            <a:off x="3052481" y="4451793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95" name="Google Shape;595;g3a8be773fe5_0_361"/>
          <p:cNvCxnSpPr/>
          <p:nvPr/>
        </p:nvCxnSpPr>
        <p:spPr>
          <a:xfrm flipH="1">
            <a:off x="3380471" y="4283332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6" name="Google Shape;596;g3a8be773fe5_0_361"/>
          <p:cNvCxnSpPr/>
          <p:nvPr/>
        </p:nvCxnSpPr>
        <p:spPr>
          <a:xfrm>
            <a:off x="4088171" y="4283332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7" name="Google Shape;597;g3a8be773fe5_0_361"/>
          <p:cNvCxnSpPr/>
          <p:nvPr/>
        </p:nvCxnSpPr>
        <p:spPr>
          <a:xfrm flipH="1">
            <a:off x="2752569" y="5088687"/>
            <a:ext cx="6279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g3a8be773fe5_0_361"/>
          <p:cNvCxnSpPr/>
          <p:nvPr/>
        </p:nvCxnSpPr>
        <p:spPr>
          <a:xfrm>
            <a:off x="3380469" y="5088687"/>
            <a:ext cx="615300" cy="174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g3a8be773fe5_0_361"/>
          <p:cNvSpPr/>
          <p:nvPr/>
        </p:nvSpPr>
        <p:spPr>
          <a:xfrm>
            <a:off x="2288508" y="5248072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0" name="Google Shape;600;g3a8be773fe5_0_361"/>
          <p:cNvSpPr/>
          <p:nvPr/>
        </p:nvSpPr>
        <p:spPr>
          <a:xfrm>
            <a:off x="3531916" y="5263428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1" name="Google Shape;601;g3a8be773fe5_0_361"/>
          <p:cNvSpPr/>
          <p:nvPr/>
        </p:nvSpPr>
        <p:spPr>
          <a:xfrm>
            <a:off x="4503265" y="4451793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8be773fe5_0_384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ROTACIONES</a:t>
            </a:r>
            <a:endParaRPr/>
          </a:p>
        </p:txBody>
      </p:sp>
      <p:sp>
        <p:nvSpPr>
          <p:cNvPr id="607" name="Google Shape;607;g3a8be773fe5_0_384"/>
          <p:cNvSpPr txBox="1"/>
          <p:nvPr>
            <p:ph idx="1" type="body"/>
          </p:nvPr>
        </p:nvSpPr>
        <p:spPr>
          <a:xfrm>
            <a:off x="288981" y="2326106"/>
            <a:ext cx="11604900" cy="130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Al ser una estructura con nodos, no necesitamos tocar nada más. </a:t>
            </a:r>
            <a:endParaRPr/>
          </a:p>
        </p:txBody>
      </p:sp>
      <p:sp>
        <p:nvSpPr>
          <p:cNvPr id="608" name="Google Shape;608;g3a8be773fe5_0_384"/>
          <p:cNvSpPr/>
          <p:nvPr/>
        </p:nvSpPr>
        <p:spPr>
          <a:xfrm>
            <a:off x="8182191" y="4454340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9" name="Google Shape;609;g3a8be773fe5_0_384"/>
          <p:cNvSpPr/>
          <p:nvPr/>
        </p:nvSpPr>
        <p:spPr>
          <a:xfrm>
            <a:off x="7188397" y="3666841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10" name="Google Shape;610;g3a8be773fe5_0_384"/>
          <p:cNvCxnSpPr/>
          <p:nvPr/>
        </p:nvCxnSpPr>
        <p:spPr>
          <a:xfrm flipH="1">
            <a:off x="7787217" y="5091234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g3a8be773fe5_0_384"/>
          <p:cNvCxnSpPr/>
          <p:nvPr/>
        </p:nvCxnSpPr>
        <p:spPr>
          <a:xfrm>
            <a:off x="8517869" y="5091235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2" name="Google Shape;612;g3a8be773fe5_0_384"/>
          <p:cNvCxnSpPr/>
          <p:nvPr/>
        </p:nvCxnSpPr>
        <p:spPr>
          <a:xfrm flipH="1">
            <a:off x="6612995" y="4312915"/>
            <a:ext cx="8988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3" name="Google Shape;613;g3a8be773fe5_0_384"/>
          <p:cNvCxnSpPr/>
          <p:nvPr/>
        </p:nvCxnSpPr>
        <p:spPr>
          <a:xfrm>
            <a:off x="7516385" y="4308325"/>
            <a:ext cx="1010100" cy="151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4" name="Google Shape;614;g3a8be773fe5_0_384"/>
          <p:cNvSpPr/>
          <p:nvPr/>
        </p:nvSpPr>
        <p:spPr>
          <a:xfrm>
            <a:off x="6130641" y="4463121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5" name="Google Shape;615;g3a8be773fe5_0_384"/>
          <p:cNvSpPr/>
          <p:nvPr/>
        </p:nvSpPr>
        <p:spPr>
          <a:xfrm>
            <a:off x="7309783" y="5263428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6" name="Google Shape;616;g3a8be773fe5_0_384"/>
          <p:cNvSpPr/>
          <p:nvPr/>
        </p:nvSpPr>
        <p:spPr>
          <a:xfrm>
            <a:off x="8932963" y="5259696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7" name="Google Shape;617;g3a8be773fe5_0_384"/>
          <p:cNvSpPr/>
          <p:nvPr/>
        </p:nvSpPr>
        <p:spPr>
          <a:xfrm>
            <a:off x="3752493" y="3646436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8" name="Google Shape;618;g3a8be773fe5_0_384"/>
          <p:cNvSpPr/>
          <p:nvPr/>
        </p:nvSpPr>
        <p:spPr>
          <a:xfrm>
            <a:off x="3052481" y="4451793"/>
            <a:ext cx="656100" cy="636900"/>
          </a:xfrm>
          <a:prstGeom prst="ellipse">
            <a:avLst/>
          </a:prstGeom>
          <a:solidFill>
            <a:srgbClr val="00B05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19" name="Google Shape;619;g3a8be773fe5_0_384"/>
          <p:cNvCxnSpPr/>
          <p:nvPr/>
        </p:nvCxnSpPr>
        <p:spPr>
          <a:xfrm flipH="1">
            <a:off x="3380471" y="4283332"/>
            <a:ext cx="7077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g3a8be773fe5_0_384"/>
          <p:cNvCxnSpPr/>
          <p:nvPr/>
        </p:nvCxnSpPr>
        <p:spPr>
          <a:xfrm>
            <a:off x="4088171" y="4283332"/>
            <a:ext cx="879000" cy="168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g3a8be773fe5_0_384"/>
          <p:cNvCxnSpPr/>
          <p:nvPr/>
        </p:nvCxnSpPr>
        <p:spPr>
          <a:xfrm flipH="1">
            <a:off x="2752569" y="5088687"/>
            <a:ext cx="627900" cy="159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g3a8be773fe5_0_384"/>
          <p:cNvCxnSpPr/>
          <p:nvPr/>
        </p:nvCxnSpPr>
        <p:spPr>
          <a:xfrm>
            <a:off x="3380469" y="5088687"/>
            <a:ext cx="615300" cy="174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g3a8be773fe5_0_384"/>
          <p:cNvSpPr/>
          <p:nvPr/>
        </p:nvSpPr>
        <p:spPr>
          <a:xfrm>
            <a:off x="2288508" y="5248072"/>
            <a:ext cx="927900" cy="798600"/>
          </a:xfrm>
          <a:prstGeom prst="triangle">
            <a:avLst>
              <a:gd fmla="val 50000" name="adj"/>
            </a:avLst>
          </a:prstGeom>
          <a:solidFill>
            <a:srgbClr val="FF894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4" name="Google Shape;624;g3a8be773fe5_0_384"/>
          <p:cNvSpPr/>
          <p:nvPr/>
        </p:nvSpPr>
        <p:spPr>
          <a:xfrm>
            <a:off x="3531916" y="5263428"/>
            <a:ext cx="927900" cy="7986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5" name="Google Shape;625;g3a8be773fe5_0_384"/>
          <p:cNvSpPr/>
          <p:nvPr/>
        </p:nvSpPr>
        <p:spPr>
          <a:xfrm>
            <a:off x="4503265" y="4451793"/>
            <a:ext cx="927900" cy="798600"/>
          </a:xfrm>
          <a:prstGeom prst="triangle">
            <a:avLst>
              <a:gd fmla="val 50000" name="adj"/>
            </a:avLst>
          </a:prstGeom>
          <a:solidFill>
            <a:srgbClr val="D8162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8be773fe5_0_407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– EJEMPLO ROTACIONES</a:t>
            </a:r>
            <a:endParaRPr/>
          </a:p>
        </p:txBody>
      </p:sp>
      <p:sp>
        <p:nvSpPr>
          <p:cNvPr id="631" name="Google Shape;631;g3a8be773fe5_0_407"/>
          <p:cNvSpPr/>
          <p:nvPr/>
        </p:nvSpPr>
        <p:spPr>
          <a:xfrm>
            <a:off x="2188271" y="2750712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2" name="Google Shape;632;g3a8be773fe5_0_407"/>
          <p:cNvSpPr/>
          <p:nvPr/>
        </p:nvSpPr>
        <p:spPr>
          <a:xfrm>
            <a:off x="1299241" y="3528776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3" name="Google Shape;633;g3a8be773fe5_0_407"/>
          <p:cNvSpPr/>
          <p:nvPr/>
        </p:nvSpPr>
        <p:spPr>
          <a:xfrm>
            <a:off x="484139" y="4281366"/>
            <a:ext cx="694500" cy="669600"/>
          </a:xfrm>
          <a:prstGeom prst="ellipse">
            <a:avLst/>
          </a:prstGeom>
          <a:solidFill>
            <a:srgbClr val="DB8E1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4" name="Google Shape;634;g3a8be773fe5_0_407"/>
          <p:cNvSpPr/>
          <p:nvPr/>
        </p:nvSpPr>
        <p:spPr>
          <a:xfrm>
            <a:off x="3104853" y="3480551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5" name="Google Shape;635;g3a8be773fe5_0_407"/>
          <p:cNvSpPr/>
          <p:nvPr/>
        </p:nvSpPr>
        <p:spPr>
          <a:xfrm>
            <a:off x="2463176" y="4241221"/>
            <a:ext cx="656100" cy="636900"/>
          </a:xfrm>
          <a:prstGeom prst="ellipse">
            <a:avLst/>
          </a:prstGeom>
          <a:solidFill>
            <a:srgbClr val="DB8E1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6" name="Google Shape;636;g3a8be773fe5_0_407"/>
          <p:cNvSpPr/>
          <p:nvPr/>
        </p:nvSpPr>
        <p:spPr>
          <a:xfrm>
            <a:off x="3968803" y="4241017"/>
            <a:ext cx="656100" cy="660900"/>
          </a:xfrm>
          <a:prstGeom prst="ellipse">
            <a:avLst/>
          </a:prstGeom>
          <a:solidFill>
            <a:srgbClr val="DB8E1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7" name="Google Shape;637;g3a8be773fe5_0_407"/>
          <p:cNvSpPr/>
          <p:nvPr/>
        </p:nvSpPr>
        <p:spPr>
          <a:xfrm>
            <a:off x="1811165" y="5038521"/>
            <a:ext cx="682500" cy="669600"/>
          </a:xfrm>
          <a:prstGeom prst="ellipse">
            <a:avLst/>
          </a:prstGeom>
          <a:solidFill>
            <a:srgbClr val="C0000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8" name="Google Shape;638;g3a8be773fe5_0_407"/>
          <p:cNvCxnSpPr/>
          <p:nvPr/>
        </p:nvCxnSpPr>
        <p:spPr>
          <a:xfrm flipH="1">
            <a:off x="1627249" y="3387607"/>
            <a:ext cx="896700" cy="141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g3a8be773fe5_0_407"/>
          <p:cNvCxnSpPr/>
          <p:nvPr/>
        </p:nvCxnSpPr>
        <p:spPr>
          <a:xfrm>
            <a:off x="2523949" y="3387607"/>
            <a:ext cx="909000" cy="930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g3a8be773fe5_0_407"/>
          <p:cNvCxnSpPr/>
          <p:nvPr/>
        </p:nvCxnSpPr>
        <p:spPr>
          <a:xfrm flipH="1">
            <a:off x="831330" y="4165671"/>
            <a:ext cx="795900" cy="1158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g3a8be773fe5_0_407"/>
          <p:cNvCxnSpPr/>
          <p:nvPr/>
        </p:nvCxnSpPr>
        <p:spPr>
          <a:xfrm flipH="1">
            <a:off x="2791142" y="4117446"/>
            <a:ext cx="641700" cy="1239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g3a8be773fe5_0_407"/>
          <p:cNvCxnSpPr/>
          <p:nvPr/>
        </p:nvCxnSpPr>
        <p:spPr>
          <a:xfrm>
            <a:off x="3432842" y="4117446"/>
            <a:ext cx="864000" cy="123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g3a8be773fe5_0_407"/>
          <p:cNvCxnSpPr/>
          <p:nvPr/>
        </p:nvCxnSpPr>
        <p:spPr>
          <a:xfrm flipH="1">
            <a:off x="2152465" y="4878117"/>
            <a:ext cx="638700" cy="16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4" name="Google Shape;644;g3a8be773fe5_0_407"/>
          <p:cNvSpPr txBox="1"/>
          <p:nvPr/>
        </p:nvSpPr>
        <p:spPr>
          <a:xfrm>
            <a:off x="1976892" y="2328514"/>
            <a:ext cx="137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Original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5" name="Google Shape;645;g3a8be773fe5_0_407"/>
          <p:cNvSpPr/>
          <p:nvPr/>
        </p:nvSpPr>
        <p:spPr>
          <a:xfrm>
            <a:off x="8966358" y="2747095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6" name="Google Shape;646;g3a8be773fe5_0_407"/>
          <p:cNvSpPr/>
          <p:nvPr/>
        </p:nvSpPr>
        <p:spPr>
          <a:xfrm>
            <a:off x="8077328" y="3525159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7" name="Google Shape;647;g3a8be773fe5_0_407"/>
          <p:cNvSpPr/>
          <p:nvPr/>
        </p:nvSpPr>
        <p:spPr>
          <a:xfrm>
            <a:off x="7262226" y="4277749"/>
            <a:ext cx="694500" cy="669600"/>
          </a:xfrm>
          <a:prstGeom prst="ellipse">
            <a:avLst/>
          </a:prstGeom>
          <a:solidFill>
            <a:srgbClr val="DB8E1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8" name="Google Shape;648;g3a8be773fe5_0_407"/>
          <p:cNvSpPr/>
          <p:nvPr/>
        </p:nvSpPr>
        <p:spPr>
          <a:xfrm>
            <a:off x="9882940" y="3476934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9" name="Google Shape;649;g3a8be773fe5_0_407"/>
          <p:cNvSpPr/>
          <p:nvPr/>
        </p:nvSpPr>
        <p:spPr>
          <a:xfrm>
            <a:off x="9241263" y="4237604"/>
            <a:ext cx="656100" cy="636900"/>
          </a:xfrm>
          <a:prstGeom prst="ellipse">
            <a:avLst/>
          </a:prstGeom>
          <a:solidFill>
            <a:srgbClr val="DB8E1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0" name="Google Shape;650;g3a8be773fe5_0_407"/>
          <p:cNvSpPr/>
          <p:nvPr/>
        </p:nvSpPr>
        <p:spPr>
          <a:xfrm>
            <a:off x="10746890" y="4237400"/>
            <a:ext cx="656100" cy="660900"/>
          </a:xfrm>
          <a:prstGeom prst="ellipse">
            <a:avLst/>
          </a:prstGeom>
          <a:solidFill>
            <a:srgbClr val="DB8E1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1" name="Google Shape;651;g3a8be773fe5_0_407"/>
          <p:cNvSpPr/>
          <p:nvPr/>
        </p:nvSpPr>
        <p:spPr>
          <a:xfrm>
            <a:off x="8589252" y="5034904"/>
            <a:ext cx="682500" cy="669600"/>
          </a:xfrm>
          <a:prstGeom prst="ellipse">
            <a:avLst/>
          </a:prstGeom>
          <a:solidFill>
            <a:srgbClr val="C0000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2" name="Google Shape;652;g3a8be773fe5_0_407"/>
          <p:cNvCxnSpPr/>
          <p:nvPr/>
        </p:nvCxnSpPr>
        <p:spPr>
          <a:xfrm flipH="1">
            <a:off x="8405336" y="3383990"/>
            <a:ext cx="896700" cy="141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g3a8be773fe5_0_407"/>
          <p:cNvCxnSpPr/>
          <p:nvPr/>
        </p:nvCxnSpPr>
        <p:spPr>
          <a:xfrm>
            <a:off x="9302036" y="3383990"/>
            <a:ext cx="909000" cy="930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g3a8be773fe5_0_407"/>
          <p:cNvCxnSpPr/>
          <p:nvPr/>
        </p:nvCxnSpPr>
        <p:spPr>
          <a:xfrm flipH="1">
            <a:off x="7609417" y="4162054"/>
            <a:ext cx="795900" cy="1158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g3a8be773fe5_0_407"/>
          <p:cNvCxnSpPr/>
          <p:nvPr/>
        </p:nvCxnSpPr>
        <p:spPr>
          <a:xfrm flipH="1">
            <a:off x="9569229" y="4113829"/>
            <a:ext cx="641700" cy="1239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g3a8be773fe5_0_407"/>
          <p:cNvCxnSpPr/>
          <p:nvPr/>
        </p:nvCxnSpPr>
        <p:spPr>
          <a:xfrm>
            <a:off x="10210929" y="4113829"/>
            <a:ext cx="864000" cy="123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7" name="Google Shape;657;g3a8be773fe5_0_407"/>
          <p:cNvCxnSpPr/>
          <p:nvPr/>
        </p:nvCxnSpPr>
        <p:spPr>
          <a:xfrm flipH="1">
            <a:off x="8930552" y="4874500"/>
            <a:ext cx="638700" cy="16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8" name="Google Shape;658;g3a8be773fe5_0_407"/>
          <p:cNvSpPr txBox="1"/>
          <p:nvPr/>
        </p:nvSpPr>
        <p:spPr>
          <a:xfrm>
            <a:off x="8008478" y="2339311"/>
            <a:ext cx="267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Luego de la inserción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9" name="Google Shape;659;g3a8be773fe5_0_407"/>
          <p:cNvSpPr/>
          <p:nvPr/>
        </p:nvSpPr>
        <p:spPr>
          <a:xfrm>
            <a:off x="5752092" y="3334984"/>
            <a:ext cx="682500" cy="669600"/>
          </a:xfrm>
          <a:prstGeom prst="ellipse">
            <a:avLst/>
          </a:prstGeom>
          <a:solidFill>
            <a:srgbClr val="00948C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a8be773fe5_0_407"/>
          <p:cNvSpPr txBox="1"/>
          <p:nvPr/>
        </p:nvSpPr>
        <p:spPr>
          <a:xfrm>
            <a:off x="4911753" y="2881538"/>
            <a:ext cx="236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Elemento a insertar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1" name="Google Shape;661;g3a8be773fe5_0_407"/>
          <p:cNvSpPr/>
          <p:nvPr/>
        </p:nvSpPr>
        <p:spPr>
          <a:xfrm>
            <a:off x="7608143" y="5745391"/>
            <a:ext cx="682500" cy="669600"/>
          </a:xfrm>
          <a:prstGeom prst="ellipse">
            <a:avLst/>
          </a:prstGeom>
          <a:solidFill>
            <a:srgbClr val="00948C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2" name="Google Shape;662;g3a8be773fe5_0_407"/>
          <p:cNvCxnSpPr/>
          <p:nvPr/>
        </p:nvCxnSpPr>
        <p:spPr>
          <a:xfrm flipH="1">
            <a:off x="7990739" y="5718837"/>
            <a:ext cx="948900" cy="270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3" name="Google Shape;663;g3a8be773fe5_0_407"/>
          <p:cNvSpPr txBox="1"/>
          <p:nvPr/>
        </p:nvSpPr>
        <p:spPr>
          <a:xfrm>
            <a:off x="1383378" y="6233814"/>
            <a:ext cx="195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Balanceado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4" name="Google Shape;664;g3a8be773fe5_0_407"/>
          <p:cNvSpPr txBox="1"/>
          <p:nvPr/>
        </p:nvSpPr>
        <p:spPr>
          <a:xfrm>
            <a:off x="8279748" y="6231931"/>
            <a:ext cx="204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Desbalanceado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5" name="Google Shape;665;g3a8be773fe5_0_407"/>
          <p:cNvSpPr/>
          <p:nvPr/>
        </p:nvSpPr>
        <p:spPr>
          <a:xfrm>
            <a:off x="4624779" y="3703253"/>
            <a:ext cx="540900" cy="40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009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6" name="Google Shape;666;g3a8be773fe5_0_407"/>
          <p:cNvSpPr/>
          <p:nvPr/>
        </p:nvSpPr>
        <p:spPr>
          <a:xfrm>
            <a:off x="6922314" y="3669818"/>
            <a:ext cx="540900" cy="40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009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a8be773fe5_0_447"/>
          <p:cNvSpPr txBox="1"/>
          <p:nvPr>
            <p:ph type="title"/>
          </p:nvPr>
        </p:nvSpPr>
        <p:spPr>
          <a:xfrm>
            <a:off x="810000" y="447188"/>
            <a:ext cx="107649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– EJEMPLO ROTACIONES</a:t>
            </a:r>
            <a:endParaRPr/>
          </a:p>
        </p:txBody>
      </p:sp>
      <p:sp>
        <p:nvSpPr>
          <p:cNvPr id="672" name="Google Shape;672;g3a8be773fe5_0_447"/>
          <p:cNvSpPr txBox="1"/>
          <p:nvPr/>
        </p:nvSpPr>
        <p:spPr>
          <a:xfrm>
            <a:off x="1976892" y="2328514"/>
            <a:ext cx="137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Original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3" name="Google Shape;673;g3a8be773fe5_0_447"/>
          <p:cNvSpPr/>
          <p:nvPr/>
        </p:nvSpPr>
        <p:spPr>
          <a:xfrm>
            <a:off x="8966358" y="2747095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4" name="Google Shape;674;g3a8be773fe5_0_447"/>
          <p:cNvSpPr/>
          <p:nvPr/>
        </p:nvSpPr>
        <p:spPr>
          <a:xfrm>
            <a:off x="8077328" y="3525159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5" name="Google Shape;675;g3a8be773fe5_0_447"/>
          <p:cNvSpPr/>
          <p:nvPr/>
        </p:nvSpPr>
        <p:spPr>
          <a:xfrm>
            <a:off x="7262226" y="4277749"/>
            <a:ext cx="694500" cy="669600"/>
          </a:xfrm>
          <a:prstGeom prst="ellipse">
            <a:avLst/>
          </a:prstGeom>
          <a:solidFill>
            <a:srgbClr val="DB8E1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6" name="Google Shape;676;g3a8be773fe5_0_447"/>
          <p:cNvSpPr/>
          <p:nvPr/>
        </p:nvSpPr>
        <p:spPr>
          <a:xfrm>
            <a:off x="9882940" y="3476934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7" name="Google Shape;677;g3a8be773fe5_0_447"/>
          <p:cNvSpPr/>
          <p:nvPr/>
        </p:nvSpPr>
        <p:spPr>
          <a:xfrm>
            <a:off x="9241263" y="4237604"/>
            <a:ext cx="656100" cy="636900"/>
          </a:xfrm>
          <a:prstGeom prst="ellipse">
            <a:avLst/>
          </a:prstGeom>
          <a:solidFill>
            <a:srgbClr val="C0000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8" name="Google Shape;678;g3a8be773fe5_0_447"/>
          <p:cNvSpPr/>
          <p:nvPr/>
        </p:nvSpPr>
        <p:spPr>
          <a:xfrm>
            <a:off x="10746890" y="4237400"/>
            <a:ext cx="656100" cy="660900"/>
          </a:xfrm>
          <a:prstGeom prst="ellipse">
            <a:avLst/>
          </a:prstGeom>
          <a:solidFill>
            <a:srgbClr val="DB8E1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9" name="Google Shape;679;g3a8be773fe5_0_447"/>
          <p:cNvSpPr/>
          <p:nvPr/>
        </p:nvSpPr>
        <p:spPr>
          <a:xfrm>
            <a:off x="8589252" y="5034904"/>
            <a:ext cx="682500" cy="669600"/>
          </a:xfrm>
          <a:prstGeom prst="ellipse">
            <a:avLst/>
          </a:prstGeom>
          <a:solidFill>
            <a:srgbClr val="00948C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80" name="Google Shape;680;g3a8be773fe5_0_447"/>
          <p:cNvCxnSpPr/>
          <p:nvPr/>
        </p:nvCxnSpPr>
        <p:spPr>
          <a:xfrm flipH="1">
            <a:off x="8405336" y="3383990"/>
            <a:ext cx="896700" cy="141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1" name="Google Shape;681;g3a8be773fe5_0_447"/>
          <p:cNvCxnSpPr/>
          <p:nvPr/>
        </p:nvCxnSpPr>
        <p:spPr>
          <a:xfrm>
            <a:off x="9302036" y="3383990"/>
            <a:ext cx="909000" cy="930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2" name="Google Shape;682;g3a8be773fe5_0_447"/>
          <p:cNvCxnSpPr/>
          <p:nvPr/>
        </p:nvCxnSpPr>
        <p:spPr>
          <a:xfrm flipH="1">
            <a:off x="7609417" y="4162054"/>
            <a:ext cx="795900" cy="1158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3" name="Google Shape;683;g3a8be773fe5_0_447"/>
          <p:cNvCxnSpPr/>
          <p:nvPr/>
        </p:nvCxnSpPr>
        <p:spPr>
          <a:xfrm flipH="1">
            <a:off x="9569229" y="4113829"/>
            <a:ext cx="641700" cy="1239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4" name="Google Shape;684;g3a8be773fe5_0_447"/>
          <p:cNvCxnSpPr/>
          <p:nvPr/>
        </p:nvCxnSpPr>
        <p:spPr>
          <a:xfrm>
            <a:off x="10210929" y="4113829"/>
            <a:ext cx="864000" cy="123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5" name="Google Shape;685;g3a8be773fe5_0_447"/>
          <p:cNvCxnSpPr/>
          <p:nvPr/>
        </p:nvCxnSpPr>
        <p:spPr>
          <a:xfrm flipH="1">
            <a:off x="8930552" y="4874500"/>
            <a:ext cx="638700" cy="16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6" name="Google Shape;686;g3a8be773fe5_0_447"/>
          <p:cNvSpPr txBox="1"/>
          <p:nvPr/>
        </p:nvSpPr>
        <p:spPr>
          <a:xfrm>
            <a:off x="8008478" y="2339311"/>
            <a:ext cx="267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Luego de la rotación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7" name="Google Shape;687;g3a8be773fe5_0_447"/>
          <p:cNvSpPr txBox="1"/>
          <p:nvPr/>
        </p:nvSpPr>
        <p:spPr>
          <a:xfrm>
            <a:off x="4723548" y="2881538"/>
            <a:ext cx="274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Rotación Derecha (5)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8" name="Google Shape;688;g3a8be773fe5_0_447"/>
          <p:cNvSpPr txBox="1"/>
          <p:nvPr/>
        </p:nvSpPr>
        <p:spPr>
          <a:xfrm>
            <a:off x="1355836" y="6233814"/>
            <a:ext cx="20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Desbalanceado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9" name="Google Shape;689;g3a8be773fe5_0_447"/>
          <p:cNvSpPr txBox="1"/>
          <p:nvPr/>
        </p:nvSpPr>
        <p:spPr>
          <a:xfrm>
            <a:off x="8279748" y="6231931"/>
            <a:ext cx="204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Balanceado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0" name="Google Shape;690;g3a8be773fe5_0_447"/>
          <p:cNvSpPr/>
          <p:nvPr/>
        </p:nvSpPr>
        <p:spPr>
          <a:xfrm>
            <a:off x="9989492" y="5050098"/>
            <a:ext cx="656100" cy="636900"/>
          </a:xfrm>
          <a:prstGeom prst="ellipse">
            <a:avLst/>
          </a:prstGeom>
          <a:solidFill>
            <a:srgbClr val="DB8E1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1" name="Google Shape;691;g3a8be773fe5_0_447"/>
          <p:cNvSpPr/>
          <p:nvPr/>
        </p:nvSpPr>
        <p:spPr>
          <a:xfrm>
            <a:off x="2149670" y="2756276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2" name="Google Shape;692;g3a8be773fe5_0_447"/>
          <p:cNvSpPr/>
          <p:nvPr/>
        </p:nvSpPr>
        <p:spPr>
          <a:xfrm>
            <a:off x="1260640" y="3534340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3" name="Google Shape;693;g3a8be773fe5_0_447"/>
          <p:cNvSpPr/>
          <p:nvPr/>
        </p:nvSpPr>
        <p:spPr>
          <a:xfrm>
            <a:off x="445538" y="4286930"/>
            <a:ext cx="694500" cy="669600"/>
          </a:xfrm>
          <a:prstGeom prst="ellipse">
            <a:avLst/>
          </a:prstGeom>
          <a:solidFill>
            <a:srgbClr val="DB8E1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4" name="Google Shape;694;g3a8be773fe5_0_447"/>
          <p:cNvSpPr/>
          <p:nvPr/>
        </p:nvSpPr>
        <p:spPr>
          <a:xfrm>
            <a:off x="3066252" y="3486115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5" name="Google Shape;695;g3a8be773fe5_0_447"/>
          <p:cNvSpPr/>
          <p:nvPr/>
        </p:nvSpPr>
        <p:spPr>
          <a:xfrm>
            <a:off x="2424575" y="4246785"/>
            <a:ext cx="656100" cy="636900"/>
          </a:xfrm>
          <a:prstGeom prst="ellipse">
            <a:avLst/>
          </a:prstGeom>
          <a:solidFill>
            <a:srgbClr val="DB8E1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6" name="Google Shape;696;g3a8be773fe5_0_447"/>
          <p:cNvSpPr/>
          <p:nvPr/>
        </p:nvSpPr>
        <p:spPr>
          <a:xfrm>
            <a:off x="3930202" y="4246581"/>
            <a:ext cx="656100" cy="660900"/>
          </a:xfrm>
          <a:prstGeom prst="ellipse">
            <a:avLst/>
          </a:prstGeom>
          <a:solidFill>
            <a:srgbClr val="DB8E14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7" name="Google Shape;697;g3a8be773fe5_0_447"/>
          <p:cNvSpPr/>
          <p:nvPr/>
        </p:nvSpPr>
        <p:spPr>
          <a:xfrm>
            <a:off x="1772564" y="5044085"/>
            <a:ext cx="682500" cy="669600"/>
          </a:xfrm>
          <a:prstGeom prst="ellipse">
            <a:avLst/>
          </a:prstGeom>
          <a:solidFill>
            <a:srgbClr val="C00000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8" name="Google Shape;698;g3a8be773fe5_0_447"/>
          <p:cNvCxnSpPr/>
          <p:nvPr/>
        </p:nvCxnSpPr>
        <p:spPr>
          <a:xfrm flipH="1">
            <a:off x="1588648" y="3393171"/>
            <a:ext cx="896700" cy="1413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g3a8be773fe5_0_447"/>
          <p:cNvCxnSpPr/>
          <p:nvPr/>
        </p:nvCxnSpPr>
        <p:spPr>
          <a:xfrm>
            <a:off x="2485348" y="3393171"/>
            <a:ext cx="909000" cy="930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g3a8be773fe5_0_447"/>
          <p:cNvCxnSpPr/>
          <p:nvPr/>
        </p:nvCxnSpPr>
        <p:spPr>
          <a:xfrm flipH="1">
            <a:off x="792729" y="4171235"/>
            <a:ext cx="795900" cy="1158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g3a8be773fe5_0_447"/>
          <p:cNvCxnSpPr/>
          <p:nvPr/>
        </p:nvCxnSpPr>
        <p:spPr>
          <a:xfrm flipH="1">
            <a:off x="2752541" y="4123010"/>
            <a:ext cx="641700" cy="1239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g3a8be773fe5_0_447"/>
          <p:cNvCxnSpPr/>
          <p:nvPr/>
        </p:nvCxnSpPr>
        <p:spPr>
          <a:xfrm>
            <a:off x="3394241" y="4123010"/>
            <a:ext cx="864000" cy="123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g3a8be773fe5_0_447"/>
          <p:cNvCxnSpPr/>
          <p:nvPr/>
        </p:nvCxnSpPr>
        <p:spPr>
          <a:xfrm flipH="1">
            <a:off x="2113864" y="4883681"/>
            <a:ext cx="638700" cy="160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g3a8be773fe5_0_447"/>
          <p:cNvSpPr/>
          <p:nvPr/>
        </p:nvSpPr>
        <p:spPr>
          <a:xfrm>
            <a:off x="791455" y="5754572"/>
            <a:ext cx="682500" cy="669600"/>
          </a:xfrm>
          <a:prstGeom prst="ellipse">
            <a:avLst/>
          </a:prstGeom>
          <a:solidFill>
            <a:srgbClr val="00948C"/>
          </a:solidFill>
          <a:ln cap="rnd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5" name="Google Shape;705;g3a8be773fe5_0_447"/>
          <p:cNvCxnSpPr/>
          <p:nvPr/>
        </p:nvCxnSpPr>
        <p:spPr>
          <a:xfrm flipH="1">
            <a:off x="1174051" y="5728018"/>
            <a:ext cx="948900" cy="270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g3a8be773fe5_0_447"/>
          <p:cNvCxnSpPr/>
          <p:nvPr/>
        </p:nvCxnSpPr>
        <p:spPr>
          <a:xfrm>
            <a:off x="9572868" y="4880418"/>
            <a:ext cx="840900" cy="1740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g3a8be773fe5_0_447"/>
          <p:cNvSpPr/>
          <p:nvPr/>
        </p:nvSpPr>
        <p:spPr>
          <a:xfrm>
            <a:off x="5289725" y="3373779"/>
            <a:ext cx="1614300" cy="73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2FFF7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g3a8be773fe5_0_447"/>
          <p:cNvSpPr/>
          <p:nvPr/>
        </p:nvSpPr>
        <p:spPr>
          <a:xfrm flipH="1" rot="-2700000">
            <a:off x="10227120" y="4273383"/>
            <a:ext cx="227406" cy="714461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0053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a8be773fe5_0_48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AVL TREE - ROTACIÓN DERECHA</a:t>
            </a:r>
            <a:endParaRPr/>
          </a:p>
        </p:txBody>
      </p:sp>
      <p:sp>
        <p:nvSpPr>
          <p:cNvPr id="714" name="Google Shape;714;g3a8be773fe5_0_488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Pseudocódigo:</a:t>
            </a:r>
            <a:r>
              <a:rPr lang="es-AR" sz="2600"/>
              <a:t> </a:t>
            </a:r>
            <a:r>
              <a:rPr lang="es-AR" sz="2600">
                <a:solidFill>
                  <a:schemeClr val="lt1"/>
                </a:solidFill>
              </a:rPr>
              <a:t>(</a:t>
            </a:r>
            <a:r>
              <a:rPr lang="es-AR" sz="2600">
                <a:solidFill>
                  <a:srgbClr val="66FFD6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lang="es-AR" sz="2600">
                <a:solidFill>
                  <a:schemeClr val="lt1"/>
                </a:solidFill>
              </a:rPr>
              <a:t> </a:t>
            </a:r>
            <a:r>
              <a:rPr lang="es-AR" sz="2600">
                <a:solidFill>
                  <a:srgbClr val="B0E7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s-AR" sz="2600">
                <a:solidFill>
                  <a:schemeClr val="lt1"/>
                </a:solidFill>
              </a:rPr>
              <a:t>)</a:t>
            </a:r>
            <a:endParaRPr sz="2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546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2600">
                <a:solidFill>
                  <a:srgbClr val="66FFD6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lang="es-AR" sz="2600">
                <a:solidFill>
                  <a:schemeClr val="lt1"/>
                </a:solidFill>
              </a:rPr>
              <a:t> </a:t>
            </a:r>
            <a:r>
              <a:rPr lang="es-AR" sz="2600">
                <a:solidFill>
                  <a:srgbClr val="B0E7FF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s-AR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s-AR" sz="2600">
                <a:solidFill>
                  <a:srgbClr val="B0E7FF"/>
                </a:solidFill>
                <a:latin typeface="Arial"/>
                <a:ea typeface="Arial"/>
                <a:cs typeface="Arial"/>
                <a:sym typeface="Arial"/>
              </a:rPr>
              <a:t> y</a:t>
            </a:r>
            <a:r>
              <a:rPr lang="es-AR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.izq</a:t>
            </a:r>
            <a:endParaRPr sz="2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546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2600">
                <a:solidFill>
                  <a:srgbClr val="66FFD6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lang="es-AR" sz="2600">
                <a:solidFill>
                  <a:schemeClr val="lt1"/>
                </a:solidFill>
              </a:rPr>
              <a:t> </a:t>
            </a:r>
            <a:r>
              <a:rPr lang="es-AR" sz="2600">
                <a:solidFill>
                  <a:srgbClr val="B0E7FF"/>
                </a:solidFill>
                <a:latin typeface="Arial"/>
                <a:ea typeface="Arial"/>
                <a:cs typeface="Arial"/>
                <a:sym typeface="Arial"/>
              </a:rPr>
              <a:t>t2 </a:t>
            </a:r>
            <a:r>
              <a:rPr lang="es-AR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s-AR" sz="2600">
                <a:solidFill>
                  <a:srgbClr val="B0E7FF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r>
              <a:rPr lang="es-AR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.der</a:t>
            </a:r>
            <a:endParaRPr sz="2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546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2600">
                <a:solidFill>
                  <a:srgbClr val="B0E7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s-AR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.der</a:t>
            </a:r>
            <a:r>
              <a:rPr lang="es-AR" sz="2600">
                <a:solidFill>
                  <a:srgbClr val="B0E7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s-AR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s-AR" sz="2600">
                <a:solidFill>
                  <a:srgbClr val="B0E7FF"/>
                </a:solidFill>
                <a:latin typeface="Arial"/>
                <a:ea typeface="Arial"/>
                <a:cs typeface="Arial"/>
                <a:sym typeface="Arial"/>
              </a:rPr>
              <a:t> y</a:t>
            </a:r>
            <a:endParaRPr sz="2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546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2600">
                <a:solidFill>
                  <a:srgbClr val="B0E7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s-AR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.izq = </a:t>
            </a:r>
            <a:r>
              <a:rPr lang="es-AR" sz="2600">
                <a:solidFill>
                  <a:srgbClr val="B0E7FF"/>
                </a:solidFill>
                <a:latin typeface="Arial"/>
                <a:ea typeface="Arial"/>
                <a:cs typeface="Arial"/>
                <a:sym typeface="Arial"/>
              </a:rPr>
              <a:t>t2</a:t>
            </a:r>
            <a:endParaRPr/>
          </a:p>
          <a:p>
            <a:pPr indent="0" lvl="1" marL="546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AR" sz="2600">
                <a:solidFill>
                  <a:srgbClr val="DF9EF0"/>
                </a:solidFill>
                <a:latin typeface="Arial"/>
                <a:ea typeface="Arial"/>
                <a:cs typeface="Arial"/>
                <a:sym typeface="Arial"/>
              </a:rPr>
              <a:t>retornar </a:t>
            </a:r>
            <a:r>
              <a:rPr lang="es-AR" sz="2600">
                <a:solidFill>
                  <a:srgbClr val="B0E7F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s-AR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0978C92AED346A5B2D7523A4F38C1" ma:contentTypeVersion="11" ma:contentTypeDescription="Create a new document." ma:contentTypeScope="" ma:versionID="9b7c089625d03db1c6ed6f35da32867c">
  <xsd:schema xmlns:xsd="http://www.w3.org/2001/XMLSchema" xmlns:xs="http://www.w3.org/2001/XMLSchema" xmlns:p="http://schemas.microsoft.com/office/2006/metadata/properties" xmlns:ns2="6817ed02-5f63-452f-a9ab-4e2e87cdde74" xmlns:ns3="d9712c82-8ca0-418e-ada4-f7c700f483f3" targetNamespace="http://schemas.microsoft.com/office/2006/metadata/properties" ma:root="true" ma:fieldsID="3a7b83f13e99b01aa6e51fa71a333831" ns2:_="" ns3:_="">
    <xsd:import namespace="6817ed02-5f63-452f-a9ab-4e2e87cdde74"/>
    <xsd:import namespace="d9712c82-8ca0-418e-ada4-f7c700f483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12c82-8ca0-418e-ada4-f7c700f483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faab1de-4294-47d5-a1a3-1b1d16ca90d5}" ma:internalName="TaxCatchAll" ma:showField="CatchAllData" ma:web="d9712c82-8ca0-418e-ada4-f7c700f483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7ed02-5f63-452f-a9ab-4e2e87cdde74">
      <Terms xmlns="http://schemas.microsoft.com/office/infopath/2007/PartnerControls"/>
    </lcf76f155ced4ddcb4097134ff3c332f>
    <TaxCatchAll xmlns="d9712c82-8ca0-418e-ada4-f7c700f483f3" xsi:nil="true"/>
  </documentManagement>
</p:properties>
</file>

<file path=customXml/itemProps1.xml><?xml version="1.0" encoding="utf-8"?>
<ds:datastoreItem xmlns:ds="http://schemas.openxmlformats.org/officeDocument/2006/customXml" ds:itemID="{521224DB-59E4-448A-B4C2-EB28F95CCCC7}"/>
</file>

<file path=customXml/itemProps2.xml><?xml version="1.0" encoding="utf-8"?>
<ds:datastoreItem xmlns:ds="http://schemas.openxmlformats.org/officeDocument/2006/customXml" ds:itemID="{B2434937-C023-441C-B332-8884BB9CEBAB}"/>
</file>

<file path=customXml/itemProps3.xml><?xml version="1.0" encoding="utf-8"?>
<ds:datastoreItem xmlns:ds="http://schemas.openxmlformats.org/officeDocument/2006/customXml" ds:itemID="{D01277D4-5A1A-4E6E-8044-05B19035489F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