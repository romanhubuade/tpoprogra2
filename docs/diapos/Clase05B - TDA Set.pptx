
<file path=[Content_Types].xml><?xml version="1.0" encoding="utf-8"?>
<Types xmlns="http://schemas.openxmlformats.org/package/2006/content-types">
  <Default Extension="fntdata" ContentType="application/x-fontdata"/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custom-properties" Target="docProps/custom.xml"/><Relationship Id="rId2" Type="http://schemas.openxmlformats.org/officeDocument/2006/relationships/officeDocument" Target="ppt/presentation.xml"/><Relationship Id="rId1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embeddedFontLst>
    <p:embeddedFont>
      <p:font typeface="Roboto Mono"/>
      <p:regular r:id="rId23"/>
      <p:bold r:id="rId24"/>
      <p:italic r:id="rId25"/>
      <p:boldItalic r:id="rId26"/>
    </p:embeddedFont>
    <p:embeddedFont>
      <p:font typeface="Century Gothic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hb6RhGfx7tLJ5OiH3TMXYMVJi+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font" Target="fonts/RobotoMono-boldItalic.fntdata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1" Type="http://schemas.openxmlformats.org/officeDocument/2006/relationships/slide" Target="slides/slide16.xml"/><Relationship Id="rId3" Type="http://schemas.openxmlformats.org/officeDocument/2006/relationships/presProps" Target="presProps.xml"/><Relationship Id="rId34" Type="http://schemas.openxmlformats.org/officeDocument/2006/relationships/customXml" Target="../customXml/item3.xml"/><Relationship Id="rId25" Type="http://schemas.openxmlformats.org/officeDocument/2006/relationships/font" Target="fonts/RobotoMono-italic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3" Type="http://schemas.openxmlformats.org/officeDocument/2006/relationships/customXml" Target="../customXml/item2.xml"/><Relationship Id="rId20" Type="http://schemas.openxmlformats.org/officeDocument/2006/relationships/slide" Target="slides/slide15.xml"/><Relationship Id="rId2" Type="http://schemas.openxmlformats.org/officeDocument/2006/relationships/viewProps" Target="viewProps.xml"/><Relationship Id="rId29" Type="http://schemas.openxmlformats.org/officeDocument/2006/relationships/font" Target="fonts/CenturyGothic-italic.fntdata"/><Relationship Id="rId16" Type="http://schemas.openxmlformats.org/officeDocument/2006/relationships/slide" Target="slides/slide11.xml"/><Relationship Id="rId24" Type="http://schemas.openxmlformats.org/officeDocument/2006/relationships/font" Target="fonts/RobotoMono-bold.fntdata"/><Relationship Id="rId1" Type="http://schemas.openxmlformats.org/officeDocument/2006/relationships/theme" Target="theme/theme2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32" Type="http://schemas.openxmlformats.org/officeDocument/2006/relationships/customXml" Target="../customXml/item1.xml"/><Relationship Id="rId23" Type="http://schemas.openxmlformats.org/officeDocument/2006/relationships/font" Target="fonts/RobotoMono-regular.fntdata"/><Relationship Id="rId28" Type="http://schemas.openxmlformats.org/officeDocument/2006/relationships/font" Target="fonts/CenturyGothic-bold.fntdata"/><Relationship Id="rId5" Type="http://schemas.openxmlformats.org/officeDocument/2006/relationships/notesMaster" Target="notesMasters/notesMaster1.xml"/><Relationship Id="rId15" Type="http://schemas.openxmlformats.org/officeDocument/2006/relationships/slide" Target="slides/slide10.xml"/><Relationship Id="rId31" Type="http://customschemas.google.com/relationships/presentationmetadata" Target="meta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22" Type="http://schemas.openxmlformats.org/officeDocument/2006/relationships/slide" Target="slides/slide1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7" Type="http://schemas.openxmlformats.org/officeDocument/2006/relationships/font" Target="fonts/CenturyGothic-regular.fntdata"/><Relationship Id="rId30" Type="http://schemas.openxmlformats.org/officeDocument/2006/relationships/font" Target="fonts/CenturyGothic-boldItalic.fntdata"/><Relationship Id="rId14" Type="http://schemas.openxmlformats.org/officeDocument/2006/relationships/slide" Target="slides/slide9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70b3c5c6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g3970b3c5c6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70b3c5c61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g3970b3c5c61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712bde05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g39712bde05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712bde053_0_1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g39712bde053_0_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712bde053_0_2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g39712bde053_0_2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712bde053_0_2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g39712bde053_0_2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712bde053_0_2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g39712bde053_0_2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712bde053_0_1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g39712bde053_0_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712bde053_0_3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g39712bde053_0_3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712bde053_0_3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g39712bde053_0_3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71c1e9b51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g3971c1e9b51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71c1e9b51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g3971c1e9b51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712bde053_0_3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g39712bde053_0_3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971c1e9b5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g3971c1e9b5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712bde053_0_3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g39712bde053_0_3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9712bde053_0_1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g39712bde053_0_1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0"/>
          <p:cNvSpPr/>
          <p:nvPr/>
        </p:nvSpPr>
        <p:spPr>
          <a:xfrm>
            <a:off x="0" y="-3175"/>
            <a:ext cx="12192000" cy="5203825"/>
          </a:xfrm>
          <a:custGeom>
            <a:rect b="b" l="l" r="r" t="t"/>
            <a:pathLst>
              <a:path extrusionOk="0" h="3278" w="576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40"/>
          <p:cNvSpPr txBox="1"/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0"/>
          <p:cNvSpPr txBox="1"/>
          <p:nvPr>
            <p:ph idx="1" type="subTitle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40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0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0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1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1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1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2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42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2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30" name="Google Shape;30;p42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2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2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3"/>
          <p:cNvSpPr/>
          <p:nvPr/>
        </p:nvSpPr>
        <p:spPr>
          <a:xfrm>
            <a:off x="0" y="1"/>
            <a:ext cx="12192000" cy="5203825"/>
          </a:xfrm>
          <a:custGeom>
            <a:rect b="b" l="l" r="r" t="t"/>
            <a:pathLst>
              <a:path extrusionOk="0" h="3278" w="576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43"/>
          <p:cNvSpPr txBox="1"/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b="1" sz="48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3"/>
          <p:cNvSpPr txBox="1"/>
          <p:nvPr>
            <p:ph idx="1" type="body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43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3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3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4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44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4"/>
          <p:cNvSpPr txBox="1"/>
          <p:nvPr>
            <p:ph idx="1" type="body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4" name="Google Shape;44;p44"/>
          <p:cNvSpPr txBox="1"/>
          <p:nvPr>
            <p:ph idx="2" type="body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5" name="Google Shape;45;p44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4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4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5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45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5"/>
          <p:cNvSpPr txBox="1"/>
          <p:nvPr>
            <p:ph idx="1" type="body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45"/>
          <p:cNvSpPr txBox="1"/>
          <p:nvPr>
            <p:ph idx="2" type="body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3" name="Google Shape;53;p45"/>
          <p:cNvSpPr txBox="1"/>
          <p:nvPr>
            <p:ph idx="3" type="body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45"/>
          <p:cNvSpPr txBox="1"/>
          <p:nvPr>
            <p:ph idx="4" type="body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5" name="Google Shape;55;p45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5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5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6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6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6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6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6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7"/>
          <p:cNvSpPr/>
          <p:nvPr/>
        </p:nvSpPr>
        <p:spPr>
          <a:xfrm>
            <a:off x="1073151" y="446087"/>
            <a:ext cx="3547533" cy="1814651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47"/>
          <p:cNvSpPr txBox="1"/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7"/>
          <p:cNvSpPr txBox="1"/>
          <p:nvPr>
            <p:ph idx="1" type="body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68" name="Google Shape;68;p47"/>
          <p:cNvSpPr txBox="1"/>
          <p:nvPr>
            <p:ph idx="2" type="body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47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7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8"/>
          <p:cNvSpPr txBox="1"/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8"/>
          <p:cNvSpPr/>
          <p:nvPr>
            <p:ph idx="2" type="pic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5" name="Google Shape;75;p48"/>
          <p:cNvSpPr txBox="1"/>
          <p:nvPr>
            <p:ph idx="1" type="body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6" name="Google Shape;76;p48"/>
          <p:cNvSpPr txBox="1"/>
          <p:nvPr>
            <p:ph idx="10" type="dt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8"/>
          <p:cNvSpPr txBox="1"/>
          <p:nvPr>
            <p:ph idx="11" type="ftr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8"/>
          <p:cNvSpPr txBox="1"/>
          <p:nvPr>
            <p:ph idx="12" type="sldNum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9"/>
          <p:cNvSpPr txBox="1"/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9"/>
          <p:cNvSpPr/>
          <p:nvPr>
            <p:ph idx="2" type="pic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cap="rnd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82" name="Google Shape;82;p49"/>
          <p:cNvSpPr txBox="1"/>
          <p:nvPr>
            <p:ph idx="1" type="body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3" name="Google Shape;83;p49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9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9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0"/>
          <p:cNvSpPr/>
          <p:nvPr/>
        </p:nvSpPr>
        <p:spPr>
          <a:xfrm>
            <a:off x="631697" y="1081456"/>
            <a:ext cx="6332416" cy="3239188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0"/>
          <p:cNvSpPr txBox="1"/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b="1" sz="4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0"/>
          <p:cNvSpPr txBox="1"/>
          <p:nvPr>
            <p:ph idx="1" type="body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50"/>
          <p:cNvSpPr txBox="1"/>
          <p:nvPr>
            <p:ph idx="2" type="body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91" name="Google Shape;91;p50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50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50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1"/>
          <p:cNvSpPr/>
          <p:nvPr/>
        </p:nvSpPr>
        <p:spPr>
          <a:xfrm>
            <a:off x="1140884" y="2286585"/>
            <a:ext cx="4895115" cy="2503972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1"/>
          <p:cNvSpPr txBox="1"/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1"/>
          <p:cNvSpPr txBox="1"/>
          <p:nvPr>
            <p:ph idx="1" type="body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98" name="Google Shape;98;p51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51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51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2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52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52"/>
          <p:cNvSpPr txBox="1"/>
          <p:nvPr>
            <p:ph idx="1" type="body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105" name="Google Shape;105;p52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52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52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3"/>
          <p:cNvSpPr/>
          <p:nvPr/>
        </p:nvSpPr>
        <p:spPr>
          <a:xfrm>
            <a:off x="7669651" y="446089"/>
            <a:ext cx="4522349" cy="5414962"/>
          </a:xfrm>
          <a:custGeom>
            <a:rect b="b" l="l" r="r" t="t"/>
            <a:pathLst>
              <a:path extrusionOk="0" h="4320" w="2879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3"/>
          <p:cNvSpPr txBox="1"/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53"/>
          <p:cNvSpPr txBox="1"/>
          <p:nvPr>
            <p:ph idx="1" type="body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112" name="Google Shape;112;p53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53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53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b="1" i="0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9"/>
          <p:cNvSpPr txBox="1"/>
          <p:nvPr>
            <p:ph idx="1" type="body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" name="Google Shape;12;p39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" name="Google Shape;13;p39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39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"/>
          <p:cNvSpPr txBox="1"/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</a:pPr>
            <a:r>
              <a:rPr lang="es-AR"/>
              <a:t>TDA Set</a:t>
            </a:r>
            <a:endParaRPr/>
          </a:p>
        </p:txBody>
      </p:sp>
      <p:sp>
        <p:nvSpPr>
          <p:cNvPr id="120" name="Google Shape;120;p1"/>
          <p:cNvSpPr txBox="1"/>
          <p:nvPr>
            <p:ph idx="1" type="subTitle"/>
          </p:nvPr>
        </p:nvSpPr>
        <p:spPr>
          <a:xfrm>
            <a:off x="810000" y="5408853"/>
            <a:ext cx="6672979" cy="95000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i="1" lang="es-AR" sz="4000">
                <a:solidFill>
                  <a:srgbClr val="A5A5A5"/>
                </a:solidFill>
              </a:rPr>
              <a:t>Programación II</a:t>
            </a:r>
            <a:endParaRPr/>
          </a:p>
        </p:txBody>
      </p:sp>
      <p:pic>
        <p:nvPicPr>
          <p:cNvPr id="121" name="Google Shape;1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950" y="9541"/>
            <a:ext cx="2701797" cy="1157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70b3c5c61_0_0"/>
          <p:cNvSpPr txBox="1"/>
          <p:nvPr>
            <p:ph idx="4294967295" type="ctrTitle"/>
          </p:nvPr>
        </p:nvSpPr>
        <p:spPr>
          <a:xfrm>
            <a:off x="332509" y="1872886"/>
            <a:ext cx="11526900" cy="3112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lang="es-AR" sz="6600">
                <a:solidFill>
                  <a:srgbClr val="43FFF5"/>
                </a:solidFill>
              </a:rPr>
              <a:t>TDA SET</a:t>
            </a:r>
            <a:endParaRPr b="1" i="0" sz="66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70b3c5c61_0_4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entury Gothic"/>
              <a:buChar char="❖"/>
            </a:pPr>
            <a:r>
              <a:rPr lang="es-AR" sz="2600"/>
              <a:t>Un </a:t>
            </a:r>
            <a:r>
              <a:rPr b="1" lang="es-AR" sz="2600">
                <a:solidFill>
                  <a:srgbClr val="FF7B61"/>
                </a:solidFill>
              </a:rPr>
              <a:t>Set o Conjunto</a:t>
            </a:r>
            <a:r>
              <a:rPr lang="es-AR" sz="2600"/>
              <a:t> es una colección de elementos no repetidos.</a:t>
            </a:r>
            <a:endParaRPr sz="2600"/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entury Gothic"/>
              <a:buChar char="❖"/>
            </a:pPr>
            <a:r>
              <a:rPr lang="es-AR" sz="2600">
                <a:solidFill>
                  <a:srgbClr val="FF7B61"/>
                </a:solidFill>
              </a:rPr>
              <a:t>No se garantiza el orden</a:t>
            </a:r>
            <a:r>
              <a:rPr lang="es-AR" sz="2600"/>
              <a:t> de elementos dentro de la estructura.</a:t>
            </a:r>
            <a:endParaRPr sz="2600"/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entury Gothic"/>
              <a:buChar char="❖"/>
            </a:pPr>
            <a:r>
              <a:rPr lang="es-AR" sz="2600"/>
              <a:t>Permite operaciones de </a:t>
            </a:r>
            <a:r>
              <a:rPr lang="es-AR" sz="2600">
                <a:solidFill>
                  <a:srgbClr val="FF7B61"/>
                </a:solidFill>
              </a:rPr>
              <a:t>pertenencia</a:t>
            </a:r>
            <a:r>
              <a:rPr lang="es-AR" sz="2600"/>
              <a:t> y </a:t>
            </a:r>
            <a:r>
              <a:rPr lang="es-AR" sz="2600">
                <a:solidFill>
                  <a:srgbClr val="FF7B61"/>
                </a:solidFill>
              </a:rPr>
              <a:t>comparación</a:t>
            </a:r>
            <a:r>
              <a:rPr lang="es-AR" sz="2600"/>
              <a:t>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En Java existen </a:t>
            </a:r>
            <a:r>
              <a:rPr lang="es-AR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HashSet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AR" sz="2600"/>
              <a:t>, </a:t>
            </a:r>
            <a:r>
              <a:rPr lang="es-AR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LinkedHastSet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AR" sz="2600"/>
              <a:t> y </a:t>
            </a:r>
            <a:r>
              <a:rPr lang="es-AR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TreeSet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AR" sz="2600"/>
              <a:t>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Incluyen optimizaciones avanzadas, nosotros lo simplificamos.</a:t>
            </a:r>
            <a:endParaRPr sz="2600"/>
          </a:p>
        </p:txBody>
      </p:sp>
      <p:sp>
        <p:nvSpPr>
          <p:cNvPr id="132" name="Google Shape;132;g3970b3c5c61_0_4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s-AR" sz="4000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SET - CONCEPTO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712bde053_0_0"/>
          <p:cNvSpPr txBox="1"/>
          <p:nvPr>
            <p:ph idx="1" type="body"/>
          </p:nvPr>
        </p:nvSpPr>
        <p:spPr>
          <a:xfrm>
            <a:off x="290946" y="2286000"/>
            <a:ext cx="11568600" cy="4124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Algunos ejemplos de conjuntos, y sus intersecciones:</a:t>
            </a:r>
            <a:endParaRPr/>
          </a:p>
        </p:txBody>
      </p:sp>
      <p:pic>
        <p:nvPicPr>
          <p:cNvPr id="138" name="Google Shape;138;g39712bde05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343" y="3677534"/>
            <a:ext cx="2838876" cy="2732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9712bde053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32874" y="4076946"/>
            <a:ext cx="3362325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39712bde053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54679" y="3670422"/>
            <a:ext cx="2914886" cy="273242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9712bde053_0_0"/>
          <p:cNvSpPr txBox="1"/>
          <p:nvPr/>
        </p:nvSpPr>
        <p:spPr>
          <a:xfrm>
            <a:off x="927274" y="406817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s-AR" sz="4000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SET - CONCEPTO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712bde053_0_114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s-AR" sz="4000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SET - FUNCIONES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7" name="Google Shape;147;g39712bde053_0_114"/>
          <p:cNvSpPr txBox="1"/>
          <p:nvPr/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❖"/>
            </a:pP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public boolean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add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element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b="1" lang="es-AR" sz="2600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br>
              <a:rPr b="1" lang="es-AR" sz="2600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s-AR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Agrega el elemento. Al no ser repetibles, devuelve si fue exitoso.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❖"/>
            </a:pP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public boolean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remove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element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b="1" lang="es-AR" sz="2600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br>
              <a:rPr b="1" lang="es-AR" sz="2600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s-AR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Remueve</a:t>
            </a:r>
            <a:r>
              <a:rPr lang="es-AR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el elemento. Devuelve si fue exitoso.</a:t>
            </a:r>
            <a:endParaRPr sz="26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❖"/>
            </a:pP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public boolean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contains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element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b="1" lang="es-AR" sz="2600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br>
              <a:rPr b="1" lang="es-AR" sz="2600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s-AR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Devuelve si el conjunto contiene el elemento.</a:t>
            </a:r>
            <a:endParaRPr b="1" sz="2600">
              <a:solidFill>
                <a:srgbClr val="FF7B6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712bde053_0_286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lang="es-AR" sz="4000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SET - FUNCIONES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3" name="Google Shape;153;g39712bde053_0_286"/>
          <p:cNvSpPr txBox="1"/>
          <p:nvPr/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❖"/>
            </a:pP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private int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size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b="1" lang="es-AR" sz="2600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br>
              <a:rPr b="1" lang="es-AR" sz="2600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s-AR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</a:t>
            </a:r>
            <a:r>
              <a:rPr lang="es-AR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evuelve la cantidad de elementos en el conjunto</a:t>
            </a:r>
            <a:r>
              <a:rPr lang="es-AR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❖"/>
            </a:pP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private boolean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isEmpty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b="1" lang="es-AR" sz="2600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br>
              <a:rPr b="1" lang="es-AR" sz="2600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s-AR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Devuelve si est</a:t>
            </a:r>
            <a:r>
              <a:rPr lang="es-AR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á vacío</a:t>
            </a:r>
            <a:r>
              <a:rPr lang="es-AR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26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❖"/>
            </a:pP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private void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clear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b="1" lang="es-AR" sz="2600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br>
              <a:rPr b="1" lang="es-AR" sz="2600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s-AR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Vacía el conjunto.</a:t>
            </a:r>
            <a:endParaRPr b="1" sz="2600">
              <a:solidFill>
                <a:srgbClr val="FF7B6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712bde053_0_291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lang="es-AR" sz="4000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SET - FUNCIONES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9" name="Google Shape;159;g39712bde053_0_291"/>
          <p:cNvSpPr txBox="1"/>
          <p:nvPr/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❖"/>
            </a:pP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private 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[]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toArray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b="1" lang="es-AR" sz="2600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br>
              <a:rPr b="1" lang="es-AR" sz="2600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s-AR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Devuelve un array con todos los elementos del conjunto.</a:t>
            </a:r>
            <a:endParaRPr b="1" sz="2600">
              <a:solidFill>
                <a:srgbClr val="FF7B6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712bde053_0_296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lang="es-AR" sz="4000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SET - FUNCIONES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5" name="Google Shape;165;g39712bde053_0_296"/>
          <p:cNvSpPr txBox="1"/>
          <p:nvPr/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❖"/>
            </a:pP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public </a:t>
            </a:r>
            <a:r>
              <a:rPr lang="es-AR" sz="2600">
                <a:solidFill>
                  <a:srgbClr val="43FFF5"/>
                </a:solidFill>
                <a:latin typeface="Roboto Mono"/>
                <a:ea typeface="Roboto Mono"/>
                <a:cs typeface="Roboto Mono"/>
                <a:sym typeface="Roboto Mono"/>
              </a:rPr>
              <a:t>SimpleSet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AR" sz="2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unionWith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AR" sz="2600">
                <a:solidFill>
                  <a:srgbClr val="43FFF5"/>
                </a:solidFill>
                <a:latin typeface="Roboto Mono"/>
                <a:ea typeface="Roboto Mono"/>
                <a:cs typeface="Roboto Mono"/>
                <a:sym typeface="Roboto Mono"/>
              </a:rPr>
              <a:t>SimpleSet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AR" sz="2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other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b="1" lang="es-AR" sz="2600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br>
              <a:rPr b="1" lang="es-AR" sz="2600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s-AR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Devuelve un Set con todos los elementos de éste y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other</a:t>
            </a:r>
            <a:r>
              <a:rPr lang="es-AR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❖"/>
            </a:pP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public </a:t>
            </a:r>
            <a:r>
              <a:rPr lang="es-AR" sz="2600">
                <a:solidFill>
                  <a:srgbClr val="43FFF5"/>
                </a:solidFill>
                <a:latin typeface="Roboto Mono"/>
                <a:ea typeface="Roboto Mono"/>
                <a:cs typeface="Roboto Mono"/>
                <a:sym typeface="Roboto Mono"/>
              </a:rPr>
              <a:t>SimpleSet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AR" sz="2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intersectWith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AR" sz="2600">
                <a:solidFill>
                  <a:srgbClr val="43FFF5"/>
                </a:solidFill>
                <a:latin typeface="Roboto Mono"/>
                <a:ea typeface="Roboto Mono"/>
                <a:cs typeface="Roboto Mono"/>
                <a:sym typeface="Roboto Mono"/>
              </a:rPr>
              <a:t>SimpleSet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AR" sz="2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other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br>
              <a:rPr b="1" lang="es-AR" sz="2600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s-AR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Devuelve un Set con los elementos que existen en ambos.</a:t>
            </a:r>
            <a:endParaRPr sz="26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❖"/>
            </a:pP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public </a:t>
            </a:r>
            <a:r>
              <a:rPr lang="es-AR" sz="2600">
                <a:solidFill>
                  <a:srgbClr val="43FFF5"/>
                </a:solidFill>
                <a:latin typeface="Roboto Mono"/>
                <a:ea typeface="Roboto Mono"/>
                <a:cs typeface="Roboto Mono"/>
                <a:sym typeface="Roboto Mono"/>
              </a:rPr>
              <a:t>SimpleSet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AR" sz="2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differenceWith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AR" sz="2600">
                <a:solidFill>
                  <a:srgbClr val="43FFF5"/>
                </a:solidFill>
                <a:latin typeface="Roboto Mono"/>
                <a:ea typeface="Roboto Mono"/>
                <a:cs typeface="Roboto Mono"/>
                <a:sym typeface="Roboto Mono"/>
              </a:rPr>
              <a:t>SimpleSet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AR" sz="2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other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br>
              <a:rPr b="1" lang="es-AR" sz="2600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s-AR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Devuelve un Set con los elementos que </a:t>
            </a:r>
            <a:r>
              <a:rPr lang="es-AR" sz="2600" u="sng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</a:t>
            </a:r>
            <a:r>
              <a:rPr lang="es-AR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contiene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other</a:t>
            </a:r>
            <a:r>
              <a:rPr lang="es-AR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b="1" sz="2600">
              <a:solidFill>
                <a:srgbClr val="FF7B6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712bde053_0_129"/>
          <p:cNvSpPr txBox="1"/>
          <p:nvPr/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730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43FFF5"/>
                </a:solidFill>
                <a:latin typeface="Roboto Mono"/>
                <a:ea typeface="Roboto Mono"/>
                <a:cs typeface="Roboto Mono"/>
                <a:sym typeface="Roboto Mono"/>
              </a:rPr>
              <a:t>SimpleSet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-AR" sz="2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s-AR" sz="2600">
                <a:solidFill>
                  <a:srgbClr val="FFFF0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i="0" lang="es-AR" sz="26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= {</a:t>
            </a:r>
            <a:r>
              <a:rPr i="0" lang="es-AR" sz="2600" u="none" cap="none" strike="noStrike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i="0" lang="es-AR" sz="26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i="0" lang="es-AR" sz="2600" cap="none" strike="noStrike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i="0" lang="es-AR" sz="26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i="0" lang="es-AR" sz="2600" u="none" cap="none" strike="noStrike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i="0" lang="es-AR" sz="26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i="0" sz="2600" u="none" cap="none" strike="noStrike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730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43FFF5"/>
                </a:solidFill>
                <a:latin typeface="Roboto Mono"/>
                <a:ea typeface="Roboto Mono"/>
                <a:cs typeface="Roboto Mono"/>
                <a:sym typeface="Roboto Mono"/>
              </a:rPr>
              <a:t>SimpleSet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-AR" sz="2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s-AR" sz="2600">
                <a:solidFill>
                  <a:srgbClr val="FFFF00"/>
                </a:solidFill>
                <a:latin typeface="Roboto Mono"/>
                <a:ea typeface="Roboto Mono"/>
                <a:cs typeface="Roboto Mono"/>
                <a:sym typeface="Roboto Mono"/>
              </a:rPr>
              <a:t>b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= {</a:t>
            </a:r>
            <a:r>
              <a:rPr lang="es-AR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s-AR" sz="2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-AR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s-AR" sz="2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-AR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lang="es-AR" sz="2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b="0" i="0" sz="26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30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Roboto Mono"/>
              <a:buChar char="❖"/>
            </a:pPr>
            <a:r>
              <a:rPr lang="es-AR" sz="2600">
                <a:solidFill>
                  <a:srgbClr val="FFFF0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lang="es-AR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-AR" sz="2600">
                <a:solidFill>
                  <a:srgbClr val="ADFF66"/>
                </a:solidFill>
                <a:latin typeface="Roboto Mono"/>
                <a:ea typeface="Roboto Mono"/>
                <a:cs typeface="Roboto Mono"/>
                <a:sym typeface="Roboto Mono"/>
              </a:rPr>
              <a:t>unionWith</a:t>
            </a:r>
            <a:r>
              <a:rPr i="0" lang="es-AR" sz="26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b</a:t>
            </a:r>
            <a:r>
              <a:rPr i="0" lang="es-AR" sz="26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lang="es-AR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-&gt;</a:t>
            </a:r>
            <a:r>
              <a:rPr i="0" lang="es-AR" sz="26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r>
              <a:rPr i="0" lang="es-AR" sz="2600" u="none" cap="none" strike="noStrike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i="0" lang="es-AR" sz="26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i="0" lang="es-AR" sz="2600" u="none" cap="none" strike="noStrike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i="0" lang="es-AR" sz="26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i="0" lang="es-AR" sz="2600" u="none" cap="none" strike="noStrike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i="0" lang="es-AR" sz="26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i="0" lang="es-AR" sz="2600" u="none" cap="none" strike="noStrike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i="0" lang="es-AR" sz="26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i="0" lang="es-AR" sz="2600" u="none" cap="none" strike="noStrike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i="0" lang="es-AR" sz="26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i="0" sz="2600" u="none" cap="none" strike="noStrike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730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0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lang="es-AR" sz="2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-AR" sz="2600">
                <a:solidFill>
                  <a:srgbClr val="ADFF66"/>
                </a:solidFill>
                <a:latin typeface="Roboto Mono"/>
                <a:ea typeface="Roboto Mono"/>
                <a:cs typeface="Roboto Mono"/>
                <a:sym typeface="Roboto Mono"/>
              </a:rPr>
              <a:t>intersectWith</a:t>
            </a:r>
            <a:r>
              <a:rPr lang="es-AR" sz="2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b</a:t>
            </a:r>
            <a:r>
              <a:rPr lang="es-AR" sz="2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) -&gt; {</a:t>
            </a:r>
            <a:r>
              <a:rPr lang="es-AR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s-AR" sz="2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b="0" i="0" sz="2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30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0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lang="es-AR" sz="2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-AR" sz="2600">
                <a:solidFill>
                  <a:srgbClr val="ADFF66"/>
                </a:solidFill>
                <a:latin typeface="Roboto Mono"/>
                <a:ea typeface="Roboto Mono"/>
                <a:cs typeface="Roboto Mono"/>
                <a:sym typeface="Roboto Mono"/>
              </a:rPr>
              <a:t>differenceWith</a:t>
            </a:r>
            <a:r>
              <a:rPr lang="es-AR" sz="2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b</a:t>
            </a:r>
            <a:r>
              <a:rPr lang="es-AR" sz="2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) -&gt; {</a:t>
            </a:r>
            <a:r>
              <a:rPr lang="es-AR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s-AR" sz="2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-AR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s-AR" sz="2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b="0" i="0" sz="2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30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00"/>
                </a:solidFill>
                <a:latin typeface="Roboto Mono"/>
                <a:ea typeface="Roboto Mono"/>
                <a:cs typeface="Roboto Mono"/>
                <a:sym typeface="Roboto Mono"/>
              </a:rPr>
              <a:t>b</a:t>
            </a:r>
            <a:r>
              <a:rPr lang="es-AR" sz="2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-AR" sz="2600">
                <a:solidFill>
                  <a:srgbClr val="ADFF66"/>
                </a:solidFill>
                <a:latin typeface="Roboto Mono"/>
                <a:ea typeface="Roboto Mono"/>
                <a:cs typeface="Roboto Mono"/>
                <a:sym typeface="Roboto Mono"/>
              </a:rPr>
              <a:t>differenceWith</a:t>
            </a:r>
            <a:r>
              <a:rPr lang="es-AR" sz="2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lang="es-AR" sz="2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) -&gt; {</a:t>
            </a:r>
            <a:r>
              <a:rPr lang="es-AR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s-AR" sz="2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-AR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lang="es-AR" sz="2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b="0" i="0" sz="2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1" name="Google Shape;171;g39712bde053_0_129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SET - OPERACIONES ENTRE SETS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712bde053_0_301"/>
          <p:cNvSpPr txBox="1"/>
          <p:nvPr>
            <p:ph idx="4294967295" type="ctrTitle"/>
          </p:nvPr>
        </p:nvSpPr>
        <p:spPr>
          <a:xfrm>
            <a:off x="332509" y="1872886"/>
            <a:ext cx="11526900" cy="3112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lang="es-AR" sz="6600">
                <a:solidFill>
                  <a:srgbClr val="43FFF5"/>
                </a:solidFill>
              </a:rPr>
              <a:t>IMPLEMENTACIÓN</a:t>
            </a:r>
            <a:endParaRPr sz="6600">
              <a:solidFill>
                <a:srgbClr val="43FFF5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712bde053_0_305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En Java existen </a:t>
            </a:r>
            <a:r>
              <a:rPr lang="es-AR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HashSet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AR" sz="2600"/>
              <a:t>, </a:t>
            </a:r>
            <a:r>
              <a:rPr lang="es-AR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LinkedHastSet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AR" sz="2600"/>
              <a:t> y </a:t>
            </a:r>
            <a:r>
              <a:rPr lang="es-AR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TreeSet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AR" sz="2600"/>
              <a:t>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Incluyen optimizaciones avanzadas, nosotros lo simplificamos.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Interfaz: </a:t>
            </a:r>
            <a:r>
              <a:rPr lang="es-AR" sz="2600">
                <a:solidFill>
                  <a:srgbClr val="43FFF5"/>
                </a:solidFill>
                <a:latin typeface="Roboto Mono"/>
                <a:ea typeface="Roboto Mono"/>
                <a:cs typeface="Roboto Mono"/>
                <a:sym typeface="Roboto Mono"/>
              </a:rPr>
              <a:t>SimpleSet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AR" sz="2600"/>
              <a:t>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Clases: </a:t>
            </a:r>
            <a:r>
              <a:rPr lang="es-AR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SimpleArraySet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AR" sz="2600"/>
              <a:t> y </a:t>
            </a:r>
            <a:r>
              <a:rPr lang="es-AR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SimpleLinkedSet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AR" sz="2600"/>
              <a:t>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Tiramos </a:t>
            </a:r>
            <a:r>
              <a:rPr lang="es-AR" sz="2600">
                <a:solidFill>
                  <a:srgbClr val="ADFF66"/>
                </a:solidFill>
                <a:latin typeface="Roboto Mono"/>
                <a:ea typeface="Roboto Mono"/>
                <a:cs typeface="Roboto Mono"/>
                <a:sym typeface="Roboto Mono"/>
              </a:rPr>
              <a:t>IllegalArgumentException</a:t>
            </a:r>
            <a:r>
              <a:rPr lang="es-AR" sz="2600"/>
              <a:t> si se intenta agregar un </a:t>
            </a: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es-AR" sz="2600"/>
              <a:t>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Lo mismo si se intenta operar con un Set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other</a:t>
            </a:r>
            <a:r>
              <a:rPr lang="es-AR" sz="2600"/>
              <a:t> </a:t>
            </a: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es-AR" sz="2600"/>
              <a:t>. </a:t>
            </a:r>
            <a:endParaRPr sz="2600"/>
          </a:p>
        </p:txBody>
      </p:sp>
      <p:sp>
        <p:nvSpPr>
          <p:cNvPr id="182" name="Google Shape;182;g39712bde053_0_305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s-AR" sz="4000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IMPLEMENTACIÓN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71c1e9b51_0_11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La complejidad temporal es igual en ambas implementaciones.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Todos los procesos básicos son O(n).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En algún punto se debe iterar sobre todo el Set.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contains</a:t>
            </a:r>
            <a:r>
              <a:rPr lang="es-AR" sz="2600"/>
              <a:t>: para chequear si existe.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add</a:t>
            </a:r>
            <a:r>
              <a:rPr lang="es-AR" sz="2600"/>
              <a:t>: llama a 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contains</a:t>
            </a:r>
            <a:r>
              <a:rPr lang="es-AR" sz="2600"/>
              <a:t>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remove</a:t>
            </a:r>
            <a:r>
              <a:rPr lang="es-AR" sz="2600"/>
              <a:t>: itera para buscar y remover (similar a 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contains</a:t>
            </a:r>
            <a:r>
              <a:rPr lang="es-AR" sz="2600"/>
              <a:t>).</a:t>
            </a:r>
            <a:endParaRPr sz="2600"/>
          </a:p>
        </p:txBody>
      </p:sp>
      <p:sp>
        <p:nvSpPr>
          <p:cNvPr id="188" name="Google Shape;188;g3971c1e9b51_0_11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s-AR" sz="4000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IMPLEMENTACIÓN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71c1e9b51_0_16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Las implementaciones de Set preexistentes optimizan los procesos.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Dado que son iguales y sub</a:t>
            </a:r>
            <a:r>
              <a:rPr lang="es-AR" sz="2600"/>
              <a:t>óptmias, no nos preocupamos por ellas.</a:t>
            </a:r>
            <a:endParaRPr sz="2600"/>
          </a:p>
        </p:txBody>
      </p:sp>
      <p:sp>
        <p:nvSpPr>
          <p:cNvPr id="194" name="Google Shape;194;g3971c1e9b51_0_16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s-AR" sz="4000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IMPLEMENTACIÓN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712bde053_0_311"/>
          <p:cNvSpPr txBox="1"/>
          <p:nvPr>
            <p:ph idx="4294967295" type="ctrTitle"/>
          </p:nvPr>
        </p:nvSpPr>
        <p:spPr>
          <a:xfrm>
            <a:off x="332509" y="1872886"/>
            <a:ext cx="11526900" cy="3112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lang="es-AR" sz="6600">
                <a:solidFill>
                  <a:srgbClr val="43FFF5"/>
                </a:solidFill>
              </a:rPr>
              <a:t>IMPLEMENTACIÓN</a:t>
            </a:r>
            <a:endParaRPr sz="6600">
              <a:solidFill>
                <a:srgbClr val="43FFF5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lang="es-AR" sz="6600">
                <a:solidFill>
                  <a:srgbClr val="43FFF5"/>
                </a:solidFill>
              </a:rPr>
              <a:t>EST</a:t>
            </a:r>
            <a:r>
              <a:rPr lang="es-AR" sz="6600">
                <a:solidFill>
                  <a:srgbClr val="43FFF5"/>
                </a:solidFill>
              </a:rPr>
              <a:t>ÁTICA</a:t>
            </a:r>
            <a:endParaRPr sz="6600">
              <a:solidFill>
                <a:srgbClr val="43FFF5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71c1e9b51_0_0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Aplican los mismos procesos que en otras estructuras estáticas: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validateSize</a:t>
            </a:r>
            <a:r>
              <a:rPr lang="es-AR" sz="2600"/>
              <a:t> y 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resize</a:t>
            </a:r>
            <a:r>
              <a:rPr lang="es-AR" sz="2600"/>
              <a:t>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El orden no se garantiza, entonces </a:t>
            </a:r>
            <a:r>
              <a:rPr lang="es-AR" sz="2600">
                <a:solidFill>
                  <a:srgbClr val="FF7B61"/>
                </a:solidFill>
              </a:rPr>
              <a:t>no corremos todo</a:t>
            </a:r>
            <a:r>
              <a:rPr lang="es-AR" sz="2600"/>
              <a:t>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Para remover, </a:t>
            </a:r>
            <a:r>
              <a:rPr lang="es-AR" sz="2600">
                <a:solidFill>
                  <a:srgbClr val="FF7B61"/>
                </a:solidFill>
              </a:rPr>
              <a:t>solo se mueve el </a:t>
            </a:r>
            <a:r>
              <a:rPr lang="es-AR" sz="2600">
                <a:solidFill>
                  <a:srgbClr val="FF7B61"/>
                </a:solidFill>
              </a:rPr>
              <a:t>último elemento al lugar vacío</a:t>
            </a:r>
            <a:r>
              <a:rPr lang="es-AR" sz="2600"/>
              <a:t>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Si se remueve el último o único elemento, se nullea.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Para insertar, siempre al final.</a:t>
            </a:r>
            <a:endParaRPr sz="2600"/>
          </a:p>
        </p:txBody>
      </p:sp>
      <p:sp>
        <p:nvSpPr>
          <p:cNvPr id="205" name="Google Shape;205;g3971c1e9b51_0_0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s-AR" sz="4000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IMPLEMENTACIÓN EST</a:t>
            </a:r>
            <a:r>
              <a:rPr b="1" lang="es-AR" sz="4000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ÁTICA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9712bde053_0_315"/>
          <p:cNvSpPr txBox="1"/>
          <p:nvPr>
            <p:ph idx="4294967295" type="ctrTitle"/>
          </p:nvPr>
        </p:nvSpPr>
        <p:spPr>
          <a:xfrm>
            <a:off x="332509" y="1872886"/>
            <a:ext cx="11526900" cy="3112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lang="es-AR" sz="6600">
                <a:solidFill>
                  <a:srgbClr val="43FFF5"/>
                </a:solidFill>
              </a:rPr>
              <a:t>IMPLEMENTACIÓN</a:t>
            </a:r>
            <a:endParaRPr sz="6600">
              <a:solidFill>
                <a:srgbClr val="43FFF5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lang="es-AR" sz="6600">
                <a:solidFill>
                  <a:srgbClr val="43FFF5"/>
                </a:solidFill>
              </a:rPr>
              <a:t>DIN</a:t>
            </a:r>
            <a:r>
              <a:rPr lang="es-AR" sz="6600">
                <a:solidFill>
                  <a:srgbClr val="43FFF5"/>
                </a:solidFill>
              </a:rPr>
              <a:t>ÁMICA</a:t>
            </a:r>
            <a:endParaRPr sz="6600">
              <a:solidFill>
                <a:srgbClr val="43FFF5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9712bde053_0_165"/>
          <p:cNvSpPr txBox="1"/>
          <p:nvPr>
            <p:ph idx="1" type="body"/>
          </p:nvPr>
        </p:nvSpPr>
        <p:spPr>
          <a:xfrm>
            <a:off x="290946" y="2286000"/>
            <a:ext cx="11568600" cy="4124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Font typeface="Noto Sans Symbols"/>
              <a:buChar char="❖"/>
            </a:pPr>
            <a:r>
              <a:rPr lang="es-AR" sz="2600"/>
              <a:t>La implementación dinámica no introduce elementos nuevos.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Todas las operaciones siguen siendo O(n) debido a las búsquedas.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Los conceptos de chequeo son iguales que en Set estático.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El recorrido es igual que en otras estructuras dinámicas.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La reconexión de nodos es igual que en otras estructuras dinámicas.</a:t>
            </a:r>
            <a:endParaRPr sz="2600"/>
          </a:p>
        </p:txBody>
      </p:sp>
      <p:sp>
        <p:nvSpPr>
          <p:cNvPr id="216" name="Google Shape;216;g39712bde053_0_165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SET - IMPLEMENTACIÓN DINÁMICA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Quotable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A0978C92AED346A5B2D7523A4F38C1" ma:contentTypeVersion="11" ma:contentTypeDescription="Create a new document." ma:contentTypeScope="" ma:versionID="9b7c089625d03db1c6ed6f35da32867c">
  <xsd:schema xmlns:xsd="http://www.w3.org/2001/XMLSchema" xmlns:xs="http://www.w3.org/2001/XMLSchema" xmlns:p="http://schemas.microsoft.com/office/2006/metadata/properties" xmlns:ns2="6817ed02-5f63-452f-a9ab-4e2e87cdde74" xmlns:ns3="d9712c82-8ca0-418e-ada4-f7c700f483f3" targetNamespace="http://schemas.microsoft.com/office/2006/metadata/properties" ma:root="true" ma:fieldsID="3a7b83f13e99b01aa6e51fa71a333831" ns2:_="" ns3:_="">
    <xsd:import namespace="6817ed02-5f63-452f-a9ab-4e2e87cdde74"/>
    <xsd:import namespace="d9712c82-8ca0-418e-ada4-f7c700f483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17ed02-5f63-452f-a9ab-4e2e87cdde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80f935f-056e-43d0-a9c3-6f0a0280ba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712c82-8ca0-418e-ada4-f7c700f483f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faab1de-4294-47d5-a1a3-1b1d16ca90d5}" ma:internalName="TaxCatchAll" ma:showField="CatchAllData" ma:web="d9712c82-8ca0-418e-ada4-f7c700f483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817ed02-5f63-452f-a9ab-4e2e87cdde74">
      <Terms xmlns="http://schemas.microsoft.com/office/infopath/2007/PartnerControls"/>
    </lcf76f155ced4ddcb4097134ff3c332f>
    <TaxCatchAll xmlns="d9712c82-8ca0-418e-ada4-f7c700f483f3" xsi:nil="true"/>
  </documentManagement>
</p:properties>
</file>

<file path=customXml/itemProps1.xml><?xml version="1.0" encoding="utf-8"?>
<ds:datastoreItem xmlns:ds="http://schemas.openxmlformats.org/officeDocument/2006/customXml" ds:itemID="{CB1C80DF-12E5-4999-9A5E-AC8A99B5225C}"/>
</file>

<file path=customXml/itemProps2.xml><?xml version="1.0" encoding="utf-8"?>
<ds:datastoreItem xmlns:ds="http://schemas.openxmlformats.org/officeDocument/2006/customXml" ds:itemID="{0E51C699-2434-47EF-A972-37FCADC1FA99}"/>
</file>

<file path=customXml/itemProps3.xml><?xml version="1.0" encoding="utf-8"?>
<ds:datastoreItem xmlns:ds="http://schemas.openxmlformats.org/officeDocument/2006/customXml" ds:itemID="{4647D2DF-198B-4F18-AD68-835EE12293FD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Federico Pardo</dc:creator>
  <dcterms:created xsi:type="dcterms:W3CDTF">2018-04-10T17:58:03Z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0x010100B0A0978C92AED346A5B2D7523A4F38C1</vt:lpwstr>
  </property>
</Properties>
</file>