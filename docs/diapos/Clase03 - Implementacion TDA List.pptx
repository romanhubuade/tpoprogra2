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embeddedFontLst>
    <p:embeddedFont>
      <p:font typeface="Roboto Mono"/>
      <p:regular r:id="rId43"/>
      <p:bold r:id="rId44"/>
      <p:italic r:id="rId45"/>
      <p:boldItalic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g1sRjo1GPwk2QdZeNVIhwPAY7+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font" Target="fonts/CenturyGothic-regular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font" Target="fonts/RobotoMono-italic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11" Type="http://schemas.openxmlformats.org/officeDocument/2006/relationships/slide" Target="slides/slide6.xml"/><Relationship Id="rId53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44" Type="http://schemas.openxmlformats.org/officeDocument/2006/relationships/font" Target="fonts/RobotoMono-bold.fntdata"/><Relationship Id="rId31" Type="http://schemas.openxmlformats.org/officeDocument/2006/relationships/slide" Target="slides/slide2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52" Type="http://schemas.openxmlformats.org/officeDocument/2006/relationships/customXml" Target="../customXml/item1.xml"/><Relationship Id="rId43" Type="http://schemas.openxmlformats.org/officeDocument/2006/relationships/font" Target="fonts/RobotoMono-regular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bold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51" Type="http://customschemas.google.com/relationships/presentationmetadata" Target="metadata"/><Relationship Id="rId3" Type="http://schemas.openxmlformats.org/officeDocument/2006/relationships/presProps" Target="presProps.xml"/><Relationship Id="rId46" Type="http://schemas.openxmlformats.org/officeDocument/2006/relationships/font" Target="fonts/RobotoMono-boldItalic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customXml" Target="../customXml/item3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font" Target="fonts/CenturyGothic-italic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419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62187284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962187284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62187284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62187284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62187284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962187284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3118ea11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d3118ea11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118ea114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d3118ea114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3118ea114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d3118ea114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3118ea1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d3118ea11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118ea11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d3118ea11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3118ea11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d3118ea11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3118ea114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d3118ea114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3118ea114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d3118ea114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3118ea11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d3118ea11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3118ea114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d3118ea11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3bb1e772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d3bb1e772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3bb1e772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d3bb1e772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3bb1e772c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d3bb1e772c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3e562cdf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d3e562cdf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3e562cdfa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d3e562cdfa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3e562cdfa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d3e562cdfa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3e562cdfa_0_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d3e562cdfa_0_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3e562cdfa_0_4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d3e562cdfa_0_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3e562cdfa_0_7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3d3e562cdfa_0_7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3e562cdfa_0_7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d3e562cdfa_0_7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3e562cdfa_0_5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d3e562cdfa_0_5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3e562cdfa_0_5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d3e562cdfa_0_5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3e562cdfa_0_7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g3d3e562cdfa_0_7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3e562cdfa_0_9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d3e562cdfa_0_9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3e562cdfa_0_8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d3e562cdfa_0_8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d3e562cdfa_0_9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d3e562cdfa_0_9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3e562cdf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g3d3e562cdf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3e562cdfa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d3e562cdfa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3e562cdfa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g3d3e562cdfa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3e562cdfa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3d3e562cdfa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d3e562cdfa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0" name="Google Shape;570;g3d3e562cdfa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3e562cdfa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d3e562cdfa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ta4aGa2PIY87sBQ8xrGB4dUuzl55aRNZ/view" TargetMode="External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419"/>
              <a:t>Implementaciones List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1" lang="es-419" sz="4000">
                <a:solidFill>
                  <a:srgbClr val="A5A5A5"/>
                </a:solidFill>
              </a:rPr>
              <a:t>Programación II</a:t>
            </a:r>
            <a:endParaRPr b="1" i="1" sz="4000">
              <a:solidFill>
                <a:srgbClr val="A5A5A5"/>
              </a:solidFill>
            </a:endParaRPr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621872847_0_10"/>
          <p:cNvSpPr txBox="1"/>
          <p:nvPr>
            <p:ph idx="4294967295" type="ctrTitle"/>
          </p:nvPr>
        </p:nvSpPr>
        <p:spPr>
          <a:xfrm>
            <a:off x="1814818" y="2346754"/>
            <a:ext cx="8562300" cy="216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419" sz="6600">
                <a:solidFill>
                  <a:srgbClr val="43FFF5"/>
                </a:solidFill>
              </a:rPr>
              <a:t>REPASO </a:t>
            </a:r>
            <a:r>
              <a:rPr b="1" i="0" lang="es-419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LIST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REPASO</a:t>
            </a:r>
            <a:endParaRPr/>
          </a:p>
        </p:txBody>
      </p:sp>
      <p:sp>
        <p:nvSpPr>
          <p:cNvPr id="132" name="Google Shape;132;p78"/>
          <p:cNvSpPr txBox="1"/>
          <p:nvPr>
            <p:ph idx="1" type="body"/>
          </p:nvPr>
        </p:nvSpPr>
        <p:spPr>
          <a:xfrm>
            <a:off x="314241" y="2507512"/>
            <a:ext cx="11555272" cy="407108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La clase pasada vimos</a:t>
            </a:r>
            <a:r>
              <a:rPr lang="es-419" sz="2600">
                <a:solidFill>
                  <a:srgbClr val="FFFFFF"/>
                </a:solidFill>
              </a:rPr>
              <a:t> el </a:t>
            </a:r>
            <a:r>
              <a:rPr b="1" lang="es-419" sz="2600">
                <a:solidFill>
                  <a:srgbClr val="FF7B61"/>
                </a:solidFill>
              </a:rPr>
              <a:t>TDA</a:t>
            </a:r>
            <a:r>
              <a:rPr lang="es-419" sz="2600">
                <a:solidFill>
                  <a:srgbClr val="FFFFFF"/>
                </a:solidFill>
              </a:rPr>
              <a:t> </a:t>
            </a:r>
            <a:r>
              <a:rPr b="1" lang="es-419" sz="2600">
                <a:solidFill>
                  <a:srgbClr val="FF7B61"/>
                </a:solidFill>
              </a:rPr>
              <a:t>List</a:t>
            </a:r>
            <a:r>
              <a:rPr lang="es-419" sz="2600"/>
              <a:t>, repasamos sus conceptos básicos: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En Java, su </a:t>
            </a:r>
            <a:r>
              <a:rPr lang="es-419" sz="2600">
                <a:solidFill>
                  <a:srgbClr val="FF7B61"/>
                </a:solidFill>
              </a:rPr>
              <a:t>interfaz</a:t>
            </a:r>
            <a:r>
              <a:rPr lang="es-419" sz="2600"/>
              <a:t> es</a:t>
            </a:r>
            <a:r>
              <a:rPr lang="es-419" sz="2600">
                <a:solidFill>
                  <a:srgbClr val="FFFFFF"/>
                </a:solidFill>
              </a:rPr>
              <a:t>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/>
              <a:t>Su </a:t>
            </a:r>
            <a:r>
              <a:rPr lang="es-419" sz="2600">
                <a:solidFill>
                  <a:srgbClr val="FF7B61"/>
                </a:solidFill>
              </a:rPr>
              <a:t>implementación estática</a:t>
            </a:r>
            <a:r>
              <a:rPr lang="es-419" sz="2600"/>
              <a:t> es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ArrayList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/>
              <a:t>Su </a:t>
            </a:r>
            <a:r>
              <a:rPr lang="es-419" sz="2600">
                <a:solidFill>
                  <a:srgbClr val="FF7B61"/>
                </a:solidFill>
              </a:rPr>
              <a:t>implementación dinámica</a:t>
            </a:r>
            <a:r>
              <a:rPr lang="es-419" sz="2600"/>
              <a:t> es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LinkedList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621872847_0_2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REPASO</a:t>
            </a:r>
            <a:endParaRPr/>
          </a:p>
        </p:txBody>
      </p:sp>
      <p:sp>
        <p:nvSpPr>
          <p:cNvPr id="138" name="Google Shape;138;g39621872847_0_25"/>
          <p:cNvSpPr txBox="1"/>
          <p:nvPr>
            <p:ph idx="1" type="body"/>
          </p:nvPr>
        </p:nvSpPr>
        <p:spPr>
          <a:xfrm>
            <a:off x="314241" y="2507512"/>
            <a:ext cx="115554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El TDA List tiene como puntos principales</a:t>
            </a:r>
            <a:r>
              <a:rPr lang="es-419" sz="2600"/>
              <a:t>: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</a:rPr>
              <a:t>Agregar</a:t>
            </a:r>
            <a:r>
              <a:rPr lang="es-419" sz="2600"/>
              <a:t> y </a:t>
            </a:r>
            <a:r>
              <a:rPr lang="es-419" sz="2600">
                <a:solidFill>
                  <a:srgbClr val="FF7B61"/>
                </a:solidFill>
              </a:rPr>
              <a:t>remover</a:t>
            </a:r>
            <a:r>
              <a:rPr lang="es-419" sz="2600"/>
              <a:t> elementos.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FF7B61"/>
                </a:solidFill>
              </a:rPr>
              <a:t>Obtener</a:t>
            </a:r>
            <a:r>
              <a:rPr lang="es-419" sz="2600"/>
              <a:t> y </a:t>
            </a:r>
            <a:r>
              <a:rPr lang="es-419" sz="2600">
                <a:solidFill>
                  <a:srgbClr val="FF7B61"/>
                </a:solidFill>
              </a:rPr>
              <a:t>actualizar</a:t>
            </a:r>
            <a:r>
              <a:rPr lang="es-419" sz="2600"/>
              <a:t> elementos.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FF7B61"/>
                </a:solidFill>
              </a:rPr>
              <a:t>Limpiar</a:t>
            </a:r>
            <a:r>
              <a:rPr lang="es-419" sz="2600"/>
              <a:t> la lista.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Obtener la </a:t>
            </a:r>
            <a:r>
              <a:rPr lang="es-419" sz="2600">
                <a:solidFill>
                  <a:srgbClr val="FF7B61"/>
                </a:solidFill>
              </a:rPr>
              <a:t>cantidad de elementos</a:t>
            </a:r>
            <a:r>
              <a:rPr lang="es-419" sz="2600"/>
              <a:t> en la lista, y </a:t>
            </a:r>
            <a:r>
              <a:rPr lang="es-419" sz="2600">
                <a:solidFill>
                  <a:srgbClr val="FF7B61"/>
                </a:solidFill>
              </a:rPr>
              <a:t>si está vacía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Chequear </a:t>
            </a:r>
            <a:r>
              <a:rPr lang="es-419" sz="2600">
                <a:solidFill>
                  <a:srgbClr val="FF7B61"/>
                </a:solidFill>
              </a:rPr>
              <a:t>si existe</a:t>
            </a:r>
            <a:r>
              <a:rPr lang="es-419" sz="2600"/>
              <a:t> un elemento y obtener </a:t>
            </a:r>
            <a:r>
              <a:rPr lang="es-419" sz="2600">
                <a:solidFill>
                  <a:srgbClr val="FF7B61"/>
                </a:solidFill>
              </a:rPr>
              <a:t>su índice</a:t>
            </a:r>
            <a:r>
              <a:rPr lang="es-419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21872847_0_3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REPASO</a:t>
            </a:r>
            <a:endParaRPr/>
          </a:p>
        </p:txBody>
      </p:sp>
      <p:sp>
        <p:nvSpPr>
          <p:cNvPr id="144" name="Google Shape;144;g39621872847_0_30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La interfaz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>
                <a:solidFill>
                  <a:srgbClr val="FFFFFF"/>
                </a:solidFill>
              </a:rPr>
              <a:t> </a:t>
            </a:r>
            <a:r>
              <a:rPr lang="es-419" sz="2600"/>
              <a:t>incluye: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add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s-419" sz="2600"/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).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remove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remove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get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set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clear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size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,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isEmpty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contains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,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indexOf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3118ea114_0_5"/>
          <p:cNvSpPr txBox="1"/>
          <p:nvPr>
            <p:ph idx="4294967295" type="ctrTitle"/>
          </p:nvPr>
        </p:nvSpPr>
        <p:spPr>
          <a:xfrm>
            <a:off x="1814818" y="2346754"/>
            <a:ext cx="8562300" cy="216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419" sz="6600">
                <a:solidFill>
                  <a:srgbClr val="43FFF5"/>
                </a:solidFill>
              </a:rPr>
              <a:t>IMPLEMENTACIÓN ESTÁTICA</a:t>
            </a:r>
            <a:r>
              <a:rPr lang="es-419" sz="6600">
                <a:solidFill>
                  <a:srgbClr val="43FFF5"/>
                </a:solidFill>
              </a:rPr>
              <a:t> TDA LIST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3118ea114_0_2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55" name="Google Shape;155;g3d3118ea114_0_20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Para simplificar, vamos a omitir otras funciones de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Al ser una implementación estática, </a:t>
            </a:r>
            <a:r>
              <a:rPr lang="es-419" sz="2600">
                <a:solidFill>
                  <a:srgbClr val="FF7B61"/>
                </a:solidFill>
              </a:rPr>
              <a:t>internamente usa un array</a:t>
            </a:r>
            <a:r>
              <a:rPr lang="es-419" sz="2600"/>
              <a:t>.</a:t>
            </a:r>
            <a:endParaRPr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[]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elements</a:t>
            </a:r>
            <a:endParaRPr sz="2600">
              <a:solidFill>
                <a:srgbClr val="7FEC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A su vez, necesitamos llevar cuenta de los elementos en uso.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endParaRPr sz="2600">
              <a:solidFill>
                <a:srgbClr val="7FEC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Actualizamos size cada vez que agregamos o removemos.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3118ea114_0_2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61" name="Google Shape;161;g3d3118ea114_0_25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Se pueden crear listas con y sin especificar su tamaño inicial.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Para eso usamos </a:t>
            </a:r>
            <a:r>
              <a:rPr lang="es-419" sz="2600">
                <a:solidFill>
                  <a:srgbClr val="FF7B61"/>
                </a:solidFill>
              </a:rPr>
              <a:t>dos constructores distintos</a:t>
            </a:r>
            <a:r>
              <a:rPr lang="es-419" sz="2600"/>
              <a:t>, y un tamaño default.</a:t>
            </a:r>
            <a:endParaRPr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static final 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DEFAULT_CAPACITY = 4</a:t>
            </a:r>
            <a:endParaRPr sz="2600">
              <a:solidFill>
                <a:srgbClr val="7FEC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Par</a:t>
            </a:r>
            <a:r>
              <a:rPr lang="es-419" sz="2600"/>
              <a:t>a inicializar el array, debemos hacer lo siguiente: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elements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= (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[])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 new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];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Según el caso,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capacity</a:t>
            </a:r>
            <a:r>
              <a:rPr lang="es-419" sz="2600"/>
              <a:t> es el default o lo que reciba por parámetro.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3118ea114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67" name="Google Shape;167;g3d3118ea114_0_0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No podemos agrandar un array, así que lo </a:t>
            </a:r>
            <a:r>
              <a:rPr lang="es-419" sz="2600">
                <a:solidFill>
                  <a:srgbClr val="FF7B61"/>
                </a:solidFill>
              </a:rPr>
              <a:t>reemplazamos al llenarse</a:t>
            </a:r>
            <a:r>
              <a:rPr lang="es-419" sz="2600"/>
              <a:t>.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Creamos uno nuevo con el doble de tamaño, y copiamos todo.</a:t>
            </a:r>
            <a:endParaRPr sz="2600"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A su vez, al remover corremos todos los elementos sin dejar espacios.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118ea114_0_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73" name="Google Shape;173;g3d3118ea114_0_9"/>
          <p:cNvSpPr txBox="1"/>
          <p:nvPr>
            <p:ph idx="1" type="body"/>
          </p:nvPr>
        </p:nvSpPr>
        <p:spPr>
          <a:xfrm>
            <a:off x="314250" y="2507500"/>
            <a:ext cx="11790900" cy="59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FFFF"/>
                </a:solidFill>
              </a:rPr>
              <a:t>Visualización simplificada:</a:t>
            </a:r>
            <a:endParaRPr sz="2600"/>
          </a:p>
        </p:txBody>
      </p:sp>
      <p:pic>
        <p:nvPicPr>
          <p:cNvPr id="174" name="Google Shape;174;g3d3118ea114_0_9" title="List Anim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0900" y="3103000"/>
            <a:ext cx="3450200" cy="34502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rgbClr val="43FFF5">
                <a:alpha val="75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3118ea114_0_1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80" name="Google Shape;180;g3d3118ea114_0_15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FFFF"/>
                </a:solidFill>
              </a:rPr>
              <a:t>En todas las funciones add, chequeamos el tamaño.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Como es una operación repetible, creamos una función para eso: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validateSize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newSize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entury Gothic"/>
              <a:buChar char="❖"/>
            </a:pPr>
            <a:r>
              <a:rPr lang="es-419" sz="2600"/>
              <a:t>Si el nuevo tamaño supera al length del array, lo duplicamos.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Para eso también creamos otra función: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resize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validateSize</a:t>
            </a:r>
            <a:r>
              <a:rPr lang="es-419" sz="2600"/>
              <a:t> llama a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resize</a:t>
            </a:r>
            <a:r>
              <a:rPr lang="es-419" sz="2600"/>
              <a:t> de ser necesario.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3118ea114_0_3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86" name="Google Shape;186;g3d3118ea114_0_35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FFFF"/>
                </a:solidFill>
              </a:rPr>
              <a:t>En todas las funciones que reciban un índice, lo validamos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Ese proceso también es repetible y lleva su función: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validateIndex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entury Gothic"/>
              <a:buChar char="❖"/>
            </a:pPr>
            <a:r>
              <a:rPr lang="es-419" sz="2600"/>
              <a:t>Si el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&lt; 0</a:t>
            </a:r>
            <a:r>
              <a:rPr lang="es-419" sz="2600"/>
              <a:t> o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 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&gt;=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419" sz="2600"/>
              <a:t>, tiramos una </a:t>
            </a:r>
            <a:r>
              <a:rPr lang="es-419" sz="2600">
                <a:solidFill>
                  <a:srgbClr val="FF7B61"/>
                </a:solidFill>
              </a:rPr>
              <a:t>excepción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throw new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IndexOutOfBoundsException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entury Gothic"/>
              <a:buChar char="❖"/>
            </a:pPr>
            <a:r>
              <a:rPr lang="es-419" sz="2600"/>
              <a:t>Llamamos a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validateIndex</a:t>
            </a:r>
            <a:r>
              <a:rPr lang="es-419" sz="2600"/>
              <a:t>, y luego continuamos la operación.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3118ea114_0_4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92" name="Google Shape;192;g3d3118ea114_0_40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¿Cómo hacemos para correr todos los elementos del array, para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>
                <a:solidFill>
                  <a:srgbClr val="FFFFFF"/>
                </a:solidFill>
              </a:rPr>
              <a:t> y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>
                <a:solidFill>
                  <a:srgbClr val="FFFFFF"/>
                </a:solidFill>
              </a:rPr>
              <a:t>?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3118ea114_0_4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198" name="Google Shape;198;g3d3118ea114_0_45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¿Cómo hacemos para correr todos los elementos del array, para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>
                <a:solidFill>
                  <a:srgbClr val="FFFFFF"/>
                </a:solidFill>
              </a:rPr>
              <a:t> y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419" sz="2600">
                <a:solidFill>
                  <a:srgbClr val="FFFFFF"/>
                </a:solidFill>
              </a:rPr>
              <a:t>?</a:t>
            </a:r>
            <a:endParaRPr sz="2600">
              <a:solidFill>
                <a:srgbClr val="FFFFFF"/>
              </a:solidFill>
            </a:endParaRPr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Mono"/>
              <a:buChar char="❖"/>
            </a:pP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¡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!</a:t>
            </a:r>
            <a:endParaRPr sz="2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3118ea114_0_5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ESTÁTICA</a:t>
            </a:r>
            <a:endParaRPr/>
          </a:p>
        </p:txBody>
      </p:sp>
      <p:sp>
        <p:nvSpPr>
          <p:cNvPr id="204" name="Google Shape;204;g3d3118ea114_0_50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FFFF"/>
                </a:solidFill>
              </a:rPr>
              <a:t>A partir de ahí, todas las funciones involucran operaciones como:</a:t>
            </a:r>
            <a:endParaRPr sz="2600">
              <a:solidFill>
                <a:srgbClr val="FFFFFF"/>
              </a:solidFill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Acceder a elementos por </a:t>
            </a:r>
            <a:r>
              <a:rPr lang="es-419" sz="2600"/>
              <a:t>índice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Devolver y escribir elementos.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Chequear si las operaciones fueron exitosas.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Actualizar </a:t>
            </a:r>
            <a:r>
              <a:rPr lang="es-419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419" sz="2600"/>
              <a:t>.</a:t>
            </a:r>
            <a:endParaRPr sz="2600"/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Nullear el último índice al remover, para limpiar referencias inútiles.</a:t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3bb1e772c_0_0"/>
          <p:cNvSpPr txBox="1"/>
          <p:nvPr>
            <p:ph idx="4294967295" type="ctrTitle"/>
          </p:nvPr>
        </p:nvSpPr>
        <p:spPr>
          <a:xfrm>
            <a:off x="1814818" y="2346754"/>
            <a:ext cx="8562300" cy="216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419" sz="6600">
                <a:solidFill>
                  <a:srgbClr val="43FFF5"/>
                </a:solidFill>
              </a:rPr>
              <a:t>IMPLEMENTACIÓN DINÁMICA TDA LIST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3bb1e772c_0_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215" name="Google Shape;215;g3d3bb1e772c_0_4"/>
          <p:cNvSpPr txBox="1"/>
          <p:nvPr>
            <p:ph idx="1" type="body"/>
          </p:nvPr>
        </p:nvSpPr>
        <p:spPr>
          <a:xfrm>
            <a:off x="314250" y="2507500"/>
            <a:ext cx="11790900" cy="4071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Esta implementación usa </a:t>
            </a:r>
            <a:r>
              <a:rPr lang="es-419" sz="2600">
                <a:solidFill>
                  <a:srgbClr val="FF7B61"/>
                </a:solidFill>
              </a:rPr>
              <a:t>Nodos Enlazados</a:t>
            </a:r>
            <a:r>
              <a:rPr lang="es-419" sz="2600">
                <a:solidFill>
                  <a:srgbClr val="FFFFFF"/>
                </a:solidFill>
              </a:rPr>
              <a:t> en vez de array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La lista va a guardar </a:t>
            </a:r>
            <a:r>
              <a:rPr lang="es-419" sz="2600">
                <a:solidFill>
                  <a:srgbClr val="FF7B61"/>
                </a:solidFill>
              </a:rPr>
              <a:t>referencias al primero y al último</a:t>
            </a:r>
            <a:r>
              <a:rPr lang="es-419" sz="2600"/>
              <a:t>.</a:t>
            </a:r>
            <a:endParaRPr sz="2600">
              <a:solidFill>
                <a:srgbClr val="7FEC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Mantenemos la variable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3bb1e772c_0_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221" name="Google Shape;221;g3d3bb1e772c_0_9"/>
          <p:cNvSpPr txBox="1"/>
          <p:nvPr>
            <p:ph idx="1" type="body"/>
          </p:nvPr>
        </p:nvSpPr>
        <p:spPr>
          <a:xfrm>
            <a:off x="314250" y="2381525"/>
            <a:ext cx="11790900" cy="1353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Vamos a crear entonces una clase </a:t>
            </a:r>
            <a:r>
              <a:rPr lang="es-419" sz="2600">
                <a:solidFill>
                  <a:srgbClr val="0070C0"/>
                </a:solidFill>
                <a:latin typeface="Roboto Mono"/>
                <a:ea typeface="Roboto Mono"/>
                <a:cs typeface="Roboto Mono"/>
                <a:sym typeface="Roboto Mono"/>
              </a:rPr>
              <a:t>LinkedNode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>
                <a:solidFill>
                  <a:srgbClr val="FFFFFF"/>
                </a:solidFill>
              </a:rPr>
              <a:t>.</a:t>
            </a:r>
            <a:endParaRPr/>
          </a:p>
          <a:p>
            <a:pPr indent="-2857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s-419" sz="2600"/>
              <a:t>Guarda un dato tipo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/>
              <a:t>, y referencias al anterior y siguiente. </a:t>
            </a:r>
            <a:endParaRPr sz="2600"/>
          </a:p>
        </p:txBody>
      </p:sp>
      <p:grpSp>
        <p:nvGrpSpPr>
          <p:cNvPr id="222" name="Google Shape;222;g3d3bb1e772c_0_9"/>
          <p:cNvGrpSpPr/>
          <p:nvPr/>
        </p:nvGrpSpPr>
        <p:grpSpPr>
          <a:xfrm>
            <a:off x="475500" y="4146431"/>
            <a:ext cx="1845000" cy="2310300"/>
            <a:chOff x="713775" y="1999375"/>
            <a:chExt cx="1845000" cy="2310300"/>
          </a:xfrm>
        </p:grpSpPr>
        <p:sp>
          <p:nvSpPr>
            <p:cNvPr id="223" name="Google Shape;223;g3d3bb1e772c_0_9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rgbClr val="636363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g3d3bb1e772c_0_9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g3d3bb1e772c_0_9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g3d3bb1e772c_0_9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g3d3bb1e772c_0_9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28" name="Google Shape;228;g3d3bb1e772c_0_9"/>
          <p:cNvGrpSpPr/>
          <p:nvPr/>
        </p:nvGrpSpPr>
        <p:grpSpPr>
          <a:xfrm>
            <a:off x="3424975" y="4146431"/>
            <a:ext cx="1845000" cy="2310300"/>
            <a:chOff x="713775" y="1999375"/>
            <a:chExt cx="1845000" cy="2310300"/>
          </a:xfrm>
        </p:grpSpPr>
        <p:sp>
          <p:nvSpPr>
            <p:cNvPr id="229" name="Google Shape;229;g3d3bb1e772c_0_9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rgbClr val="636363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g3d3bb1e772c_0_9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g3d3bb1e772c_0_9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g3d3bb1e772c_0_9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3" name="Google Shape;233;g3d3bb1e772c_0_9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234" name="Google Shape;234;g3d3bb1e772c_0_9"/>
          <p:cNvCxnSpPr/>
          <p:nvPr/>
        </p:nvCxnSpPr>
        <p:spPr>
          <a:xfrm flipH="1" rot="10800000">
            <a:off x="2219020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" name="Google Shape;235;g3d3bb1e772c_0_9"/>
          <p:cNvCxnSpPr/>
          <p:nvPr/>
        </p:nvCxnSpPr>
        <p:spPr>
          <a:xfrm rot="10800000">
            <a:off x="2221550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236" name="Google Shape;236;g3d3bb1e772c_0_9"/>
          <p:cNvGrpSpPr/>
          <p:nvPr/>
        </p:nvGrpSpPr>
        <p:grpSpPr>
          <a:xfrm>
            <a:off x="6688225" y="4146431"/>
            <a:ext cx="1845000" cy="2310300"/>
            <a:chOff x="713775" y="1999375"/>
            <a:chExt cx="1845000" cy="2310300"/>
          </a:xfrm>
        </p:grpSpPr>
        <p:sp>
          <p:nvSpPr>
            <p:cNvPr id="237" name="Google Shape;237;g3d3bb1e772c_0_9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rgbClr val="636363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8" name="Google Shape;238;g3d3bb1e772c_0_9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9" name="Google Shape;239;g3d3bb1e772c_0_9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0" name="Google Shape;240;g3d3bb1e772c_0_9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1" name="Google Shape;241;g3d3bb1e772c_0_9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02</a:t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42" name="Google Shape;242;g3d3bb1e772c_0_9"/>
          <p:cNvGrpSpPr/>
          <p:nvPr/>
        </p:nvGrpSpPr>
        <p:grpSpPr>
          <a:xfrm>
            <a:off x="9637700" y="4146431"/>
            <a:ext cx="1845000" cy="2310300"/>
            <a:chOff x="713775" y="1999375"/>
            <a:chExt cx="1845000" cy="2310300"/>
          </a:xfrm>
        </p:grpSpPr>
        <p:sp>
          <p:nvSpPr>
            <p:cNvPr id="243" name="Google Shape;243;g3d3bb1e772c_0_9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rgbClr val="636363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4" name="Google Shape;244;g3d3bb1e772c_0_9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5" name="Google Shape;245;g3d3bb1e772c_0_9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6" name="Google Shape;246;g3d3bb1e772c_0_9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7" name="Google Shape;247;g3d3bb1e772c_0_9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9525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03</a:t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248" name="Google Shape;248;g3d3bb1e772c_0_9"/>
          <p:cNvCxnSpPr/>
          <p:nvPr/>
        </p:nvCxnSpPr>
        <p:spPr>
          <a:xfrm flipH="1" rot="10800000">
            <a:off x="8431745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" name="Google Shape;249;g3d3bb1e772c_0_9"/>
          <p:cNvCxnSpPr/>
          <p:nvPr/>
        </p:nvCxnSpPr>
        <p:spPr>
          <a:xfrm rot="10800000">
            <a:off x="8434275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" name="Google Shape;250;g3d3bb1e772c_0_9"/>
          <p:cNvCxnSpPr/>
          <p:nvPr/>
        </p:nvCxnSpPr>
        <p:spPr>
          <a:xfrm flipH="1" rot="10800000">
            <a:off x="5168495" y="4497156"/>
            <a:ext cx="16185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1" name="Google Shape;251;g3d3bb1e772c_0_9"/>
          <p:cNvCxnSpPr/>
          <p:nvPr/>
        </p:nvCxnSpPr>
        <p:spPr>
          <a:xfrm rot="10800000">
            <a:off x="5170975" y="4497156"/>
            <a:ext cx="16134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3e562cdfa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257" name="Google Shape;257;g3d3e562cdfa_0_0"/>
          <p:cNvSpPr txBox="1"/>
          <p:nvPr>
            <p:ph idx="1" type="body"/>
          </p:nvPr>
        </p:nvSpPr>
        <p:spPr>
          <a:xfrm>
            <a:off x="286650" y="2323750"/>
            <a:ext cx="11591100" cy="4149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Una lista enlazada, </a:t>
            </a:r>
            <a:r>
              <a:rPr lang="es-419" sz="2600"/>
              <a:t>al no tener array, </a:t>
            </a:r>
            <a:r>
              <a:rPr lang="es-419" sz="2600">
                <a:solidFill>
                  <a:srgbClr val="FF7B61"/>
                </a:solidFill>
              </a:rPr>
              <a:t>no necesita resize</a:t>
            </a:r>
            <a:r>
              <a:rPr lang="es-419" sz="2600"/>
              <a:t>.</a:t>
            </a:r>
            <a:endParaRPr sz="2600">
              <a:solidFill>
                <a:srgbClr val="FFFFFF"/>
              </a:solidFill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En vez de copiar todo, simplemente conecta los nuevos nodos.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Teniendo la referencia a un Nodo, insertar y remover es más rápido.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Existen Listas </a:t>
            </a:r>
            <a:r>
              <a:rPr lang="es-419" sz="2600">
                <a:solidFill>
                  <a:srgbClr val="FF7B61"/>
                </a:solidFill>
              </a:rPr>
              <a:t>Simplemente Enlazadas</a:t>
            </a:r>
            <a:r>
              <a:rPr lang="es-419" sz="2600"/>
              <a:t> y </a:t>
            </a:r>
            <a:r>
              <a:rPr lang="es-419" sz="2600">
                <a:solidFill>
                  <a:srgbClr val="FF7B61"/>
                </a:solidFill>
              </a:rPr>
              <a:t>Doblemente Enlazadas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3e562cdfa_0_11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263" name="Google Shape;263;g3d3e562cdfa_0_111"/>
          <p:cNvSpPr txBox="1"/>
          <p:nvPr>
            <p:ph idx="1" type="body"/>
          </p:nvPr>
        </p:nvSpPr>
        <p:spPr>
          <a:xfrm>
            <a:off x="286640" y="2323750"/>
            <a:ext cx="11591100" cy="171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Una desventaja es que los Nodos están </a:t>
            </a:r>
            <a:r>
              <a:rPr lang="es-419" sz="2600">
                <a:solidFill>
                  <a:srgbClr val="FF7B61"/>
                </a:solidFill>
              </a:rPr>
              <a:t>dispersos en memoria</a:t>
            </a:r>
            <a:r>
              <a:rPr lang="es-419" sz="2600">
                <a:solidFill>
                  <a:srgbClr val="FFFFFF"/>
                </a:solidFill>
              </a:rPr>
              <a:t>.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La única forma de encontrar un Nodo por índice es iterando.</a:t>
            </a:r>
            <a:endParaRPr/>
          </a:p>
        </p:txBody>
      </p:sp>
      <p:pic>
        <p:nvPicPr>
          <p:cNvPr descr="A green and black rectangular object with white squares&#10;&#10;AI-generated content may be incorrect." id="264" name="Google Shape;264;g3d3e562cdfa_0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4768" y="4179007"/>
            <a:ext cx="3917644" cy="2264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yellow rectangular object with white lines and dots&#10;&#10;AI-generated content may be incorrect." id="265" name="Google Shape;265;g3d3e562cdfa_0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6455" y="4179008"/>
            <a:ext cx="3991092" cy="2259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3e562cdfa_0_22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271" name="Google Shape;271;g3d3e562cdfa_0_226"/>
          <p:cNvSpPr txBox="1"/>
          <p:nvPr/>
        </p:nvSpPr>
        <p:spPr>
          <a:xfrm>
            <a:off x="286640" y="2323750"/>
            <a:ext cx="11591100" cy="42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Array</a:t>
            </a:r>
            <a:r>
              <a:rPr i="0" lang="es-419" sz="2600" u="none" cap="none" strike="noStrike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b="0" i="0" lang="es-419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 más rápida para acceder por índice y para iterar.</a:t>
            </a:r>
            <a:endParaRPr b="0" i="0" sz="2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i="0" lang="es-419" sz="2600" u="none" cap="none" strike="noStrike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LinkedList</a:t>
            </a:r>
            <a:r>
              <a:rPr b="0" i="0" lang="es-419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 más rápida para acceder por referencia </a:t>
            </a:r>
            <a:r>
              <a:rPr b="0" i="0" lang="es-419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 nodo</a:t>
            </a:r>
            <a:r>
              <a:rPr b="0" i="0" lang="es-419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419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Generalmente usamos </a:t>
            </a:r>
            <a:r>
              <a:rPr i="0" lang="es-419" sz="2600" u="none" cap="none" strike="noStrike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b="0" i="0" lang="es-419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más seguido.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3e562cdfa_0_33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grpSp>
        <p:nvGrpSpPr>
          <p:cNvPr id="277" name="Google Shape;277;g3d3e562cdfa_0_337"/>
          <p:cNvGrpSpPr/>
          <p:nvPr/>
        </p:nvGrpSpPr>
        <p:grpSpPr>
          <a:xfrm>
            <a:off x="677476" y="4274962"/>
            <a:ext cx="1845000" cy="2310300"/>
            <a:chOff x="713775" y="1999375"/>
            <a:chExt cx="1845000" cy="2310300"/>
          </a:xfrm>
        </p:grpSpPr>
        <p:sp>
          <p:nvSpPr>
            <p:cNvPr id="278" name="Google Shape;278;g3d3e562cdfa_0_337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9" name="Google Shape;279;g3d3e562cdfa_0_337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0" name="Google Shape;280;g3d3e562cdfa_0_337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1" name="Google Shape;281;g3d3e562cdfa_0_337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2" name="Google Shape;282;g3d3e562cdfa_0_337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83" name="Google Shape;283;g3d3e562cdfa_0_337"/>
          <p:cNvGrpSpPr/>
          <p:nvPr/>
        </p:nvGrpSpPr>
        <p:grpSpPr>
          <a:xfrm>
            <a:off x="3626951" y="4274962"/>
            <a:ext cx="1845000" cy="2310300"/>
            <a:chOff x="713775" y="1999375"/>
            <a:chExt cx="1845000" cy="2310300"/>
          </a:xfrm>
        </p:grpSpPr>
        <p:sp>
          <p:nvSpPr>
            <p:cNvPr id="284" name="Google Shape;284;g3d3e562cdfa_0_337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5" name="Google Shape;285;g3d3e562cdfa_0_337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6" name="Google Shape;286;g3d3e562cdfa_0_337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g3d3e562cdfa_0_337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8" name="Google Shape;288;g3d3e562cdfa_0_337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289" name="Google Shape;289;g3d3e562cdfa_0_337"/>
          <p:cNvCxnSpPr/>
          <p:nvPr/>
        </p:nvCxnSpPr>
        <p:spPr>
          <a:xfrm flipH="1" rot="10800000">
            <a:off x="2420996" y="4625687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g3d3e562cdfa_0_337"/>
          <p:cNvCxnSpPr/>
          <p:nvPr/>
        </p:nvCxnSpPr>
        <p:spPr>
          <a:xfrm rot="10800000">
            <a:off x="2423526" y="4625687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g3d3e562cdfa_0_337"/>
          <p:cNvSpPr/>
          <p:nvPr/>
        </p:nvSpPr>
        <p:spPr>
          <a:xfrm>
            <a:off x="6571664" y="4891716"/>
            <a:ext cx="1647300" cy="7665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g3d3e562cdfa_0_337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void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dd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Crea un </a:t>
            </a:r>
            <a:r>
              <a:rPr lang="es-419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LinkedNode</a:t>
            </a:r>
            <a:r>
              <a:rPr lang="es-419" sz="2600">
                <a:solidFill>
                  <a:srgbClr val="FFFFFF"/>
                </a:solidFill>
              </a:rPr>
              <a:t> a partir de </a:t>
            </a:r>
            <a:r>
              <a:rPr lang="es-419" sz="2600">
                <a:solidFill>
                  <a:srgbClr val="B0E7FF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419" sz="2600">
                <a:solidFill>
                  <a:srgbClr val="FFFFFF"/>
                </a:solidFill>
              </a:rPr>
              <a:t> y lo enlaza al último.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3e562cdfa_0_49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298" name="Google Shape;298;g3d3e562cdfa_0_490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void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Crea un </a:t>
            </a:r>
            <a:r>
              <a:rPr lang="es-419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LinkedNode</a:t>
            </a:r>
            <a:r>
              <a:rPr lang="es-419" sz="2600">
                <a:solidFill>
                  <a:srgbClr val="FFFFFF"/>
                </a:solidFill>
              </a:rPr>
              <a:t> a partir de </a:t>
            </a:r>
            <a:r>
              <a:rPr lang="es-419" sz="2600">
                <a:solidFill>
                  <a:srgbClr val="B0E7FF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419" sz="2600">
                <a:solidFill>
                  <a:srgbClr val="FFFFFF"/>
                </a:solidFill>
              </a:rPr>
              <a:t> y lo enlaza al último.</a:t>
            </a:r>
            <a:endParaRPr/>
          </a:p>
        </p:txBody>
      </p:sp>
      <p:grpSp>
        <p:nvGrpSpPr>
          <p:cNvPr id="299" name="Google Shape;299;g3d3e562cdfa_0_490"/>
          <p:cNvGrpSpPr/>
          <p:nvPr/>
        </p:nvGrpSpPr>
        <p:grpSpPr>
          <a:xfrm>
            <a:off x="677476" y="4274962"/>
            <a:ext cx="1845000" cy="2310300"/>
            <a:chOff x="713775" y="1999375"/>
            <a:chExt cx="1845000" cy="2310300"/>
          </a:xfrm>
        </p:grpSpPr>
        <p:sp>
          <p:nvSpPr>
            <p:cNvPr id="300" name="Google Shape;300;g3d3e562cdfa_0_490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1" name="Google Shape;301;g3d3e562cdfa_0_490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2" name="Google Shape;302;g3d3e562cdfa_0_490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3" name="Google Shape;303;g3d3e562cdfa_0_490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4" name="Google Shape;304;g3d3e562cdfa_0_490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05" name="Google Shape;305;g3d3e562cdfa_0_490"/>
          <p:cNvGrpSpPr/>
          <p:nvPr/>
        </p:nvGrpSpPr>
        <p:grpSpPr>
          <a:xfrm>
            <a:off x="3626951" y="4274962"/>
            <a:ext cx="1845000" cy="2310300"/>
            <a:chOff x="713775" y="1999375"/>
            <a:chExt cx="1845000" cy="2310300"/>
          </a:xfrm>
        </p:grpSpPr>
        <p:sp>
          <p:nvSpPr>
            <p:cNvPr id="306" name="Google Shape;306;g3d3e562cdfa_0_490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7" name="Google Shape;307;g3d3e562cdfa_0_490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8" name="Google Shape;308;g3d3e562cdfa_0_490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9" name="Google Shape;309;g3d3e562cdfa_0_490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0" name="Google Shape;310;g3d3e562cdfa_0_490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11" name="Google Shape;311;g3d3e562cdfa_0_490"/>
          <p:cNvCxnSpPr/>
          <p:nvPr/>
        </p:nvCxnSpPr>
        <p:spPr>
          <a:xfrm flipH="1" rot="10800000">
            <a:off x="2420996" y="4625687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g3d3e562cdfa_0_490"/>
          <p:cNvCxnSpPr/>
          <p:nvPr/>
        </p:nvCxnSpPr>
        <p:spPr>
          <a:xfrm rot="10800000">
            <a:off x="5365948" y="4625687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3" name="Google Shape;313;g3d3e562cdfa_0_490"/>
          <p:cNvGrpSpPr/>
          <p:nvPr/>
        </p:nvGrpSpPr>
        <p:grpSpPr>
          <a:xfrm>
            <a:off x="6553474" y="4281572"/>
            <a:ext cx="1845000" cy="2310300"/>
            <a:chOff x="713775" y="1999375"/>
            <a:chExt cx="1845000" cy="2310300"/>
          </a:xfrm>
        </p:grpSpPr>
        <p:sp>
          <p:nvSpPr>
            <p:cNvPr id="314" name="Google Shape;314;g3d3e562cdfa_0_490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5" name="Google Shape;315;g3d3e562cdfa_0_490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ED7D3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6" name="Google Shape;316;g3d3e562cdfa_0_490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7" name="Google Shape;317;g3d3e562cdfa_0_490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8" name="Google Shape;318;g3d3e562cdfa_0_490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02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19" name="Google Shape;319;g3d3e562cdfa_0_490"/>
          <p:cNvCxnSpPr/>
          <p:nvPr/>
        </p:nvCxnSpPr>
        <p:spPr>
          <a:xfrm flipH="1" rot="10800000">
            <a:off x="5358827" y="4625687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g3d3e562cdfa_0_490"/>
          <p:cNvCxnSpPr/>
          <p:nvPr/>
        </p:nvCxnSpPr>
        <p:spPr>
          <a:xfrm rot="10800000">
            <a:off x="2401786" y="4625113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3e562cdfa_0_73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326" name="Google Shape;326;g3d3e562cdfa_0_731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void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Crea e inserta un nodo en el índice elegido, </a:t>
            </a:r>
            <a:r>
              <a:rPr lang="es-419" sz="2600"/>
              <a:t>reconectando nodos.</a:t>
            </a:r>
            <a:endParaRPr/>
          </a:p>
        </p:txBody>
      </p:sp>
      <p:grpSp>
        <p:nvGrpSpPr>
          <p:cNvPr id="327" name="Google Shape;327;g3d3e562cdfa_0_731"/>
          <p:cNvGrpSpPr/>
          <p:nvPr/>
        </p:nvGrpSpPr>
        <p:grpSpPr>
          <a:xfrm>
            <a:off x="475500" y="4146431"/>
            <a:ext cx="1845000" cy="2310300"/>
            <a:chOff x="713775" y="1999375"/>
            <a:chExt cx="1845000" cy="2310300"/>
          </a:xfrm>
        </p:grpSpPr>
        <p:sp>
          <p:nvSpPr>
            <p:cNvPr id="328" name="Google Shape;328;g3d3e562cdfa_0_731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9" name="Google Shape;329;g3d3e562cdfa_0_731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0" name="Google Shape;330;g3d3e562cdfa_0_731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1" name="Google Shape;331;g3d3e562cdfa_0_731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2" name="Google Shape;332;g3d3e562cdfa_0_731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33" name="Google Shape;333;g3d3e562cdfa_0_731"/>
          <p:cNvGrpSpPr/>
          <p:nvPr/>
        </p:nvGrpSpPr>
        <p:grpSpPr>
          <a:xfrm>
            <a:off x="3424975" y="4146431"/>
            <a:ext cx="1845000" cy="2310300"/>
            <a:chOff x="713775" y="1999375"/>
            <a:chExt cx="1845000" cy="2310300"/>
          </a:xfrm>
        </p:grpSpPr>
        <p:sp>
          <p:nvSpPr>
            <p:cNvPr id="334" name="Google Shape;334;g3d3e562cdfa_0_731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5" name="Google Shape;335;g3d3e562cdfa_0_731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g3d3e562cdfa_0_731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g3d3e562cdfa_0_731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8" name="Google Shape;338;g3d3e562cdfa_0_731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39" name="Google Shape;339;g3d3e562cdfa_0_731"/>
          <p:cNvCxnSpPr/>
          <p:nvPr/>
        </p:nvCxnSpPr>
        <p:spPr>
          <a:xfrm flipH="1" rot="10800000">
            <a:off x="2219020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0" name="Google Shape;340;g3d3e562cdfa_0_731"/>
          <p:cNvCxnSpPr/>
          <p:nvPr/>
        </p:nvCxnSpPr>
        <p:spPr>
          <a:xfrm rot="10800000">
            <a:off x="2221550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41" name="Google Shape;341;g3d3e562cdfa_0_731"/>
          <p:cNvGrpSpPr/>
          <p:nvPr/>
        </p:nvGrpSpPr>
        <p:grpSpPr>
          <a:xfrm>
            <a:off x="9637700" y="4146431"/>
            <a:ext cx="1845000" cy="2310300"/>
            <a:chOff x="713775" y="1999375"/>
            <a:chExt cx="1845000" cy="2310300"/>
          </a:xfrm>
        </p:grpSpPr>
        <p:sp>
          <p:nvSpPr>
            <p:cNvPr id="342" name="Google Shape;342;g3d3e562cdfa_0_731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3" name="Google Shape;343;g3d3e562cdfa_0_731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4" name="Google Shape;344;g3d3e562cdfa_0_731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5" name="Google Shape;345;g3d3e562cdfa_0_731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6" name="Google Shape;346;g3d3e562cdfa_0_731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02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47" name="Google Shape;347;g3d3e562cdfa_0_731"/>
          <p:cNvCxnSpPr/>
          <p:nvPr/>
        </p:nvCxnSpPr>
        <p:spPr>
          <a:xfrm flipH="1" rot="10800000">
            <a:off x="5168495" y="4570656"/>
            <a:ext cx="4648200" cy="1409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8" name="Google Shape;348;g3d3e562cdfa_0_731"/>
          <p:cNvCxnSpPr/>
          <p:nvPr/>
        </p:nvCxnSpPr>
        <p:spPr>
          <a:xfrm rot="10800000">
            <a:off x="5170996" y="4478888"/>
            <a:ext cx="4555800" cy="15333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3e562cdfa_0_75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354" name="Google Shape;354;g3d3e562cdfa_0_758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void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Crea e inserta un nodo en el índice elegido, reconectando nodos.</a:t>
            </a:r>
            <a:endParaRPr/>
          </a:p>
        </p:txBody>
      </p:sp>
      <p:grpSp>
        <p:nvGrpSpPr>
          <p:cNvPr id="355" name="Google Shape;355;g3d3e562cdfa_0_758"/>
          <p:cNvGrpSpPr/>
          <p:nvPr/>
        </p:nvGrpSpPr>
        <p:grpSpPr>
          <a:xfrm>
            <a:off x="475500" y="4146431"/>
            <a:ext cx="1845000" cy="2310300"/>
            <a:chOff x="713775" y="1999375"/>
            <a:chExt cx="1845000" cy="2310300"/>
          </a:xfrm>
        </p:grpSpPr>
        <p:sp>
          <p:nvSpPr>
            <p:cNvPr id="356" name="Google Shape;356;g3d3e562cdfa_0_758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7" name="Google Shape;357;g3d3e562cdfa_0_758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8" name="Google Shape;358;g3d3e562cdfa_0_758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9" name="Google Shape;359;g3d3e562cdfa_0_758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0" name="Google Shape;360;g3d3e562cdfa_0_758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61" name="Google Shape;361;g3d3e562cdfa_0_758"/>
          <p:cNvGrpSpPr/>
          <p:nvPr/>
        </p:nvGrpSpPr>
        <p:grpSpPr>
          <a:xfrm>
            <a:off x="3424975" y="4146431"/>
            <a:ext cx="1845000" cy="2310300"/>
            <a:chOff x="713775" y="1999375"/>
            <a:chExt cx="1845000" cy="2310300"/>
          </a:xfrm>
        </p:grpSpPr>
        <p:sp>
          <p:nvSpPr>
            <p:cNvPr id="362" name="Google Shape;362;g3d3e562cdfa_0_758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3" name="Google Shape;363;g3d3e562cdfa_0_758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4" name="Google Shape;364;g3d3e562cdfa_0_758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5" name="Google Shape;365;g3d3e562cdfa_0_758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6" name="Google Shape;366;g3d3e562cdfa_0_758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67" name="Google Shape;367;g3d3e562cdfa_0_758"/>
          <p:cNvCxnSpPr/>
          <p:nvPr/>
        </p:nvCxnSpPr>
        <p:spPr>
          <a:xfrm flipH="1" rot="10800000">
            <a:off x="2219020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8" name="Google Shape;368;g3d3e562cdfa_0_758"/>
          <p:cNvCxnSpPr/>
          <p:nvPr/>
        </p:nvCxnSpPr>
        <p:spPr>
          <a:xfrm rot="10800000">
            <a:off x="2221550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g3d3e562cdfa_0_758"/>
          <p:cNvSpPr/>
          <p:nvPr/>
        </p:nvSpPr>
        <p:spPr>
          <a:xfrm>
            <a:off x="6688225" y="4146431"/>
            <a:ext cx="1845000" cy="231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g3d3e562cdfa_0_758"/>
          <p:cNvSpPr/>
          <p:nvPr/>
        </p:nvSpPr>
        <p:spPr>
          <a:xfrm>
            <a:off x="6784450" y="4788706"/>
            <a:ext cx="1647300" cy="7665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g3d3e562cdfa_0_758"/>
          <p:cNvSpPr/>
          <p:nvPr/>
        </p:nvSpPr>
        <p:spPr>
          <a:xfrm>
            <a:off x="7686845" y="5596756"/>
            <a:ext cx="744900" cy="7665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g3d3e562cdfa_0_758"/>
          <p:cNvSpPr/>
          <p:nvPr/>
        </p:nvSpPr>
        <p:spPr>
          <a:xfrm>
            <a:off x="6784450" y="5596756"/>
            <a:ext cx="744900" cy="7665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g3d3e562cdfa_0_758"/>
          <p:cNvSpPr/>
          <p:nvPr/>
        </p:nvSpPr>
        <p:spPr>
          <a:xfrm>
            <a:off x="6787075" y="4247006"/>
            <a:ext cx="1647300" cy="5001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02</a:t>
            </a:r>
            <a:endParaRPr b="1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74" name="Google Shape;374;g3d3e562cdfa_0_758"/>
          <p:cNvGrpSpPr/>
          <p:nvPr/>
        </p:nvGrpSpPr>
        <p:grpSpPr>
          <a:xfrm>
            <a:off x="9637700" y="4146431"/>
            <a:ext cx="1845000" cy="2310300"/>
            <a:chOff x="713775" y="1999375"/>
            <a:chExt cx="1845000" cy="2310300"/>
          </a:xfrm>
        </p:grpSpPr>
        <p:sp>
          <p:nvSpPr>
            <p:cNvPr id="375" name="Google Shape;375;g3d3e562cdfa_0_758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6" name="Google Shape;376;g3d3e562cdfa_0_758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g3d3e562cdfa_0_758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g3d3e562cdfa_0_758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9" name="Google Shape;379;g3d3e562cdfa_0_758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03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380" name="Google Shape;380;g3d3e562cdfa_0_758"/>
          <p:cNvCxnSpPr/>
          <p:nvPr/>
        </p:nvCxnSpPr>
        <p:spPr>
          <a:xfrm flipH="1" rot="10800000">
            <a:off x="8431745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1" name="Google Shape;381;g3d3e562cdfa_0_758"/>
          <p:cNvCxnSpPr/>
          <p:nvPr/>
        </p:nvCxnSpPr>
        <p:spPr>
          <a:xfrm rot="10800000">
            <a:off x="8434275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g3d3e562cdfa_0_758"/>
          <p:cNvCxnSpPr/>
          <p:nvPr/>
        </p:nvCxnSpPr>
        <p:spPr>
          <a:xfrm flipH="1" rot="10800000">
            <a:off x="5168495" y="4497156"/>
            <a:ext cx="16185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" name="Google Shape;383;g3d3e562cdfa_0_758"/>
          <p:cNvCxnSpPr/>
          <p:nvPr/>
        </p:nvCxnSpPr>
        <p:spPr>
          <a:xfrm rot="10800000">
            <a:off x="5170975" y="4497156"/>
            <a:ext cx="16134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3e562cdfa_0_53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389" name="Google Shape;389;g3d3e562cdfa_0_532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emove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0070C0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Busca al primer nodo con el valor indicado y lo desconecta.</a:t>
            </a:r>
            <a:endParaRPr/>
          </a:p>
        </p:txBody>
      </p:sp>
      <p:grpSp>
        <p:nvGrpSpPr>
          <p:cNvPr id="390" name="Google Shape;390;g3d3e562cdfa_0_532"/>
          <p:cNvGrpSpPr/>
          <p:nvPr/>
        </p:nvGrpSpPr>
        <p:grpSpPr>
          <a:xfrm>
            <a:off x="475500" y="4146431"/>
            <a:ext cx="1845000" cy="2310300"/>
            <a:chOff x="713775" y="1999375"/>
            <a:chExt cx="1845000" cy="2310300"/>
          </a:xfrm>
        </p:grpSpPr>
        <p:sp>
          <p:nvSpPr>
            <p:cNvPr id="391" name="Google Shape;391;g3d3e562cdfa_0_532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2" name="Google Shape;392;g3d3e562cdfa_0_532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3" name="Google Shape;393;g3d3e562cdfa_0_532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4" name="Google Shape;394;g3d3e562cdfa_0_532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5" name="Google Shape;395;g3d3e562cdfa_0_532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396" name="Google Shape;396;g3d3e562cdfa_0_532"/>
          <p:cNvGrpSpPr/>
          <p:nvPr/>
        </p:nvGrpSpPr>
        <p:grpSpPr>
          <a:xfrm>
            <a:off x="3424975" y="4146431"/>
            <a:ext cx="1845000" cy="2310300"/>
            <a:chOff x="713775" y="1999375"/>
            <a:chExt cx="1845000" cy="2310300"/>
          </a:xfrm>
        </p:grpSpPr>
        <p:sp>
          <p:nvSpPr>
            <p:cNvPr id="397" name="Google Shape;397;g3d3e562cdfa_0_532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8" name="Google Shape;398;g3d3e562cdfa_0_532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9" name="Google Shape;399;g3d3e562cdfa_0_532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0" name="Google Shape;400;g3d3e562cdfa_0_532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1" name="Google Shape;401;g3d3e562cdfa_0_532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02" name="Google Shape;402;g3d3e562cdfa_0_532"/>
          <p:cNvCxnSpPr/>
          <p:nvPr/>
        </p:nvCxnSpPr>
        <p:spPr>
          <a:xfrm flipH="1" rot="10800000">
            <a:off x="2219020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3" name="Google Shape;403;g3d3e562cdfa_0_532"/>
          <p:cNvCxnSpPr/>
          <p:nvPr/>
        </p:nvCxnSpPr>
        <p:spPr>
          <a:xfrm rot="10800000">
            <a:off x="2221550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4" name="Google Shape;404;g3d3e562cdfa_0_532"/>
          <p:cNvSpPr/>
          <p:nvPr/>
        </p:nvSpPr>
        <p:spPr>
          <a:xfrm>
            <a:off x="6688225" y="4146431"/>
            <a:ext cx="1845000" cy="231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g3d3e562cdfa_0_532"/>
          <p:cNvSpPr/>
          <p:nvPr/>
        </p:nvSpPr>
        <p:spPr>
          <a:xfrm>
            <a:off x="6784450" y="4788706"/>
            <a:ext cx="1647300" cy="7665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g3d3e562cdfa_0_532"/>
          <p:cNvSpPr/>
          <p:nvPr/>
        </p:nvSpPr>
        <p:spPr>
          <a:xfrm>
            <a:off x="7686845" y="5596756"/>
            <a:ext cx="744900" cy="7665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g3d3e562cdfa_0_532"/>
          <p:cNvSpPr/>
          <p:nvPr/>
        </p:nvSpPr>
        <p:spPr>
          <a:xfrm>
            <a:off x="6784450" y="5596756"/>
            <a:ext cx="744900" cy="7665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g3d3e562cdfa_0_532"/>
          <p:cNvSpPr/>
          <p:nvPr/>
        </p:nvSpPr>
        <p:spPr>
          <a:xfrm>
            <a:off x="6787075" y="4247006"/>
            <a:ext cx="1647300" cy="500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02</a:t>
            </a:r>
            <a:endParaRPr b="1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09" name="Google Shape;409;g3d3e562cdfa_0_532"/>
          <p:cNvGrpSpPr/>
          <p:nvPr/>
        </p:nvGrpSpPr>
        <p:grpSpPr>
          <a:xfrm>
            <a:off x="9637700" y="4146431"/>
            <a:ext cx="1845000" cy="2310300"/>
            <a:chOff x="713775" y="1999375"/>
            <a:chExt cx="1845000" cy="2310300"/>
          </a:xfrm>
        </p:grpSpPr>
        <p:sp>
          <p:nvSpPr>
            <p:cNvPr id="410" name="Google Shape;410;g3d3e562cdfa_0_532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1" name="Google Shape;411;g3d3e562cdfa_0_532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2" name="Google Shape;412;g3d3e562cdfa_0_532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3" name="Google Shape;413;g3d3e562cdfa_0_532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4" name="Google Shape;414;g3d3e562cdfa_0_532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03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15" name="Google Shape;415;g3d3e562cdfa_0_532"/>
          <p:cNvCxnSpPr/>
          <p:nvPr/>
        </p:nvCxnSpPr>
        <p:spPr>
          <a:xfrm flipH="1" rot="10800000">
            <a:off x="8431745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6" name="Google Shape;416;g3d3e562cdfa_0_532"/>
          <p:cNvCxnSpPr/>
          <p:nvPr/>
        </p:nvCxnSpPr>
        <p:spPr>
          <a:xfrm rot="10800000">
            <a:off x="8434275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7" name="Google Shape;417;g3d3e562cdfa_0_532"/>
          <p:cNvCxnSpPr/>
          <p:nvPr/>
        </p:nvCxnSpPr>
        <p:spPr>
          <a:xfrm flipH="1" rot="10800000">
            <a:off x="5168495" y="4497156"/>
            <a:ext cx="16185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8" name="Google Shape;418;g3d3e562cdfa_0_532"/>
          <p:cNvCxnSpPr/>
          <p:nvPr/>
        </p:nvCxnSpPr>
        <p:spPr>
          <a:xfrm rot="10800000">
            <a:off x="5170975" y="4497156"/>
            <a:ext cx="16134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3e562cdfa_0_56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424" name="Google Shape;424;g3d3e562cdfa_0_566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0070C0"/>
                </a:solidFill>
                <a:latin typeface="Roboto Mono"/>
                <a:ea typeface="Roboto Mono"/>
                <a:cs typeface="Roboto Mono"/>
                <a:sym typeface="Roboto Mono"/>
              </a:rPr>
              <a:t>Object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Busca al primer nodo con el valor indicado y lo desconecta.</a:t>
            </a:r>
            <a:endParaRPr/>
          </a:p>
        </p:txBody>
      </p:sp>
      <p:grpSp>
        <p:nvGrpSpPr>
          <p:cNvPr id="425" name="Google Shape;425;g3d3e562cdfa_0_566"/>
          <p:cNvGrpSpPr/>
          <p:nvPr/>
        </p:nvGrpSpPr>
        <p:grpSpPr>
          <a:xfrm>
            <a:off x="475500" y="4146431"/>
            <a:ext cx="1845000" cy="2310300"/>
            <a:chOff x="713775" y="1999375"/>
            <a:chExt cx="1845000" cy="2310300"/>
          </a:xfrm>
        </p:grpSpPr>
        <p:sp>
          <p:nvSpPr>
            <p:cNvPr id="426" name="Google Shape;426;g3d3e562cdfa_0_566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7" name="Google Shape;427;g3d3e562cdfa_0_566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8" name="Google Shape;428;g3d3e562cdfa_0_566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9" name="Google Shape;429;g3d3e562cdfa_0_566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0" name="Google Shape;430;g3d3e562cdfa_0_566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31" name="Google Shape;431;g3d3e562cdfa_0_566"/>
          <p:cNvGrpSpPr/>
          <p:nvPr/>
        </p:nvGrpSpPr>
        <p:grpSpPr>
          <a:xfrm>
            <a:off x="3424975" y="4146431"/>
            <a:ext cx="1845000" cy="2310300"/>
            <a:chOff x="713775" y="1999375"/>
            <a:chExt cx="1845000" cy="2310300"/>
          </a:xfrm>
        </p:grpSpPr>
        <p:sp>
          <p:nvSpPr>
            <p:cNvPr id="432" name="Google Shape;432;g3d3e562cdfa_0_566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3" name="Google Shape;433;g3d3e562cdfa_0_566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4" name="Google Shape;434;g3d3e562cdfa_0_566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5" name="Google Shape;435;g3d3e562cdfa_0_566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6" name="Google Shape;436;g3d3e562cdfa_0_566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37" name="Google Shape;437;g3d3e562cdfa_0_566"/>
          <p:cNvCxnSpPr/>
          <p:nvPr/>
        </p:nvCxnSpPr>
        <p:spPr>
          <a:xfrm flipH="1" rot="10800000">
            <a:off x="2219020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g3d3e562cdfa_0_566"/>
          <p:cNvCxnSpPr/>
          <p:nvPr/>
        </p:nvCxnSpPr>
        <p:spPr>
          <a:xfrm rot="10800000">
            <a:off x="2221550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39" name="Google Shape;439;g3d3e562cdfa_0_566"/>
          <p:cNvGrpSpPr/>
          <p:nvPr/>
        </p:nvGrpSpPr>
        <p:grpSpPr>
          <a:xfrm>
            <a:off x="9637700" y="4146431"/>
            <a:ext cx="1845000" cy="2310300"/>
            <a:chOff x="713775" y="1999375"/>
            <a:chExt cx="1845000" cy="2310300"/>
          </a:xfrm>
        </p:grpSpPr>
        <p:sp>
          <p:nvSpPr>
            <p:cNvPr id="440" name="Google Shape;440;g3d3e562cdfa_0_566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1" name="Google Shape;441;g3d3e562cdfa_0_566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2" name="Google Shape;442;g3d3e562cdfa_0_566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3" name="Google Shape;443;g3d3e562cdfa_0_566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4" name="Google Shape;444;g3d3e562cdfa_0_566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02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45" name="Google Shape;445;g3d3e562cdfa_0_566"/>
          <p:cNvCxnSpPr/>
          <p:nvPr/>
        </p:nvCxnSpPr>
        <p:spPr>
          <a:xfrm flipH="1" rot="10800000">
            <a:off x="5168495" y="4570656"/>
            <a:ext cx="4648200" cy="14094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g3d3e562cdfa_0_566"/>
          <p:cNvCxnSpPr/>
          <p:nvPr/>
        </p:nvCxnSpPr>
        <p:spPr>
          <a:xfrm rot="10800000">
            <a:off x="5170996" y="4478888"/>
            <a:ext cx="4555800" cy="15333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3e562cdfa_0_70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452" name="Google Shape;452;g3d3e562cdfa_0_704"/>
          <p:cNvSpPr txBox="1"/>
          <p:nvPr>
            <p:ph idx="1" type="body"/>
          </p:nvPr>
        </p:nvSpPr>
        <p:spPr>
          <a:xfrm>
            <a:off x="286650" y="2323750"/>
            <a:ext cx="115911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Misma lógica, pero buscando por índice.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Devuelve el elemento que se remueve de la lista.</a:t>
            </a:r>
            <a:endParaRPr sz="2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3e562cdfa_0_93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458" name="Google Shape;458;g3d3e562cdfa_0_932"/>
          <p:cNvSpPr txBox="1"/>
          <p:nvPr>
            <p:ph idx="1" type="body"/>
          </p:nvPr>
        </p:nvSpPr>
        <p:spPr>
          <a:xfrm>
            <a:off x="286650" y="2323750"/>
            <a:ext cx="115911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La búsqueda por índice de un nodo es algo que vamos a reutilizar.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Por esta razón, la movemos a su propia función.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</a:t>
            </a:r>
            <a:r>
              <a:rPr lang="es-419" sz="2600">
                <a:solidFill>
                  <a:srgbClr val="0070C0"/>
                </a:solidFill>
                <a:latin typeface="Roboto Mono"/>
                <a:ea typeface="Roboto Mono"/>
                <a:cs typeface="Roboto Mono"/>
                <a:sym typeface="Roboto Mono"/>
              </a:rPr>
              <a:t>LinkedNode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>
                <a:solidFill>
                  <a:srgbClr val="66FFD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getNodeByIndex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3e562cdfa_0_89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464" name="Google Shape;464;g3d3e562cdfa_0_898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Para buscar por índice, debemos seguir las conexiones en bucle.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Empezamos por un nodo, y vamos al siguiente, del siguiente, etc.</a:t>
            </a:r>
            <a:endParaRPr/>
          </a:p>
        </p:txBody>
      </p:sp>
      <p:grpSp>
        <p:nvGrpSpPr>
          <p:cNvPr id="465" name="Google Shape;465;g3d3e562cdfa_0_898"/>
          <p:cNvGrpSpPr/>
          <p:nvPr/>
        </p:nvGrpSpPr>
        <p:grpSpPr>
          <a:xfrm>
            <a:off x="475500" y="4146431"/>
            <a:ext cx="1845000" cy="2310300"/>
            <a:chOff x="713775" y="1999375"/>
            <a:chExt cx="1845000" cy="2310300"/>
          </a:xfrm>
        </p:grpSpPr>
        <p:sp>
          <p:nvSpPr>
            <p:cNvPr id="466" name="Google Shape;466;g3d3e562cdfa_0_898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7" name="Google Shape;467;g3d3e562cdfa_0_898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8" name="Google Shape;468;g3d3e562cdfa_0_898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9" name="Google Shape;469;g3d3e562cdfa_0_898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0" name="Google Shape;470;g3d3e562cdfa_0_898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71" name="Google Shape;471;g3d3e562cdfa_0_898"/>
          <p:cNvGrpSpPr/>
          <p:nvPr/>
        </p:nvGrpSpPr>
        <p:grpSpPr>
          <a:xfrm>
            <a:off x="3424975" y="4146431"/>
            <a:ext cx="1845000" cy="2310300"/>
            <a:chOff x="713775" y="1999375"/>
            <a:chExt cx="1845000" cy="2310300"/>
          </a:xfrm>
        </p:grpSpPr>
        <p:sp>
          <p:nvSpPr>
            <p:cNvPr id="472" name="Google Shape;472;g3d3e562cdfa_0_898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3" name="Google Shape;473;g3d3e562cdfa_0_898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4" name="Google Shape;474;g3d3e562cdfa_0_898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5" name="Google Shape;475;g3d3e562cdfa_0_898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6" name="Google Shape;476;g3d3e562cdfa_0_898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77" name="Google Shape;477;g3d3e562cdfa_0_898"/>
          <p:cNvCxnSpPr/>
          <p:nvPr/>
        </p:nvCxnSpPr>
        <p:spPr>
          <a:xfrm flipH="1" rot="10800000">
            <a:off x="2219020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ED7D3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214313" rotWithShape="0" algn="bl">
              <a:srgbClr val="ED7D31">
                <a:alpha val="75000"/>
              </a:srgbClr>
            </a:outerShdw>
          </a:effectLst>
        </p:spPr>
      </p:cxnSp>
      <p:cxnSp>
        <p:nvCxnSpPr>
          <p:cNvPr id="478" name="Google Shape;478;g3d3e562cdfa_0_898"/>
          <p:cNvCxnSpPr/>
          <p:nvPr/>
        </p:nvCxnSpPr>
        <p:spPr>
          <a:xfrm rot="10800000">
            <a:off x="2221550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9" name="Google Shape;479;g3d3e562cdfa_0_898"/>
          <p:cNvSpPr/>
          <p:nvPr/>
        </p:nvSpPr>
        <p:spPr>
          <a:xfrm>
            <a:off x="6688225" y="4146431"/>
            <a:ext cx="1845000" cy="231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g3d3e562cdfa_0_898"/>
          <p:cNvSpPr/>
          <p:nvPr/>
        </p:nvSpPr>
        <p:spPr>
          <a:xfrm>
            <a:off x="6784450" y="4788706"/>
            <a:ext cx="1647300" cy="7665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g3d3e562cdfa_0_898"/>
          <p:cNvSpPr/>
          <p:nvPr/>
        </p:nvSpPr>
        <p:spPr>
          <a:xfrm>
            <a:off x="7686845" y="5596756"/>
            <a:ext cx="744900" cy="7665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2" name="Google Shape;482;g3d3e562cdfa_0_898"/>
          <p:cNvSpPr/>
          <p:nvPr/>
        </p:nvSpPr>
        <p:spPr>
          <a:xfrm>
            <a:off x="6784450" y="5596756"/>
            <a:ext cx="744900" cy="7665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</a:t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g3d3e562cdfa_0_898"/>
          <p:cNvSpPr/>
          <p:nvPr/>
        </p:nvSpPr>
        <p:spPr>
          <a:xfrm>
            <a:off x="6787075" y="4247006"/>
            <a:ext cx="1647300" cy="500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02</a:t>
            </a:r>
            <a:endParaRPr b="1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84" name="Google Shape;484;g3d3e562cdfa_0_898"/>
          <p:cNvGrpSpPr/>
          <p:nvPr/>
        </p:nvGrpSpPr>
        <p:grpSpPr>
          <a:xfrm>
            <a:off x="9637700" y="4146431"/>
            <a:ext cx="1845000" cy="2310300"/>
            <a:chOff x="713775" y="1999375"/>
            <a:chExt cx="1845000" cy="2310300"/>
          </a:xfrm>
        </p:grpSpPr>
        <p:sp>
          <p:nvSpPr>
            <p:cNvPr id="485" name="Google Shape;485;g3d3e562cdfa_0_898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6" name="Google Shape;486;g3d3e562cdfa_0_898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7" name="Google Shape;487;g3d3e562cdfa_0_898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8" name="Google Shape;488;g3d3e562cdfa_0_898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0725" lIns="70725" spcFirstLastPara="1" rIns="70725" wrap="square" tIns="70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9" name="Google Shape;489;g3d3e562cdfa_0_898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rgbClr val="ED7D3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419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03</a:t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490" name="Google Shape;490;g3d3e562cdfa_0_898"/>
          <p:cNvCxnSpPr/>
          <p:nvPr/>
        </p:nvCxnSpPr>
        <p:spPr>
          <a:xfrm flipH="1" rot="10800000">
            <a:off x="8431745" y="4497156"/>
            <a:ext cx="1304700" cy="1482900"/>
          </a:xfrm>
          <a:prstGeom prst="straightConnector1">
            <a:avLst/>
          </a:prstGeom>
          <a:noFill/>
          <a:ln cap="flat" cmpd="sng" w="19050">
            <a:solidFill>
              <a:srgbClr val="ED7D3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214313" rotWithShape="0" algn="bl">
              <a:srgbClr val="ED7D31">
                <a:alpha val="75000"/>
              </a:srgbClr>
            </a:outerShdw>
          </a:effectLst>
        </p:spPr>
      </p:cxnSp>
      <p:cxnSp>
        <p:nvCxnSpPr>
          <p:cNvPr id="491" name="Google Shape;491;g3d3e562cdfa_0_898"/>
          <p:cNvCxnSpPr/>
          <p:nvPr/>
        </p:nvCxnSpPr>
        <p:spPr>
          <a:xfrm rot="10800000">
            <a:off x="8434275" y="4497156"/>
            <a:ext cx="12996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g3d3e562cdfa_0_898"/>
          <p:cNvCxnSpPr/>
          <p:nvPr/>
        </p:nvCxnSpPr>
        <p:spPr>
          <a:xfrm flipH="1" rot="10800000">
            <a:off x="5168495" y="4497156"/>
            <a:ext cx="1618500" cy="1482900"/>
          </a:xfrm>
          <a:prstGeom prst="straightConnector1">
            <a:avLst/>
          </a:prstGeom>
          <a:noFill/>
          <a:ln cap="flat" cmpd="sng" w="19050">
            <a:solidFill>
              <a:srgbClr val="ED7D3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214313" rotWithShape="0" algn="bl">
              <a:srgbClr val="ED7D31">
                <a:alpha val="75000"/>
              </a:srgbClr>
            </a:outerShdw>
          </a:effectLst>
        </p:spPr>
      </p:cxnSp>
      <p:cxnSp>
        <p:nvCxnSpPr>
          <p:cNvPr id="493" name="Google Shape;493;g3d3e562cdfa_0_898"/>
          <p:cNvCxnSpPr/>
          <p:nvPr/>
        </p:nvCxnSpPr>
        <p:spPr>
          <a:xfrm rot="10800000">
            <a:off x="5170975" y="4497156"/>
            <a:ext cx="1613400" cy="1482900"/>
          </a:xfrm>
          <a:prstGeom prst="straightConnector1">
            <a:avLst/>
          </a:prstGeom>
          <a:noFill/>
          <a:ln cap="flat" cmpd="sng" w="190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3e562cdfa_0_93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499" name="Google Shape;499;g3d3e562cdfa_0_937"/>
          <p:cNvSpPr txBox="1"/>
          <p:nvPr>
            <p:ph idx="1" type="body"/>
          </p:nvPr>
        </p:nvSpPr>
        <p:spPr>
          <a:xfrm>
            <a:off x="286650" y="2323750"/>
            <a:ext cx="115911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En listas muy largas, este </a:t>
            </a:r>
            <a:r>
              <a:rPr lang="es-419" sz="2600">
                <a:solidFill>
                  <a:srgbClr val="FF7B61"/>
                </a:solidFill>
              </a:rPr>
              <a:t>puede ser un proceso costoso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Debemos chequear si el nodo está más cerca del primero o último.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Empezamos a buscar desde el </a:t>
            </a:r>
            <a:r>
              <a:rPr lang="es-419" sz="2600">
                <a:solidFill>
                  <a:srgbClr val="FF7B61"/>
                </a:solidFill>
              </a:rPr>
              <a:t>extremo más cercano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Si empezamos por el último, vamos buscando los nodos previos.</a:t>
            </a:r>
            <a:endParaRPr sz="2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3e562cdfa_1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505" name="Google Shape;505;g3d3e562cdfa_1_0"/>
          <p:cNvSpPr txBox="1"/>
          <p:nvPr>
            <p:ph idx="1" type="body"/>
          </p:nvPr>
        </p:nvSpPr>
        <p:spPr>
          <a:xfrm>
            <a:off x="286650" y="2323750"/>
            <a:ext cx="115911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Si no sabemos cuándo termina la búsqueda (ej: por objeto), </a:t>
            </a:r>
            <a:r>
              <a:rPr lang="es-419" sz="2600">
                <a:solidFill>
                  <a:srgbClr val="FF7B61"/>
                </a:solidFill>
              </a:rPr>
              <a:t>debemos</a:t>
            </a:r>
            <a:r>
              <a:rPr lang="es-419" sz="2600"/>
              <a:t> </a:t>
            </a:r>
            <a:r>
              <a:rPr lang="es-419" sz="2600">
                <a:solidFill>
                  <a:srgbClr val="FF7B61"/>
                </a:solidFill>
              </a:rPr>
              <a:t>chequear que next (o prev) no sea null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En este caso usamos 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!= </a:t>
            </a: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419" sz="2600"/>
              <a:t> y no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equals</a:t>
            </a:r>
            <a:r>
              <a:rPr lang="es-419" sz="2600"/>
              <a:t>, porque un objeto que no existe</a:t>
            </a:r>
            <a:r>
              <a:rPr lang="es-419" sz="2600">
                <a:solidFill>
                  <a:srgbClr val="FF7B61"/>
                </a:solidFill>
              </a:rPr>
              <a:t> no puede ejecutar esa función</a:t>
            </a:r>
            <a:r>
              <a:rPr lang="es-419" sz="2600"/>
              <a:t>. </a:t>
            </a:r>
            <a:endParaRPr sz="2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3e562cdfa_1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511" name="Google Shape;511;g3d3e562cdfa_1_5"/>
          <p:cNvSpPr txBox="1"/>
          <p:nvPr>
            <p:ph idx="1" type="body"/>
          </p:nvPr>
        </p:nvSpPr>
        <p:spPr>
          <a:xfrm>
            <a:off x="286640" y="2323750"/>
            <a:ext cx="11591100" cy="175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Char char="❖"/>
            </a:pPr>
            <a:r>
              <a:rPr lang="es-419" sz="2600">
                <a:solidFill>
                  <a:srgbClr val="FF7B61"/>
                </a:solidFill>
              </a:rPr>
              <a:t>¡Cuidado con el orden de las reconexiones entre nodos!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Si se asignan en orden equivocado podemos perder la referencia.</a:t>
            </a:r>
            <a:endParaRPr/>
          </a:p>
        </p:txBody>
      </p:sp>
      <p:grpSp>
        <p:nvGrpSpPr>
          <p:cNvPr id="512" name="Google Shape;512;g3d3e562cdfa_1_5"/>
          <p:cNvGrpSpPr/>
          <p:nvPr/>
        </p:nvGrpSpPr>
        <p:grpSpPr>
          <a:xfrm>
            <a:off x="475481" y="4146380"/>
            <a:ext cx="1233752" cy="1544898"/>
            <a:chOff x="713775" y="1999375"/>
            <a:chExt cx="1845000" cy="2310300"/>
          </a:xfrm>
        </p:grpSpPr>
        <p:sp>
          <p:nvSpPr>
            <p:cNvPr id="513" name="Google Shape;513;g3d3e562cdfa_1_5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4" name="Google Shape;514;g3d3e562cdfa_1_5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5" name="Google Shape;515;g3d3e562cdfa_1_5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6" name="Google Shape;516;g3d3e562cdfa_1_5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7" name="Google Shape;517;g3d3e562cdfa_1_5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1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(Root)</a:t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518" name="Google Shape;518;g3d3e562cdfa_1_5"/>
          <p:cNvGrpSpPr/>
          <p:nvPr/>
        </p:nvGrpSpPr>
        <p:grpSpPr>
          <a:xfrm>
            <a:off x="2447871" y="4146380"/>
            <a:ext cx="1233752" cy="1544898"/>
            <a:chOff x="713775" y="1999375"/>
            <a:chExt cx="1845000" cy="2310300"/>
          </a:xfrm>
        </p:grpSpPr>
        <p:sp>
          <p:nvSpPr>
            <p:cNvPr id="519" name="Google Shape;519;g3d3e562cdfa_1_5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0" name="Google Shape;520;g3d3e562cdfa_1_5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1" name="Google Shape;521;g3d3e562cdfa_1_5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2" name="Google Shape;522;g3d3e562cdfa_1_5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3" name="Google Shape;523;g3d3e562cdfa_1_5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1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01</a:t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524" name="Google Shape;524;g3d3e562cdfa_1_5"/>
          <p:cNvCxnSpPr/>
          <p:nvPr/>
        </p:nvCxnSpPr>
        <p:spPr>
          <a:xfrm flipH="1" rot="10800000">
            <a:off x="1641436" y="4381133"/>
            <a:ext cx="872400" cy="991500"/>
          </a:xfrm>
          <a:prstGeom prst="straightConnector1">
            <a:avLst/>
          </a:prstGeom>
          <a:noFill/>
          <a:ln cap="flat" cmpd="sng" w="127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5" name="Google Shape;525;g3d3e562cdfa_1_5"/>
          <p:cNvCxnSpPr/>
          <p:nvPr/>
        </p:nvCxnSpPr>
        <p:spPr>
          <a:xfrm rot="10800000">
            <a:off x="1643104" y="4381133"/>
            <a:ext cx="869100" cy="991500"/>
          </a:xfrm>
          <a:prstGeom prst="straightConnector1">
            <a:avLst/>
          </a:prstGeom>
          <a:noFill/>
          <a:ln cap="flat" cmpd="sng" w="127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6" name="Google Shape;526;g3d3e562cdfa_1_5"/>
          <p:cNvSpPr/>
          <p:nvPr/>
        </p:nvSpPr>
        <p:spPr>
          <a:xfrm>
            <a:off x="4389447" y="4887561"/>
            <a:ext cx="1233600" cy="154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150" lIns="61150" spcFirstLastPara="1" rIns="61150" wrap="square" tIns="6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7" name="Google Shape;527;g3d3e562cdfa_1_5"/>
          <p:cNvSpPr/>
          <p:nvPr/>
        </p:nvSpPr>
        <p:spPr>
          <a:xfrm>
            <a:off x="4453795" y="5317069"/>
            <a:ext cx="1101600" cy="5124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150" lIns="61150" spcFirstLastPara="1" rIns="61150" wrap="square" tIns="6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0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</a:t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8" name="Google Shape;528;g3d3e562cdfa_1_5"/>
          <p:cNvSpPr/>
          <p:nvPr/>
        </p:nvSpPr>
        <p:spPr>
          <a:xfrm>
            <a:off x="5057250" y="5857435"/>
            <a:ext cx="498300" cy="5124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300" lIns="47300" spcFirstLastPara="1" rIns="47300" wrap="square" tIns="47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0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</a:t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9" name="Google Shape;529;g3d3e562cdfa_1_5"/>
          <p:cNvSpPr/>
          <p:nvPr/>
        </p:nvSpPr>
        <p:spPr>
          <a:xfrm>
            <a:off x="4453795" y="5857435"/>
            <a:ext cx="498300" cy="5124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300" lIns="47300" spcFirstLastPara="1" rIns="47300" wrap="square" tIns="47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0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</a:t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0" name="Google Shape;530;g3d3e562cdfa_1_5"/>
          <p:cNvSpPr/>
          <p:nvPr/>
        </p:nvSpPr>
        <p:spPr>
          <a:xfrm>
            <a:off x="4455550" y="4954819"/>
            <a:ext cx="1101600" cy="334500"/>
          </a:xfrm>
          <a:prstGeom prst="roundRect">
            <a:avLst>
              <a:gd fmla="val 16667" name="adj"/>
            </a:avLst>
          </a:prstGeom>
          <a:solidFill>
            <a:srgbClr val="ED7D31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150" lIns="61150" spcFirstLastPara="1" rIns="61150" wrap="square" tIns="6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1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02</a:t>
            </a:r>
            <a:endParaRPr b="1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1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31" name="Google Shape;531;g3d3e562cdfa_1_5"/>
          <p:cNvGrpSpPr/>
          <p:nvPr/>
        </p:nvGrpSpPr>
        <p:grpSpPr>
          <a:xfrm>
            <a:off x="6417456" y="4146380"/>
            <a:ext cx="1233752" cy="1544898"/>
            <a:chOff x="713775" y="1999375"/>
            <a:chExt cx="1845000" cy="2310300"/>
          </a:xfrm>
        </p:grpSpPr>
        <p:sp>
          <p:nvSpPr>
            <p:cNvPr id="532" name="Google Shape;532;g3d3e562cdfa_1_5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3" name="Google Shape;533;g3d3e562cdfa_1_5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4" name="Google Shape;534;g3d3e562cdfa_1_5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5" name="Google Shape;535;g3d3e562cdfa_1_5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6" name="Google Shape;536;g3d3e562cdfa_1_5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1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03</a:t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537" name="Google Shape;537;g3d3e562cdfa_1_5"/>
          <p:cNvCxnSpPr>
            <a:stCxn id="521" idx="3"/>
            <a:endCxn id="530" idx="1"/>
          </p:cNvCxnSpPr>
          <p:nvPr/>
        </p:nvCxnSpPr>
        <p:spPr>
          <a:xfrm flipH="1" rot="10800000">
            <a:off x="3613763" y="5121991"/>
            <a:ext cx="841800" cy="250500"/>
          </a:xfrm>
          <a:prstGeom prst="straightConnector1">
            <a:avLst/>
          </a:prstGeom>
          <a:noFill/>
          <a:ln cap="flat" cmpd="sng" w="127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8" name="Google Shape;538;g3d3e562cdfa_1_5"/>
          <p:cNvCxnSpPr>
            <a:stCxn id="529" idx="1"/>
            <a:endCxn id="523" idx="3"/>
          </p:cNvCxnSpPr>
          <p:nvPr/>
        </p:nvCxnSpPr>
        <p:spPr>
          <a:xfrm rot="10800000">
            <a:off x="3615595" y="4380835"/>
            <a:ext cx="838200" cy="1732800"/>
          </a:xfrm>
          <a:prstGeom prst="straightConnector1">
            <a:avLst/>
          </a:prstGeom>
          <a:noFill/>
          <a:ln cap="flat" cmpd="sng" w="12750">
            <a:solidFill>
              <a:srgbClr val="ED7D3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214313" rotWithShape="0" algn="bl">
              <a:srgbClr val="ED7D31">
                <a:alpha val="75000"/>
              </a:srgbClr>
            </a:outerShdw>
          </a:effectLst>
        </p:spPr>
      </p:cxnSp>
      <p:sp>
        <p:nvSpPr>
          <p:cNvPr id="539" name="Google Shape;539;g3d3e562cdfa_1_5"/>
          <p:cNvSpPr/>
          <p:nvPr/>
        </p:nvSpPr>
        <p:spPr>
          <a:xfrm>
            <a:off x="8513484" y="4213761"/>
            <a:ext cx="1233600" cy="154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150" lIns="61150" spcFirstLastPara="1" rIns="61150" wrap="square" tIns="6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0" name="Google Shape;540;g3d3e562cdfa_1_5"/>
          <p:cNvSpPr/>
          <p:nvPr/>
        </p:nvSpPr>
        <p:spPr>
          <a:xfrm>
            <a:off x="8577832" y="4643269"/>
            <a:ext cx="1101600" cy="5124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150" lIns="61150" spcFirstLastPara="1" rIns="61150" wrap="square" tIns="6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0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Value</a:t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1" name="Google Shape;541;g3d3e562cdfa_1_5"/>
          <p:cNvSpPr/>
          <p:nvPr/>
        </p:nvSpPr>
        <p:spPr>
          <a:xfrm>
            <a:off x="9181287" y="5183635"/>
            <a:ext cx="498300" cy="5124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300" lIns="47300" spcFirstLastPara="1" rIns="47300" wrap="square" tIns="47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0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Next</a:t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2" name="Google Shape;542;g3d3e562cdfa_1_5"/>
          <p:cNvSpPr/>
          <p:nvPr/>
        </p:nvSpPr>
        <p:spPr>
          <a:xfrm>
            <a:off x="8577832" y="5183635"/>
            <a:ext cx="498300" cy="5124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300" lIns="47300" spcFirstLastPara="1" rIns="47300" wrap="square" tIns="47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0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</a:t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0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3" name="Google Shape;543;g3d3e562cdfa_1_5"/>
          <p:cNvSpPr/>
          <p:nvPr/>
        </p:nvSpPr>
        <p:spPr>
          <a:xfrm>
            <a:off x="8579588" y="4281019"/>
            <a:ext cx="1101600" cy="334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1150" lIns="61150" spcFirstLastPara="1" rIns="61150" wrap="square" tIns="6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rPr b="1" i="0" lang="es-419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0</a:t>
            </a:r>
            <a:r>
              <a:rPr b="1" lang="es-419" sz="936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6"/>
              <a:buFont typeface="Arial"/>
              <a:buNone/>
            </a:pPr>
            <a:r>
              <a:t/>
            </a:r>
            <a:endParaRPr b="1" i="0" sz="936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44" name="Google Shape;544;g3d3e562cdfa_1_5"/>
          <p:cNvGrpSpPr/>
          <p:nvPr/>
        </p:nvGrpSpPr>
        <p:grpSpPr>
          <a:xfrm>
            <a:off x="10485856" y="4213705"/>
            <a:ext cx="1233752" cy="1544898"/>
            <a:chOff x="713775" y="1999375"/>
            <a:chExt cx="1845000" cy="2310300"/>
          </a:xfrm>
        </p:grpSpPr>
        <p:sp>
          <p:nvSpPr>
            <p:cNvPr id="545" name="Google Shape;545;g3d3e562cdfa_1_5"/>
            <p:cNvSpPr/>
            <p:nvPr/>
          </p:nvSpPr>
          <p:spPr>
            <a:xfrm>
              <a:off x="713775" y="1999375"/>
              <a:ext cx="1845000" cy="2310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6" name="Google Shape;546;g3d3e562cdfa_1_5"/>
            <p:cNvSpPr/>
            <p:nvPr/>
          </p:nvSpPr>
          <p:spPr>
            <a:xfrm>
              <a:off x="810000" y="2641650"/>
              <a:ext cx="1647300" cy="766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Value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7" name="Google Shape;547;g3d3e562cdfa_1_5"/>
            <p:cNvSpPr/>
            <p:nvPr/>
          </p:nvSpPr>
          <p:spPr>
            <a:xfrm>
              <a:off x="1712395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Next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8" name="Google Shape;548;g3d3e562cdfa_1_5"/>
            <p:cNvSpPr/>
            <p:nvPr/>
          </p:nvSpPr>
          <p:spPr>
            <a:xfrm>
              <a:off x="810000" y="3449700"/>
              <a:ext cx="744900" cy="766500"/>
            </a:xfrm>
            <a:prstGeom prst="roundRect">
              <a:avLst>
                <a:gd fmla="val 16667" name="adj"/>
              </a:avLst>
            </a:prstGeom>
            <a:solidFill>
              <a:srgbClr val="CC0000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7300" lIns="47300" spcFirstLastPara="1" rIns="47300" wrap="square" tIns="47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0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Prev</a:t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0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9" name="Google Shape;549;g3d3e562cdfa_1_5"/>
            <p:cNvSpPr/>
            <p:nvPr/>
          </p:nvSpPr>
          <p:spPr>
            <a:xfrm>
              <a:off x="812625" y="2099950"/>
              <a:ext cx="1647300" cy="5001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63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61150" lIns="61150" spcFirstLastPara="1" rIns="61150" wrap="square" tIns="611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rPr b="1" i="0" lang="es-419" sz="936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Node 0</a:t>
              </a:r>
              <a:r>
                <a:rPr b="1" lang="es-419" sz="936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5</a:t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6"/>
                <a:buFont typeface="Arial"/>
                <a:buNone/>
              </a:pPr>
              <a:r>
                <a:t/>
              </a:r>
              <a:endParaRPr b="1" i="0" sz="936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cxnSp>
        <p:nvCxnSpPr>
          <p:cNvPr id="550" name="Google Shape;550;g3d3e562cdfa_1_5"/>
          <p:cNvCxnSpPr/>
          <p:nvPr/>
        </p:nvCxnSpPr>
        <p:spPr>
          <a:xfrm flipH="1" rot="10800000">
            <a:off x="9679421" y="4448458"/>
            <a:ext cx="872400" cy="991500"/>
          </a:xfrm>
          <a:prstGeom prst="straightConnector1">
            <a:avLst/>
          </a:prstGeom>
          <a:noFill/>
          <a:ln cap="flat" cmpd="sng" w="127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g3d3e562cdfa_1_5"/>
          <p:cNvCxnSpPr/>
          <p:nvPr/>
        </p:nvCxnSpPr>
        <p:spPr>
          <a:xfrm rot="10800000">
            <a:off x="9681089" y="4448458"/>
            <a:ext cx="869100" cy="991500"/>
          </a:xfrm>
          <a:prstGeom prst="straightConnector1">
            <a:avLst/>
          </a:prstGeom>
          <a:noFill/>
          <a:ln cap="flat" cmpd="sng" w="127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g3d3e562cdfa_1_5"/>
          <p:cNvCxnSpPr/>
          <p:nvPr/>
        </p:nvCxnSpPr>
        <p:spPr>
          <a:xfrm flipH="1" rot="10800000">
            <a:off x="7497201" y="4448458"/>
            <a:ext cx="1082400" cy="991500"/>
          </a:xfrm>
          <a:prstGeom prst="straightConnector1">
            <a:avLst/>
          </a:prstGeom>
          <a:noFill/>
          <a:ln cap="flat" cmpd="sng" w="127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g3d3e562cdfa_1_5"/>
          <p:cNvCxnSpPr/>
          <p:nvPr/>
        </p:nvCxnSpPr>
        <p:spPr>
          <a:xfrm rot="10800000">
            <a:off x="7498682" y="4448458"/>
            <a:ext cx="1079100" cy="991500"/>
          </a:xfrm>
          <a:prstGeom prst="straightConnector1">
            <a:avLst/>
          </a:prstGeom>
          <a:noFill/>
          <a:ln cap="flat" cmpd="sng" w="12750">
            <a:solidFill>
              <a:srgbClr val="FEFEF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g3d3e562cdfa_1_5"/>
          <p:cNvCxnSpPr>
            <a:stCxn id="528" idx="3"/>
          </p:cNvCxnSpPr>
          <p:nvPr/>
        </p:nvCxnSpPr>
        <p:spPr>
          <a:xfrm flipH="1" rot="10800000">
            <a:off x="5555550" y="4763035"/>
            <a:ext cx="294600" cy="1350600"/>
          </a:xfrm>
          <a:prstGeom prst="straightConnector1">
            <a:avLst/>
          </a:prstGeom>
          <a:noFill/>
          <a:ln cap="flat" cmpd="sng" w="12750">
            <a:solidFill>
              <a:srgbClr val="ED7D3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214313" rotWithShape="0" algn="bl">
              <a:srgbClr val="ED7D31">
                <a:alpha val="75000"/>
              </a:srgbClr>
            </a:outerShdw>
          </a:effectLst>
        </p:spPr>
      </p:cxnSp>
      <p:sp>
        <p:nvSpPr>
          <p:cNvPr id="555" name="Google Shape;555;g3d3e562cdfa_1_5"/>
          <p:cNvSpPr txBox="1"/>
          <p:nvPr/>
        </p:nvSpPr>
        <p:spPr>
          <a:xfrm>
            <a:off x="5316425" y="4239300"/>
            <a:ext cx="9777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600">
                <a:solidFill>
                  <a:srgbClr val="ED7D31"/>
                </a:solidFill>
                <a:latin typeface="Roboto Mono"/>
                <a:ea typeface="Roboto Mono"/>
                <a:cs typeface="Roboto Mono"/>
                <a:sym typeface="Roboto Mono"/>
              </a:rPr>
              <a:t>???</a:t>
            </a:r>
            <a:endParaRPr sz="2600">
              <a:solidFill>
                <a:srgbClr val="ED7D3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3e562cdfa_1_5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561" name="Google Shape;561;g3d3e562cdfa_1_56"/>
          <p:cNvSpPr txBox="1"/>
          <p:nvPr>
            <p:ph idx="1" type="body"/>
          </p:nvPr>
        </p:nvSpPr>
        <p:spPr>
          <a:xfrm>
            <a:off x="286650" y="2323750"/>
            <a:ext cx="115911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Para </a:t>
            </a:r>
            <a:r>
              <a:rPr lang="es-419" sz="2600">
                <a:solidFill>
                  <a:srgbClr val="FF7B61"/>
                </a:solidFill>
              </a:rPr>
              <a:t>agregar</a:t>
            </a:r>
            <a:r>
              <a:rPr lang="es-419" sz="2600"/>
              <a:t> un nuevo nodo en la posición de un nodo actual: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419" sz="2600"/>
              <a:t>Asignamos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419" sz="2600"/>
              <a:t> y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419" sz="2600"/>
              <a:t> del nuevo nodo, basado en el nodo actual.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419" sz="2600"/>
              <a:t>Asignamos al nuevo nodo como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419" sz="2600"/>
              <a:t> del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419" sz="2600"/>
              <a:t> del nodo actual.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419" sz="2600"/>
              <a:t>Asignamos al nuevo nodo como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419" sz="2600"/>
              <a:t> del nodo actual.</a:t>
            </a:r>
            <a:endParaRPr sz="2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d3e562cdfa_1_6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567" name="Google Shape;567;g3d3e562cdfa_1_61"/>
          <p:cNvSpPr txBox="1"/>
          <p:nvPr>
            <p:ph idx="1" type="body"/>
          </p:nvPr>
        </p:nvSpPr>
        <p:spPr>
          <a:xfrm>
            <a:off x="286650" y="2323750"/>
            <a:ext cx="116406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Para </a:t>
            </a:r>
            <a:r>
              <a:rPr lang="es-419" sz="2600">
                <a:solidFill>
                  <a:srgbClr val="FF7B61"/>
                </a:solidFill>
              </a:rPr>
              <a:t>remover</a:t>
            </a:r>
            <a:r>
              <a:rPr lang="es-419" sz="2600"/>
              <a:t> un nodo en el medio: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419" sz="2600"/>
              <a:t>El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419" sz="2600"/>
              <a:t> del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419" sz="2600"/>
              <a:t> del nodo a remover es el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419" sz="2600"/>
              <a:t> del nodo a remover.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419" sz="2600"/>
              <a:t>E</a:t>
            </a:r>
            <a:r>
              <a:rPr lang="es-419" sz="2600"/>
              <a:t>l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419" sz="2600"/>
              <a:t> del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419" sz="2600"/>
              <a:t> del nodo a remover es el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419" sz="2600"/>
              <a:t> del nodo a remover.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419" sz="2600"/>
              <a:t>Nulleamos el nodo a remover.</a:t>
            </a:r>
            <a:endParaRPr sz="26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3e562cdfa_1_6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573" name="Google Shape;573;g3d3e562cdfa_1_66"/>
          <p:cNvSpPr txBox="1"/>
          <p:nvPr>
            <p:ph idx="1" type="body"/>
          </p:nvPr>
        </p:nvSpPr>
        <p:spPr>
          <a:xfrm>
            <a:off x="286650" y="2323750"/>
            <a:ext cx="115911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Debemos considerar dónde estamos removiendo/ agregando.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Si es el único nodo, debemos cambiar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s-419" sz="2600"/>
              <a:t> </a:t>
            </a:r>
            <a:r>
              <a:rPr lang="es-419" sz="2600">
                <a:solidFill>
                  <a:srgbClr val="FF7B61"/>
                </a:solidFill>
              </a:rPr>
              <a:t>y</a:t>
            </a:r>
            <a:r>
              <a:rPr lang="es-419" sz="2600"/>
              <a:t>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last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Si es sólo el primero, debemos cambiar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Si es sólo el último, debemos cambiar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last</a:t>
            </a:r>
            <a:r>
              <a:rPr lang="es-419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3e562cdfa_1_7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s-419"/>
              <a:t>TDA LIST - IMPLEMENTACIÓN DINÁMICA</a:t>
            </a:r>
            <a:endParaRPr/>
          </a:p>
        </p:txBody>
      </p:sp>
      <p:sp>
        <p:nvSpPr>
          <p:cNvPr id="579" name="Google Shape;579;g3d3e562cdfa_1_71"/>
          <p:cNvSpPr txBox="1"/>
          <p:nvPr>
            <p:ph idx="1" type="body"/>
          </p:nvPr>
        </p:nvSpPr>
        <p:spPr>
          <a:xfrm>
            <a:off x="286650" y="2323750"/>
            <a:ext cx="11591100" cy="4050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El proceso de reconexión es igual por índice y por objeto.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Podemos reutilizarlo moviendo el código a su propia función.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removeAndReconnect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0070C0"/>
                </a:solidFill>
                <a:latin typeface="Roboto Mono"/>
                <a:ea typeface="Roboto Mono"/>
                <a:cs typeface="Roboto Mono"/>
                <a:sym typeface="Roboto Mono"/>
              </a:rPr>
              <a:t>LinkedNode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toRemove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entury Gothic"/>
              <a:buChar char="❖"/>
            </a:pPr>
            <a:r>
              <a:rPr lang="es-419" sz="2600"/>
              <a:t>La llamamos en ambas versiones de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Al llamarla, cada una le indica qué nodo remover.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29F7E5BC-3B2E-4685-9A46-BE05209E9F03}"/>
</file>

<file path=customXml/itemProps2.xml><?xml version="1.0" encoding="utf-8"?>
<ds:datastoreItem xmlns:ds="http://schemas.openxmlformats.org/officeDocument/2006/customXml" ds:itemID="{A9E2207B-703E-4D2D-B81D-58365F434DD1}"/>
</file>

<file path=customXml/itemProps3.xml><?xml version="1.0" encoding="utf-8"?>
<ds:datastoreItem xmlns:ds="http://schemas.openxmlformats.org/officeDocument/2006/customXml" ds:itemID="{D10FC168-D178-4C3D-8E75-FF0FE980FF1B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