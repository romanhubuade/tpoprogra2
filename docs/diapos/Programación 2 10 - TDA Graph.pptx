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Pd5SGIYx4jf9mJnfXtwHP44j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customXml" Target="../customXml/item1.xml"/><Relationship Id="rId21" Type="http://schemas.openxmlformats.org/officeDocument/2006/relationships/slide" Target="slides/slide16.xml"/><Relationship Id="rId34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1" Type="http://schemas.openxmlformats.org/officeDocument/2006/relationships/customXml" Target="../customXml/item3.xml"/><Relationship Id="rId24" Type="http://schemas.openxmlformats.org/officeDocument/2006/relationships/slide" Target="slides/slide1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RobotoMono-italic.fntdata"/><Relationship Id="rId37" Type="http://schemas.openxmlformats.org/officeDocument/2006/relationships/font" Target="fonts/CenturyGothic-boldItalic.fntdata"/><Relationship Id="rId40" Type="http://schemas.openxmlformats.org/officeDocument/2006/relationships/customXml" Target="../customXml/item2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CenturyGothic-italic.fntdata"/><Relationship Id="rId31" Type="http://schemas.openxmlformats.org/officeDocument/2006/relationships/font" Target="fonts/RobotoMono-bold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30" Type="http://schemas.openxmlformats.org/officeDocument/2006/relationships/font" Target="fonts/RobotoMono-regular.fntdata"/><Relationship Id="rId35" Type="http://schemas.openxmlformats.org/officeDocument/2006/relationships/font" Target="fonts/CenturyGothic-bold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33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7146e6c7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e7146e6c7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7146e6c7a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e7146e6c7a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146e6c7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e7146e6c7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146e6c7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e7146e6c7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7146e6c7a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e7146e6c7a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7146e6c7a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e7146e6c7a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146e6c7a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e7146e6c7a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7146e6c7a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e7146e6c7a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7146e6c7a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e7146e6c7a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146e6c7a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e7146e6c7a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7146e6c7a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e7146e6c7a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7146e6c7a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e7146e6c7a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7146e6c7a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e7146e6c7a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7146e6c7a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e7146e6c7a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7146e6c7a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e7146e6c7a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7146e6c7a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e7146e6c7a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7146e6c7a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e7146e6c7a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7146e6c7a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e7146e6c7a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73f612407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e73f612407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73f612407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e73f612407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73f61240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e73f61240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73f612407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e73f612407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7146e6c7a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e7146e6c7a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TDA Graph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146e6c7a_0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7146e6c7a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</a:t>
            </a:r>
            <a:r>
              <a:rPr b="1" lang="es-AR" sz="2600">
                <a:solidFill>
                  <a:srgbClr val="FF7B61"/>
                </a:solidFill>
              </a:rPr>
              <a:t>Graph o Grafo</a:t>
            </a:r>
            <a:r>
              <a:rPr lang="es-AR" sz="2600">
                <a:solidFill>
                  <a:srgbClr val="FFFFFF"/>
                </a:solidFill>
              </a:rPr>
              <a:t> es una estructura que busca representar una red.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Consta de un Conjunto de </a:t>
            </a:r>
            <a:r>
              <a:rPr b="1" lang="es-AR" sz="2600">
                <a:solidFill>
                  <a:srgbClr val="FF7B61"/>
                </a:solidFill>
              </a:rPr>
              <a:t>Nodos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Vértices</a:t>
            </a:r>
            <a:r>
              <a:rPr lang="es-AR" sz="2600">
                <a:solidFill>
                  <a:srgbClr val="FFFFFF"/>
                </a:solidFill>
              </a:rPr>
              <a:t>, y otro de </a:t>
            </a:r>
            <a:r>
              <a:rPr b="1" lang="es-AR" sz="2600">
                <a:solidFill>
                  <a:srgbClr val="FF7B61"/>
                </a:solidFill>
              </a:rPr>
              <a:t>Aristas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</p:txBody>
      </p:sp>
      <p:sp>
        <p:nvSpPr>
          <p:cNvPr id="132" name="Google Shape;132;g3e7146e6c7a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3" name="Google Shape;133;g3e7146e6c7a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731" y="3865082"/>
            <a:ext cx="2702633" cy="254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7146e6c7a_0_10"/>
          <p:cNvSpPr txBox="1"/>
          <p:nvPr>
            <p:ph idx="1" type="body"/>
          </p:nvPr>
        </p:nvSpPr>
        <p:spPr>
          <a:xfrm>
            <a:off x="290946" y="2286000"/>
            <a:ext cx="11568600" cy="134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</a:t>
            </a:r>
            <a:r>
              <a:rPr b="1" lang="es-AR" sz="2600">
                <a:solidFill>
                  <a:srgbClr val="FF7B61"/>
                </a:solidFill>
              </a:rPr>
              <a:t>Vértice </a:t>
            </a:r>
            <a:r>
              <a:rPr lang="es-AR" sz="2600">
                <a:solidFill>
                  <a:srgbClr val="FFFFFF"/>
                </a:solidFill>
              </a:rPr>
              <a:t>representa a una entidad, objeto, punto geográfico, etc.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Una </a:t>
            </a:r>
            <a:r>
              <a:rPr b="1" lang="es-AR" sz="2600">
                <a:solidFill>
                  <a:srgbClr val="FF7B61"/>
                </a:solidFill>
              </a:rPr>
              <a:t>Arista </a:t>
            </a:r>
            <a:r>
              <a:rPr lang="es-AR" sz="2600">
                <a:solidFill>
                  <a:srgbClr val="FFFFFF"/>
                </a:solidFill>
              </a:rPr>
              <a:t>representa la conexión entre dos nodos.</a:t>
            </a:r>
            <a:endParaRPr/>
          </a:p>
        </p:txBody>
      </p:sp>
      <p:sp>
        <p:nvSpPr>
          <p:cNvPr id="139" name="Google Shape;139;g3e7146e6c7a_0_1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e7146e6c7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731" y="3865082"/>
            <a:ext cx="2702633" cy="2543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e7146e6c7a_0_10"/>
          <p:cNvCxnSpPr/>
          <p:nvPr/>
        </p:nvCxnSpPr>
        <p:spPr>
          <a:xfrm>
            <a:off x="3488891" y="4667394"/>
            <a:ext cx="1220700" cy="15780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g3e7146e6c7a_0_10"/>
          <p:cNvCxnSpPr/>
          <p:nvPr/>
        </p:nvCxnSpPr>
        <p:spPr>
          <a:xfrm flipH="1">
            <a:off x="6968140" y="4795925"/>
            <a:ext cx="688800" cy="18540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g3e7146e6c7a_0_10"/>
          <p:cNvSpPr txBox="1"/>
          <p:nvPr/>
        </p:nvSpPr>
        <p:spPr>
          <a:xfrm>
            <a:off x="2128697" y="4374283"/>
            <a:ext cx="135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Vértice</a:t>
            </a:r>
            <a:endParaRPr/>
          </a:p>
        </p:txBody>
      </p:sp>
      <p:sp>
        <p:nvSpPr>
          <p:cNvPr id="144" name="Google Shape;144;g3e7146e6c7a_0_10"/>
          <p:cNvSpPr txBox="1"/>
          <p:nvPr/>
        </p:nvSpPr>
        <p:spPr>
          <a:xfrm>
            <a:off x="7664672" y="4502813"/>
            <a:ext cx="110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Arista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146e6c7a_0_2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La </a:t>
            </a:r>
            <a:r>
              <a:rPr b="1" lang="es-AR" sz="2600">
                <a:solidFill>
                  <a:srgbClr val="FF7B61"/>
                </a:solidFill>
              </a:rPr>
              <a:t>Teoría de Grafos</a:t>
            </a:r>
            <a:r>
              <a:rPr lang="es-AR" sz="2600">
                <a:solidFill>
                  <a:srgbClr val="FFFFFF"/>
                </a:solidFill>
              </a:rPr>
              <a:t> fue gestada por </a:t>
            </a:r>
            <a:r>
              <a:rPr b="1" lang="es-AR" sz="2600">
                <a:solidFill>
                  <a:srgbClr val="FF7B61"/>
                </a:solidFill>
              </a:rPr>
              <a:t>Leonhard Euler</a:t>
            </a:r>
            <a:r>
              <a:rPr lang="es-AR" sz="2600">
                <a:solidFill>
                  <a:srgbClr val="FFFFFF"/>
                </a:solidFill>
              </a:rPr>
              <a:t> en 1736.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Surge como respuesta al </a:t>
            </a:r>
            <a:r>
              <a:rPr b="1" lang="es-AR" sz="2600">
                <a:solidFill>
                  <a:srgbClr val="FF7B61"/>
                </a:solidFill>
              </a:rPr>
              <a:t>Problema de los Puentes de Konigsberg</a:t>
            </a:r>
            <a:r>
              <a:rPr lang="es-AR" sz="2600">
                <a:solidFill>
                  <a:schemeClr val="lt1"/>
                </a:solidFill>
              </a:rPr>
              <a:t>:</a:t>
            </a:r>
            <a:endParaRPr/>
          </a:p>
        </p:txBody>
      </p:sp>
      <p:sp>
        <p:nvSpPr>
          <p:cNvPr id="150" name="Google Shape;150;g3e7146e6c7a_0_2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e7146e6c7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1126" y="3753137"/>
            <a:ext cx="3621336" cy="2776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e7146e6c7a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0837" y="3753136"/>
            <a:ext cx="3731505" cy="2776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7146e6c7a_0_27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Podemos abstraer muchas estructuras a grafos: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</a:rPr>
              <a:t>Mapas geográficos</a:t>
            </a:r>
            <a:r>
              <a:rPr lang="es-AR" sz="2600">
                <a:solidFill>
                  <a:srgbClr val="FFFFFF"/>
                </a:solidFill>
              </a:rPr>
              <a:t> (GPS).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</a:rPr>
              <a:t>Conexiones de red</a:t>
            </a:r>
            <a:r>
              <a:rPr lang="es-AR" sz="2600">
                <a:solidFill>
                  <a:srgbClr val="FFFFFF"/>
                </a:solidFill>
              </a:rPr>
              <a:t> (toda la internet).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</a:rPr>
              <a:t>Redes de contactos</a:t>
            </a:r>
            <a:r>
              <a:rPr lang="es-AR" sz="2600">
                <a:solidFill>
                  <a:srgbClr val="FFFFFF"/>
                </a:solidFill>
              </a:rPr>
              <a:t> interpersonales.</a:t>
            </a:r>
            <a:endParaRPr sz="2600">
              <a:solidFill>
                <a:srgbClr val="FFFFFF"/>
              </a:solidFill>
            </a:endParaRPr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</a:rPr>
              <a:t>Redes Neuronales</a:t>
            </a:r>
            <a:r>
              <a:rPr lang="es-AR" sz="2600"/>
              <a:t> para Machine Learning.</a:t>
            </a:r>
            <a:endParaRPr/>
          </a:p>
        </p:txBody>
      </p:sp>
      <p:sp>
        <p:nvSpPr>
          <p:cNvPr id="158" name="Google Shape;158;g3e7146e6c7a_0_27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7146e6c7a_0_32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Podemos categorizar a los grafos según </a:t>
            </a:r>
            <a:r>
              <a:rPr b="1" lang="es-AR" sz="2600">
                <a:solidFill>
                  <a:srgbClr val="FF7B61"/>
                </a:solidFill>
              </a:rPr>
              <a:t>dos dimensiones:</a:t>
            </a:r>
            <a:endParaRPr/>
          </a:p>
          <a:p>
            <a:pPr indent="-3429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Dirigidos / no Dirigidos</a:t>
            </a:r>
            <a:r>
              <a:rPr lang="es-AR" sz="2600">
                <a:solidFill>
                  <a:srgbClr val="FFFFFF"/>
                </a:solidFill>
              </a:rPr>
              <a:t> y </a:t>
            </a:r>
            <a:r>
              <a:rPr b="1" lang="es-AR" sz="2600">
                <a:solidFill>
                  <a:srgbClr val="FF7B61"/>
                </a:solidFill>
              </a:rPr>
              <a:t>ponderados / no ponderados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</p:txBody>
      </p:sp>
      <p:sp>
        <p:nvSpPr>
          <p:cNvPr id="164" name="Google Shape;164;g3e7146e6c7a_0_32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e7146e6c7a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093" y="3718191"/>
            <a:ext cx="2298682" cy="21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7146e6c7a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8290" y="3718191"/>
            <a:ext cx="2400337" cy="21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e7146e6c7a_0_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9278" y="3663107"/>
            <a:ext cx="2464601" cy="2194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e7146e6c7a_0_32"/>
          <p:cNvSpPr txBox="1"/>
          <p:nvPr/>
        </p:nvSpPr>
        <p:spPr>
          <a:xfrm>
            <a:off x="531250" y="6054355"/>
            <a:ext cx="3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dirigido</a:t>
            </a:r>
            <a:endParaRPr b="1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3e7146e6c7a_0_32"/>
          <p:cNvSpPr txBox="1"/>
          <p:nvPr/>
        </p:nvSpPr>
        <p:spPr>
          <a:xfrm>
            <a:off x="4451418" y="6054354"/>
            <a:ext cx="329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Dirigido</a:t>
            </a:r>
            <a:endParaRPr b="1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3e7146e6c7a_0_32"/>
          <p:cNvSpPr txBox="1"/>
          <p:nvPr/>
        </p:nvSpPr>
        <p:spPr>
          <a:xfrm>
            <a:off x="8252238" y="6054355"/>
            <a:ext cx="352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Dirigido y ponderado</a:t>
            </a:r>
            <a:endParaRPr b="1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7146e6c7a_0_43"/>
          <p:cNvSpPr txBox="1"/>
          <p:nvPr>
            <p:ph idx="1" type="body"/>
          </p:nvPr>
        </p:nvSpPr>
        <p:spPr>
          <a:xfrm>
            <a:off x="290946" y="2286000"/>
            <a:ext cx="11568600" cy="1318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En un </a:t>
            </a:r>
            <a:r>
              <a:rPr b="1" lang="es-AR" sz="2600">
                <a:solidFill>
                  <a:srgbClr val="FF7B61"/>
                </a:solidFill>
              </a:rPr>
              <a:t>grafo dirigido</a:t>
            </a:r>
            <a:r>
              <a:rPr lang="es-AR" sz="2600">
                <a:solidFill>
                  <a:srgbClr val="FFFFFF"/>
                </a:solidFill>
              </a:rPr>
              <a:t>, las aristas van en un solo sentido.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En ese caso hablamos de vértices </a:t>
            </a:r>
            <a:r>
              <a:rPr b="1" lang="es-AR" sz="2600">
                <a:solidFill>
                  <a:srgbClr val="FF7B61"/>
                </a:solidFill>
              </a:rPr>
              <a:t>origen </a:t>
            </a:r>
            <a:r>
              <a:rPr lang="es-AR" sz="2600">
                <a:solidFill>
                  <a:srgbClr val="FFFFFF"/>
                </a:solidFill>
              </a:rPr>
              <a:t>y </a:t>
            </a:r>
            <a:r>
              <a:rPr b="1" lang="es-AR" sz="2600">
                <a:solidFill>
                  <a:srgbClr val="FF7B61"/>
                </a:solidFill>
              </a:rPr>
              <a:t>destino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</p:txBody>
      </p:sp>
      <p:sp>
        <p:nvSpPr>
          <p:cNvPr id="176" name="Google Shape;176;g3e7146e6c7a_0_4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g3e7146e6c7a_0_43"/>
          <p:cNvGrpSpPr/>
          <p:nvPr/>
        </p:nvGrpSpPr>
        <p:grpSpPr>
          <a:xfrm>
            <a:off x="2491334" y="3718191"/>
            <a:ext cx="7212968" cy="2797864"/>
            <a:chOff x="2427069" y="3718191"/>
            <a:chExt cx="7212968" cy="2797864"/>
          </a:xfrm>
        </p:grpSpPr>
        <p:pic>
          <p:nvPicPr>
            <p:cNvPr id="178" name="Google Shape;178;g3e7146e6c7a_0_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25912" y="3718191"/>
              <a:ext cx="2298682" cy="2139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g3e7146e6c7a_0_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64109" y="3718191"/>
              <a:ext cx="2400337" cy="21391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g3e7146e6c7a_0_43"/>
            <p:cNvSpPr txBox="1"/>
            <p:nvPr/>
          </p:nvSpPr>
          <p:spPr>
            <a:xfrm>
              <a:off x="2427069" y="6054355"/>
              <a:ext cx="329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AR" sz="2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 dirigido</a:t>
              </a:r>
              <a:endPara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g3e7146e6c7a_0_43"/>
            <p:cNvSpPr txBox="1"/>
            <p:nvPr/>
          </p:nvSpPr>
          <p:spPr>
            <a:xfrm>
              <a:off x="6347237" y="6054354"/>
              <a:ext cx="329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AR" sz="2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Dirigido</a:t>
              </a:r>
              <a:endParaRPr b="1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7146e6c7a_0_53"/>
          <p:cNvSpPr txBox="1"/>
          <p:nvPr>
            <p:ph idx="1" type="body"/>
          </p:nvPr>
        </p:nvSpPr>
        <p:spPr>
          <a:xfrm>
            <a:off x="290946" y="2286000"/>
            <a:ext cx="11568600" cy="1423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En un </a:t>
            </a:r>
            <a:r>
              <a:rPr b="1" lang="es-AR" sz="2600">
                <a:solidFill>
                  <a:srgbClr val="FF7B61"/>
                </a:solidFill>
              </a:rPr>
              <a:t>grafo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ponderado</a:t>
            </a:r>
            <a:r>
              <a:rPr lang="es-AR" sz="2600">
                <a:solidFill>
                  <a:srgbClr val="FFFFFF"/>
                </a:solidFill>
              </a:rPr>
              <a:t>, las aristas tienen un </a:t>
            </a:r>
            <a:r>
              <a:rPr b="1" lang="es-AR" sz="2600">
                <a:solidFill>
                  <a:srgbClr val="FF7B61"/>
                </a:solidFill>
              </a:rPr>
              <a:t>peso </a:t>
            </a:r>
            <a:r>
              <a:rPr lang="es-AR" sz="2600">
                <a:solidFill>
                  <a:srgbClr val="FFFFFF"/>
                </a:solidFill>
              </a:rPr>
              <a:t>o </a:t>
            </a:r>
            <a:r>
              <a:rPr b="1" lang="es-AR" sz="2600">
                <a:solidFill>
                  <a:srgbClr val="FF7B61"/>
                </a:solidFill>
              </a:rPr>
              <a:t>costo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Considera factores como distancia o caminos desfavorables.</a:t>
            </a:r>
            <a:endParaRPr/>
          </a:p>
        </p:txBody>
      </p:sp>
      <p:sp>
        <p:nvSpPr>
          <p:cNvPr id="187" name="Google Shape;187;g3e7146e6c7a_0_5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g3e7146e6c7a_0_53"/>
          <p:cNvGrpSpPr/>
          <p:nvPr/>
        </p:nvGrpSpPr>
        <p:grpSpPr>
          <a:xfrm>
            <a:off x="2411603" y="3709999"/>
            <a:ext cx="7323120" cy="2852948"/>
            <a:chOff x="2335403" y="3663107"/>
            <a:chExt cx="7323120" cy="2852948"/>
          </a:xfrm>
        </p:grpSpPr>
        <p:pic>
          <p:nvPicPr>
            <p:cNvPr id="189" name="Google Shape;189;g3e7146e6c7a_0_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2275" y="3718191"/>
              <a:ext cx="2400337" cy="21391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g3e7146e6c7a_0_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3263" y="3663107"/>
              <a:ext cx="2464601" cy="21941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g3e7146e6c7a_0_53"/>
            <p:cNvSpPr txBox="1"/>
            <p:nvPr/>
          </p:nvSpPr>
          <p:spPr>
            <a:xfrm>
              <a:off x="2335403" y="6054354"/>
              <a:ext cx="329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AR" sz="2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 ponderado</a:t>
              </a:r>
              <a:endParaRPr/>
            </a:p>
          </p:txBody>
        </p:sp>
        <p:sp>
          <p:nvSpPr>
            <p:cNvPr id="192" name="Google Shape;192;g3e7146e6c7a_0_53"/>
            <p:cNvSpPr txBox="1"/>
            <p:nvPr/>
          </p:nvSpPr>
          <p:spPr>
            <a:xfrm>
              <a:off x="6136223" y="6054355"/>
              <a:ext cx="352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AR" sz="2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Ponderado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7146e6c7a_0_63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Dos vértices son </a:t>
            </a:r>
            <a:r>
              <a:rPr b="1" lang="es-AR" sz="2600">
                <a:solidFill>
                  <a:srgbClr val="FF7B61"/>
                </a:solidFill>
              </a:rPr>
              <a:t>adyacentes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vecinos</a:t>
            </a:r>
            <a:r>
              <a:rPr lang="es-AR" sz="2600">
                <a:solidFill>
                  <a:srgbClr val="FFFFFF"/>
                </a:solidFill>
              </a:rPr>
              <a:t> si comparten una arista.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Llamamos </a:t>
            </a:r>
            <a:r>
              <a:rPr b="1" lang="es-AR" sz="2600">
                <a:solidFill>
                  <a:srgbClr val="FF7B61"/>
                </a:solidFill>
              </a:rPr>
              <a:t>vértices aislados</a:t>
            </a:r>
            <a:r>
              <a:rPr lang="es-AR" sz="2600">
                <a:solidFill>
                  <a:srgbClr val="FFFFFF"/>
                </a:solidFill>
              </a:rPr>
              <a:t> a aquellos que no tienen aristas.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vértice tiene </a:t>
            </a:r>
            <a:r>
              <a:rPr b="1" lang="es-AR" sz="2600">
                <a:solidFill>
                  <a:srgbClr val="FF7B61"/>
                </a:solidFill>
              </a:rPr>
              <a:t>aristas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salientes</a:t>
            </a:r>
            <a:r>
              <a:rPr lang="es-AR" sz="2600">
                <a:solidFill>
                  <a:srgbClr val="FFFFFF"/>
                </a:solidFill>
              </a:rPr>
              <a:t> cuando es el origen de las mismas.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vértice tiene </a:t>
            </a:r>
            <a:r>
              <a:rPr b="1" lang="es-AR" sz="2600">
                <a:solidFill>
                  <a:srgbClr val="FF7B61"/>
                </a:solidFill>
              </a:rPr>
              <a:t>aristas</a:t>
            </a:r>
            <a:r>
              <a:rPr lang="es-AR" sz="2600">
                <a:solidFill>
                  <a:srgbClr val="FFFFFF"/>
                </a:solidFill>
              </a:rPr>
              <a:t> </a:t>
            </a:r>
            <a:r>
              <a:rPr b="1" lang="es-AR" sz="2600">
                <a:solidFill>
                  <a:srgbClr val="FF7B61"/>
                </a:solidFill>
              </a:rPr>
              <a:t>entrantes</a:t>
            </a:r>
            <a:r>
              <a:rPr lang="es-AR" sz="2600">
                <a:solidFill>
                  <a:srgbClr val="FFFFFF"/>
                </a:solidFill>
              </a:rPr>
              <a:t> cuando es su destino.</a:t>
            </a:r>
            <a:endParaRPr/>
          </a:p>
        </p:txBody>
      </p:sp>
      <p:sp>
        <p:nvSpPr>
          <p:cNvPr id="198" name="Google Shape;198;g3e7146e6c7a_0_6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146e6c7a_0_6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</a:t>
            </a:r>
            <a:r>
              <a:rPr b="1" lang="es-AR" sz="2600">
                <a:solidFill>
                  <a:srgbClr val="FF7B61"/>
                </a:solidFill>
              </a:rPr>
              <a:t>camino</a:t>
            </a:r>
            <a:r>
              <a:rPr lang="es-AR" sz="2600">
                <a:solidFill>
                  <a:srgbClr val="FFFFFF"/>
                </a:solidFill>
              </a:rPr>
              <a:t> es una secuencia de vértices vecinos.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El </a:t>
            </a:r>
            <a:r>
              <a:rPr b="1" lang="es-AR" sz="2600">
                <a:solidFill>
                  <a:srgbClr val="FF7B61"/>
                </a:solidFill>
              </a:rPr>
              <a:t>peso</a:t>
            </a:r>
            <a:r>
              <a:rPr lang="es-AR" sz="2600">
                <a:solidFill>
                  <a:srgbClr val="FFFFFF"/>
                </a:solidFill>
              </a:rPr>
              <a:t> de un camino es la suma de los pesos de todos sus vértices.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vértice es </a:t>
            </a:r>
            <a:r>
              <a:rPr b="1" lang="es-AR" sz="2600">
                <a:solidFill>
                  <a:srgbClr val="FF7B61"/>
                </a:solidFill>
              </a:rPr>
              <a:t>alcanzable</a:t>
            </a:r>
            <a:r>
              <a:rPr lang="es-AR" sz="2600">
                <a:solidFill>
                  <a:srgbClr val="FFFFFF"/>
                </a:solidFill>
              </a:rPr>
              <a:t> desde otro si tienen un camino posible.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Un </a:t>
            </a:r>
            <a:r>
              <a:rPr b="1" lang="es-AR" sz="2600">
                <a:solidFill>
                  <a:srgbClr val="FF7B61"/>
                </a:solidFill>
              </a:rPr>
              <a:t>ciclo</a:t>
            </a:r>
            <a:r>
              <a:rPr lang="es-AR" sz="2600">
                <a:solidFill>
                  <a:srgbClr val="FFFFFF"/>
                </a:solidFill>
              </a:rPr>
              <a:t> es un camino que empieza y termina en el mismo vértice.</a:t>
            </a:r>
            <a:endParaRPr/>
          </a:p>
        </p:txBody>
      </p:sp>
      <p:sp>
        <p:nvSpPr>
          <p:cNvPr id="204" name="Google Shape;204;g3e7146e6c7a_0_6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 -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7146e6c7a_0_73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7146e6c7a_0_77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Las 3 maneras más comunes de implementar un Graph son: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Matriz de Adyacencia</a:t>
            </a:r>
            <a:r>
              <a:rPr lang="es-AR" sz="2600"/>
              <a:t> </a:t>
            </a:r>
            <a:r>
              <a:rPr lang="es-AR" sz="2600"/>
              <a:t>(est</a:t>
            </a:r>
            <a:r>
              <a:rPr lang="es-AR" sz="2600"/>
              <a:t>ática).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Lista de Adyacencia</a:t>
            </a:r>
            <a:r>
              <a:rPr lang="es-AR" sz="2600"/>
              <a:t> (din</a:t>
            </a:r>
            <a:r>
              <a:rPr lang="es-AR" sz="2600"/>
              <a:t>ámica).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Enfoque Orientado a Objetos</a:t>
            </a:r>
            <a:r>
              <a:rPr lang="es-AR" sz="2600">
                <a:solidFill>
                  <a:schemeClr val="lt1"/>
                </a:solidFill>
              </a:rPr>
              <a:t>: clases custom</a:t>
            </a:r>
            <a:r>
              <a:rPr lang="es-AR" sz="2600"/>
              <a:t> para Node y/o Edge.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distinci</a:t>
            </a:r>
            <a:r>
              <a:rPr lang="es-AR" sz="2600"/>
              <a:t>ón entre estática y dinámica es distinta que en otros TDAs.</a:t>
            </a:r>
            <a:endParaRPr sz="2600"/>
          </a:p>
        </p:txBody>
      </p:sp>
      <p:sp>
        <p:nvSpPr>
          <p:cNvPr id="215" name="Google Shape;215;g3e7146e6c7a_0_77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7146e6c7a_0_82"/>
          <p:cNvSpPr txBox="1"/>
          <p:nvPr>
            <p:ph idx="1" type="body"/>
          </p:nvPr>
        </p:nvSpPr>
        <p:spPr>
          <a:xfrm>
            <a:off x="290946" y="2286000"/>
            <a:ext cx="11568600" cy="1979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Matriz de Adyacencia</a:t>
            </a:r>
            <a:r>
              <a:rPr lang="es-AR" sz="2600">
                <a:solidFill>
                  <a:schemeClr val="lt1"/>
                </a:solidFill>
              </a:rPr>
              <a:t>: filas y columnas para representar los vértices.</a:t>
            </a:r>
            <a:endParaRPr>
              <a:solidFill>
                <a:schemeClr val="lt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Guardamos las conexiones / peso en las celdas.</a:t>
            </a:r>
            <a:endParaRPr/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None/>
            </a:pPr>
            <a:r>
              <a:t/>
            </a:r>
            <a:endParaRPr sz="2600"/>
          </a:p>
        </p:txBody>
      </p:sp>
      <p:sp>
        <p:nvSpPr>
          <p:cNvPr id="221" name="Google Shape;221;g3e7146e6c7a_0_82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rawing of a diagram&#10;&#10;AI-generated content may be incorrect." id="222" name="Google Shape;222;g3e7146e6c7a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701917"/>
            <a:ext cx="6118954" cy="2892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7146e6c7a_0_88"/>
          <p:cNvSpPr txBox="1"/>
          <p:nvPr>
            <p:ph idx="1" type="body"/>
          </p:nvPr>
        </p:nvSpPr>
        <p:spPr>
          <a:xfrm>
            <a:off x="290946" y="2286000"/>
            <a:ext cx="11568600" cy="1979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Ineficiente en memoria, sobre todo cuando hay pocas conexiones.</a:t>
            </a:r>
            <a:endParaRPr>
              <a:solidFill>
                <a:schemeClr val="lt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Destaca en matrices fijas, densas y muy interconectadas.</a:t>
            </a:r>
            <a:endParaRPr/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None/>
            </a:pPr>
            <a:r>
              <a:t/>
            </a:r>
            <a:endParaRPr sz="2600"/>
          </a:p>
        </p:txBody>
      </p:sp>
      <p:sp>
        <p:nvSpPr>
          <p:cNvPr id="228" name="Google Shape;228;g3e7146e6c7a_0_8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rawing of a diagram&#10;&#10;AI-generated content may be incorrect." id="229" name="Google Shape;229;g3e7146e6c7a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701917"/>
            <a:ext cx="6118954" cy="2892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7146e6c7a_0_94"/>
          <p:cNvSpPr txBox="1"/>
          <p:nvPr>
            <p:ph idx="1" type="body"/>
          </p:nvPr>
        </p:nvSpPr>
        <p:spPr>
          <a:xfrm>
            <a:off x="290946" y="2286000"/>
            <a:ext cx="11568600" cy="1979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Lista de Adyacencia</a:t>
            </a:r>
            <a:r>
              <a:rPr lang="es-AR" sz="2600">
                <a:solidFill>
                  <a:schemeClr val="lt1"/>
                </a:solidFill>
              </a:rPr>
              <a:t>: diccionario de Nodos y Listas de </a:t>
            </a:r>
            <a:r>
              <a:rPr lang="es-AR" sz="2600">
                <a:solidFill>
                  <a:schemeClr val="lt1"/>
                </a:solidFill>
              </a:rPr>
              <a:t>Nodos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Cada Nodo es una Key, </a:t>
            </a:r>
            <a:r>
              <a:rPr lang="es-AR" sz="2600">
                <a:solidFill>
                  <a:schemeClr val="lt1"/>
                </a:solidFill>
              </a:rPr>
              <a:t>y su </a:t>
            </a:r>
            <a:r>
              <a:rPr lang="es-AR" sz="2600">
                <a:solidFill>
                  <a:schemeClr val="lt1"/>
                </a:solidFill>
              </a:rPr>
              <a:t>Value es una Lista de sus vecinos.</a:t>
            </a:r>
            <a:endParaRPr/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None/>
            </a:pPr>
            <a:r>
              <a:t/>
            </a:r>
            <a:endParaRPr sz="2600"/>
          </a:p>
        </p:txBody>
      </p:sp>
      <p:sp>
        <p:nvSpPr>
          <p:cNvPr id="235" name="Google Shape;235;g3e7146e6c7a_0_9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rawing of a diagram&#10;&#10;AI-generated content may be incorrect." id="236" name="Google Shape;236;g3e7146e6c7a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7185" y="3699831"/>
            <a:ext cx="4456316" cy="288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7146e6c7a_0_106"/>
          <p:cNvSpPr txBox="1"/>
          <p:nvPr>
            <p:ph idx="1" type="body"/>
          </p:nvPr>
        </p:nvSpPr>
        <p:spPr>
          <a:xfrm>
            <a:off x="290946" y="2286000"/>
            <a:ext cx="11568600" cy="1979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Enfoque Orientado a Objetos</a:t>
            </a:r>
            <a:r>
              <a:rPr lang="es-AR" sz="2600">
                <a:solidFill>
                  <a:schemeClr val="lt1"/>
                </a:solidFill>
              </a:rPr>
              <a:t>: similar a una Lista de Adyacencia.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Nos permite expandir al Nodo con más datos y funcionalidad.</a:t>
            </a:r>
            <a:endParaRPr/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None/>
            </a:pPr>
            <a:r>
              <a:t/>
            </a:r>
            <a:endParaRPr sz="2600"/>
          </a:p>
        </p:txBody>
      </p:sp>
      <p:sp>
        <p:nvSpPr>
          <p:cNvPr id="242" name="Google Shape;242;g3e7146e6c7a_0_10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oard with blue text and red text&#10;&#10;AI-generated content may be incorrect." id="243" name="Google Shape;243;g3e7146e6c7a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741" y="3713888"/>
            <a:ext cx="3653929" cy="2891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7146e6c7a_0_112"/>
          <p:cNvSpPr txBox="1"/>
          <p:nvPr>
            <p:ph idx="1" type="body"/>
          </p:nvPr>
        </p:nvSpPr>
        <p:spPr>
          <a:xfrm>
            <a:off x="290946" y="2286000"/>
            <a:ext cx="11568600" cy="1979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Dentro de</a:t>
            </a:r>
            <a:r>
              <a:rPr lang="es-AR" sz="2600"/>
              <a:t> una simulación</a:t>
            </a:r>
            <a:r>
              <a:rPr lang="es-AR" sz="2600">
                <a:solidFill>
                  <a:schemeClr val="lt1"/>
                </a:solidFill>
              </a:rPr>
              <a:t>, pueden interactuar con otros objetos.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Pueden registrar vecinos dinámicamente, calcular distancias, etc.</a:t>
            </a:r>
            <a:endParaRPr/>
          </a:p>
          <a:p>
            <a:pPr indent="-1143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None/>
            </a:pPr>
            <a:r>
              <a:t/>
            </a:r>
            <a:endParaRPr sz="2600"/>
          </a:p>
        </p:txBody>
      </p:sp>
      <p:sp>
        <p:nvSpPr>
          <p:cNvPr id="249" name="Google Shape;249;g3e7146e6c7a_0_112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oard with blue text and red text&#10;&#10;AI-generated content may be incorrect." id="250" name="Google Shape;250;g3e7146e6c7a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741" y="3713888"/>
            <a:ext cx="3653929" cy="2891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7146e6c7a_0_11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– FUNCIONES Y PROPIEDADES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3e7146e6c7a_0_118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Creamos la interfaz</a:t>
            </a:r>
            <a:r>
              <a:rPr lang="es-AR" sz="2600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Graph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vertices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i="0" sz="26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i="0" sz="26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i="0" lang="es-AR" sz="2600" u="none" cap="none" strike="noStrike">
                <a:solidFill>
                  <a:srgbClr val="EF755F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i="0" sz="26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i="0" lang="es-AR" sz="2600" u="none" cap="none" strike="noStrike">
                <a:solidFill>
                  <a:srgbClr val="EF755F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addEdge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weight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RemoveEdge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73f612407_0_112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– FUNCIONES Y PROPIEDADES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2" name="Google Shape;262;g3e73f612407_0_112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Noto Sans Symbols"/>
              <a:buChar char="❖"/>
            </a:pP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vertex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i="0" lang="es-AR" sz="2600" u="none" cap="none" strike="noStrike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containsEdge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i="0" lang="es-AR" sz="2600" u="none" cap="none" strike="noStrike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i="0" lang="es-AR" sz="26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i="0" sz="2600" u="none" cap="none" strike="noStrik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30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Roboto Mono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int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getWeight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lang="es-AR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73f612407_0_117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DIN</a:t>
            </a:r>
            <a:r>
              <a:rPr lang="es-AR" sz="6600">
                <a:solidFill>
                  <a:srgbClr val="43FFF5"/>
                </a:solidFill>
              </a:rPr>
              <a:t>ÁMICA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73f612407_0_0"/>
          <p:cNvSpPr txBox="1"/>
          <p:nvPr>
            <p:ph idx="1" type="body"/>
          </p:nvPr>
        </p:nvSpPr>
        <p:spPr>
          <a:xfrm>
            <a:off x="290950" y="2286000"/>
            <a:ext cx="11568600" cy="4167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Podemos hacer nuestra clase 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Edge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Contiene variables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/>
              <a:t>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destination</a:t>
            </a:r>
            <a:r>
              <a:rPr lang="es-AR" sz="2600"/>
              <a:t> e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/>
              <a:t>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weight</a:t>
            </a:r>
            <a:r>
              <a:rPr lang="es-AR" sz="2600"/>
              <a:t>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Debemos overridear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equals</a:t>
            </a:r>
            <a:r>
              <a:rPr lang="es-AR" sz="2600"/>
              <a:t> para que compare ambas variables.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“lista” es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SimpleDictionary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SimpleList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Edge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&gt;&gt;&gt;</a:t>
            </a:r>
            <a:r>
              <a:rPr lang="es-AR" sz="2600"/>
              <a:t>.</a:t>
            </a:r>
            <a:endParaRPr sz="2600"/>
          </a:p>
        </p:txBody>
      </p:sp>
      <p:sp>
        <p:nvSpPr>
          <p:cNvPr id="273" name="Google Shape;273;g3e73f612407_0_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73f612407_0_121"/>
          <p:cNvSpPr txBox="1"/>
          <p:nvPr>
            <p:ph idx="1" type="body"/>
          </p:nvPr>
        </p:nvSpPr>
        <p:spPr>
          <a:xfrm>
            <a:off x="290950" y="2286000"/>
            <a:ext cx="11568600" cy="4167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/>
              <a:t>La mayoría de las funciones van a necesitar una auxiliar.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86E6"/>
                </a:solidFill>
                <a:latin typeface="Roboto Mono"/>
                <a:ea typeface="Roboto Mono"/>
                <a:cs typeface="Roboto Mono"/>
                <a:sym typeface="Roboto Mono"/>
              </a:rPr>
              <a:t>Edge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getEdge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buscar un edge, muchas veces solo importa el destino.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no sabemos el peso, puede ser dif</a:t>
            </a:r>
            <a:r>
              <a:rPr lang="es-AR" sz="2600"/>
              <a:t>ícil encontrarlo de otra forma.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Esta función encuentra un edge cuyo destino sea el buscado.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Reutilizamos esto para saber si existe, agregar, modificar y remover.</a:t>
            </a:r>
            <a:endParaRPr sz="2600"/>
          </a:p>
        </p:txBody>
      </p:sp>
      <p:sp>
        <p:nvSpPr>
          <p:cNvPr id="279" name="Google Shape;279;g3e73f612407_0_12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- 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7146e6c7a_0_12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Las funciones Remove son void en un Graph. Se "maneja solo".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Al remover un vértice o arista, hay que pasar por todos los vértices.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Un vértice se guarda como Key de diccionario, y en sus vecinos.</a:t>
            </a:r>
            <a:endParaRPr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chemeClr val="lt1"/>
                </a:solidFill>
              </a:rPr>
              <a:t>Para borrar una arista no se necesita el peso, para guardarla si.</a:t>
            </a:r>
            <a:endParaRPr/>
          </a:p>
        </p:txBody>
      </p:sp>
      <p:sp>
        <p:nvSpPr>
          <p:cNvPr id="285" name="Google Shape;285;g3e7146e6c7a_0_12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GRAPH – FUNCIONES Y PROPIEDADES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80A570EC-CCDB-4D58-B3A4-714013740B17}"/>
</file>

<file path=customXml/itemProps2.xml><?xml version="1.0" encoding="utf-8"?>
<ds:datastoreItem xmlns:ds="http://schemas.openxmlformats.org/officeDocument/2006/customXml" ds:itemID="{AED190DA-F986-4511-85BD-C88D5DBE6D6D}"/>
</file>

<file path=customXml/itemProps3.xml><?xml version="1.0" encoding="utf-8"?>
<ds:datastoreItem xmlns:ds="http://schemas.openxmlformats.org/officeDocument/2006/customXml" ds:itemID="{E63F1039-86C4-4BA2-A7B4-118C7DFC1A40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