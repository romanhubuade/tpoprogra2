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9144000"/>
  <p:embeddedFontLst>
    <p:embeddedFont>
      <p:font typeface="Roboto Mono Medium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  <p:embeddedFont>
      <p:font typeface="Century Gothic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6" roundtripDataSignature="AMtx7mgUWAIcofgIZ1E2EDUX6yho5EYQ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4.xml"/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42" Type="http://schemas.openxmlformats.org/officeDocument/2006/relationships/slide" Target="slides/slide37.xml"/><Relationship Id="rId47" Type="http://schemas.openxmlformats.org/officeDocument/2006/relationships/font" Target="fonts/RobotoMonoMedium-boldItalic.fntdata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50" Type="http://schemas.openxmlformats.org/officeDocument/2006/relationships/font" Target="fonts/RobotoMono-italic.fntdata"/><Relationship Id="rId55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font" Target="fonts/RobotoMonoMedium-bold.fntdata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24" Type="http://schemas.openxmlformats.org/officeDocument/2006/relationships/slide" Target="slides/slide19.xml"/><Relationship Id="rId53" Type="http://schemas.openxmlformats.org/officeDocument/2006/relationships/font" Target="fonts/CenturyGothic-bold.fntdata"/><Relationship Id="rId11" Type="http://schemas.openxmlformats.org/officeDocument/2006/relationships/slide" Target="slides/slide6.xml"/><Relationship Id="rId58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regular.fntdata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56" Type="http://customschemas.google.com/relationships/presentationmetadata" Target="metadata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51" Type="http://schemas.openxmlformats.org/officeDocument/2006/relationships/font" Target="fonts/RobotoMono-boldItalic.fntdata"/><Relationship Id="rId3" Type="http://schemas.openxmlformats.org/officeDocument/2006/relationships/presProps" Target="presProps.xml"/><Relationship Id="rId46" Type="http://schemas.openxmlformats.org/officeDocument/2006/relationships/font" Target="fonts/RobotoMonoMedium-italic.fntdata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59" Type="http://schemas.openxmlformats.org/officeDocument/2006/relationships/customXml" Target="../customXml/item3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54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font" Target="fonts/RobotoMono-bold.fntdata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5" Type="http://schemas.openxmlformats.org/officeDocument/2006/relationships/slide" Target="slides/slide10.xml"/><Relationship Id="rId57" Type="http://schemas.openxmlformats.org/officeDocument/2006/relationships/customXml" Target="../customXml/item1.xml"/><Relationship Id="rId44" Type="http://schemas.openxmlformats.org/officeDocument/2006/relationships/font" Target="fonts/RobotoMonoMedium-regular.fntdata"/><Relationship Id="rId31" Type="http://schemas.openxmlformats.org/officeDocument/2006/relationships/slide" Target="slides/slide26.xml"/><Relationship Id="rId52" Type="http://schemas.openxmlformats.org/officeDocument/2006/relationships/font" Target="fonts/CenturyGothic-regular.fntdata"/><Relationship Id="rId10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6d6dde25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86d6dde25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6d6dde250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86d6dde250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6d6dde250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86d6dde250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6d6dde250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86d6dde250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6d6dde250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86d6dde250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6d6dde250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86d6dde250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6d6dde250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86d6dde250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6d6dde250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86d6dde250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6d6dde250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86d6dde250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5c5f99fcb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95c5f99fcb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5c5f99fcb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95c5f99fcb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5c5f99fcb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95c5f99fcb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6d6dde250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86d6dde250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6d6dde250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86d6dde250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6d6dde250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86d6dde250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6d6dde250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86d6dde250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6d6dde250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86d6dde250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5c5f99fc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395c5f99fc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6d6dde250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86d6dde250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5c5f99fcb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95c5f99fcb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5c5f99fcb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95c5f99fcb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5c5f99fcb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95c5f99fcb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5c5f99fcb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95c5f99fcb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5c5f99fcb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g395c5f99fcb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5c5f99fcb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95c5f99fcb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5c5f99fcb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g395c5f99fcb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5c5f99fcb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95c5f99fcb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5c5f99fcb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395c5f99fcb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5c5f99fcb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395c5f99fcb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Introducción a Java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idx="4294967295" type="ctrTitle"/>
          </p:nvPr>
        </p:nvSpPr>
        <p:spPr>
          <a:xfrm>
            <a:off x="2024864" y="1872886"/>
            <a:ext cx="8532299" cy="311222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CONCEPTOS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CONCEPTOS</a:t>
            </a:r>
            <a:endParaRPr/>
          </a:p>
        </p:txBody>
      </p:sp>
      <p:sp>
        <p:nvSpPr>
          <p:cNvPr id="132" name="Google Shape;132;p54"/>
          <p:cNvSpPr txBox="1"/>
          <p:nvPr>
            <p:ph idx="1" type="body"/>
          </p:nvPr>
        </p:nvSpPr>
        <p:spPr>
          <a:xfrm>
            <a:off x="288981" y="2326106"/>
            <a:ext cx="11604803" cy="427509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Java</a:t>
            </a:r>
            <a:r>
              <a:rPr lang="es-AR" sz="2600">
                <a:solidFill>
                  <a:srgbClr val="FF7B61"/>
                </a:solidFill>
              </a:rPr>
              <a:t> </a:t>
            </a:r>
            <a:r>
              <a:rPr lang="es-AR" sz="2600"/>
              <a:t>es un lenguaje orientado a objetos con sintaxis similar a C.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Lenguaje </a:t>
            </a:r>
            <a:r>
              <a:rPr b="1" lang="es-AR" sz="2600">
                <a:solidFill>
                  <a:srgbClr val="FF7B61"/>
                </a:solidFill>
              </a:rPr>
              <a:t>compilado</a:t>
            </a:r>
            <a:r>
              <a:rPr lang="es-AR" sz="2600"/>
              <a:t>, </a:t>
            </a:r>
            <a:r>
              <a:rPr b="1" lang="es-AR" sz="2600">
                <a:solidFill>
                  <a:srgbClr val="FF7B61"/>
                </a:solidFill>
              </a:rPr>
              <a:t>estáticamente tipado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6d6dde250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CONCEPTOS</a:t>
            </a:r>
            <a:endParaRPr/>
          </a:p>
        </p:txBody>
      </p:sp>
      <p:sp>
        <p:nvSpPr>
          <p:cNvPr id="138" name="Google Shape;138;g386d6dde250_0_0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C</a:t>
            </a:r>
            <a:r>
              <a:rPr b="1" lang="es-AR" sz="2600">
                <a:solidFill>
                  <a:srgbClr val="FF7B61"/>
                </a:solidFill>
              </a:rPr>
              <a:t>ompilado</a:t>
            </a:r>
            <a:r>
              <a:rPr lang="es-AR" sz="2600"/>
              <a:t>: se traduce a código máquina </a:t>
            </a:r>
            <a:r>
              <a:rPr lang="es-AR" sz="2600">
                <a:solidFill>
                  <a:srgbClr val="FF7B61"/>
                </a:solidFill>
              </a:rPr>
              <a:t>antes</a:t>
            </a:r>
            <a:r>
              <a:rPr lang="es-AR" sz="2600"/>
              <a:t> de su ejecución.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Tipado</a:t>
            </a:r>
            <a:r>
              <a:rPr lang="es-AR" sz="2600"/>
              <a:t>: se debe </a:t>
            </a:r>
            <a:r>
              <a:rPr lang="es-AR" sz="2600">
                <a:solidFill>
                  <a:srgbClr val="FF7B61"/>
                </a:solidFill>
              </a:rPr>
              <a:t>especificar un tipo</a:t>
            </a:r>
            <a:r>
              <a:rPr lang="es-AR" sz="2600"/>
              <a:t> de dato para cada variable.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Estáticamente</a:t>
            </a:r>
            <a:r>
              <a:rPr lang="es-AR" sz="2600"/>
              <a:t>: dichos tipos </a:t>
            </a:r>
            <a:r>
              <a:rPr lang="es-AR" sz="2600">
                <a:solidFill>
                  <a:srgbClr val="FF7B61"/>
                </a:solidFill>
              </a:rPr>
              <a:t>no pueden cambiar</a:t>
            </a:r>
            <a:r>
              <a:rPr lang="es-AR" sz="2600"/>
              <a:t> en ejecución.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idx="4294967295" type="ctrTitle"/>
          </p:nvPr>
        </p:nvSpPr>
        <p:spPr>
          <a:xfrm>
            <a:off x="2024864" y="1872886"/>
            <a:ext cx="8532299" cy="311222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TIPOS DE DATO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TIPOS DE DATO - PRIMITIVOS</a:t>
            </a:r>
            <a:endParaRPr/>
          </a:p>
        </p:txBody>
      </p:sp>
      <p:sp>
        <p:nvSpPr>
          <p:cNvPr id="149" name="Google Shape;149;p57"/>
          <p:cNvSpPr txBox="1"/>
          <p:nvPr>
            <p:ph idx="1" type="body"/>
          </p:nvPr>
        </p:nvSpPr>
        <p:spPr>
          <a:xfrm>
            <a:off x="288981" y="2326106"/>
            <a:ext cx="11604803" cy="427509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Los tipos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b="1" lang="es-AR" sz="2600">
                <a:solidFill>
                  <a:srgbClr val="FF7B61"/>
                </a:solidFill>
              </a:rPr>
              <a:t>primitivos</a:t>
            </a:r>
            <a:r>
              <a:rPr lang="es-AR" sz="2600"/>
              <a:t> son parte del lenguaje, almacenan </a:t>
            </a:r>
            <a:r>
              <a:rPr lang="es-AR" sz="2600">
                <a:solidFill>
                  <a:srgbClr val="FF7B61"/>
                </a:solidFill>
              </a:rPr>
              <a:t>valores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No pueden ser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null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Números</a:t>
            </a:r>
            <a:r>
              <a:rPr lang="es-AR" sz="2600"/>
              <a:t> enteros: </a:t>
            </a:r>
            <a:r>
              <a:rPr b="1"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AR" sz="2600"/>
              <a:t>,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byte</a:t>
            </a:r>
            <a:r>
              <a:rPr lang="es-AR" sz="2600"/>
              <a:t>,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short</a:t>
            </a:r>
            <a:r>
              <a:rPr lang="es-AR" sz="2600"/>
              <a:t>,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long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Números reales (enteros y decimales):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float</a:t>
            </a:r>
            <a:r>
              <a:rPr lang="es-AR" sz="2600"/>
              <a:t>,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double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Texto (caracter individual):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char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Booleano: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boolean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6d6dde250_0_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TIPOS DE DATO - DE REFERENCIA</a:t>
            </a:r>
            <a:endParaRPr/>
          </a:p>
        </p:txBody>
      </p:sp>
      <p:sp>
        <p:nvSpPr>
          <p:cNvPr id="155" name="Google Shape;155;g386d6dde250_0_5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Todos los demás tipos son </a:t>
            </a:r>
            <a:r>
              <a:rPr b="1" lang="es-AR" sz="2600">
                <a:solidFill>
                  <a:srgbClr val="FF7B61"/>
                </a:solidFill>
              </a:rPr>
              <a:t>de referencia</a:t>
            </a:r>
            <a:r>
              <a:rPr lang="es-AR" sz="2600"/>
              <a:t>.</a:t>
            </a:r>
            <a:r>
              <a:rPr lang="es-AR" sz="2600"/>
              <a:t> 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Almacenan la </a:t>
            </a:r>
            <a:r>
              <a:rPr lang="es-AR" sz="2600">
                <a:solidFill>
                  <a:srgbClr val="FF7B61"/>
                </a:solidFill>
              </a:rPr>
              <a:t>dirección en memoria de un objeto</a:t>
            </a:r>
            <a:r>
              <a:rPr lang="es-AR" sz="2600"/>
              <a:t>. 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Pueden ser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null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Hay infinitos tipos de referencia ya que podemos crear nuevos.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</a:t>
            </a:r>
            <a:r>
              <a:rPr lang="es-AR" sz="2600"/>
              <a:t> y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</a:t>
            </a:r>
            <a:r>
              <a:rPr lang="es-AR" sz="2600"/>
              <a:t> son los más comunes.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6d6dde250_0_1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TIPOS DE DATO - DE REFERENCIA</a:t>
            </a:r>
            <a:endParaRPr/>
          </a:p>
        </p:txBody>
      </p:sp>
      <p:sp>
        <p:nvSpPr>
          <p:cNvPr id="161" name="Google Shape;161;g386d6dde250_0_10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Cada tipo primitivo tiene su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b="1" i="1" lang="es-AR" sz="2600">
                <a:solidFill>
                  <a:srgbClr val="FF7B61"/>
                </a:solidFill>
              </a:rPr>
              <a:t>wrapper</a:t>
            </a:r>
            <a:r>
              <a:rPr lang="es-AR" sz="2600"/>
              <a:t> de referencia.</a:t>
            </a:r>
            <a:endParaRPr sz="2600"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Las colecciones como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ArrayList</a:t>
            </a:r>
            <a:r>
              <a:rPr lang="es-AR" sz="2600"/>
              <a:t> no pueden guardar primitivos.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varios usos “envolvemos” un primitivo en su wrapper </a:t>
            </a:r>
            <a:r>
              <a:rPr b="1" i="1" lang="es-AR" sz="2600">
                <a:solidFill>
                  <a:srgbClr val="FF7B61"/>
                </a:solidFill>
              </a:rPr>
              <a:t>(boxing)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</a:t>
            </a:r>
            <a:r>
              <a:rPr lang="es-AR" sz="2600"/>
              <a:t> -&gt;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Integer</a:t>
            </a:r>
            <a:r>
              <a:rPr lang="es-AR" sz="2600"/>
              <a:t>,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boolean</a:t>
            </a:r>
            <a:r>
              <a:rPr lang="es-AR" sz="2600"/>
              <a:t> -&gt;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Boolean</a:t>
            </a:r>
            <a:r>
              <a:rPr lang="es-AR" sz="2600"/>
              <a:t>, etc.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6d6dde250_0_1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TIPOS DE DATO - TRAMPAS</a:t>
            </a:r>
            <a:endParaRPr/>
          </a:p>
        </p:txBody>
      </p:sp>
      <p:sp>
        <p:nvSpPr>
          <p:cNvPr id="167" name="Google Shape;167;g386d6dde250_0_15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El operador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b="1" lang="es-AR" sz="2600">
                <a:solidFill>
                  <a:srgbClr val="FF7B61"/>
                </a:solidFill>
              </a:rPr>
              <a:t>==</a:t>
            </a:r>
            <a:r>
              <a:rPr lang="es-AR" sz="2600"/>
              <a:t> funciona distinto según que tipo comparemos.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Con </a:t>
            </a:r>
            <a:r>
              <a:rPr lang="es-AR" sz="2600">
                <a:solidFill>
                  <a:srgbClr val="FF7B61"/>
                </a:solidFill>
              </a:rPr>
              <a:t>primitivos</a:t>
            </a:r>
            <a:r>
              <a:rPr lang="es-AR" sz="2600"/>
              <a:t> compara </a:t>
            </a:r>
            <a:r>
              <a:rPr lang="es-AR" sz="2600">
                <a:solidFill>
                  <a:srgbClr val="FF7B61"/>
                </a:solidFill>
              </a:rPr>
              <a:t>valores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Con </a:t>
            </a:r>
            <a:r>
              <a:rPr lang="es-AR" sz="2600">
                <a:solidFill>
                  <a:srgbClr val="FF7B61"/>
                </a:solidFill>
              </a:rPr>
              <a:t>referencia</a:t>
            </a:r>
            <a:r>
              <a:rPr lang="es-AR" sz="2600"/>
              <a:t> compara </a:t>
            </a:r>
            <a:r>
              <a:rPr lang="es-AR" sz="2600">
                <a:solidFill>
                  <a:srgbClr val="FF7B61"/>
                </a:solidFill>
              </a:rPr>
              <a:t>objetos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Mezclando ambos intenta </a:t>
            </a:r>
            <a:r>
              <a:rPr lang="es-AR" sz="2600">
                <a:solidFill>
                  <a:srgbClr val="FF7B61"/>
                </a:solidFill>
              </a:rPr>
              <a:t>unboxear</a:t>
            </a:r>
            <a:r>
              <a:rPr lang="es-AR" sz="2600"/>
              <a:t> el valor para compararlo.</a:t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6d6dde250_0_2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TIPOS DE DATO - TRAMPAS</a:t>
            </a:r>
            <a:endParaRPr/>
          </a:p>
        </p:txBody>
      </p:sp>
      <p:sp>
        <p:nvSpPr>
          <p:cNvPr id="173" name="Google Shape;173;g386d6dde250_0_20"/>
          <p:cNvSpPr txBox="1"/>
          <p:nvPr>
            <p:ph idx="1" type="body"/>
          </p:nvPr>
        </p:nvSpPr>
        <p:spPr>
          <a:xfrm>
            <a:off x="288975" y="2326105"/>
            <a:ext cx="11604900" cy="69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D</a:t>
            </a:r>
            <a:r>
              <a:rPr lang="es-AR" sz="2600">
                <a:solidFill>
                  <a:srgbClr val="FFFFFF"/>
                </a:solidFill>
              </a:rPr>
              <a:t>os variables de referencia con el mismo valor </a:t>
            </a:r>
            <a:r>
              <a:rPr lang="es-AR" sz="2600">
                <a:solidFill>
                  <a:srgbClr val="FF7B61"/>
                </a:solidFill>
              </a:rPr>
              <a:t>no son iguales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 sz="2600"/>
          </a:p>
        </p:txBody>
      </p:sp>
      <p:pic>
        <p:nvPicPr>
          <p:cNvPr id="174" name="Google Shape;174;g386d6dde250_0_20" title="Integer equal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9463" y="3429005"/>
            <a:ext cx="5553075" cy="2505075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rgbClr val="66FFD6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6d6dde250_0_2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TIPOS DE DATO - TRAMPAS</a:t>
            </a:r>
            <a:endParaRPr/>
          </a:p>
        </p:txBody>
      </p:sp>
      <p:sp>
        <p:nvSpPr>
          <p:cNvPr id="180" name="Google Shape;180;g386d6dde250_0_26"/>
          <p:cNvSpPr txBox="1"/>
          <p:nvPr>
            <p:ph idx="1" type="body"/>
          </p:nvPr>
        </p:nvSpPr>
        <p:spPr>
          <a:xfrm>
            <a:off x="288975" y="2326105"/>
            <a:ext cx="11604900" cy="69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Los comparamos con la función </a:t>
            </a:r>
            <a:r>
              <a:rPr lang="es-AR" sz="2600">
                <a:solidFill>
                  <a:schemeClr val="accent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equals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 sz="2600"/>
          </a:p>
        </p:txBody>
      </p:sp>
      <p:pic>
        <p:nvPicPr>
          <p:cNvPr id="181" name="Google Shape;181;g386d6dde250_0_26" title="Integer equa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375" y="3429000"/>
            <a:ext cx="6303250" cy="2499425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rgbClr val="66FFD6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6d6dde250_0_3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TIPOS DE DATO - TRAMPAS</a:t>
            </a:r>
            <a:endParaRPr/>
          </a:p>
        </p:txBody>
      </p:sp>
      <p:sp>
        <p:nvSpPr>
          <p:cNvPr id="187" name="Google Shape;187;g386d6dde250_0_32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Debemos tener cuidado al comparar un primitivo con su wrapper.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El primitivo no puede ser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null</a:t>
            </a:r>
            <a:r>
              <a:rPr lang="es-AR" sz="2600"/>
              <a:t> pero su wrapper sí.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el wrapper es null, </a:t>
            </a:r>
            <a:r>
              <a:rPr lang="es-AR" sz="2600">
                <a:solidFill>
                  <a:srgbClr val="FF7B61"/>
                </a:solidFill>
              </a:rPr>
              <a:t>se intenta unboxear algo que no existe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Esto causa una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NullPointerException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6d6dde250_0_3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TIPOS DE DATO - TRAMPAS</a:t>
            </a:r>
            <a:endParaRPr/>
          </a:p>
        </p:txBody>
      </p:sp>
      <p:sp>
        <p:nvSpPr>
          <p:cNvPr id="193" name="Google Shape;193;g386d6dde250_0_37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La solución es chequear null antes de comparar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También</a:t>
            </a:r>
            <a:r>
              <a:rPr lang="es-AR" sz="2600"/>
              <a:t> podemos usar 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Objects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.</a:t>
            </a:r>
            <a:r>
              <a:rPr lang="es-AR" sz="2600">
                <a:solidFill>
                  <a:schemeClr val="accent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equals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(</a:t>
            </a:r>
            <a:r>
              <a:rPr lang="es-AR" sz="2600">
                <a:solidFill>
                  <a:srgbClr val="FFFDD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, </a:t>
            </a:r>
            <a:r>
              <a:rPr lang="es-AR" sz="2600">
                <a:solidFill>
                  <a:srgbClr val="FFFDD4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)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Esta última requiere importar 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java.util.Objects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5"/>
          <p:cNvSpPr txBox="1"/>
          <p:nvPr>
            <p:ph idx="4294967295" type="ctrTitle"/>
          </p:nvPr>
        </p:nvSpPr>
        <p:spPr>
          <a:xfrm>
            <a:off x="2024864" y="1872886"/>
            <a:ext cx="8532299" cy="311222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VARIABLES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VARIABLES - DECLARACIÓN</a:t>
            </a:r>
            <a:endParaRPr/>
          </a:p>
        </p:txBody>
      </p:sp>
      <p:sp>
        <p:nvSpPr>
          <p:cNvPr id="204" name="Google Shape;204;p58"/>
          <p:cNvSpPr txBox="1"/>
          <p:nvPr>
            <p:ph idx="1" type="body"/>
          </p:nvPr>
        </p:nvSpPr>
        <p:spPr>
          <a:xfrm>
            <a:off x="288981" y="2326106"/>
            <a:ext cx="11604803" cy="427509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Para declarar una variable usamos el formato </a:t>
            </a:r>
            <a:r>
              <a:rPr lang="es-AR" sz="26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&lt;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</a:t>
            </a:r>
            <a:r>
              <a:rPr lang="es-AR" sz="26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&gt; &lt;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nombre</a:t>
            </a:r>
            <a:r>
              <a:rPr lang="es-AR" sz="26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&gt;;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Ejemplo: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 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cantidad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;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Podemos declarar más de una a la vez</a:t>
            </a:r>
            <a:r>
              <a:rPr lang="es-AR" sz="2600"/>
              <a:t>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Ejemplo: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cantidad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, 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contador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, 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resultado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;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6d6dde250_0_4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VARIABLES - ASIGNACIÓN</a:t>
            </a:r>
            <a:endParaRPr/>
          </a:p>
        </p:txBody>
      </p:sp>
      <p:sp>
        <p:nvSpPr>
          <p:cNvPr id="210" name="Google Shape;210;g386d6dde250_0_42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Asignamos con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&lt;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nombre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 </a:t>
            </a:r>
            <a:r>
              <a:rPr lang="es-AR" sz="26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= &lt;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</a:t>
            </a:r>
            <a:r>
              <a:rPr lang="es-AR" sz="26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&gt;;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Podemos declarar y asignar a la vez o no.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Ejemplos: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cantidad 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= 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5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;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cantidad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;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cantidad 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= 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5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;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5c5f99fcb_0_1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VARIABLES - ARRAYS</a:t>
            </a:r>
            <a:endParaRPr/>
          </a:p>
        </p:txBody>
      </p:sp>
      <p:sp>
        <p:nvSpPr>
          <p:cNvPr id="216" name="Google Shape;216;g395c5f99fcb_0_15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Un </a:t>
            </a:r>
            <a:r>
              <a:rPr b="1" lang="es-AR" sz="2600">
                <a:solidFill>
                  <a:srgbClr val="FF7B61"/>
                </a:solidFill>
              </a:rPr>
              <a:t>array</a:t>
            </a:r>
            <a:r>
              <a:rPr lang="es-AR" sz="2600">
                <a:solidFill>
                  <a:srgbClr val="FFFFFF"/>
                </a:solidFill>
              </a:rPr>
              <a:t> o </a:t>
            </a:r>
            <a:r>
              <a:rPr b="1" lang="es-AR" sz="2600">
                <a:solidFill>
                  <a:srgbClr val="FF7B61"/>
                </a:solidFill>
              </a:rPr>
              <a:t>arreglo</a:t>
            </a:r>
            <a:r>
              <a:rPr lang="es-AR" sz="2600">
                <a:solidFill>
                  <a:srgbClr val="FFFFFF"/>
                </a:solidFill>
              </a:rPr>
              <a:t> es una colección de datos de un mismo tipo.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Tiene un tamaño fijo una vez creado.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Los </a:t>
            </a:r>
            <a:r>
              <a:rPr lang="es-AR" sz="2600">
                <a:solidFill>
                  <a:srgbClr val="FF7B61"/>
                </a:solidFill>
              </a:rPr>
              <a:t>arrays son de referencia (objetos)</a:t>
            </a:r>
            <a:r>
              <a:rPr lang="es-AR" sz="2600"/>
              <a:t>, incluso si contienen primitivos.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30E7FC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.length</a:t>
            </a:r>
            <a:r>
              <a:rPr lang="es-AR" sz="2600"/>
              <a:t> representa la cantidad de elementos del array.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5c5f99fcb_0_2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VARIABLES - ARRAYS</a:t>
            </a:r>
            <a:endParaRPr/>
          </a:p>
        </p:txBody>
      </p:sp>
      <p:sp>
        <p:nvSpPr>
          <p:cNvPr id="222" name="Google Shape;222;g395c5f99fcb_0_20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Declaración: </a:t>
            </a:r>
            <a:r>
              <a:rPr lang="es-AR" sz="26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&lt;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</a:t>
            </a:r>
            <a:r>
              <a:rPr lang="es-AR" sz="26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&gt;[] &lt;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nombre</a:t>
            </a:r>
            <a:r>
              <a:rPr lang="es-AR" sz="2600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&gt;;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Asignación: 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&lt;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nombre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 =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new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&lt;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&gt;[&lt;</a:t>
            </a:r>
            <a:r>
              <a:rPr lang="es-AR" sz="2600">
                <a:solidFill>
                  <a:srgbClr val="9ACE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largo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&gt;];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 Medium"/>
              <a:buChar char="❖"/>
            </a:pPr>
            <a:r>
              <a:rPr lang="es-AR" sz="2600"/>
              <a:t>Alternativa (</a:t>
            </a:r>
            <a:r>
              <a:rPr lang="es-AR" sz="2600"/>
              <a:t>sólo</a:t>
            </a:r>
            <a:r>
              <a:rPr lang="es-AR" sz="2600"/>
              <a:t> al inicializar)</a:t>
            </a:r>
            <a:r>
              <a:rPr lang="es-AR" sz="2600"/>
              <a:t>: 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&lt;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nombre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 = {&lt;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&gt;, &lt;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valor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&gt;};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5c5f99fcb_0_2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VARIABLES - ARRAYS</a:t>
            </a:r>
            <a:endParaRPr/>
          </a:p>
        </p:txBody>
      </p:sp>
      <p:sp>
        <p:nvSpPr>
          <p:cNvPr id="228" name="Google Shape;228;g395c5f99fcb_0_25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Ejemplos</a:t>
            </a:r>
            <a:r>
              <a:rPr lang="es-AR" sz="2600">
                <a:solidFill>
                  <a:srgbClr val="FFFFFF"/>
                </a:solidFill>
              </a:rPr>
              <a:t>: </a:t>
            </a:r>
            <a:endParaRPr sz="2600">
              <a:solidFill>
                <a:srgbClr val="FF7B6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[] 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names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=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new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[</a:t>
            </a:r>
            <a:r>
              <a:rPr lang="es-AR" sz="2600">
                <a:solidFill>
                  <a:srgbClr val="9ACE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10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];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 Medium"/>
              <a:buChar char="❖"/>
            </a:pP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[] 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nums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= 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10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, 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30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};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6d6dde250_0_4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VARIABLES - ALCANCE</a:t>
            </a:r>
            <a:endParaRPr/>
          </a:p>
        </p:txBody>
      </p:sp>
      <p:sp>
        <p:nvSpPr>
          <p:cNvPr id="234" name="Google Shape;234;g386d6dde250_0_47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El </a:t>
            </a:r>
            <a:r>
              <a:rPr b="1" lang="es-AR" sz="2600">
                <a:solidFill>
                  <a:srgbClr val="FF7B61"/>
                </a:solidFill>
              </a:rPr>
              <a:t>scope</a:t>
            </a:r>
            <a:r>
              <a:rPr lang="es-AR" sz="2600">
                <a:solidFill>
                  <a:srgbClr val="FFFFFF"/>
                </a:solidFill>
              </a:rPr>
              <a:t> o </a:t>
            </a:r>
            <a:r>
              <a:rPr b="1" lang="es-AR" sz="2600">
                <a:solidFill>
                  <a:srgbClr val="FF7B61"/>
                </a:solidFill>
              </a:rPr>
              <a:t>alcance</a:t>
            </a:r>
            <a:r>
              <a:rPr lang="es-AR" sz="2600">
                <a:solidFill>
                  <a:srgbClr val="FFFFFF"/>
                </a:solidFill>
              </a:rPr>
              <a:t> es en qué </a:t>
            </a:r>
            <a:r>
              <a:rPr b="1" lang="es-AR" sz="2600">
                <a:solidFill>
                  <a:srgbClr val="FF7B61"/>
                </a:solidFill>
              </a:rPr>
              <a:t>bloque</a:t>
            </a:r>
            <a:r>
              <a:rPr lang="es-AR" sz="2600">
                <a:solidFill>
                  <a:srgbClr val="FFFFFF"/>
                </a:solidFill>
              </a:rPr>
              <a:t> se creó una variable.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Un bloque está delimitado por llaves 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{}</a:t>
            </a:r>
            <a:r>
              <a:rPr lang="es-AR" sz="2600"/>
              <a:t>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Una variable </a:t>
            </a:r>
            <a:r>
              <a:rPr lang="es-AR" sz="2600">
                <a:solidFill>
                  <a:srgbClr val="FF7B61"/>
                </a:solidFill>
              </a:rPr>
              <a:t>solo existe dentro de su bloque</a:t>
            </a:r>
            <a:r>
              <a:rPr lang="es-AR" sz="2600"/>
              <a:t>, inaccesible por fuera.</a:t>
            </a:r>
            <a:endParaRPr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7"/>
          <p:cNvSpPr txBox="1"/>
          <p:nvPr>
            <p:ph idx="4294967295" type="ctrTitle"/>
          </p:nvPr>
        </p:nvSpPr>
        <p:spPr>
          <a:xfrm>
            <a:off x="2024864" y="1872886"/>
            <a:ext cx="8532299" cy="311222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OPERADORES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6d6dde250_0_5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OPERADORES - ARITMÉTICOS</a:t>
            </a:r>
            <a:endParaRPr/>
          </a:p>
        </p:txBody>
      </p:sp>
      <p:sp>
        <p:nvSpPr>
          <p:cNvPr id="245" name="Google Shape;245;g386d6dde250_0_52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+</a:t>
            </a:r>
            <a:r>
              <a:rPr lang="es-AR" sz="2600">
                <a:solidFill>
                  <a:srgbClr val="FFFFFF"/>
                </a:solidFill>
              </a:rPr>
              <a:t>:</a:t>
            </a:r>
            <a:r>
              <a:rPr lang="es-AR" sz="2600">
                <a:solidFill>
                  <a:srgbClr val="FFFFFF"/>
                </a:solidFill>
              </a:rPr>
              <a:t> Suma.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-</a:t>
            </a:r>
            <a:r>
              <a:rPr lang="es-AR" sz="2600"/>
              <a:t>: Resta.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*</a:t>
            </a:r>
            <a:r>
              <a:rPr lang="es-AR" sz="2600"/>
              <a:t>: Multipliación.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/</a:t>
            </a:r>
            <a:r>
              <a:rPr lang="es-AR" sz="2600"/>
              <a:t>: División.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%</a:t>
            </a:r>
            <a:r>
              <a:rPr lang="es-AR" sz="2600"/>
              <a:t>: Módulo o Resto.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++</a:t>
            </a:r>
            <a:r>
              <a:rPr lang="es-AR" sz="2600"/>
              <a:t>: Sumar 1 al número.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--</a:t>
            </a:r>
            <a:r>
              <a:rPr lang="es-AR" sz="2600"/>
              <a:t>: Restar 1 al número.</a:t>
            </a:r>
            <a:endParaRPr sz="2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6d6dde250_0_5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OPERADORES - RELACIONALES</a:t>
            </a:r>
            <a:endParaRPr/>
          </a:p>
        </p:txBody>
      </p:sp>
      <p:sp>
        <p:nvSpPr>
          <p:cNvPr id="251" name="Google Shape;251;g386d6dde250_0_57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==</a:t>
            </a:r>
            <a:r>
              <a:rPr lang="es-AR" sz="2600">
                <a:solidFill>
                  <a:srgbClr val="FFFFFF"/>
                </a:solidFill>
              </a:rPr>
              <a:t>: Igual.</a:t>
            </a:r>
            <a:endParaRPr sz="2600">
              <a:solidFill>
                <a:srgbClr val="FFFFFF"/>
              </a:solidFill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!=</a:t>
            </a:r>
            <a:r>
              <a:rPr lang="es-AR" sz="2600"/>
              <a:t>: Distinto.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&lt;</a:t>
            </a:r>
            <a:r>
              <a:rPr lang="es-AR" sz="2600"/>
              <a:t>: Menor.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&gt;</a:t>
            </a:r>
            <a:r>
              <a:rPr lang="es-AR" sz="2600"/>
              <a:t>: Mayor.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&lt;=</a:t>
            </a:r>
            <a:r>
              <a:rPr lang="es-AR" sz="2600"/>
              <a:t>: Menor-Igual.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&gt;=</a:t>
            </a:r>
            <a:r>
              <a:rPr lang="es-AR" sz="2600"/>
              <a:t>: Mayor-Igual.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!</a:t>
            </a:r>
            <a:r>
              <a:rPr lang="es-AR" sz="2600"/>
              <a:t>: Lo contrario a.</a:t>
            </a:r>
            <a:endParaRPr sz="2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"/>
          <p:cNvSpPr txBox="1"/>
          <p:nvPr>
            <p:ph idx="4294967295" type="ctrTitle"/>
          </p:nvPr>
        </p:nvSpPr>
        <p:spPr>
          <a:xfrm>
            <a:off x="2024864" y="1872886"/>
            <a:ext cx="8532299" cy="311222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ESTRUCTURAS </a:t>
            </a:r>
            <a:endParaRPr sz="6600">
              <a:solidFill>
                <a:srgbClr val="43FFF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DE CONTROL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6d6dde250_0_62"/>
          <p:cNvSpPr txBox="1"/>
          <p:nvPr>
            <p:ph type="title"/>
          </p:nvPr>
        </p:nvSpPr>
        <p:spPr>
          <a:xfrm>
            <a:off x="810000" y="447200"/>
            <a:ext cx="10821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 sz="3800"/>
              <a:t>ESTRUCTURAS DE CONTROL - CONDICIONALES</a:t>
            </a:r>
            <a:endParaRPr sz="3800"/>
          </a:p>
        </p:txBody>
      </p:sp>
      <p:sp>
        <p:nvSpPr>
          <p:cNvPr id="262" name="Google Shape;262;g386d6dde250_0_62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Condicionales simples</a:t>
            </a:r>
            <a:r>
              <a:rPr lang="es-AR" sz="2600">
                <a:solidFill>
                  <a:srgbClr val="FFFFFF"/>
                </a:solidFill>
              </a:rPr>
              <a:t>: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if</a:t>
            </a:r>
            <a:r>
              <a:rPr lang="es-AR" sz="2600">
                <a:solidFill>
                  <a:srgbClr val="FFFFFF"/>
                </a:solidFill>
              </a:rPr>
              <a:t>,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else</a:t>
            </a:r>
            <a:r>
              <a:rPr lang="es-AR" sz="2600">
                <a:solidFill>
                  <a:srgbClr val="FFFFFF"/>
                </a:solidFill>
              </a:rPr>
              <a:t>,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else if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 sz="2600">
              <a:solidFill>
                <a:srgbClr val="FFFFFF"/>
              </a:solidFill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Condicional múltiple</a:t>
            </a:r>
            <a:r>
              <a:rPr lang="es-AR" sz="2600"/>
              <a:t>:</a:t>
            </a:r>
            <a:r>
              <a:rPr lang="es-AR" sz="2600"/>
              <a:t>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switch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6d6dde250_0_67"/>
          <p:cNvSpPr txBox="1"/>
          <p:nvPr>
            <p:ph type="title"/>
          </p:nvPr>
        </p:nvSpPr>
        <p:spPr>
          <a:xfrm>
            <a:off x="810000" y="447200"/>
            <a:ext cx="10821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 sz="3800"/>
              <a:t>ESTRUCTURAS DE CONTROL - BUCLES</a:t>
            </a:r>
            <a:endParaRPr sz="3800"/>
          </a:p>
        </p:txBody>
      </p:sp>
      <p:sp>
        <p:nvSpPr>
          <p:cNvPr id="268" name="Google Shape;268;g386d6dde250_0_67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Condicionales simples</a:t>
            </a:r>
            <a:r>
              <a:rPr lang="es-AR" sz="2600">
                <a:solidFill>
                  <a:srgbClr val="FFFFFF"/>
                </a:solidFill>
              </a:rPr>
              <a:t>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if</a:t>
            </a:r>
            <a:r>
              <a:rPr lang="es-AR" sz="2600">
                <a:solidFill>
                  <a:srgbClr val="FFFFFF"/>
                </a:solidFill>
              </a:rPr>
              <a:t>,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else</a:t>
            </a:r>
            <a:r>
              <a:rPr lang="es-AR" sz="2600">
                <a:solidFill>
                  <a:srgbClr val="FFFFFF"/>
                </a:solidFill>
              </a:rPr>
              <a:t>,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else if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 sz="2600">
              <a:solidFill>
                <a:srgbClr val="FFFFFF"/>
              </a:solidFill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Condicional múltiple: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switch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5c5f99fcb_0_0"/>
          <p:cNvSpPr txBox="1"/>
          <p:nvPr>
            <p:ph type="title"/>
          </p:nvPr>
        </p:nvSpPr>
        <p:spPr>
          <a:xfrm>
            <a:off x="810000" y="447200"/>
            <a:ext cx="10821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 sz="3800"/>
              <a:t>ESTRUCTURAS DE CONTROL - BUCLES</a:t>
            </a:r>
            <a:endParaRPr sz="3800"/>
          </a:p>
        </p:txBody>
      </p:sp>
      <p:sp>
        <p:nvSpPr>
          <p:cNvPr id="274" name="Google Shape;274;g395c5f99fcb_0_0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While</a:t>
            </a:r>
            <a:r>
              <a:rPr lang="es-AR" sz="2600">
                <a:solidFill>
                  <a:srgbClr val="FFFFFF"/>
                </a:solidFill>
              </a:rPr>
              <a:t>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while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(&lt;condición&gt;)</a:t>
            </a:r>
            <a:endParaRPr sz="2600"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For</a:t>
            </a:r>
            <a:r>
              <a:rPr lang="es-AR" sz="2600"/>
              <a:t>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for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(&lt;inicialización&gt;; &lt;condición&gt;; &lt;actualización&gt;;)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colecciones (“foreach”):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for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(int &lt;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contador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&gt;:&lt;</a:t>
            </a:r>
            <a:r>
              <a:rPr lang="es-AR" sz="2600">
                <a:solidFill>
                  <a:srgbClr val="FFFF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colección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&gt;)</a:t>
            </a:r>
            <a:endParaRPr sz="2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6d6dde250_0_72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MÉTODOS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5c5f99fcb_0_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MÉTODOS</a:t>
            </a:r>
            <a:endParaRPr/>
          </a:p>
        </p:txBody>
      </p:sp>
      <p:sp>
        <p:nvSpPr>
          <p:cNvPr id="285" name="Google Shape;285;g395c5f99fcb_0_5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Un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b="1" lang="es-AR" sz="2600">
                <a:solidFill>
                  <a:srgbClr val="FF7B61"/>
                </a:solidFill>
              </a:rPr>
              <a:t>método</a:t>
            </a:r>
            <a:r>
              <a:rPr lang="es-AR" sz="2600">
                <a:solidFill>
                  <a:srgbClr val="FFFFFF"/>
                </a:solidFill>
              </a:rPr>
              <a:t> o </a:t>
            </a:r>
            <a:r>
              <a:rPr b="1" lang="es-AR" sz="2600">
                <a:solidFill>
                  <a:srgbClr val="FF7B61"/>
                </a:solidFill>
              </a:rPr>
              <a:t>función</a:t>
            </a:r>
            <a:r>
              <a:rPr lang="es-AR" sz="2600">
                <a:solidFill>
                  <a:srgbClr val="FFFFFF"/>
                </a:solidFill>
              </a:rPr>
              <a:t> es una piez</a:t>
            </a:r>
            <a:r>
              <a:rPr lang="es-AR" sz="2600">
                <a:solidFill>
                  <a:srgbClr val="FFFFFF"/>
                </a:solidFill>
              </a:rPr>
              <a:t>a de</a:t>
            </a:r>
            <a:r>
              <a:rPr lang="es-AR" sz="2600">
                <a:solidFill>
                  <a:srgbClr val="FFFFFF"/>
                </a:solidFill>
              </a:rPr>
              <a:t> código que realiza una tarea.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En Java siguen esta estructura, y se escriben en </a:t>
            </a:r>
            <a:r>
              <a:rPr lang="es-AR" sz="2600">
                <a:solidFill>
                  <a:srgbClr val="FF7B61"/>
                </a:solidFill>
              </a:rPr>
              <a:t>camelCase</a:t>
            </a:r>
            <a:r>
              <a:rPr lang="es-AR" sz="2600"/>
              <a:t>: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 Mono Medium"/>
              <a:buChar char="❖"/>
            </a:pP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&lt;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 de retorno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 &lt;</a:t>
            </a:r>
            <a:r>
              <a:rPr lang="es-AR" sz="2600">
                <a:solidFill>
                  <a:srgbClr val="37B5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nombre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 (&lt;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tipo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 &lt;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argumento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&gt;){ 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 Medium"/>
              <a:buChar char="❖"/>
            </a:pPr>
            <a:r>
              <a:rPr lang="es-AR" sz="2600"/>
              <a:t>El </a:t>
            </a:r>
            <a:r>
              <a:rPr lang="es-AR" sz="2600"/>
              <a:t>tipo de retorno de las funciones que no retornan nada es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void</a:t>
            </a:r>
            <a:r>
              <a:rPr lang="es-AR" sz="2600"/>
              <a:t>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5c5f99fcb_0_1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MÉTODOS</a:t>
            </a:r>
            <a:endParaRPr/>
          </a:p>
        </p:txBody>
      </p:sp>
      <p:sp>
        <p:nvSpPr>
          <p:cNvPr id="291" name="Google Shape;291;g395c5f99fcb_0_10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Ejemplo: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 Mono Medium"/>
              <a:buChar char="❖"/>
            </a:pP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600">
                <a:solidFill>
                  <a:srgbClr val="37B5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add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(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 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,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 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){ </a:t>
            </a: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return 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 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+ 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; 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 Medium"/>
              <a:buChar char="❖"/>
            </a:pP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void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600">
                <a:solidFill>
                  <a:srgbClr val="37B5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sayHello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(){ 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System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.</a:t>
            </a:r>
            <a:r>
              <a:rPr i="1" lang="es-AR" sz="2600">
                <a:solidFill>
                  <a:srgbClr val="9ACE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out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.</a:t>
            </a:r>
            <a:r>
              <a:rPr lang="es-AR" sz="2600">
                <a:solidFill>
                  <a:schemeClr val="accent3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println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(</a:t>
            </a:r>
            <a:r>
              <a:rPr lang="es-AR" sz="2600">
                <a:solidFill>
                  <a:srgbClr val="00C39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“Hello”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); 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5c5f99fcb_0_49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MODIFICADORES</a:t>
            </a:r>
            <a:endParaRPr sz="6600">
              <a:solidFill>
                <a:srgbClr val="43FFF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DE ACCESO</a:t>
            </a:r>
            <a:endParaRPr sz="6600">
              <a:solidFill>
                <a:srgbClr val="43FFF5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5c5f99fcb_0_5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MODIFICADORES DE ACCESO</a:t>
            </a:r>
            <a:endParaRPr/>
          </a:p>
        </p:txBody>
      </p:sp>
      <p:sp>
        <p:nvSpPr>
          <p:cNvPr id="302" name="Google Shape;302;g395c5f99fcb_0_53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Los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b="1" lang="es-AR" sz="2600">
                <a:solidFill>
                  <a:srgbClr val="FF7B61"/>
                </a:solidFill>
              </a:rPr>
              <a:t>modificadores de acceso</a:t>
            </a:r>
            <a:r>
              <a:rPr lang="es-AR" sz="2600">
                <a:solidFill>
                  <a:srgbClr val="FFFFFF"/>
                </a:solidFill>
              </a:rPr>
              <a:t> controlan la “visibilidad” del código.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Se aplican sobre clases, y sus variables y métodos.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 Mono Medium"/>
              <a:buChar char="❖"/>
            </a:pP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public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: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600"/>
              <a:t>otras clases pueden acceder.</a:t>
            </a:r>
            <a:r>
              <a:rPr lang="es-AR" sz="2600"/>
              <a:t> 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 Medium"/>
              <a:buChar char="❖"/>
            </a:pP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private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: </a:t>
            </a:r>
            <a:r>
              <a:rPr lang="es-AR" sz="2600"/>
              <a:t>no se puede acceder fuera de esa clase. 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Hay otras que vemos más adelante.</a:t>
            </a:r>
            <a:endParaRPr sz="2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5c5f99fcb_0_30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CLASES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5c5f99fcb_0_3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CLASES</a:t>
            </a:r>
            <a:endParaRPr/>
          </a:p>
        </p:txBody>
      </p:sp>
      <p:sp>
        <p:nvSpPr>
          <p:cNvPr id="313" name="Google Shape;313;g395c5f99fcb_0_34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En lenguajes orientados a objetos, las </a:t>
            </a:r>
            <a:r>
              <a:rPr b="1" lang="es-AR" sz="2600">
                <a:solidFill>
                  <a:srgbClr val="FF7B61"/>
                </a:solidFill>
              </a:rPr>
              <a:t>Clases</a:t>
            </a:r>
            <a:r>
              <a:rPr lang="es-AR" sz="2600">
                <a:solidFill>
                  <a:srgbClr val="FFFFFF"/>
                </a:solidFill>
              </a:rPr>
              <a:t> organizan el código.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/>
              <a:t>Una clase es la </a:t>
            </a:r>
            <a:r>
              <a:rPr lang="es-AR" sz="2600">
                <a:solidFill>
                  <a:srgbClr val="FF7B61"/>
                </a:solidFill>
              </a:rPr>
              <a:t>definición</a:t>
            </a:r>
            <a:r>
              <a:rPr lang="es-AR" sz="2600"/>
              <a:t> de un objeto (los “planos”).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Se compone de </a:t>
            </a:r>
            <a:r>
              <a:rPr b="1" lang="es-AR" sz="2600">
                <a:solidFill>
                  <a:srgbClr val="FF7B61"/>
                </a:solidFill>
              </a:rPr>
              <a:t>miembros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Estos pueden ser </a:t>
            </a:r>
            <a:r>
              <a:rPr b="1" lang="es-AR" sz="2600">
                <a:solidFill>
                  <a:srgbClr val="FF7B61"/>
                </a:solidFill>
              </a:rPr>
              <a:t>campos</a:t>
            </a:r>
            <a:r>
              <a:rPr lang="es-AR" sz="2600"/>
              <a:t> (variables) y/o </a:t>
            </a:r>
            <a:r>
              <a:rPr b="1" lang="es-AR" sz="2600">
                <a:solidFill>
                  <a:srgbClr val="FF7B61"/>
                </a:solidFill>
              </a:rPr>
              <a:t>métodos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5c5f99fcb_0_3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CLASES - SINTAXIS BÁSICA</a:t>
            </a:r>
            <a:endParaRPr/>
          </a:p>
        </p:txBody>
      </p:sp>
      <p:sp>
        <p:nvSpPr>
          <p:cNvPr id="319" name="Google Shape;319;g395c5f99fcb_0_39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Las clases siguen esta sintaxis, y con nombres en </a:t>
            </a:r>
            <a:r>
              <a:rPr lang="es-AR" sz="2600">
                <a:solidFill>
                  <a:srgbClr val="FF7B61"/>
                </a:solidFill>
              </a:rPr>
              <a:t>PascalCase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/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class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 &lt;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</a:t>
            </a:r>
            <a:r>
              <a:rPr lang="es-AR" sz="26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ombre</a:t>
            </a: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&gt; 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6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/>
              <a:t>Dentro del bloque de la clase se escriben los campos y métodos.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5c5f99fcb_0_4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CLASES - HERENCIA E INTERFACES</a:t>
            </a:r>
            <a:endParaRPr/>
          </a:p>
        </p:txBody>
      </p:sp>
      <p:sp>
        <p:nvSpPr>
          <p:cNvPr id="325" name="Google Shape;325;g395c5f99fcb_0_44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Una clase puede </a:t>
            </a:r>
            <a:r>
              <a:rPr b="1" lang="es-AR" sz="2600">
                <a:solidFill>
                  <a:srgbClr val="FF7B61"/>
                </a:solidFill>
              </a:rPr>
              <a:t>extender</a:t>
            </a:r>
            <a:r>
              <a:rPr lang="es-AR" sz="2600">
                <a:solidFill>
                  <a:srgbClr val="FFFFFF"/>
                </a:solidFill>
              </a:rPr>
              <a:t> o </a:t>
            </a:r>
            <a:r>
              <a:rPr b="1" lang="es-AR" sz="2600">
                <a:solidFill>
                  <a:srgbClr val="FF7B61"/>
                </a:solidFill>
              </a:rPr>
              <a:t>heredar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b="1" lang="es-AR" sz="2600">
                <a:solidFill>
                  <a:srgbClr val="FF7B61"/>
                </a:solidFill>
              </a:rPr>
              <a:t>de</a:t>
            </a:r>
            <a:r>
              <a:rPr lang="es-AR" sz="2600">
                <a:solidFill>
                  <a:srgbClr val="FFFFFF"/>
                </a:solidFill>
              </a:rPr>
              <a:t> solo una clase distinta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/>
              <a:t>También puede </a:t>
            </a:r>
            <a:r>
              <a:rPr b="1" lang="es-AR" sz="2600">
                <a:solidFill>
                  <a:srgbClr val="FF7B61"/>
                </a:solidFill>
              </a:rPr>
              <a:t>implementar</a:t>
            </a:r>
            <a:r>
              <a:rPr lang="es-AR" sz="2600"/>
              <a:t> una o más </a:t>
            </a:r>
            <a:r>
              <a:rPr b="1" lang="es-AR" sz="2600">
                <a:solidFill>
                  <a:srgbClr val="FF7B61"/>
                </a:solidFill>
              </a:rPr>
              <a:t>interfaces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5c5f99fcb_0_5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CLASES - SINTAXIS AMPLIADA</a:t>
            </a:r>
            <a:endParaRPr/>
          </a:p>
        </p:txBody>
      </p:sp>
      <p:sp>
        <p:nvSpPr>
          <p:cNvPr id="331" name="Google Shape;331;g395c5f99fcb_0_58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Incluyendo herencia y modificadores, la sintaxis queda así: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&lt;</a:t>
            </a:r>
            <a:r>
              <a:rPr lang="es-AR" sz="25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mod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&gt;</a:t>
            </a:r>
            <a:r>
              <a:rPr lang="es-AR" sz="25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5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class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 &lt;</a:t>
            </a:r>
            <a:r>
              <a:rPr lang="es-AR" sz="25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Nombre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&gt; </a:t>
            </a:r>
            <a:r>
              <a:rPr lang="es-AR" sz="25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extends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 &lt;</a:t>
            </a:r>
            <a:r>
              <a:rPr lang="es-AR" sz="25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Clase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&gt; </a:t>
            </a:r>
            <a:r>
              <a:rPr lang="es-AR" sz="25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implements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 &lt;</a:t>
            </a:r>
            <a:r>
              <a:rPr lang="es-AR" sz="25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Interfaz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&gt;  </a:t>
            </a:r>
            <a:endParaRPr sz="25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5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5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/>
              <a:t>No es obligatorio extender ni implementar en todas las clases.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5c5f99fcb_0_6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CLASES - SINTAXIS AMPLIADA</a:t>
            </a:r>
            <a:endParaRPr/>
          </a:p>
        </p:txBody>
      </p:sp>
      <p:sp>
        <p:nvSpPr>
          <p:cNvPr id="337" name="Google Shape;337;g395c5f99fcb_0_63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rgbClr val="FFFFFF"/>
                </a:solidFill>
              </a:rPr>
              <a:t>Ejemplo</a:t>
            </a:r>
            <a:r>
              <a:rPr lang="es-AR" sz="2600">
                <a:solidFill>
                  <a:srgbClr val="FFFFFF"/>
                </a:solidFill>
              </a:rPr>
              <a:t>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public</a:t>
            </a:r>
            <a:r>
              <a:rPr lang="es-AR" sz="25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class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5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Car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5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extends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5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Vehicle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5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implements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s-AR" sz="2500">
                <a:solidFill>
                  <a:srgbClr val="4397F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Repairable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  </a:t>
            </a:r>
            <a:endParaRPr sz="25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5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	</a:t>
            </a:r>
            <a:r>
              <a:rPr lang="es-AR" sz="2500">
                <a:solidFill>
                  <a:srgbClr val="FF7B6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public void </a:t>
            </a:r>
            <a:r>
              <a:rPr lang="es-AR" sz="2500">
                <a:solidFill>
                  <a:srgbClr val="37B5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repair </a:t>
            </a: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  <a:endParaRPr sz="25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solidFill>
                  <a:srgbClr val="37B5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	</a:t>
            </a:r>
            <a:r>
              <a:rPr lang="es-AR" sz="2500">
                <a:solidFill>
                  <a:srgbClr val="FEFEF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{</a:t>
            </a:r>
            <a:endParaRPr sz="2500">
              <a:solidFill>
                <a:srgbClr val="FEFEF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solidFill>
                  <a:srgbClr val="37B500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		</a:t>
            </a:r>
            <a:r>
              <a:rPr lang="es-AR" sz="2500">
                <a:solidFill>
                  <a:srgbClr val="999999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// Codigo de reparación</a:t>
            </a:r>
            <a:endParaRPr sz="2500">
              <a:solidFill>
                <a:srgbClr val="999999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500"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500">
                <a:latin typeface="Roboto Mono Medium"/>
                <a:ea typeface="Roboto Mono Medium"/>
                <a:cs typeface="Roboto Mono Medium"/>
                <a:sym typeface="Roboto Mono Medium"/>
              </a:rPr>
              <a:t>}</a:t>
            </a:r>
            <a:endParaRPr sz="2600"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A0978C92AED346A5B2D7523A4F38C1" ma:contentTypeVersion="7" ma:contentTypeDescription="Crear nuevo documento." ma:contentTypeScope="" ma:versionID="b8f9f304219515137087e73dbb27e9d8">
  <xsd:schema xmlns:xsd="http://www.w3.org/2001/XMLSchema" xmlns:xs="http://www.w3.org/2001/XMLSchema" xmlns:p="http://schemas.microsoft.com/office/2006/metadata/properties" xmlns:ns2="6817ed02-5f63-452f-a9ab-4e2e87cdde74" targetNamespace="http://schemas.microsoft.com/office/2006/metadata/properties" ma:root="true" ma:fieldsID="7368f7f269e55e9201cd92fa5041eb77" ns2:_="">
    <xsd:import namespace="6817ed02-5f63-452f-a9ab-4e2e87cdde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D2FCAE-964D-458D-A9E4-0E81995E45F2}"/>
</file>

<file path=customXml/itemProps2.xml><?xml version="1.0" encoding="utf-8"?>
<ds:datastoreItem xmlns:ds="http://schemas.openxmlformats.org/officeDocument/2006/customXml" ds:itemID="{9A14D310-9D62-46CF-ACA7-1C1742BFB44A}"/>
</file>

<file path=customXml/itemProps3.xml><?xml version="1.0" encoding="utf-8"?>
<ds:datastoreItem xmlns:ds="http://schemas.openxmlformats.org/officeDocument/2006/customXml" ds:itemID="{934E1D47-1191-4FC7-B6AD-C6B1CBC32A57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