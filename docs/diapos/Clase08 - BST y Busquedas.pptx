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6858000" cx="12192000"/>
  <p:notesSz cx="6858000" cy="9144000"/>
  <p:embeddedFontLst>
    <p:embeddedFont>
      <p:font typeface="Roboto Mono"/>
      <p:regular r:id="rId43"/>
      <p:bold r:id="rId44"/>
      <p:italic r:id="rId45"/>
      <p:boldItalic r:id="rId46"/>
    </p:embeddedFont>
    <p:embeddedFont>
      <p:font typeface="Century Gothic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1" roundtripDataSignature="AMtx7miaC6Q/WDNTYrEe8G8wZb/dLy0Y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4.xml"/><Relationship Id="rId26" Type="http://schemas.openxmlformats.org/officeDocument/2006/relationships/slide" Target="slides/slide21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42" Type="http://schemas.openxmlformats.org/officeDocument/2006/relationships/slide" Target="slides/slide37.xml"/><Relationship Id="rId47" Type="http://schemas.openxmlformats.org/officeDocument/2006/relationships/font" Target="fonts/CenturyGothic-regular.fntdata"/><Relationship Id="rId34" Type="http://schemas.openxmlformats.org/officeDocument/2006/relationships/slide" Target="slides/slide29.xml"/><Relationship Id="rId21" Type="http://schemas.openxmlformats.org/officeDocument/2006/relationships/slide" Target="slides/slide16.xml"/><Relationship Id="rId50" Type="http://schemas.openxmlformats.org/officeDocument/2006/relationships/font" Target="fonts/CenturyGothic-boldItalic.fntdata"/><Relationship Id="rId7" Type="http://schemas.openxmlformats.org/officeDocument/2006/relationships/slide" Target="slides/slide2.xml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16" Type="http://schemas.openxmlformats.org/officeDocument/2006/relationships/slide" Target="slides/slide11.xml"/><Relationship Id="rId40" Type="http://schemas.openxmlformats.org/officeDocument/2006/relationships/slide" Target="slides/slide35.xml"/><Relationship Id="rId45" Type="http://schemas.openxmlformats.org/officeDocument/2006/relationships/font" Target="fonts/RobotoMono-italic.fntdata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24" Type="http://schemas.openxmlformats.org/officeDocument/2006/relationships/slide" Target="slides/slide19.xml"/><Relationship Id="rId11" Type="http://schemas.openxmlformats.org/officeDocument/2006/relationships/slide" Target="slides/slide6.xml"/><Relationship Id="rId53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44" Type="http://schemas.openxmlformats.org/officeDocument/2006/relationships/font" Target="fonts/RobotoMono-bold.fntdata"/><Relationship Id="rId31" Type="http://schemas.openxmlformats.org/officeDocument/2006/relationships/slide" Target="slides/slide26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52" Type="http://schemas.openxmlformats.org/officeDocument/2006/relationships/customXml" Target="../customXml/item1.xml"/><Relationship Id="rId43" Type="http://schemas.openxmlformats.org/officeDocument/2006/relationships/font" Target="fonts/RobotoMono-regular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enturyGothic-bold.fntdata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14" Type="http://schemas.openxmlformats.org/officeDocument/2006/relationships/slide" Target="slides/slide9.xml"/><Relationship Id="rId8" Type="http://schemas.openxmlformats.org/officeDocument/2006/relationships/slide" Target="slides/slide3.xml"/><Relationship Id="rId51" Type="http://customschemas.google.com/relationships/presentationmetadata" Target="metadata"/><Relationship Id="rId3" Type="http://schemas.openxmlformats.org/officeDocument/2006/relationships/presProps" Target="presProps.xml"/><Relationship Id="rId46" Type="http://schemas.openxmlformats.org/officeDocument/2006/relationships/font" Target="fonts/RobotoMono-boldItalic.fntdata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5" Type="http://schemas.openxmlformats.org/officeDocument/2006/relationships/slide" Target="slides/slide2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41" Type="http://schemas.openxmlformats.org/officeDocument/2006/relationships/slide" Target="slides/slide36.xml"/><Relationship Id="rId20" Type="http://schemas.openxmlformats.org/officeDocument/2006/relationships/slide" Target="slides/slide15.xml"/><Relationship Id="rId54" Type="http://schemas.openxmlformats.org/officeDocument/2006/relationships/customXml" Target="../customXml/item3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49" Type="http://schemas.openxmlformats.org/officeDocument/2006/relationships/font" Target="fonts/CenturyGothic-italic.fntdata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5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abe2462a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9abe2462a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abe2462a0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9abe2462a0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abe2462a0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9abe2462a0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abe2462a0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39abe2462a0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abe2462a0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9abe2462a0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abe2462a0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9abe2462a0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abe2462a0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9abe2462a0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2ecc9c090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e2ecc9c090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2ecc9c090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e2ecc9c090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2ecc9c090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3e2ecc9c090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3474849f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g3e3474849f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34d31ed5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e34d31ed5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34d31ed5a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g3e34d31ed5a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34d31ed5a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3e34d31ed5a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34d31ed5a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g3e34d31ed5a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3474849ff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g3e3474849ff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3474849ff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e3474849ff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34d31ed5a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g3e34d31ed5a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34d31ed5a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g3e34d31ed5a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34d31ed5a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g3e34d31ed5a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abe2462a0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9abe2462a0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abe2462a0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g39abe2462a0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abe2462a0_0_1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g39abe2462a0_0_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abe2462a0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g39abe2462a0_0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abe2462a0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39abe2462a0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abe2462a0_0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39abe2462a0_0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abe2462a0_0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g39abe2462a0_0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9abe2462a0_0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9abe2462a0_0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9abe2462a0_0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g39abe2462a0_0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9abe2462a0_0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g39abe2462a0_0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abe2462a0_0_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g39abe2462a0_0_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9abe2462a0_0_2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g39abe2462a0_0_2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9abe2462a0_0_2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g39abe2462a0_0_2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9abe2462a0_0_2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g39abe2462a0_0_2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9abe2462a0_0_2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g39abe2462a0_0_2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9abe2462a0_0_2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g39abe2462a0_0_2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40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4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4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43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45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5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7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7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68" name="Google Shape;68;p47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48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48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9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9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49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4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0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0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0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50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1" name="Google Shape;91;p5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1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1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1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8" name="Google Shape;98;p5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2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5" name="Google Shape;105;p5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3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3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3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12" name="Google Shape;112;p5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cs.usfca.edu/~galles/visualization/BST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s-AR"/>
              <a:t>BST y Búsquedas</a:t>
            </a:r>
            <a:endParaRPr/>
          </a:p>
        </p:txBody>
      </p:sp>
      <p:sp>
        <p:nvSpPr>
          <p:cNvPr id="120" name="Google Shape;120;p1"/>
          <p:cNvSpPr txBox="1"/>
          <p:nvPr>
            <p:ph idx="1" type="subTitle"/>
          </p:nvPr>
        </p:nvSpPr>
        <p:spPr>
          <a:xfrm>
            <a:off x="810000" y="5408853"/>
            <a:ext cx="6672979" cy="9500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s-AR" sz="4000">
                <a:solidFill>
                  <a:srgbClr val="A5A5A5"/>
                </a:solidFill>
              </a:rPr>
              <a:t>Programación II</a:t>
            </a:r>
            <a:endParaRPr/>
          </a:p>
        </p:txBody>
      </p:sp>
      <p:pic>
        <p:nvPicPr>
          <p:cNvPr id="121" name="Google Shape;1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50" y="9541"/>
            <a:ext cx="2701797" cy="1157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be2462a0_0_0"/>
          <p:cNvSpPr txBox="1"/>
          <p:nvPr>
            <p:ph idx="4294967295" type="ctrTitle"/>
          </p:nvPr>
        </p:nvSpPr>
        <p:spPr>
          <a:xfrm>
            <a:off x="2024864" y="1872886"/>
            <a:ext cx="8532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BINARY TREE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be2462a0_0_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TDA BINARY TREE - CONCEPTO</a:t>
            </a:r>
            <a:endParaRPr/>
          </a:p>
        </p:txBody>
      </p:sp>
      <p:sp>
        <p:nvSpPr>
          <p:cNvPr id="132" name="Google Shape;132;g39abe2462a0_0_4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Cumple todas las condiciones de un árbol.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En un árbol binario, </a:t>
            </a:r>
            <a:r>
              <a:rPr b="1" lang="es-AR" sz="2600">
                <a:solidFill>
                  <a:srgbClr val="FF7B61"/>
                </a:solidFill>
              </a:rPr>
              <a:t>cada nodo puede tener hasta dos hijos</a:t>
            </a:r>
            <a:r>
              <a:rPr lang="es-AR" sz="2600">
                <a:solidFill>
                  <a:schemeClr val="lt1"/>
                </a:solidFill>
              </a:rPr>
              <a:t>. 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Podemos hablar de </a:t>
            </a:r>
            <a:r>
              <a:rPr b="1" lang="es-AR" sz="2600">
                <a:solidFill>
                  <a:srgbClr val="FF7B61"/>
                </a:solidFill>
              </a:rPr>
              <a:t>hijo izquierdo y derecho</a:t>
            </a:r>
            <a:r>
              <a:rPr lang="es-AR" sz="2600">
                <a:solidFill>
                  <a:schemeClr val="lt1"/>
                </a:solidFill>
              </a:rPr>
              <a:t>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Lo mismo con subárboles (subárbol izquierdo y derecho).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abe2462a0_0_9"/>
          <p:cNvSpPr/>
          <p:nvPr/>
        </p:nvSpPr>
        <p:spPr>
          <a:xfrm>
            <a:off x="5678024" y="3080971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" name="Google Shape;138;g39abe2462a0_0_9"/>
          <p:cNvSpPr/>
          <p:nvPr/>
        </p:nvSpPr>
        <p:spPr>
          <a:xfrm>
            <a:off x="4077469" y="3994055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9" name="Google Shape;139;g39abe2462a0_0_9"/>
          <p:cNvSpPr/>
          <p:nvPr/>
        </p:nvSpPr>
        <p:spPr>
          <a:xfrm>
            <a:off x="4845880" y="4860202"/>
            <a:ext cx="706200" cy="6696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39abe2462a0_0_9"/>
          <p:cNvSpPr/>
          <p:nvPr/>
        </p:nvSpPr>
        <p:spPr>
          <a:xfrm>
            <a:off x="3262367" y="4921079"/>
            <a:ext cx="694500" cy="6696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g39abe2462a0_0_9"/>
          <p:cNvSpPr/>
          <p:nvPr/>
        </p:nvSpPr>
        <p:spPr>
          <a:xfrm>
            <a:off x="7458556" y="3984144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39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g39abe2462a0_0_9"/>
          <p:cNvSpPr/>
          <p:nvPr/>
        </p:nvSpPr>
        <p:spPr>
          <a:xfrm>
            <a:off x="6816879" y="4832031"/>
            <a:ext cx="656100" cy="6369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3" name="Google Shape;143;g39abe2462a0_0_9"/>
          <p:cNvSpPr/>
          <p:nvPr/>
        </p:nvSpPr>
        <p:spPr>
          <a:xfrm>
            <a:off x="8322506" y="4831827"/>
            <a:ext cx="656100" cy="6609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39abe2462a0_0_9"/>
          <p:cNvSpPr/>
          <p:nvPr/>
        </p:nvSpPr>
        <p:spPr>
          <a:xfrm>
            <a:off x="4191443" y="5790383"/>
            <a:ext cx="682500" cy="6324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9abe2462a0_0_9"/>
          <p:cNvSpPr/>
          <p:nvPr/>
        </p:nvSpPr>
        <p:spPr>
          <a:xfrm>
            <a:off x="6164868" y="5620151"/>
            <a:ext cx="682500" cy="6696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9abe2462a0_0_9"/>
          <p:cNvSpPr/>
          <p:nvPr/>
        </p:nvSpPr>
        <p:spPr>
          <a:xfrm>
            <a:off x="7622644" y="5594006"/>
            <a:ext cx="682500" cy="6504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g39abe2462a0_0_9"/>
          <p:cNvCxnSpPr/>
          <p:nvPr/>
        </p:nvCxnSpPr>
        <p:spPr>
          <a:xfrm flipH="1">
            <a:off x="4405346" y="3722456"/>
            <a:ext cx="1608300" cy="271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g39abe2462a0_0_9"/>
          <p:cNvCxnSpPr/>
          <p:nvPr/>
        </p:nvCxnSpPr>
        <p:spPr>
          <a:xfrm>
            <a:off x="6013702" y="3727046"/>
            <a:ext cx="1786500" cy="2478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g39abe2462a0_0_9"/>
          <p:cNvCxnSpPr/>
          <p:nvPr/>
        </p:nvCxnSpPr>
        <p:spPr>
          <a:xfrm flipH="1">
            <a:off x="3600392" y="4649312"/>
            <a:ext cx="832500" cy="262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g39abe2462a0_0_9"/>
          <p:cNvCxnSpPr/>
          <p:nvPr/>
        </p:nvCxnSpPr>
        <p:spPr>
          <a:xfrm>
            <a:off x="4405458" y="4635541"/>
            <a:ext cx="793500" cy="215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g39abe2462a0_0_9"/>
          <p:cNvCxnSpPr/>
          <p:nvPr/>
        </p:nvCxnSpPr>
        <p:spPr>
          <a:xfrm flipH="1">
            <a:off x="4532630" y="5529870"/>
            <a:ext cx="666300" cy="260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g39abe2462a0_0_9"/>
          <p:cNvCxnSpPr/>
          <p:nvPr/>
        </p:nvCxnSpPr>
        <p:spPr>
          <a:xfrm flipH="1">
            <a:off x="7144822" y="4639401"/>
            <a:ext cx="641700" cy="192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g39abe2462a0_0_9"/>
          <p:cNvCxnSpPr/>
          <p:nvPr/>
        </p:nvCxnSpPr>
        <p:spPr>
          <a:xfrm>
            <a:off x="7814087" y="4639401"/>
            <a:ext cx="8364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g39abe2462a0_0_9"/>
          <p:cNvCxnSpPr/>
          <p:nvPr/>
        </p:nvCxnSpPr>
        <p:spPr>
          <a:xfrm flipH="1">
            <a:off x="6506261" y="5468927"/>
            <a:ext cx="638700" cy="1512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g39abe2462a0_0_9"/>
          <p:cNvCxnSpPr/>
          <p:nvPr/>
        </p:nvCxnSpPr>
        <p:spPr>
          <a:xfrm>
            <a:off x="7144868" y="5468927"/>
            <a:ext cx="819000" cy="125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g39abe2462a0_0_9"/>
          <p:cNvSpPr txBox="1"/>
          <p:nvPr/>
        </p:nvSpPr>
        <p:spPr>
          <a:xfrm>
            <a:off x="4513758" y="2525538"/>
            <a:ext cx="316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Árbol binario de enteros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g39abe2462a0_0_9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TDA BINARY TREE - </a:t>
            </a:r>
            <a:r>
              <a:rPr lang="es-AR"/>
              <a:t>CONCEPTO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be2462a0_0_33"/>
          <p:cNvSpPr/>
          <p:nvPr/>
        </p:nvSpPr>
        <p:spPr>
          <a:xfrm>
            <a:off x="2117761" y="3304090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g39abe2462a0_0_33"/>
          <p:cNvSpPr/>
          <p:nvPr/>
        </p:nvSpPr>
        <p:spPr>
          <a:xfrm>
            <a:off x="652986" y="4903284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4" name="Google Shape;164;g39abe2462a0_0_33"/>
          <p:cNvSpPr/>
          <p:nvPr/>
        </p:nvSpPr>
        <p:spPr>
          <a:xfrm>
            <a:off x="3570306" y="4899973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39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65" name="Google Shape;165;g39abe2462a0_0_33"/>
          <p:cNvCxnSpPr/>
          <p:nvPr/>
        </p:nvCxnSpPr>
        <p:spPr>
          <a:xfrm flipH="1">
            <a:off x="981103" y="3940985"/>
            <a:ext cx="1472400" cy="962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g39abe2462a0_0_33"/>
          <p:cNvCxnSpPr/>
          <p:nvPr/>
        </p:nvCxnSpPr>
        <p:spPr>
          <a:xfrm>
            <a:off x="2453440" y="3940985"/>
            <a:ext cx="1444800" cy="959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g39abe2462a0_0_33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TDA BINARY TREE - </a:t>
            </a:r>
            <a:r>
              <a:rPr lang="es-AR"/>
              <a:t>CONCEPTO</a:t>
            </a:r>
            <a:endParaRPr/>
          </a:p>
        </p:txBody>
      </p:sp>
      <p:pic>
        <p:nvPicPr>
          <p:cNvPr id="168" name="Google Shape;168;g39abe2462a0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9279" y="3304100"/>
            <a:ext cx="6645772" cy="2236074"/>
          </a:xfrm>
          <a:prstGeom prst="rect">
            <a:avLst/>
          </a:prstGeom>
          <a:noFill/>
          <a:ln>
            <a:noFill/>
          </a:ln>
          <a:effectLst>
            <a:outerShdw blurRad="171450" rotWithShape="0" algn="bl">
              <a:srgbClr val="43FFF5">
                <a:alpha val="7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abe2462a0_0_47"/>
          <p:cNvSpPr txBox="1"/>
          <p:nvPr>
            <p:ph idx="4294967295" type="ctrTitle"/>
          </p:nvPr>
        </p:nvSpPr>
        <p:spPr>
          <a:xfrm>
            <a:off x="2024864" y="1872886"/>
            <a:ext cx="8532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BINARY </a:t>
            </a:r>
            <a:b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SEARCH TREE (BST)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abe2462a0_0_51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BST - </a:t>
            </a:r>
            <a:r>
              <a:rPr lang="es-AR"/>
              <a:t>CONCEPTO</a:t>
            </a:r>
            <a:endParaRPr/>
          </a:p>
        </p:txBody>
      </p:sp>
      <p:sp>
        <p:nvSpPr>
          <p:cNvPr id="179" name="Google Shape;179;g39abe2462a0_0_51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En español: </a:t>
            </a:r>
            <a:r>
              <a:rPr b="1" lang="es-AR" sz="2600">
                <a:solidFill>
                  <a:srgbClr val="FF7B61"/>
                </a:solidFill>
              </a:rPr>
              <a:t>Árbol Binario de Búsqueda</a:t>
            </a:r>
            <a:r>
              <a:rPr lang="es-AR" sz="2600">
                <a:solidFill>
                  <a:schemeClr val="lt1"/>
                </a:solidFill>
              </a:rPr>
              <a:t> o </a:t>
            </a:r>
            <a:r>
              <a:rPr b="1" lang="es-AR" sz="2600">
                <a:solidFill>
                  <a:srgbClr val="FF7B61"/>
                </a:solidFill>
              </a:rPr>
              <a:t>ABB</a:t>
            </a:r>
            <a:r>
              <a:rPr lang="es-AR" sz="2600">
                <a:solidFill>
                  <a:schemeClr val="lt1"/>
                </a:solidFill>
              </a:rPr>
              <a:t>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Sus nodos </a:t>
            </a:r>
            <a:r>
              <a:rPr lang="es-AR" sz="2600">
                <a:solidFill>
                  <a:srgbClr val="FF7B61"/>
                </a:solidFill>
              </a:rPr>
              <a:t>están</a:t>
            </a:r>
            <a:r>
              <a:rPr lang="es-AR" sz="2600">
                <a:solidFill>
                  <a:schemeClr val="lt1"/>
                </a:solidFill>
              </a:rPr>
              <a:t> </a:t>
            </a:r>
            <a:r>
              <a:rPr lang="es-AR" sz="2600">
                <a:solidFill>
                  <a:srgbClr val="FF7B61"/>
                </a:solidFill>
              </a:rPr>
              <a:t>ordenados de izquierda a derecha.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Todos los nodos del subárbol izquierdo de un nodo son menores.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Todos los nodos del subárbol derecho de un nodo son mayores.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Para cumplir estas condiciones, los nodos </a:t>
            </a:r>
            <a:r>
              <a:rPr lang="es-AR" sz="2600">
                <a:solidFill>
                  <a:srgbClr val="FF7B61"/>
                </a:solidFill>
              </a:rPr>
              <a:t>se insertan ya ordenados</a:t>
            </a:r>
            <a:r>
              <a:rPr lang="es-AR" sz="2600">
                <a:solidFill>
                  <a:schemeClr val="lt1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abe2462a0_0_56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BST - EXPERIMENTACIÓN</a:t>
            </a:r>
            <a:endParaRPr/>
          </a:p>
        </p:txBody>
      </p:sp>
      <p:sp>
        <p:nvSpPr>
          <p:cNvPr id="185" name="Google Shape;185;g39abe2462a0_0_56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Creamos BSTs con </a:t>
            </a:r>
            <a:r>
              <a:rPr lang="es-AR" sz="2600" u="sng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esta herramienta online.</a:t>
            </a:r>
            <a:endParaRPr>
              <a:solidFill>
                <a:srgbClr val="00B0F0"/>
              </a:solidFill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Primero pensamos </a:t>
            </a:r>
            <a:r>
              <a:rPr lang="es-AR" sz="2600"/>
              <a:t>dónde</a:t>
            </a:r>
            <a:r>
              <a:rPr lang="es-AR" sz="2600">
                <a:solidFill>
                  <a:schemeClr val="lt1"/>
                </a:solidFill>
              </a:rPr>
              <a:t> van los nodos, luego aplicamos.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Secuencias:</a:t>
            </a:r>
            <a:endParaRPr/>
          </a:p>
          <a:p>
            <a:pPr indent="-342900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chemeClr val="lt1"/>
                </a:solidFill>
              </a:rPr>
              <a:t>{7, 10, 2, 1, 6, 9, 3, 5, 8, 4}</a:t>
            </a:r>
            <a:endParaRPr/>
          </a:p>
          <a:p>
            <a:pPr indent="-342900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chemeClr val="lt1"/>
                </a:solidFill>
              </a:rPr>
              <a:t>{1, 4, 3, 9, 5, 7, 6, 8, 10, 2}</a:t>
            </a:r>
            <a:endParaRPr/>
          </a:p>
          <a:p>
            <a:pPr indent="-342900" lvl="1" marL="889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chemeClr val="lt1"/>
                </a:solidFill>
              </a:rPr>
              <a:t>{9, 10, 2, 3, 6, 4, 5, 1, 7, 8}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2ecc9c090_0_2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BST - INSERCI</a:t>
            </a:r>
            <a:r>
              <a:rPr lang="es-AR"/>
              <a:t>ÓN</a:t>
            </a:r>
            <a:endParaRPr/>
          </a:p>
        </p:txBody>
      </p:sp>
      <p:sp>
        <p:nvSpPr>
          <p:cNvPr id="191" name="Google Shape;191;g3e2ecc9c090_0_2"/>
          <p:cNvSpPr txBox="1"/>
          <p:nvPr>
            <p:ph idx="1" type="body"/>
          </p:nvPr>
        </p:nvSpPr>
        <p:spPr>
          <a:xfrm>
            <a:off x="288975" y="2326100"/>
            <a:ext cx="11733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/>
              <a:t>La inserción es recursiva.</a:t>
            </a:r>
            <a:endParaRPr sz="2600"/>
          </a:p>
          <a:p>
            <a:pPr indent="-257175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50"/>
              <a:buFont typeface="Roboto Mono"/>
              <a:buChar char="❖"/>
            </a:pPr>
            <a:r>
              <a:rPr lang="es-AR" sz="225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</a:t>
            </a:r>
            <a:r>
              <a:rPr lang="es-AR" sz="22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250">
                <a:solidFill>
                  <a:srgbClr val="00B0F0"/>
                </a:solidFill>
                <a:latin typeface="Roboto Mono"/>
                <a:ea typeface="Roboto Mono"/>
                <a:cs typeface="Roboto Mono"/>
                <a:sym typeface="Roboto Mono"/>
              </a:rPr>
              <a:t>TreeNode</a:t>
            </a:r>
            <a:r>
              <a:rPr lang="es-AR" sz="225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25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250"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s-AR" sz="225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insertRecursive</a:t>
            </a:r>
            <a:r>
              <a:rPr lang="es-AR" sz="225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250">
                <a:solidFill>
                  <a:srgbClr val="00B0F0"/>
                </a:solidFill>
                <a:latin typeface="Roboto Mono"/>
                <a:ea typeface="Roboto Mono"/>
                <a:cs typeface="Roboto Mono"/>
                <a:sym typeface="Roboto Mono"/>
              </a:rPr>
              <a:t>TreeNode</a:t>
            </a:r>
            <a:r>
              <a:rPr lang="es-AR" sz="225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25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250">
                <a:latin typeface="Roboto Mono"/>
                <a:ea typeface="Roboto Mono"/>
                <a:cs typeface="Roboto Mono"/>
                <a:sym typeface="Roboto Mono"/>
              </a:rPr>
              <a:t>&gt; </a:t>
            </a:r>
            <a:r>
              <a:rPr lang="es-AR" sz="225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current</a:t>
            </a:r>
            <a:r>
              <a:rPr lang="es-AR" sz="225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AR" sz="225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25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25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lang="es-AR" sz="225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250">
              <a:latin typeface="Roboto Mono"/>
              <a:ea typeface="Roboto Mono"/>
              <a:cs typeface="Roboto Mono"/>
              <a:sym typeface="Roboto Mono"/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Century Gothic"/>
              <a:buChar char="❖"/>
            </a:pPr>
            <a:r>
              <a:rPr lang="es-AR" sz="2600"/>
              <a:t>Usamos un wrapper público para el usuario: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"/>
              <a:buChar char="❖"/>
            </a:pP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void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insert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6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2ecc9c090_0_9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BST - INSERCIÓN</a:t>
            </a:r>
            <a:endParaRPr/>
          </a:p>
        </p:txBody>
      </p:sp>
      <p:sp>
        <p:nvSpPr>
          <p:cNvPr id="197" name="Google Shape;197;g3e2ecc9c090_0_9"/>
          <p:cNvSpPr txBox="1"/>
          <p:nvPr>
            <p:ph idx="1" type="body"/>
          </p:nvPr>
        </p:nvSpPr>
        <p:spPr>
          <a:xfrm>
            <a:off x="288975" y="2326100"/>
            <a:ext cx="11733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insertRecursive</a:t>
            </a:r>
            <a:r>
              <a:rPr lang="es-AR" sz="2600"/>
              <a:t> </a:t>
            </a:r>
            <a:r>
              <a:rPr lang="es-AR" sz="2600">
                <a:solidFill>
                  <a:srgbClr val="FF7B61"/>
                </a:solidFill>
              </a:rPr>
              <a:t>devuelve el nodo que va a quedar</a:t>
            </a:r>
            <a:r>
              <a:rPr lang="es-AR" sz="2600"/>
              <a:t> post inserción.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FF7B61"/>
                </a:solidFill>
              </a:rPr>
              <a:t>Recibe el nodo que actualmente está</a:t>
            </a:r>
            <a:r>
              <a:rPr lang="es-AR" sz="2600"/>
              <a:t> en ese lugar, y un</a:t>
            </a:r>
            <a:r>
              <a:rPr lang="es-AR" sz="2600">
                <a:solidFill>
                  <a:srgbClr val="FF7B61"/>
                </a:solidFill>
              </a:rPr>
              <a:t> valor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Debemos asignar:</a:t>
            </a:r>
            <a:endParaRPr sz="2600"/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"/>
              <a:buChar char="❖"/>
            </a:pP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root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s-AR" sz="2600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rPr>
              <a:t>insertRecursive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root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2600">
              <a:latin typeface="Roboto Mono"/>
              <a:ea typeface="Roboto Mono"/>
              <a:cs typeface="Roboto Mono"/>
              <a:sym typeface="Roboto Mono"/>
            </a:endParaRPr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Roboto Mono"/>
              <a:buChar char="❖"/>
            </a:pPr>
            <a:r>
              <a:rPr lang="es-AR" sz="2600">
                <a:solidFill>
                  <a:srgbClr val="FFF4BE"/>
                </a:solidFill>
                <a:latin typeface="Roboto Mono"/>
                <a:ea typeface="Roboto Mono"/>
                <a:cs typeface="Roboto Mono"/>
                <a:sym typeface="Roboto Mono"/>
              </a:rPr>
              <a:t>current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.left = </a:t>
            </a:r>
            <a:r>
              <a:rPr lang="es-AR" sz="2600">
                <a:solidFill>
                  <a:schemeClr val="accent3"/>
                </a:solidFill>
                <a:latin typeface="Roboto Mono"/>
                <a:ea typeface="Roboto Mono"/>
                <a:cs typeface="Roboto Mono"/>
                <a:sym typeface="Roboto Mono"/>
              </a:rPr>
              <a:t>insertRecursive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FFF4BE"/>
                </a:solidFill>
                <a:latin typeface="Roboto Mono"/>
                <a:ea typeface="Roboto Mono"/>
                <a:cs typeface="Roboto Mono"/>
                <a:sym typeface="Roboto Mono"/>
              </a:rPr>
              <a:t>current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left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26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2ecc9c090_0_1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BST - INSERCIÓN</a:t>
            </a:r>
            <a:endParaRPr/>
          </a:p>
        </p:txBody>
      </p:sp>
      <p:sp>
        <p:nvSpPr>
          <p:cNvPr id="203" name="Google Shape;203;g3e2ecc9c090_0_14"/>
          <p:cNvSpPr txBox="1"/>
          <p:nvPr>
            <p:ph idx="1" type="body"/>
          </p:nvPr>
        </p:nvSpPr>
        <p:spPr>
          <a:xfrm>
            <a:off x="288975" y="2326100"/>
            <a:ext cx="11733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Si el nodo es null, inserta un nuevo nodo con ese valor y lo devuelve.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Si el valor es </a:t>
            </a:r>
            <a:r>
              <a:rPr lang="es-AR" sz="2600">
                <a:solidFill>
                  <a:srgbClr val="FF7B61"/>
                </a:solidFill>
              </a:rPr>
              <a:t>menor</a:t>
            </a:r>
            <a:r>
              <a:rPr lang="es-AR" sz="2600"/>
              <a:t> al del nodo actual, se inserta en su </a:t>
            </a:r>
            <a:r>
              <a:rPr lang="es-AR" sz="2600">
                <a:solidFill>
                  <a:srgbClr val="FF7B61"/>
                </a:solidFill>
              </a:rPr>
              <a:t>hijo izquierdo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Si es </a:t>
            </a:r>
            <a:r>
              <a:rPr lang="es-AR" sz="2600">
                <a:solidFill>
                  <a:srgbClr val="FF7B61"/>
                </a:solidFill>
              </a:rPr>
              <a:t>mayor</a:t>
            </a:r>
            <a:r>
              <a:rPr lang="es-AR" sz="2600"/>
              <a:t>, se inserta en su </a:t>
            </a:r>
            <a:r>
              <a:rPr lang="es-AR" sz="2600">
                <a:solidFill>
                  <a:srgbClr val="FF7B61"/>
                </a:solidFill>
              </a:rPr>
              <a:t>hijo derecho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FF7B61"/>
                </a:solidFill>
              </a:rPr>
              <a:t>En ambos casos se llama recursivamente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Si no usamos &lt;= o &gt;=, el </a:t>
            </a:r>
            <a:r>
              <a:rPr lang="es-AR" sz="2600"/>
              <a:t>árbol</a:t>
            </a:r>
            <a:r>
              <a:rPr lang="es-AR" sz="2600"/>
              <a:t> no admite valores duplicados.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 u="sng"/>
              <a:t>Siempre al final tiene que devolver a current</a:t>
            </a:r>
            <a:r>
              <a:rPr lang="es-AR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3474849ff_0_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BST - REMOCI</a:t>
            </a:r>
            <a:r>
              <a:rPr lang="es-AR"/>
              <a:t>ÓN</a:t>
            </a:r>
            <a:endParaRPr/>
          </a:p>
        </p:txBody>
      </p:sp>
      <p:sp>
        <p:nvSpPr>
          <p:cNvPr id="209" name="Google Shape;209;g3e3474849ff_0_0"/>
          <p:cNvSpPr txBox="1"/>
          <p:nvPr>
            <p:ph idx="1" type="body"/>
          </p:nvPr>
        </p:nvSpPr>
        <p:spPr>
          <a:xfrm>
            <a:off x="288975" y="2326100"/>
            <a:ext cx="11733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Para remover un nodo, necesitamos coordinar tres pasos:</a:t>
            </a:r>
            <a:endParaRPr sz="2600"/>
          </a:p>
          <a:p>
            <a:pPr indent="-3937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arenR"/>
            </a:pPr>
            <a:r>
              <a:rPr lang="es-AR" sz="2600"/>
              <a:t>Encontrar el nodo a remover.</a:t>
            </a:r>
            <a:endParaRPr sz="2600"/>
          </a:p>
          <a:p>
            <a:pPr indent="-3937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arenR"/>
            </a:pPr>
            <a:r>
              <a:rPr lang="es-AR" sz="2600"/>
              <a:t>Eliminar la referencia en su nodo padre.</a:t>
            </a:r>
            <a:endParaRPr sz="2600"/>
          </a:p>
          <a:p>
            <a:pPr indent="-3937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arenR"/>
            </a:pPr>
            <a:r>
              <a:rPr lang="es-AR" sz="2600"/>
              <a:t>Reemplazar por otro nodo hijo </a:t>
            </a:r>
            <a:r>
              <a:rPr i="1" lang="es-AR" sz="2600"/>
              <a:t>(si lo hubiere)</a:t>
            </a:r>
            <a:r>
              <a:rPr lang="es-AR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34d31ed5a_0_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BST - REMOCIÓN</a:t>
            </a:r>
            <a:endParaRPr/>
          </a:p>
        </p:txBody>
      </p:sp>
      <p:sp>
        <p:nvSpPr>
          <p:cNvPr id="215" name="Google Shape;215;g3e34d31ed5a_0_0"/>
          <p:cNvSpPr txBox="1"/>
          <p:nvPr>
            <p:ph idx="1" type="body"/>
          </p:nvPr>
        </p:nvSpPr>
        <p:spPr>
          <a:xfrm>
            <a:off x="288975" y="2326100"/>
            <a:ext cx="11733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Para buscar un nodo por valor (aplica para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contains</a:t>
            </a:r>
            <a:r>
              <a:rPr lang="es-AR" sz="2600"/>
              <a:t>):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Lo hacemos de manera recursiva.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Si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current</a:t>
            </a:r>
            <a:r>
              <a:rPr lang="es-AR" sz="2600"/>
              <a:t> es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s-AR" sz="2600"/>
              <a:t>, no est</a:t>
            </a:r>
            <a:r>
              <a:rPr lang="es-AR" sz="2600"/>
              <a:t>á el valor y devolvemos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Si no, hacemos una </a:t>
            </a:r>
            <a:r>
              <a:rPr b="1" lang="es-AR" sz="2600">
                <a:solidFill>
                  <a:srgbClr val="FF7B61"/>
                </a:solidFill>
              </a:rPr>
              <a:t>comparación</a:t>
            </a:r>
            <a:r>
              <a:rPr lang="es-AR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34d31ed5a_0_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BST - REMOCIÓN</a:t>
            </a:r>
            <a:endParaRPr/>
          </a:p>
        </p:txBody>
      </p:sp>
      <p:sp>
        <p:nvSpPr>
          <p:cNvPr id="221" name="Google Shape;221;g3e34d31ed5a_0_5"/>
          <p:cNvSpPr txBox="1"/>
          <p:nvPr>
            <p:ph idx="1" type="body"/>
          </p:nvPr>
        </p:nvSpPr>
        <p:spPr>
          <a:xfrm>
            <a:off x="288975" y="2326100"/>
            <a:ext cx="11733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Una comparación es una función que devuelve un int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Nos permite </a:t>
            </a:r>
            <a:r>
              <a:rPr lang="es-AR" sz="2600">
                <a:solidFill>
                  <a:srgbClr val="FF7B61"/>
                </a:solidFill>
              </a:rPr>
              <a:t>ordenar y buscar de manera genérica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-1 = “menor” (va a la izquierda).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1 = “mayor” (va a la derecha).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0 = “igual” (misma ubicaci</a:t>
            </a:r>
            <a:r>
              <a:rPr lang="es-AR" sz="2600"/>
              <a:t>ón).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Al ser genérico, podemos aplicarlo sobre datos no numéricos.</a:t>
            </a:r>
            <a:endParaRPr sz="2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34d31ed5a_0_1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BST - REMOCIÓN</a:t>
            </a:r>
            <a:endParaRPr/>
          </a:p>
        </p:txBody>
      </p:sp>
      <p:sp>
        <p:nvSpPr>
          <p:cNvPr id="227" name="Google Shape;227;g3e34d31ed5a_0_10"/>
          <p:cNvSpPr txBox="1"/>
          <p:nvPr>
            <p:ph idx="1" type="body"/>
          </p:nvPr>
        </p:nvSpPr>
        <p:spPr>
          <a:xfrm>
            <a:off x="288975" y="2326100"/>
            <a:ext cx="11733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Cada clase debe implementar sus propias comparaciones.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La </a:t>
            </a:r>
            <a:r>
              <a:rPr lang="es-AR" sz="2600"/>
              <a:t>más</a:t>
            </a:r>
            <a:r>
              <a:rPr lang="es-AR" sz="2600"/>
              <a:t> común es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compareTo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other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La implementan las clases que extienden </a:t>
            </a:r>
            <a:r>
              <a:rPr lang="es-AR" sz="2600">
                <a:solidFill>
                  <a:srgbClr val="00B0F0"/>
                </a:solidFill>
                <a:latin typeface="Roboto Mono"/>
                <a:ea typeface="Roboto Mono"/>
                <a:cs typeface="Roboto Mono"/>
                <a:sym typeface="Roboto Mono"/>
              </a:rPr>
              <a:t>Comparable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La instancia se compara a sí misma con otra del mismo tipo.</a:t>
            </a:r>
            <a:endParaRPr sz="2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34d31ed5a_0_1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BST - REMOCIÓN</a:t>
            </a:r>
            <a:endParaRPr/>
          </a:p>
        </p:txBody>
      </p:sp>
      <p:sp>
        <p:nvSpPr>
          <p:cNvPr id="233" name="Google Shape;233;g3e34d31ed5a_0_15"/>
          <p:cNvSpPr txBox="1"/>
          <p:nvPr>
            <p:ph idx="1" type="body"/>
          </p:nvPr>
        </p:nvSpPr>
        <p:spPr>
          <a:xfrm>
            <a:off x="288975" y="2326100"/>
            <a:ext cx="11733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En este caso, la usamos para evaluar por dónde seguir: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Si la comparación es </a:t>
            </a:r>
            <a:r>
              <a:rPr lang="es-AR" sz="2600">
                <a:solidFill>
                  <a:srgbClr val="FF7B61"/>
                </a:solidFill>
              </a:rPr>
              <a:t>0</a:t>
            </a:r>
            <a:r>
              <a:rPr lang="es-AR" sz="2600"/>
              <a:t>, </a:t>
            </a:r>
            <a:r>
              <a:rPr lang="es-AR" sz="2600">
                <a:solidFill>
                  <a:srgbClr val="FF7B61"/>
                </a:solidFill>
              </a:rPr>
              <a:t>encontramos el nodo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Si la comparación es </a:t>
            </a:r>
            <a:r>
              <a:rPr lang="es-AR" sz="2600">
                <a:solidFill>
                  <a:srgbClr val="FF7B61"/>
                </a:solidFill>
              </a:rPr>
              <a:t>-1</a:t>
            </a:r>
            <a:r>
              <a:rPr lang="es-AR" sz="2600"/>
              <a:t>, vamos por el </a:t>
            </a:r>
            <a:r>
              <a:rPr lang="es-AR" sz="2600">
                <a:solidFill>
                  <a:srgbClr val="FF7B61"/>
                </a:solidFill>
              </a:rPr>
              <a:t>hijo izquierdo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Si la comparación es </a:t>
            </a:r>
            <a:r>
              <a:rPr lang="es-AR" sz="2600">
                <a:solidFill>
                  <a:srgbClr val="FF7B61"/>
                </a:solidFill>
              </a:rPr>
              <a:t>1</a:t>
            </a:r>
            <a:r>
              <a:rPr lang="es-AR" sz="2600"/>
              <a:t>, vamos por el </a:t>
            </a:r>
            <a:r>
              <a:rPr lang="es-AR" sz="2600">
                <a:solidFill>
                  <a:srgbClr val="FF7B61"/>
                </a:solidFill>
              </a:rPr>
              <a:t>hijo derecho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FF7B61"/>
                </a:solidFill>
              </a:rPr>
              <a:t>Comparamos al valor buscado con el del nodo</a:t>
            </a:r>
            <a:r>
              <a:rPr lang="es-AR" sz="2600"/>
              <a:t> (el orden importa).</a:t>
            </a:r>
            <a:endParaRPr sz="2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3474849ff_0_1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BST - REMOCIÓN</a:t>
            </a:r>
            <a:endParaRPr/>
          </a:p>
        </p:txBody>
      </p:sp>
      <p:sp>
        <p:nvSpPr>
          <p:cNvPr id="239" name="Google Shape;239;g3e3474849ff_0_10"/>
          <p:cNvSpPr txBox="1"/>
          <p:nvPr>
            <p:ph idx="1" type="body"/>
          </p:nvPr>
        </p:nvSpPr>
        <p:spPr>
          <a:xfrm>
            <a:off x="288975" y="2326100"/>
            <a:ext cx="11733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Una vez encontrado el nodo, h</a:t>
            </a:r>
            <a:r>
              <a:rPr lang="es-AR" sz="2600"/>
              <a:t>ay tres casos posibles:</a:t>
            </a:r>
            <a:endParaRPr sz="2600"/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Remover una </a:t>
            </a:r>
            <a:r>
              <a:rPr lang="es-AR" sz="2600">
                <a:solidFill>
                  <a:srgbClr val="FF7B61"/>
                </a:solidFill>
              </a:rPr>
              <a:t>hoja </a:t>
            </a:r>
            <a:r>
              <a:rPr lang="es-AR" sz="2600"/>
              <a:t>(sin hijos).</a:t>
            </a:r>
            <a:endParaRPr sz="2600"/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Remover un nodo con </a:t>
            </a:r>
            <a:r>
              <a:rPr lang="es-AR" sz="2600">
                <a:solidFill>
                  <a:srgbClr val="FF7B61"/>
                </a:solidFill>
              </a:rPr>
              <a:t>un hijo</a:t>
            </a:r>
            <a:r>
              <a:rPr lang="es-AR" sz="2600"/>
              <a:t>.</a:t>
            </a:r>
            <a:endParaRPr sz="2600"/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Remover un nodo con </a:t>
            </a:r>
            <a:r>
              <a:rPr lang="es-AR" sz="2600">
                <a:solidFill>
                  <a:srgbClr val="FF7B61"/>
                </a:solidFill>
              </a:rPr>
              <a:t>dos hijos</a:t>
            </a:r>
            <a:r>
              <a:rPr lang="es-AR" sz="2600"/>
              <a:t> (y más nodos debajo).</a:t>
            </a:r>
            <a:endParaRPr sz="2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3474849ff_0_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BST - REMOCIÓN</a:t>
            </a:r>
            <a:endParaRPr/>
          </a:p>
        </p:txBody>
      </p:sp>
      <p:sp>
        <p:nvSpPr>
          <p:cNvPr id="245" name="Google Shape;245;g3e3474849ff_0_5"/>
          <p:cNvSpPr txBox="1"/>
          <p:nvPr>
            <p:ph idx="1" type="body"/>
          </p:nvPr>
        </p:nvSpPr>
        <p:spPr>
          <a:xfrm>
            <a:off x="288975" y="2326100"/>
            <a:ext cx="11733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Remover una hoja es el caso más sencillo.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Simplemente devolvemos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Se guarda en la referencia del padre (llamado recursivo previo).</a:t>
            </a:r>
            <a:endParaRPr sz="2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34d31ed5a_0_2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BST - REMOCIÓN</a:t>
            </a:r>
            <a:endParaRPr/>
          </a:p>
        </p:txBody>
      </p:sp>
      <p:sp>
        <p:nvSpPr>
          <p:cNvPr id="251" name="Google Shape;251;g3e34d31ed5a_0_20"/>
          <p:cNvSpPr txBox="1"/>
          <p:nvPr>
            <p:ph idx="1" type="body"/>
          </p:nvPr>
        </p:nvSpPr>
        <p:spPr>
          <a:xfrm>
            <a:off x="288975" y="2326100"/>
            <a:ext cx="11733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Si el nodo tiene un solo hijo, se devuelve ese.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Al devolverlo, movemos la referencia al hijo de lugar.</a:t>
            </a:r>
            <a:endParaRPr sz="2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34d31ed5a_0_2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BST - REMOCIÓN</a:t>
            </a:r>
            <a:endParaRPr/>
          </a:p>
        </p:txBody>
      </p:sp>
      <p:sp>
        <p:nvSpPr>
          <p:cNvPr id="257" name="Google Shape;257;g3e34d31ed5a_0_25"/>
          <p:cNvSpPr txBox="1"/>
          <p:nvPr>
            <p:ph idx="1" type="body"/>
          </p:nvPr>
        </p:nvSpPr>
        <p:spPr>
          <a:xfrm>
            <a:off x="288975" y="2326100"/>
            <a:ext cx="11733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Si el nodo tiene ambos hijos, buscamos un </a:t>
            </a:r>
            <a:r>
              <a:rPr b="1" lang="es-AR" sz="2600">
                <a:solidFill>
                  <a:schemeClr val="accent5"/>
                </a:solidFill>
              </a:rPr>
              <a:t>sucesor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Generalmente es el </a:t>
            </a:r>
            <a:r>
              <a:rPr lang="es-AR" sz="2600">
                <a:solidFill>
                  <a:srgbClr val="FF7B61"/>
                </a:solidFill>
              </a:rPr>
              <a:t>minimo</a:t>
            </a:r>
            <a:r>
              <a:rPr lang="es-AR" sz="2600">
                <a:solidFill>
                  <a:srgbClr val="FF7B61"/>
                </a:solidFill>
              </a:rPr>
              <a:t> hijo derecho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Puede ser el </a:t>
            </a:r>
            <a:r>
              <a:rPr lang="es-AR" sz="2600">
                <a:solidFill>
                  <a:srgbClr val="FF7B61"/>
                </a:solidFill>
              </a:rPr>
              <a:t>máximo hijo izquierdo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Para encontrarlo, iteramos sobre cada hijo izquierdo hasta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En una función aparte,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current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current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left</a:t>
            </a:r>
            <a:r>
              <a:rPr lang="es-AR" sz="2600"/>
              <a:t> con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lang="es-AR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34d31ed5a_0_3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BST - REMOCIÓN</a:t>
            </a:r>
            <a:endParaRPr/>
          </a:p>
        </p:txBody>
      </p:sp>
      <p:sp>
        <p:nvSpPr>
          <p:cNvPr id="263" name="Google Shape;263;g3e34d31ed5a_0_30"/>
          <p:cNvSpPr txBox="1"/>
          <p:nvPr>
            <p:ph idx="1" type="body"/>
          </p:nvPr>
        </p:nvSpPr>
        <p:spPr>
          <a:xfrm>
            <a:off x="288975" y="2326100"/>
            <a:ext cx="11733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Teniendo el sucesor, reemplazamos el valor de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current</a:t>
            </a:r>
            <a:r>
              <a:rPr lang="es-AR" sz="2600"/>
              <a:t> por el suyo.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Luego, removemos al sucesor con más llamados recursivos.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Al final de todo el proceso devolvemos a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current</a:t>
            </a:r>
            <a:r>
              <a:rPr lang="es-AR" sz="2600"/>
              <a:t>.</a:t>
            </a:r>
            <a:endParaRPr sz="2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abe2462a0_0_101"/>
          <p:cNvSpPr txBox="1"/>
          <p:nvPr>
            <p:ph idx="4294967295" type="ctrTitle"/>
          </p:nvPr>
        </p:nvSpPr>
        <p:spPr>
          <a:xfrm>
            <a:off x="2024864" y="1872886"/>
            <a:ext cx="85323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BÚSQUEDAS EN</a:t>
            </a:r>
            <a:r>
              <a:rPr lang="es-AR" sz="6600">
                <a:solidFill>
                  <a:srgbClr val="43FFF5"/>
                </a:solidFill>
              </a:rPr>
              <a:t> BST</a:t>
            </a:r>
            <a:endParaRPr b="1" i="0" sz="80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9abe2462a0_0_10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DFS - DEPTH FIRST SEARCH</a:t>
            </a:r>
            <a:endParaRPr/>
          </a:p>
        </p:txBody>
      </p:sp>
      <p:sp>
        <p:nvSpPr>
          <p:cNvPr id="274" name="Google Shape;274;g39abe2462a0_0_105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En español: </a:t>
            </a:r>
            <a:r>
              <a:rPr b="1" lang="es-AR" sz="2600">
                <a:solidFill>
                  <a:srgbClr val="FF7B61"/>
                </a:solidFill>
              </a:rPr>
              <a:t>Búsqueda en Profundidad</a:t>
            </a:r>
            <a:r>
              <a:rPr lang="es-AR" sz="2600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Prioriza profundizar lo más posible antes de ir a un nodo hermano.  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Es más natural programarla de manera recursiva.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abe2462a0_0_11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DFS - DEPTH FIRST SEARCH</a:t>
            </a:r>
            <a:endParaRPr/>
          </a:p>
        </p:txBody>
      </p:sp>
      <p:sp>
        <p:nvSpPr>
          <p:cNvPr id="280" name="Google Shape;280;g39abe2462a0_0_110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chemeClr val="lt1"/>
                </a:solidFill>
              </a:rPr>
              <a:t>Tiene 4 instrucciones:</a:t>
            </a:r>
            <a:endParaRPr sz="2600">
              <a:solidFill>
                <a:schemeClr val="lt1"/>
              </a:solidFill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➢"/>
            </a:pPr>
            <a:r>
              <a:rPr lang="es-AR" sz="2600">
                <a:solidFill>
                  <a:schemeClr val="lt1"/>
                </a:solidFill>
              </a:rPr>
              <a:t>Chequear que el nodo exista.</a:t>
            </a:r>
            <a:endParaRPr/>
          </a:p>
          <a:p>
            <a:pPr indent="-457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➢"/>
            </a:pPr>
            <a:r>
              <a:rPr lang="es-AR" sz="2600">
                <a:solidFill>
                  <a:schemeClr val="lt1"/>
                </a:solidFill>
              </a:rPr>
              <a:t>Procesar nodo actual.</a:t>
            </a:r>
            <a:endParaRPr/>
          </a:p>
          <a:p>
            <a:pPr indent="-457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➢"/>
            </a:pPr>
            <a:r>
              <a:rPr lang="es-AR" sz="2600">
                <a:solidFill>
                  <a:schemeClr val="lt1"/>
                </a:solidFill>
              </a:rPr>
              <a:t>Procesar su hijo Izquierdo </a:t>
            </a:r>
            <a:r>
              <a:rPr i="1" lang="es-AR" sz="2600">
                <a:solidFill>
                  <a:schemeClr val="lt1"/>
                </a:solidFill>
              </a:rPr>
              <a:t>(recursivamente)</a:t>
            </a:r>
            <a:r>
              <a:rPr lang="es-AR" sz="2600">
                <a:solidFill>
                  <a:schemeClr val="lt1"/>
                </a:solidFill>
              </a:rPr>
              <a:t>.</a:t>
            </a:r>
            <a:endParaRPr sz="2600">
              <a:solidFill>
                <a:schemeClr val="lt1"/>
              </a:solidFill>
            </a:endParaRPr>
          </a:p>
          <a:p>
            <a:pPr indent="-457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➢"/>
            </a:pPr>
            <a:r>
              <a:rPr lang="es-AR" sz="2600">
                <a:solidFill>
                  <a:schemeClr val="lt1"/>
                </a:solidFill>
              </a:rPr>
              <a:t>Procesar su hijo derecho </a:t>
            </a:r>
            <a:r>
              <a:rPr i="1" lang="es-AR" sz="2600">
                <a:solidFill>
                  <a:schemeClr val="lt1"/>
                </a:solidFill>
              </a:rPr>
              <a:t>(recursivamente)</a:t>
            </a:r>
            <a:r>
              <a:rPr lang="es-AR" sz="2600">
                <a:solidFill>
                  <a:schemeClr val="lt1"/>
                </a:solidFill>
              </a:rPr>
              <a:t>.</a:t>
            </a:r>
            <a:endParaRPr sz="2600">
              <a:solidFill>
                <a:schemeClr val="lt1"/>
              </a:solidFill>
            </a:endParaRPr>
          </a:p>
          <a:p>
            <a:pPr indent="-254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lang="es-AR" sz="2600">
                <a:solidFill>
                  <a:schemeClr val="lt1"/>
                </a:solidFill>
              </a:rPr>
              <a:t>"Procesar" puede ser cualquier cosa (printear, devolver, etc.)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abe2462a0_0_11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DFS - DEPTH FIRST SEARCH</a:t>
            </a:r>
            <a:endParaRPr/>
          </a:p>
        </p:txBody>
      </p:sp>
      <p:sp>
        <p:nvSpPr>
          <p:cNvPr id="286" name="Google Shape;286;g39abe2462a0_0_115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Da resultados distintos según el orden de esas instrucciones:</a:t>
            </a:r>
            <a:endParaRPr/>
          </a:p>
          <a:p>
            <a:pPr indent="-4572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Pre-Order.</a:t>
            </a:r>
            <a:endParaRPr/>
          </a:p>
          <a:p>
            <a:pPr indent="-4572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In-Order.</a:t>
            </a:r>
            <a:endParaRPr/>
          </a:p>
          <a:p>
            <a:pPr indent="-457200" lvl="1" marL="800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❖"/>
            </a:pPr>
            <a:r>
              <a:rPr b="1" lang="es-AR" sz="2600">
                <a:solidFill>
                  <a:srgbClr val="FF7B61"/>
                </a:solidFill>
              </a:rPr>
              <a:t>Post-Order.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9abe2462a0_0_12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DFS – PRE-ORDER</a:t>
            </a:r>
            <a:endParaRPr/>
          </a:p>
        </p:txBody>
      </p:sp>
      <p:sp>
        <p:nvSpPr>
          <p:cNvPr id="292" name="Google Shape;292;g39abe2462a0_0_120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Procesa primero al nodo actual, y luego a sus hijos.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Respeta el orden de la jerarquía </a:t>
            </a:r>
            <a:r>
              <a:rPr lang="es-AR" sz="2600">
                <a:solidFill>
                  <a:srgbClr val="FF7B61"/>
                </a:solidFill>
              </a:rPr>
              <a:t>("topológicamente ordenado")</a:t>
            </a:r>
            <a:r>
              <a:rPr lang="es-AR" sz="2600">
                <a:solidFill>
                  <a:schemeClr val="lt1"/>
                </a:solidFill>
              </a:rPr>
              <a:t>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Sirve para, por ejemplo, copiar un árbol.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abe2462a0_0_125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DFS – PRE-ORDER</a:t>
            </a:r>
            <a:endParaRPr/>
          </a:p>
        </p:txBody>
      </p:sp>
      <p:sp>
        <p:nvSpPr>
          <p:cNvPr id="298" name="Google Shape;298;g39abe2462a0_0_125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514350" lvl="0" marL="6032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s-AR" sz="2600">
                <a:solidFill>
                  <a:schemeClr val="lt1"/>
                </a:solidFill>
              </a:rPr>
              <a:t>Chequear que el nodo actual no sea null.</a:t>
            </a:r>
            <a:endParaRPr/>
          </a:p>
          <a:p>
            <a:pPr indent="-514350" lvl="0" marL="6032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s-AR" sz="2600">
                <a:solidFill>
                  <a:schemeClr val="lt1"/>
                </a:solidFill>
              </a:rPr>
              <a:t>Procesar el nodo actual.</a:t>
            </a:r>
            <a:endParaRPr/>
          </a:p>
          <a:p>
            <a:pPr indent="-514350" lvl="0" marL="6032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s-AR" sz="2600">
                <a:solidFill>
                  <a:schemeClr val="lt1"/>
                </a:solidFill>
              </a:rPr>
              <a:t>Procesar su hijo izquierdo (llamándose a sí misma nuevamente).</a:t>
            </a:r>
            <a:endParaRPr/>
          </a:p>
          <a:p>
            <a:pPr indent="-514350" lvl="0" marL="6032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s-AR" sz="2600">
                <a:solidFill>
                  <a:schemeClr val="lt1"/>
                </a:solidFill>
              </a:rPr>
              <a:t>Procesar su hijo derecho (llamándose a sí misma nuevamente).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9abe2462a0_0_130"/>
          <p:cNvSpPr/>
          <p:nvPr/>
        </p:nvSpPr>
        <p:spPr>
          <a:xfrm>
            <a:off x="5678024" y="3080971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4" name="Google Shape;304;g39abe2462a0_0_130"/>
          <p:cNvSpPr/>
          <p:nvPr/>
        </p:nvSpPr>
        <p:spPr>
          <a:xfrm>
            <a:off x="4077469" y="3994055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5" name="Google Shape;305;g39abe2462a0_0_130"/>
          <p:cNvSpPr/>
          <p:nvPr/>
        </p:nvSpPr>
        <p:spPr>
          <a:xfrm>
            <a:off x="4845880" y="4860202"/>
            <a:ext cx="706200" cy="6696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6" name="Google Shape;306;g39abe2462a0_0_130"/>
          <p:cNvSpPr/>
          <p:nvPr/>
        </p:nvSpPr>
        <p:spPr>
          <a:xfrm>
            <a:off x="3262367" y="4921079"/>
            <a:ext cx="694500" cy="6696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7" name="Google Shape;307;g39abe2462a0_0_130"/>
          <p:cNvSpPr/>
          <p:nvPr/>
        </p:nvSpPr>
        <p:spPr>
          <a:xfrm>
            <a:off x="7458556" y="3984144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39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8" name="Google Shape;308;g39abe2462a0_0_130"/>
          <p:cNvSpPr/>
          <p:nvPr/>
        </p:nvSpPr>
        <p:spPr>
          <a:xfrm>
            <a:off x="6816879" y="4832031"/>
            <a:ext cx="656100" cy="6369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9" name="Google Shape;309;g39abe2462a0_0_130"/>
          <p:cNvSpPr/>
          <p:nvPr/>
        </p:nvSpPr>
        <p:spPr>
          <a:xfrm>
            <a:off x="8322506" y="4831827"/>
            <a:ext cx="656100" cy="6609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0" name="Google Shape;310;g39abe2462a0_0_130"/>
          <p:cNvSpPr/>
          <p:nvPr/>
        </p:nvSpPr>
        <p:spPr>
          <a:xfrm>
            <a:off x="4191443" y="5790383"/>
            <a:ext cx="682500" cy="6324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9abe2462a0_0_130"/>
          <p:cNvSpPr/>
          <p:nvPr/>
        </p:nvSpPr>
        <p:spPr>
          <a:xfrm>
            <a:off x="6164868" y="5620151"/>
            <a:ext cx="682500" cy="6696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9abe2462a0_0_130"/>
          <p:cNvSpPr/>
          <p:nvPr/>
        </p:nvSpPr>
        <p:spPr>
          <a:xfrm>
            <a:off x="7622644" y="5594006"/>
            <a:ext cx="682500" cy="6504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" name="Google Shape;313;g39abe2462a0_0_130"/>
          <p:cNvCxnSpPr/>
          <p:nvPr/>
        </p:nvCxnSpPr>
        <p:spPr>
          <a:xfrm flipH="1">
            <a:off x="4405346" y="3722456"/>
            <a:ext cx="1608300" cy="271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g39abe2462a0_0_130"/>
          <p:cNvCxnSpPr/>
          <p:nvPr/>
        </p:nvCxnSpPr>
        <p:spPr>
          <a:xfrm>
            <a:off x="6013702" y="3727046"/>
            <a:ext cx="1786500" cy="2478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g39abe2462a0_0_130"/>
          <p:cNvCxnSpPr/>
          <p:nvPr/>
        </p:nvCxnSpPr>
        <p:spPr>
          <a:xfrm flipH="1">
            <a:off x="3600392" y="4649312"/>
            <a:ext cx="832500" cy="262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g39abe2462a0_0_130"/>
          <p:cNvCxnSpPr/>
          <p:nvPr/>
        </p:nvCxnSpPr>
        <p:spPr>
          <a:xfrm>
            <a:off x="4405458" y="4635541"/>
            <a:ext cx="793500" cy="215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g39abe2462a0_0_130"/>
          <p:cNvCxnSpPr/>
          <p:nvPr/>
        </p:nvCxnSpPr>
        <p:spPr>
          <a:xfrm flipH="1">
            <a:off x="4532630" y="5529870"/>
            <a:ext cx="666300" cy="260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g39abe2462a0_0_130"/>
          <p:cNvCxnSpPr/>
          <p:nvPr/>
        </p:nvCxnSpPr>
        <p:spPr>
          <a:xfrm flipH="1">
            <a:off x="7144822" y="4639401"/>
            <a:ext cx="641700" cy="192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g39abe2462a0_0_130"/>
          <p:cNvCxnSpPr/>
          <p:nvPr/>
        </p:nvCxnSpPr>
        <p:spPr>
          <a:xfrm>
            <a:off x="7814087" y="4639401"/>
            <a:ext cx="8364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g39abe2462a0_0_130"/>
          <p:cNvCxnSpPr/>
          <p:nvPr/>
        </p:nvCxnSpPr>
        <p:spPr>
          <a:xfrm flipH="1">
            <a:off x="6506261" y="5468927"/>
            <a:ext cx="638700" cy="1512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g39abe2462a0_0_130"/>
          <p:cNvCxnSpPr/>
          <p:nvPr/>
        </p:nvCxnSpPr>
        <p:spPr>
          <a:xfrm>
            <a:off x="7144868" y="5468927"/>
            <a:ext cx="819000" cy="125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g39abe2462a0_0_130"/>
          <p:cNvSpPr txBox="1"/>
          <p:nvPr/>
        </p:nvSpPr>
        <p:spPr>
          <a:xfrm>
            <a:off x="4513758" y="2525538"/>
            <a:ext cx="316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Orden del recorrido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3" name="Google Shape;323;g39abe2462a0_0_13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DFS – PRE-ORDER</a:t>
            </a:r>
            <a:endParaRPr/>
          </a:p>
        </p:txBody>
      </p:sp>
      <p:sp>
        <p:nvSpPr>
          <p:cNvPr id="324" name="Google Shape;324;g39abe2462a0_0_130"/>
          <p:cNvSpPr/>
          <p:nvPr/>
        </p:nvSpPr>
        <p:spPr>
          <a:xfrm>
            <a:off x="5161565" y="3274778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5" name="Google Shape;325;g39abe2462a0_0_130"/>
          <p:cNvSpPr/>
          <p:nvPr/>
        </p:nvSpPr>
        <p:spPr>
          <a:xfrm>
            <a:off x="3567380" y="4182159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6" name="Google Shape;326;g39abe2462a0_0_130"/>
          <p:cNvSpPr/>
          <p:nvPr/>
        </p:nvSpPr>
        <p:spPr>
          <a:xfrm>
            <a:off x="2659999" y="5129646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7" name="Google Shape;327;g39abe2462a0_0_130"/>
          <p:cNvSpPr/>
          <p:nvPr/>
        </p:nvSpPr>
        <p:spPr>
          <a:xfrm>
            <a:off x="4319354" y="5129646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/>
          </a:p>
        </p:txBody>
      </p:sp>
      <p:sp>
        <p:nvSpPr>
          <p:cNvPr id="328" name="Google Shape;328;g39abe2462a0_0_130"/>
          <p:cNvSpPr/>
          <p:nvPr/>
        </p:nvSpPr>
        <p:spPr>
          <a:xfrm>
            <a:off x="3692709" y="5981883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9" name="Google Shape;329;g39abe2462a0_0_130"/>
          <p:cNvSpPr/>
          <p:nvPr/>
        </p:nvSpPr>
        <p:spPr>
          <a:xfrm>
            <a:off x="6946248" y="4187172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0" name="Google Shape;330;g39abe2462a0_0_130"/>
          <p:cNvSpPr/>
          <p:nvPr/>
        </p:nvSpPr>
        <p:spPr>
          <a:xfrm>
            <a:off x="6309578" y="5029383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1" name="Google Shape;331;g39abe2462a0_0_130"/>
          <p:cNvSpPr/>
          <p:nvPr/>
        </p:nvSpPr>
        <p:spPr>
          <a:xfrm>
            <a:off x="5677920" y="5831488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2" name="Google Shape;332;g39abe2462a0_0_130"/>
          <p:cNvSpPr/>
          <p:nvPr/>
        </p:nvSpPr>
        <p:spPr>
          <a:xfrm>
            <a:off x="7136749" y="5831489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3" name="Google Shape;333;g39abe2462a0_0_130"/>
          <p:cNvSpPr/>
          <p:nvPr/>
        </p:nvSpPr>
        <p:spPr>
          <a:xfrm>
            <a:off x="7763394" y="5034396"/>
            <a:ext cx="4530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9abe2462a0_0_16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DFS – IN-ORDER</a:t>
            </a:r>
            <a:endParaRPr/>
          </a:p>
        </p:txBody>
      </p:sp>
      <p:sp>
        <p:nvSpPr>
          <p:cNvPr id="339" name="Google Shape;339;g39abe2462a0_0_164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Procesa primero al hijo izquierdo, luego el actual, luego al derecho.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rgbClr val="FF7B61"/>
                </a:solidFill>
              </a:rPr>
              <a:t>Si se usa sobre un BST, devuelve la colección ordenada.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Sirve para, por ejemplo, copiar un árbol.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9abe2462a0_0_169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DFS – IN-ORDER</a:t>
            </a:r>
            <a:endParaRPr/>
          </a:p>
        </p:txBody>
      </p:sp>
      <p:sp>
        <p:nvSpPr>
          <p:cNvPr id="345" name="Google Shape;345;g39abe2462a0_0_169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514350" lvl="0" marL="6032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s-AR" sz="2600">
                <a:solidFill>
                  <a:schemeClr val="lt1"/>
                </a:solidFill>
              </a:rPr>
              <a:t>Chequear que el nodo actual no sea null.</a:t>
            </a:r>
            <a:endParaRPr/>
          </a:p>
          <a:p>
            <a:pPr indent="-514350" lvl="0" marL="6032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s-AR" sz="2600">
                <a:solidFill>
                  <a:schemeClr val="lt1"/>
                </a:solidFill>
              </a:rPr>
              <a:t>Procesar su hijo izquierdo (llamándose a sí misma nuevamente).</a:t>
            </a:r>
            <a:endParaRPr/>
          </a:p>
          <a:p>
            <a:pPr indent="-514350" lvl="0" marL="6032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s-AR" sz="2600">
                <a:solidFill>
                  <a:schemeClr val="lt1"/>
                </a:solidFill>
              </a:rPr>
              <a:t>Procesar el nodo actual.</a:t>
            </a:r>
            <a:endParaRPr/>
          </a:p>
          <a:p>
            <a:pPr indent="-514350" lvl="0" marL="6032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s-AR" sz="2600">
                <a:solidFill>
                  <a:schemeClr val="lt1"/>
                </a:solidFill>
              </a:rPr>
              <a:t>Procesar su hijo derecho (llamándose a sí misma nuevamente).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abe2462a0_0_174"/>
          <p:cNvSpPr/>
          <p:nvPr/>
        </p:nvSpPr>
        <p:spPr>
          <a:xfrm>
            <a:off x="5678024" y="3080971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1" name="Google Shape;351;g39abe2462a0_0_174"/>
          <p:cNvSpPr/>
          <p:nvPr/>
        </p:nvSpPr>
        <p:spPr>
          <a:xfrm>
            <a:off x="4077469" y="3994055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2" name="Google Shape;352;g39abe2462a0_0_174"/>
          <p:cNvSpPr/>
          <p:nvPr/>
        </p:nvSpPr>
        <p:spPr>
          <a:xfrm>
            <a:off x="4845880" y="4860202"/>
            <a:ext cx="706200" cy="6696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3" name="Google Shape;353;g39abe2462a0_0_174"/>
          <p:cNvSpPr/>
          <p:nvPr/>
        </p:nvSpPr>
        <p:spPr>
          <a:xfrm>
            <a:off x="3262367" y="4921079"/>
            <a:ext cx="694500" cy="6696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4" name="Google Shape;354;g39abe2462a0_0_174"/>
          <p:cNvSpPr/>
          <p:nvPr/>
        </p:nvSpPr>
        <p:spPr>
          <a:xfrm>
            <a:off x="7458556" y="3984144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39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5" name="Google Shape;355;g39abe2462a0_0_174"/>
          <p:cNvSpPr/>
          <p:nvPr/>
        </p:nvSpPr>
        <p:spPr>
          <a:xfrm>
            <a:off x="6816879" y="4832031"/>
            <a:ext cx="656100" cy="6369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6" name="Google Shape;356;g39abe2462a0_0_174"/>
          <p:cNvSpPr/>
          <p:nvPr/>
        </p:nvSpPr>
        <p:spPr>
          <a:xfrm>
            <a:off x="8322506" y="4831827"/>
            <a:ext cx="656100" cy="6609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7" name="Google Shape;357;g39abe2462a0_0_174"/>
          <p:cNvSpPr/>
          <p:nvPr/>
        </p:nvSpPr>
        <p:spPr>
          <a:xfrm>
            <a:off x="4191443" y="5790383"/>
            <a:ext cx="682500" cy="6324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9abe2462a0_0_174"/>
          <p:cNvSpPr/>
          <p:nvPr/>
        </p:nvSpPr>
        <p:spPr>
          <a:xfrm>
            <a:off x="6164868" y="5620151"/>
            <a:ext cx="682500" cy="6696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9abe2462a0_0_174"/>
          <p:cNvSpPr/>
          <p:nvPr/>
        </p:nvSpPr>
        <p:spPr>
          <a:xfrm>
            <a:off x="7622644" y="5594006"/>
            <a:ext cx="682500" cy="6504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0" name="Google Shape;360;g39abe2462a0_0_174"/>
          <p:cNvCxnSpPr/>
          <p:nvPr/>
        </p:nvCxnSpPr>
        <p:spPr>
          <a:xfrm flipH="1">
            <a:off x="4405346" y="3722456"/>
            <a:ext cx="1608300" cy="271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g39abe2462a0_0_174"/>
          <p:cNvCxnSpPr/>
          <p:nvPr/>
        </p:nvCxnSpPr>
        <p:spPr>
          <a:xfrm>
            <a:off x="6013702" y="3727046"/>
            <a:ext cx="1786500" cy="2478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g39abe2462a0_0_174"/>
          <p:cNvCxnSpPr/>
          <p:nvPr/>
        </p:nvCxnSpPr>
        <p:spPr>
          <a:xfrm flipH="1">
            <a:off x="3600392" y="4649312"/>
            <a:ext cx="832500" cy="262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" name="Google Shape;363;g39abe2462a0_0_174"/>
          <p:cNvCxnSpPr/>
          <p:nvPr/>
        </p:nvCxnSpPr>
        <p:spPr>
          <a:xfrm>
            <a:off x="4405458" y="4635541"/>
            <a:ext cx="793500" cy="215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" name="Google Shape;364;g39abe2462a0_0_174"/>
          <p:cNvCxnSpPr/>
          <p:nvPr/>
        </p:nvCxnSpPr>
        <p:spPr>
          <a:xfrm flipH="1">
            <a:off x="4532630" y="5529870"/>
            <a:ext cx="666300" cy="260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" name="Google Shape;365;g39abe2462a0_0_174"/>
          <p:cNvCxnSpPr/>
          <p:nvPr/>
        </p:nvCxnSpPr>
        <p:spPr>
          <a:xfrm flipH="1">
            <a:off x="7144822" y="4639401"/>
            <a:ext cx="641700" cy="192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" name="Google Shape;366;g39abe2462a0_0_174"/>
          <p:cNvCxnSpPr/>
          <p:nvPr/>
        </p:nvCxnSpPr>
        <p:spPr>
          <a:xfrm>
            <a:off x="7814087" y="4639401"/>
            <a:ext cx="8364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g39abe2462a0_0_174"/>
          <p:cNvCxnSpPr/>
          <p:nvPr/>
        </p:nvCxnSpPr>
        <p:spPr>
          <a:xfrm flipH="1">
            <a:off x="6506261" y="5468927"/>
            <a:ext cx="638700" cy="1512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g39abe2462a0_0_174"/>
          <p:cNvCxnSpPr/>
          <p:nvPr/>
        </p:nvCxnSpPr>
        <p:spPr>
          <a:xfrm>
            <a:off x="7144868" y="5468927"/>
            <a:ext cx="819000" cy="125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g39abe2462a0_0_174"/>
          <p:cNvSpPr txBox="1"/>
          <p:nvPr/>
        </p:nvSpPr>
        <p:spPr>
          <a:xfrm>
            <a:off x="4513758" y="2525538"/>
            <a:ext cx="316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Orden del recorrido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0" name="Google Shape;370;g39abe2462a0_0_17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DFS – IN-ORDER</a:t>
            </a:r>
            <a:endParaRPr/>
          </a:p>
        </p:txBody>
      </p:sp>
      <p:sp>
        <p:nvSpPr>
          <p:cNvPr id="371" name="Google Shape;371;g39abe2462a0_0_174"/>
          <p:cNvSpPr/>
          <p:nvPr/>
        </p:nvSpPr>
        <p:spPr>
          <a:xfrm>
            <a:off x="5161565" y="3274778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2" name="Google Shape;372;g39abe2462a0_0_174"/>
          <p:cNvSpPr/>
          <p:nvPr/>
        </p:nvSpPr>
        <p:spPr>
          <a:xfrm>
            <a:off x="3567380" y="4182159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3" name="Google Shape;373;g39abe2462a0_0_174"/>
          <p:cNvSpPr/>
          <p:nvPr/>
        </p:nvSpPr>
        <p:spPr>
          <a:xfrm>
            <a:off x="2659999" y="5129646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4" name="Google Shape;374;g39abe2462a0_0_174"/>
          <p:cNvSpPr/>
          <p:nvPr/>
        </p:nvSpPr>
        <p:spPr>
          <a:xfrm>
            <a:off x="4319354" y="5129646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/>
          </a:p>
        </p:txBody>
      </p:sp>
      <p:sp>
        <p:nvSpPr>
          <p:cNvPr id="375" name="Google Shape;375;g39abe2462a0_0_174"/>
          <p:cNvSpPr/>
          <p:nvPr/>
        </p:nvSpPr>
        <p:spPr>
          <a:xfrm>
            <a:off x="3692709" y="5981883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6" name="Google Shape;376;g39abe2462a0_0_174"/>
          <p:cNvSpPr/>
          <p:nvPr/>
        </p:nvSpPr>
        <p:spPr>
          <a:xfrm>
            <a:off x="6946248" y="4187172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7" name="Google Shape;377;g39abe2462a0_0_174"/>
          <p:cNvSpPr/>
          <p:nvPr/>
        </p:nvSpPr>
        <p:spPr>
          <a:xfrm>
            <a:off x="6309578" y="5029383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8" name="Google Shape;378;g39abe2462a0_0_174"/>
          <p:cNvSpPr/>
          <p:nvPr/>
        </p:nvSpPr>
        <p:spPr>
          <a:xfrm>
            <a:off x="5677920" y="5831488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9" name="Google Shape;379;g39abe2462a0_0_174"/>
          <p:cNvSpPr/>
          <p:nvPr/>
        </p:nvSpPr>
        <p:spPr>
          <a:xfrm>
            <a:off x="7136749" y="5831489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0" name="Google Shape;380;g39abe2462a0_0_174"/>
          <p:cNvSpPr/>
          <p:nvPr/>
        </p:nvSpPr>
        <p:spPr>
          <a:xfrm>
            <a:off x="7703236" y="5034396"/>
            <a:ext cx="5133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9abe2462a0_0_208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DFS – POST-ORDER</a:t>
            </a:r>
            <a:endParaRPr/>
          </a:p>
        </p:txBody>
      </p:sp>
      <p:sp>
        <p:nvSpPr>
          <p:cNvPr id="386" name="Google Shape;386;g39abe2462a0_0_208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Procesa primero a los dos hijos, luego al nodo actual.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Podría usarse para limpiar árboles, no borra nodos con hijos.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Ayuda memoria: "¿Puedo borrar este nodo sin afectar a otros?"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9abe2462a0_0_213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DFS – POST-ORDER</a:t>
            </a:r>
            <a:endParaRPr/>
          </a:p>
        </p:txBody>
      </p:sp>
      <p:sp>
        <p:nvSpPr>
          <p:cNvPr id="392" name="Google Shape;392;g39abe2462a0_0_213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514350" lvl="0" marL="6032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s-AR" sz="2600">
                <a:solidFill>
                  <a:schemeClr val="lt1"/>
                </a:solidFill>
              </a:rPr>
              <a:t>Chequear que el nodo actual no sea null.</a:t>
            </a:r>
            <a:endParaRPr/>
          </a:p>
          <a:p>
            <a:pPr indent="-514350" lvl="0" marL="6032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s-AR" sz="2600">
                <a:solidFill>
                  <a:schemeClr val="lt1"/>
                </a:solidFill>
              </a:rPr>
              <a:t>Procesar su hijo izquierdo (llamándose a sí misma nuevamente).</a:t>
            </a:r>
            <a:endParaRPr/>
          </a:p>
          <a:p>
            <a:pPr indent="-514350" lvl="0" marL="6032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s-AR" sz="2600">
                <a:solidFill>
                  <a:schemeClr val="lt1"/>
                </a:solidFill>
              </a:rPr>
              <a:t>Procesar su hijo derecho (llamándose a sí misma nuevamente).</a:t>
            </a:r>
            <a:endParaRPr/>
          </a:p>
          <a:p>
            <a:pPr indent="-514350" lvl="0" marL="6032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s-AR" sz="2600">
                <a:solidFill>
                  <a:schemeClr val="lt1"/>
                </a:solidFill>
              </a:rPr>
              <a:t>Procesar el nodo actual.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abe2462a0_0_218"/>
          <p:cNvSpPr/>
          <p:nvPr/>
        </p:nvSpPr>
        <p:spPr>
          <a:xfrm>
            <a:off x="5678024" y="3080971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8" name="Google Shape;398;g39abe2462a0_0_218"/>
          <p:cNvSpPr/>
          <p:nvPr/>
        </p:nvSpPr>
        <p:spPr>
          <a:xfrm>
            <a:off x="4077469" y="3994055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9" name="Google Shape;399;g39abe2462a0_0_218"/>
          <p:cNvSpPr/>
          <p:nvPr/>
        </p:nvSpPr>
        <p:spPr>
          <a:xfrm>
            <a:off x="4845880" y="4860202"/>
            <a:ext cx="706200" cy="6696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0" name="Google Shape;400;g39abe2462a0_0_218"/>
          <p:cNvSpPr/>
          <p:nvPr/>
        </p:nvSpPr>
        <p:spPr>
          <a:xfrm>
            <a:off x="3262367" y="4921079"/>
            <a:ext cx="694500" cy="6696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1" name="Google Shape;401;g39abe2462a0_0_218"/>
          <p:cNvSpPr/>
          <p:nvPr/>
        </p:nvSpPr>
        <p:spPr>
          <a:xfrm>
            <a:off x="7458556" y="3984144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39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2" name="Google Shape;402;g39abe2462a0_0_218"/>
          <p:cNvSpPr/>
          <p:nvPr/>
        </p:nvSpPr>
        <p:spPr>
          <a:xfrm>
            <a:off x="6816879" y="4832031"/>
            <a:ext cx="656100" cy="6369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3" name="Google Shape;403;g39abe2462a0_0_218"/>
          <p:cNvSpPr/>
          <p:nvPr/>
        </p:nvSpPr>
        <p:spPr>
          <a:xfrm>
            <a:off x="8322506" y="4831827"/>
            <a:ext cx="656100" cy="6609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4" name="Google Shape;404;g39abe2462a0_0_218"/>
          <p:cNvSpPr/>
          <p:nvPr/>
        </p:nvSpPr>
        <p:spPr>
          <a:xfrm>
            <a:off x="4191443" y="5790383"/>
            <a:ext cx="682500" cy="6324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9abe2462a0_0_218"/>
          <p:cNvSpPr/>
          <p:nvPr/>
        </p:nvSpPr>
        <p:spPr>
          <a:xfrm>
            <a:off x="6164868" y="5620151"/>
            <a:ext cx="682500" cy="6696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9abe2462a0_0_218"/>
          <p:cNvSpPr/>
          <p:nvPr/>
        </p:nvSpPr>
        <p:spPr>
          <a:xfrm>
            <a:off x="7622644" y="5594006"/>
            <a:ext cx="682500" cy="6504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" name="Google Shape;407;g39abe2462a0_0_218"/>
          <p:cNvCxnSpPr/>
          <p:nvPr/>
        </p:nvCxnSpPr>
        <p:spPr>
          <a:xfrm flipH="1">
            <a:off x="4405346" y="3722456"/>
            <a:ext cx="1608300" cy="271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g39abe2462a0_0_218"/>
          <p:cNvCxnSpPr/>
          <p:nvPr/>
        </p:nvCxnSpPr>
        <p:spPr>
          <a:xfrm>
            <a:off x="6013702" y="3727046"/>
            <a:ext cx="1786500" cy="2478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g39abe2462a0_0_218"/>
          <p:cNvCxnSpPr/>
          <p:nvPr/>
        </p:nvCxnSpPr>
        <p:spPr>
          <a:xfrm flipH="1">
            <a:off x="3600392" y="4649312"/>
            <a:ext cx="832500" cy="262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g39abe2462a0_0_218"/>
          <p:cNvCxnSpPr/>
          <p:nvPr/>
        </p:nvCxnSpPr>
        <p:spPr>
          <a:xfrm>
            <a:off x="4405458" y="4635541"/>
            <a:ext cx="793500" cy="215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g39abe2462a0_0_218"/>
          <p:cNvCxnSpPr/>
          <p:nvPr/>
        </p:nvCxnSpPr>
        <p:spPr>
          <a:xfrm flipH="1">
            <a:off x="4532630" y="5529870"/>
            <a:ext cx="666300" cy="260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g39abe2462a0_0_218"/>
          <p:cNvCxnSpPr/>
          <p:nvPr/>
        </p:nvCxnSpPr>
        <p:spPr>
          <a:xfrm flipH="1">
            <a:off x="7144822" y="4639401"/>
            <a:ext cx="641700" cy="192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g39abe2462a0_0_218"/>
          <p:cNvCxnSpPr/>
          <p:nvPr/>
        </p:nvCxnSpPr>
        <p:spPr>
          <a:xfrm>
            <a:off x="7814087" y="4639401"/>
            <a:ext cx="8364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g39abe2462a0_0_218"/>
          <p:cNvCxnSpPr/>
          <p:nvPr/>
        </p:nvCxnSpPr>
        <p:spPr>
          <a:xfrm flipH="1">
            <a:off x="6506261" y="5468927"/>
            <a:ext cx="638700" cy="1512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g39abe2462a0_0_218"/>
          <p:cNvCxnSpPr/>
          <p:nvPr/>
        </p:nvCxnSpPr>
        <p:spPr>
          <a:xfrm>
            <a:off x="7144868" y="5468927"/>
            <a:ext cx="819000" cy="125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6" name="Google Shape;416;g39abe2462a0_0_218"/>
          <p:cNvSpPr txBox="1"/>
          <p:nvPr/>
        </p:nvSpPr>
        <p:spPr>
          <a:xfrm>
            <a:off x="4513758" y="2525538"/>
            <a:ext cx="316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Orden del recorrido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7" name="Google Shape;417;g39abe2462a0_0_218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DFS – POST-ORDER</a:t>
            </a:r>
            <a:endParaRPr/>
          </a:p>
        </p:txBody>
      </p:sp>
      <p:sp>
        <p:nvSpPr>
          <p:cNvPr id="418" name="Google Shape;418;g39abe2462a0_0_218"/>
          <p:cNvSpPr/>
          <p:nvPr/>
        </p:nvSpPr>
        <p:spPr>
          <a:xfrm>
            <a:off x="5046324" y="3274775"/>
            <a:ext cx="5031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9" name="Google Shape;419;g39abe2462a0_0_218"/>
          <p:cNvSpPr/>
          <p:nvPr/>
        </p:nvSpPr>
        <p:spPr>
          <a:xfrm>
            <a:off x="3567380" y="4182159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0" name="Google Shape;420;g39abe2462a0_0_218"/>
          <p:cNvSpPr/>
          <p:nvPr/>
        </p:nvSpPr>
        <p:spPr>
          <a:xfrm>
            <a:off x="2659999" y="5129646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1" name="Google Shape;421;g39abe2462a0_0_218"/>
          <p:cNvSpPr/>
          <p:nvPr/>
        </p:nvSpPr>
        <p:spPr>
          <a:xfrm>
            <a:off x="4319354" y="5129646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/>
          </a:p>
        </p:txBody>
      </p:sp>
      <p:sp>
        <p:nvSpPr>
          <p:cNvPr id="422" name="Google Shape;422;g39abe2462a0_0_218"/>
          <p:cNvSpPr/>
          <p:nvPr/>
        </p:nvSpPr>
        <p:spPr>
          <a:xfrm>
            <a:off x="3692709" y="5981883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3" name="Google Shape;423;g39abe2462a0_0_218"/>
          <p:cNvSpPr/>
          <p:nvPr/>
        </p:nvSpPr>
        <p:spPr>
          <a:xfrm>
            <a:off x="6946248" y="4187172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4" name="Google Shape;424;g39abe2462a0_0_218"/>
          <p:cNvSpPr/>
          <p:nvPr/>
        </p:nvSpPr>
        <p:spPr>
          <a:xfrm>
            <a:off x="6309578" y="5029383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5" name="Google Shape;425;g39abe2462a0_0_218"/>
          <p:cNvSpPr/>
          <p:nvPr/>
        </p:nvSpPr>
        <p:spPr>
          <a:xfrm>
            <a:off x="5677920" y="5831488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6" name="Google Shape;426;g39abe2462a0_0_218"/>
          <p:cNvSpPr/>
          <p:nvPr/>
        </p:nvSpPr>
        <p:spPr>
          <a:xfrm>
            <a:off x="7136749" y="5831489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7" name="Google Shape;427;g39abe2462a0_0_218"/>
          <p:cNvSpPr/>
          <p:nvPr/>
        </p:nvSpPr>
        <p:spPr>
          <a:xfrm>
            <a:off x="7703236" y="5034396"/>
            <a:ext cx="5031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9abe2462a0_0_252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BFS – BREADTH FIRST SEARCH</a:t>
            </a:r>
            <a:endParaRPr/>
          </a:p>
        </p:txBody>
      </p:sp>
      <p:sp>
        <p:nvSpPr>
          <p:cNvPr id="433" name="Google Shape;433;g39abe2462a0_0_252"/>
          <p:cNvSpPr txBox="1"/>
          <p:nvPr>
            <p:ph idx="1" type="body"/>
          </p:nvPr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En español: </a:t>
            </a:r>
            <a:r>
              <a:rPr b="1" lang="es-AR" sz="2600">
                <a:solidFill>
                  <a:srgbClr val="FF7B61"/>
                </a:solidFill>
              </a:rPr>
              <a:t>Búsqueda en Ancho</a:t>
            </a:r>
            <a:r>
              <a:rPr lang="es-AR" sz="2600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Recorre todo un nivel antes de bajar al siguiente </a:t>
            </a:r>
            <a:r>
              <a:rPr lang="es-AR" sz="2600">
                <a:solidFill>
                  <a:srgbClr val="FF7B61"/>
                </a:solidFill>
              </a:rPr>
              <a:t>(level-order)</a:t>
            </a:r>
            <a:r>
              <a:rPr lang="es-AR" sz="2600">
                <a:solidFill>
                  <a:schemeClr val="lt1"/>
                </a:solidFill>
              </a:rPr>
              <a:t>.  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Es más natural programarla de manera iterativa.</a:t>
            </a:r>
            <a:endParaRPr/>
          </a:p>
          <a:p>
            <a:pPr indent="-254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s-AR" sz="2600">
                <a:solidFill>
                  <a:schemeClr val="lt1"/>
                </a:solidFill>
              </a:rPr>
              <a:t>Usamos una Queue para respetar el orden.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9abe2462a0_0_257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AR"/>
              <a:t>BFS – BREADTH FIRST SEARCH</a:t>
            </a:r>
            <a:endParaRPr/>
          </a:p>
        </p:txBody>
      </p:sp>
      <p:pic>
        <p:nvPicPr>
          <p:cNvPr id="439" name="Google Shape;439;g39abe2462a0_0_2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5668" y="2505925"/>
            <a:ext cx="9240663" cy="4047300"/>
          </a:xfrm>
          <a:prstGeom prst="rect">
            <a:avLst/>
          </a:prstGeom>
          <a:noFill/>
          <a:ln>
            <a:noFill/>
          </a:ln>
          <a:effectLst>
            <a:outerShdw blurRad="171450" rotWithShape="0" algn="bl">
              <a:srgbClr val="43FFF5">
                <a:alpha val="75000"/>
              </a:srgbClr>
            </a:outerShdw>
          </a:effec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9abe2462a0_0_262"/>
          <p:cNvSpPr/>
          <p:nvPr/>
        </p:nvSpPr>
        <p:spPr>
          <a:xfrm>
            <a:off x="5678024" y="3080971"/>
            <a:ext cx="671400" cy="636900"/>
          </a:xfrm>
          <a:prstGeom prst="ellipse">
            <a:avLst/>
          </a:prstGeom>
          <a:solidFill>
            <a:srgbClr val="00206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5" name="Google Shape;445;g39abe2462a0_0_262"/>
          <p:cNvSpPr/>
          <p:nvPr/>
        </p:nvSpPr>
        <p:spPr>
          <a:xfrm>
            <a:off x="4077469" y="3994055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6" name="Google Shape;446;g39abe2462a0_0_262"/>
          <p:cNvSpPr/>
          <p:nvPr/>
        </p:nvSpPr>
        <p:spPr>
          <a:xfrm>
            <a:off x="4845880" y="4860202"/>
            <a:ext cx="706200" cy="6696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65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7" name="Google Shape;447;g39abe2462a0_0_262"/>
          <p:cNvSpPr/>
          <p:nvPr/>
        </p:nvSpPr>
        <p:spPr>
          <a:xfrm>
            <a:off x="3262367" y="4921079"/>
            <a:ext cx="694500" cy="6696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8" name="Google Shape;448;g39abe2462a0_0_262"/>
          <p:cNvSpPr/>
          <p:nvPr/>
        </p:nvSpPr>
        <p:spPr>
          <a:xfrm>
            <a:off x="7458556" y="3984144"/>
            <a:ext cx="656100" cy="636900"/>
          </a:xfrm>
          <a:prstGeom prst="ellipse">
            <a:avLst/>
          </a:prstGeom>
          <a:solidFill>
            <a:srgbClr val="93C627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39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9" name="Google Shape;449;g39abe2462a0_0_262"/>
          <p:cNvSpPr/>
          <p:nvPr/>
        </p:nvSpPr>
        <p:spPr>
          <a:xfrm>
            <a:off x="6816879" y="4832031"/>
            <a:ext cx="656100" cy="6369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0" name="Google Shape;450;g39abe2462a0_0_262"/>
          <p:cNvSpPr/>
          <p:nvPr/>
        </p:nvSpPr>
        <p:spPr>
          <a:xfrm>
            <a:off x="8322506" y="4831827"/>
            <a:ext cx="656100" cy="660900"/>
          </a:xfrm>
          <a:prstGeom prst="ellipse">
            <a:avLst/>
          </a:prstGeom>
          <a:solidFill>
            <a:srgbClr val="DB8E14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1" name="Google Shape;451;g39abe2462a0_0_262"/>
          <p:cNvSpPr/>
          <p:nvPr/>
        </p:nvSpPr>
        <p:spPr>
          <a:xfrm>
            <a:off x="4191443" y="5790383"/>
            <a:ext cx="682500" cy="6324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9abe2462a0_0_262"/>
          <p:cNvSpPr/>
          <p:nvPr/>
        </p:nvSpPr>
        <p:spPr>
          <a:xfrm>
            <a:off x="6164868" y="5620151"/>
            <a:ext cx="682500" cy="6696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9abe2462a0_0_262"/>
          <p:cNvSpPr/>
          <p:nvPr/>
        </p:nvSpPr>
        <p:spPr>
          <a:xfrm>
            <a:off x="7622644" y="5594006"/>
            <a:ext cx="682500" cy="650400"/>
          </a:xfrm>
          <a:prstGeom prst="ellipse">
            <a:avLst/>
          </a:prstGeom>
          <a:solidFill>
            <a:srgbClr val="C00000"/>
          </a:solidFill>
          <a:ln cap="rnd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4" name="Google Shape;454;g39abe2462a0_0_262"/>
          <p:cNvCxnSpPr/>
          <p:nvPr/>
        </p:nvCxnSpPr>
        <p:spPr>
          <a:xfrm flipH="1">
            <a:off x="4405346" y="3722456"/>
            <a:ext cx="1608300" cy="271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g39abe2462a0_0_262"/>
          <p:cNvCxnSpPr/>
          <p:nvPr/>
        </p:nvCxnSpPr>
        <p:spPr>
          <a:xfrm>
            <a:off x="6013702" y="3727046"/>
            <a:ext cx="1786500" cy="2478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g39abe2462a0_0_262"/>
          <p:cNvCxnSpPr/>
          <p:nvPr/>
        </p:nvCxnSpPr>
        <p:spPr>
          <a:xfrm flipH="1">
            <a:off x="3600392" y="4649312"/>
            <a:ext cx="832500" cy="2625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7" name="Google Shape;457;g39abe2462a0_0_262"/>
          <p:cNvCxnSpPr/>
          <p:nvPr/>
        </p:nvCxnSpPr>
        <p:spPr>
          <a:xfrm>
            <a:off x="4405458" y="4635541"/>
            <a:ext cx="793500" cy="215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8" name="Google Shape;458;g39abe2462a0_0_262"/>
          <p:cNvCxnSpPr/>
          <p:nvPr/>
        </p:nvCxnSpPr>
        <p:spPr>
          <a:xfrm flipH="1">
            <a:off x="4532630" y="5529870"/>
            <a:ext cx="666300" cy="2604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9" name="Google Shape;459;g39abe2462a0_0_262"/>
          <p:cNvCxnSpPr/>
          <p:nvPr/>
        </p:nvCxnSpPr>
        <p:spPr>
          <a:xfrm flipH="1">
            <a:off x="7144822" y="4639401"/>
            <a:ext cx="641700" cy="1926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0" name="Google Shape;460;g39abe2462a0_0_262"/>
          <p:cNvCxnSpPr/>
          <p:nvPr/>
        </p:nvCxnSpPr>
        <p:spPr>
          <a:xfrm>
            <a:off x="7814087" y="4639401"/>
            <a:ext cx="836400" cy="197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1" name="Google Shape;461;g39abe2462a0_0_262"/>
          <p:cNvCxnSpPr/>
          <p:nvPr/>
        </p:nvCxnSpPr>
        <p:spPr>
          <a:xfrm flipH="1">
            <a:off x="6506261" y="5468927"/>
            <a:ext cx="638700" cy="1512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g39abe2462a0_0_262"/>
          <p:cNvCxnSpPr/>
          <p:nvPr/>
        </p:nvCxnSpPr>
        <p:spPr>
          <a:xfrm>
            <a:off x="7144868" y="5468927"/>
            <a:ext cx="819000" cy="125100"/>
          </a:xfrm>
          <a:prstGeom prst="straightConnector1">
            <a:avLst/>
          </a:prstGeom>
          <a:noFill/>
          <a:ln cap="rnd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3" name="Google Shape;463;g39abe2462a0_0_262"/>
          <p:cNvSpPr txBox="1"/>
          <p:nvPr/>
        </p:nvSpPr>
        <p:spPr>
          <a:xfrm>
            <a:off x="4513758" y="2525538"/>
            <a:ext cx="316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Orden del recorrido</a:t>
            </a:r>
            <a:endParaRPr b="1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4" name="Google Shape;464;g39abe2462a0_0_262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s-AR"/>
              <a:t>BFS – BREADTH FIRST SEARCH</a:t>
            </a:r>
            <a:endParaRPr/>
          </a:p>
        </p:txBody>
      </p:sp>
      <p:sp>
        <p:nvSpPr>
          <p:cNvPr id="465" name="Google Shape;465;g39abe2462a0_0_262"/>
          <p:cNvSpPr/>
          <p:nvPr/>
        </p:nvSpPr>
        <p:spPr>
          <a:xfrm>
            <a:off x="5111434" y="3274778"/>
            <a:ext cx="4380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6" name="Google Shape;466;g39abe2462a0_0_262"/>
          <p:cNvSpPr/>
          <p:nvPr/>
        </p:nvSpPr>
        <p:spPr>
          <a:xfrm>
            <a:off x="3567380" y="4182159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7" name="Google Shape;467;g39abe2462a0_0_262"/>
          <p:cNvSpPr/>
          <p:nvPr/>
        </p:nvSpPr>
        <p:spPr>
          <a:xfrm>
            <a:off x="2659999" y="5129646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8" name="Google Shape;468;g39abe2462a0_0_262"/>
          <p:cNvSpPr/>
          <p:nvPr/>
        </p:nvSpPr>
        <p:spPr>
          <a:xfrm>
            <a:off x="4319354" y="5129646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endParaRPr/>
          </a:p>
        </p:txBody>
      </p:sp>
      <p:sp>
        <p:nvSpPr>
          <p:cNvPr id="469" name="Google Shape;469;g39abe2462a0_0_262"/>
          <p:cNvSpPr/>
          <p:nvPr/>
        </p:nvSpPr>
        <p:spPr>
          <a:xfrm>
            <a:off x="3692709" y="5981883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0" name="Google Shape;470;g39abe2462a0_0_262"/>
          <p:cNvSpPr/>
          <p:nvPr/>
        </p:nvSpPr>
        <p:spPr>
          <a:xfrm>
            <a:off x="6946248" y="4187172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1" name="Google Shape;471;g39abe2462a0_0_262"/>
          <p:cNvSpPr/>
          <p:nvPr/>
        </p:nvSpPr>
        <p:spPr>
          <a:xfrm>
            <a:off x="6309578" y="5029383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2" name="Google Shape;472;g39abe2462a0_0_262"/>
          <p:cNvSpPr/>
          <p:nvPr/>
        </p:nvSpPr>
        <p:spPr>
          <a:xfrm>
            <a:off x="5677920" y="5831488"/>
            <a:ext cx="3879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3" name="Google Shape;473;g39abe2462a0_0_262"/>
          <p:cNvSpPr/>
          <p:nvPr/>
        </p:nvSpPr>
        <p:spPr>
          <a:xfrm>
            <a:off x="7076591" y="5821463"/>
            <a:ext cx="483300" cy="2721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4" name="Google Shape;474;g39abe2462a0_0_262"/>
          <p:cNvSpPr/>
          <p:nvPr/>
        </p:nvSpPr>
        <p:spPr>
          <a:xfrm>
            <a:off x="7703236" y="5034396"/>
            <a:ext cx="503100" cy="246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endParaRPr b="1" i="0" sz="18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A0978C92AED346A5B2D7523A4F38C1" ma:contentTypeVersion="11" ma:contentTypeDescription="Crear nuevo documento." ma:contentTypeScope="" ma:versionID="e1f9e90f4557171a8690e61cd13d75f5">
  <xsd:schema xmlns:xsd="http://www.w3.org/2001/XMLSchema" xmlns:xs="http://www.w3.org/2001/XMLSchema" xmlns:p="http://schemas.microsoft.com/office/2006/metadata/properties" xmlns:ns2="6817ed02-5f63-452f-a9ab-4e2e87cdde74" xmlns:ns3="d9712c82-8ca0-418e-ada4-f7c700f483f3" targetNamespace="http://schemas.microsoft.com/office/2006/metadata/properties" ma:root="true" ma:fieldsID="da184b6965735bd1582e090c89003b5a" ns2:_="" ns3:_="">
    <xsd:import namespace="6817ed02-5f63-452f-a9ab-4e2e87cdde74"/>
    <xsd:import namespace="d9712c82-8ca0-418e-ada4-f7c700f483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7ed02-5f63-452f-a9ab-4e2e87cdde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712c82-8ca0-418e-ada4-f7c700f483f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faab1de-4294-47d5-a1a3-1b1d16ca90d5}" ma:internalName="TaxCatchAll" ma:showField="CatchAllData" ma:web="d9712c82-8ca0-418e-ada4-f7c700f483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17ed02-5f63-452f-a9ab-4e2e87cdde74">
      <Terms xmlns="http://schemas.microsoft.com/office/infopath/2007/PartnerControls"/>
    </lcf76f155ced4ddcb4097134ff3c332f>
    <TaxCatchAll xmlns="d9712c82-8ca0-418e-ada4-f7c700f483f3" xsi:nil="true"/>
  </documentManagement>
</p:properties>
</file>

<file path=customXml/itemProps1.xml><?xml version="1.0" encoding="utf-8"?>
<ds:datastoreItem xmlns:ds="http://schemas.openxmlformats.org/officeDocument/2006/customXml" ds:itemID="{366EACFC-FCA8-4924-937F-AFC631960EA6}"/>
</file>

<file path=customXml/itemProps2.xml><?xml version="1.0" encoding="utf-8"?>
<ds:datastoreItem xmlns:ds="http://schemas.openxmlformats.org/officeDocument/2006/customXml" ds:itemID="{F6F18B87-42CC-44E7-B8E7-4B3F73E2737A}"/>
</file>

<file path=customXml/itemProps3.xml><?xml version="1.0" encoding="utf-8"?>
<ds:datastoreItem xmlns:ds="http://schemas.openxmlformats.org/officeDocument/2006/customXml" ds:itemID="{15F73E54-B288-4593-9BBD-ECBBD2416214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Federico Pardo</dc:creator>
  <dcterms:created xsi:type="dcterms:W3CDTF">2018-04-10T17:58:03Z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0x010100B0A0978C92AED346A5B2D7523A4F38C1</vt:lpwstr>
  </property>
</Properties>
</file>