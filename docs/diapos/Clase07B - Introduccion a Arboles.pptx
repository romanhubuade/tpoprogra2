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TxBtANwUjwTsedA7z03xRAdXE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2.xml"/><Relationship Id="rId21" Type="http://schemas.openxmlformats.org/officeDocument/2006/relationships/font" Target="fonts/CenturyGothic-bold.fntdata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1.xml"/><Relationship Id="rId20" Type="http://schemas.openxmlformats.org/officeDocument/2006/relationships/font" Target="fonts/CenturyGothic-regular.fntdata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customschemas.google.com/relationships/presentationmetadata" Target="meta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23" Type="http://schemas.openxmlformats.org/officeDocument/2006/relationships/font" Target="fonts/CenturyGothic-boldItalic.fntdata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font" Target="fonts/CenturyGothic-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0fca912b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e0fca912b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0fca912b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e0fca912b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fca912b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e0fca912b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0fca912b4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e0fca912b4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0fca912b4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e0fca912b4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0fca912b4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e0fca912b4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0fca912b4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e0fca912b4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0fca912b4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3e0fca912b4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0fca912b4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e0fca912b4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0fca912b4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e0fca912b4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0fca912b4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e0fca912b4_0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0fca912b4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g3e0fca912b4_0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0fca912b4_0_2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e0fca912b4_0_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Introducción a Árboles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0fca912b4_0_0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TREE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0fca912b4_0_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TDA TREE - DESCRIPCIÓN</a:t>
            </a:r>
            <a:endParaRPr/>
          </a:p>
        </p:txBody>
      </p:sp>
      <p:sp>
        <p:nvSpPr>
          <p:cNvPr id="132" name="Google Shape;132;g3e0fca912b4_0_4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Un </a:t>
            </a:r>
            <a:r>
              <a:rPr b="1" lang="es-AR" sz="2600">
                <a:solidFill>
                  <a:srgbClr val="FF7B61"/>
                </a:solidFill>
              </a:rPr>
              <a:t>Tree</a:t>
            </a:r>
            <a:r>
              <a:rPr lang="es-AR" sz="2600"/>
              <a:t> (árbol) es una </a:t>
            </a:r>
            <a:r>
              <a:rPr lang="es-AR" sz="2600">
                <a:solidFill>
                  <a:srgbClr val="FF7B61"/>
                </a:solidFill>
              </a:rPr>
              <a:t>colección de nodos con estructura jerárquica</a:t>
            </a:r>
            <a:r>
              <a:rPr lang="es-AR" sz="2600"/>
              <a:t>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Esto significa que los nodos tienen una </a:t>
            </a:r>
            <a:r>
              <a:rPr lang="es-AR" sz="2600">
                <a:solidFill>
                  <a:srgbClr val="FF7B61"/>
                </a:solidFill>
              </a:rPr>
              <a:t>relación padre-hijo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chemeClr val="lt1"/>
                </a:solidFill>
              </a:rPr>
              <a:t>Cada nodo puede tener un solo padre, y cero o más hijos.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0fca912b4_0_9"/>
          <p:cNvSpPr/>
          <p:nvPr/>
        </p:nvSpPr>
        <p:spPr>
          <a:xfrm>
            <a:off x="8347269" y="3150806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g3e0fca912b4_0_9"/>
          <p:cNvSpPr/>
          <p:nvPr/>
        </p:nvSpPr>
        <p:spPr>
          <a:xfrm>
            <a:off x="9966991" y="3874429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g3e0fca912b4_0_9"/>
          <p:cNvSpPr/>
          <p:nvPr/>
        </p:nvSpPr>
        <p:spPr>
          <a:xfrm>
            <a:off x="6902403" y="3854242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3e0fca912b4_0_9"/>
          <p:cNvSpPr/>
          <p:nvPr/>
        </p:nvSpPr>
        <p:spPr>
          <a:xfrm>
            <a:off x="7507029" y="4553101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3e0fca912b4_0_9"/>
          <p:cNvSpPr/>
          <p:nvPr/>
        </p:nvSpPr>
        <p:spPr>
          <a:xfrm>
            <a:off x="6321154" y="4562510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3e0fca912b4_0_9"/>
          <p:cNvSpPr/>
          <p:nvPr/>
        </p:nvSpPr>
        <p:spPr>
          <a:xfrm>
            <a:off x="8347269" y="3914054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g3e0fca912b4_0_9"/>
          <p:cNvSpPr/>
          <p:nvPr/>
        </p:nvSpPr>
        <p:spPr>
          <a:xfrm>
            <a:off x="9005339" y="4611142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3e0fca912b4_0_9"/>
          <p:cNvSpPr/>
          <p:nvPr/>
        </p:nvSpPr>
        <p:spPr>
          <a:xfrm>
            <a:off x="9966991" y="4591388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3e0fca912b4_0_9"/>
          <p:cNvSpPr/>
          <p:nvPr/>
        </p:nvSpPr>
        <p:spPr>
          <a:xfrm>
            <a:off x="10872894" y="4562338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3e0fca912b4_0_9"/>
          <p:cNvSpPr/>
          <p:nvPr/>
        </p:nvSpPr>
        <p:spPr>
          <a:xfrm>
            <a:off x="6678772" y="5377244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e0fca912b4_0_9"/>
          <p:cNvSpPr/>
          <p:nvPr/>
        </p:nvSpPr>
        <p:spPr>
          <a:xfrm>
            <a:off x="7507029" y="5366345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e0fca912b4_0_9"/>
          <p:cNvSpPr/>
          <p:nvPr/>
        </p:nvSpPr>
        <p:spPr>
          <a:xfrm>
            <a:off x="8274033" y="5347855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e0fca912b4_0_9"/>
          <p:cNvSpPr/>
          <p:nvPr/>
        </p:nvSpPr>
        <p:spPr>
          <a:xfrm>
            <a:off x="9010528" y="5347855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e0fca912b4_0_9"/>
          <p:cNvSpPr/>
          <p:nvPr/>
        </p:nvSpPr>
        <p:spPr>
          <a:xfrm>
            <a:off x="10473141" y="5311290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e0fca912b4_0_9"/>
          <p:cNvSpPr/>
          <p:nvPr/>
        </p:nvSpPr>
        <p:spPr>
          <a:xfrm>
            <a:off x="11332044" y="5322351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e0fca912b4_0_9"/>
          <p:cNvSpPr/>
          <p:nvPr/>
        </p:nvSpPr>
        <p:spPr>
          <a:xfrm>
            <a:off x="8628754" y="6077840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e0fca912b4_0_9"/>
          <p:cNvSpPr/>
          <p:nvPr/>
        </p:nvSpPr>
        <p:spPr>
          <a:xfrm>
            <a:off x="9463621" y="6084568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e0fca912b4_0_9"/>
          <p:cNvSpPr/>
          <p:nvPr/>
        </p:nvSpPr>
        <p:spPr>
          <a:xfrm>
            <a:off x="2446432" y="4091293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3e0fca912b4_0_9"/>
          <p:cNvSpPr/>
          <p:nvPr/>
        </p:nvSpPr>
        <p:spPr>
          <a:xfrm>
            <a:off x="3575087" y="3626720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3e0fca912b4_0_9"/>
          <p:cNvSpPr/>
          <p:nvPr/>
        </p:nvSpPr>
        <p:spPr>
          <a:xfrm>
            <a:off x="1300916" y="4645200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3e0fca912b4_0_9"/>
          <p:cNvSpPr/>
          <p:nvPr/>
        </p:nvSpPr>
        <p:spPr>
          <a:xfrm>
            <a:off x="1616796" y="5217328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3e0fca912b4_0_9"/>
          <p:cNvSpPr/>
          <p:nvPr/>
        </p:nvSpPr>
        <p:spPr>
          <a:xfrm>
            <a:off x="722031" y="4454390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3e0fca912b4_0_9"/>
          <p:cNvSpPr/>
          <p:nvPr/>
        </p:nvSpPr>
        <p:spPr>
          <a:xfrm>
            <a:off x="1509531" y="3434524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g3e0fca912b4_0_9"/>
          <p:cNvSpPr/>
          <p:nvPr/>
        </p:nvSpPr>
        <p:spPr>
          <a:xfrm>
            <a:off x="3062469" y="4453624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1" name="Google Shape;161;g3e0fca912b4_0_9"/>
          <p:cNvSpPr/>
          <p:nvPr/>
        </p:nvSpPr>
        <p:spPr>
          <a:xfrm>
            <a:off x="2296376" y="4645533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3e0fca912b4_0_9"/>
          <p:cNvSpPr/>
          <p:nvPr/>
        </p:nvSpPr>
        <p:spPr>
          <a:xfrm>
            <a:off x="2937778" y="3677841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3e0fca912b4_0_9"/>
          <p:cNvSpPr/>
          <p:nvPr/>
        </p:nvSpPr>
        <p:spPr>
          <a:xfrm>
            <a:off x="946921" y="5184759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e0fca912b4_0_9"/>
          <p:cNvSpPr/>
          <p:nvPr/>
        </p:nvSpPr>
        <p:spPr>
          <a:xfrm>
            <a:off x="1759649" y="4215170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0fca912b4_0_9"/>
          <p:cNvSpPr/>
          <p:nvPr/>
        </p:nvSpPr>
        <p:spPr>
          <a:xfrm>
            <a:off x="2261634" y="5233062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0fca912b4_0_9"/>
          <p:cNvSpPr/>
          <p:nvPr/>
        </p:nvSpPr>
        <p:spPr>
          <a:xfrm>
            <a:off x="2840519" y="5046538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0fca912b4_0_9"/>
          <p:cNvSpPr/>
          <p:nvPr/>
        </p:nvSpPr>
        <p:spPr>
          <a:xfrm>
            <a:off x="3678506" y="4215170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0fca912b4_0_9"/>
          <p:cNvSpPr/>
          <p:nvPr/>
        </p:nvSpPr>
        <p:spPr>
          <a:xfrm>
            <a:off x="3515383" y="4909893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0fca912b4_0_9"/>
          <p:cNvSpPr/>
          <p:nvPr/>
        </p:nvSpPr>
        <p:spPr>
          <a:xfrm>
            <a:off x="2250998" y="346705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e0fca912b4_0_9"/>
          <p:cNvSpPr/>
          <p:nvPr/>
        </p:nvSpPr>
        <p:spPr>
          <a:xfrm>
            <a:off x="1139167" y="3974083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0fca912b4_0_9"/>
          <p:cNvSpPr txBox="1"/>
          <p:nvPr/>
        </p:nvSpPr>
        <p:spPr>
          <a:xfrm>
            <a:off x="588041" y="2635009"/>
            <a:ext cx="429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Conjunto de elementos </a:t>
            </a:r>
            <a:r>
              <a:rPr b="1" i="0" lang="es-AR" sz="18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 jerarquía</a:t>
            </a:r>
            <a:endParaRPr b="1" i="0" sz="1800" u="none" cap="none" strike="noStrike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g3e0fca912b4_0_9"/>
          <p:cNvSpPr/>
          <p:nvPr/>
        </p:nvSpPr>
        <p:spPr>
          <a:xfrm>
            <a:off x="4609695" y="4221475"/>
            <a:ext cx="1484100" cy="90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rnd" cmpd="sng" w="15875">
            <a:solidFill>
              <a:srgbClr val="AC3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Jerarquía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3" name="Google Shape;173;g3e0fca912b4_0_9"/>
          <p:cNvCxnSpPr/>
          <p:nvPr/>
        </p:nvCxnSpPr>
        <p:spPr>
          <a:xfrm flipH="1">
            <a:off x="7179626" y="3690365"/>
            <a:ext cx="1444800" cy="163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g3e0fca912b4_0_9"/>
          <p:cNvCxnSpPr/>
          <p:nvPr/>
        </p:nvCxnSpPr>
        <p:spPr>
          <a:xfrm>
            <a:off x="8624360" y="3690365"/>
            <a:ext cx="0" cy="223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g3e0fca912b4_0_9"/>
          <p:cNvCxnSpPr/>
          <p:nvPr/>
        </p:nvCxnSpPr>
        <p:spPr>
          <a:xfrm>
            <a:off x="8624360" y="3690365"/>
            <a:ext cx="1619700" cy="184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g3e0fca912b4_0_9"/>
          <p:cNvCxnSpPr/>
          <p:nvPr/>
        </p:nvCxnSpPr>
        <p:spPr>
          <a:xfrm flipH="1">
            <a:off x="6598543" y="4393801"/>
            <a:ext cx="5811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g3e0fca912b4_0_9"/>
          <p:cNvCxnSpPr/>
          <p:nvPr/>
        </p:nvCxnSpPr>
        <p:spPr>
          <a:xfrm>
            <a:off x="7179494" y="4393801"/>
            <a:ext cx="6045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g3e0fca912b4_0_9"/>
          <p:cNvCxnSpPr/>
          <p:nvPr/>
        </p:nvCxnSpPr>
        <p:spPr>
          <a:xfrm flipH="1">
            <a:off x="6955777" y="5092660"/>
            <a:ext cx="828300" cy="2847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g3e0fca912b4_0_9"/>
          <p:cNvCxnSpPr/>
          <p:nvPr/>
        </p:nvCxnSpPr>
        <p:spPr>
          <a:xfrm>
            <a:off x="7784120" y="5092660"/>
            <a:ext cx="0" cy="27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g3e0fca912b4_0_9"/>
          <p:cNvCxnSpPr/>
          <p:nvPr/>
        </p:nvCxnSpPr>
        <p:spPr>
          <a:xfrm>
            <a:off x="7784120" y="5092660"/>
            <a:ext cx="767100" cy="255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g3e0fca912b4_0_9"/>
          <p:cNvCxnSpPr/>
          <p:nvPr/>
        </p:nvCxnSpPr>
        <p:spPr>
          <a:xfrm flipH="1">
            <a:off x="9282134" y="4413988"/>
            <a:ext cx="9618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g3e0fca912b4_0_9"/>
          <p:cNvCxnSpPr/>
          <p:nvPr/>
        </p:nvCxnSpPr>
        <p:spPr>
          <a:xfrm>
            <a:off x="10244082" y="4413988"/>
            <a:ext cx="0" cy="177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g3e0fca912b4_0_9"/>
          <p:cNvCxnSpPr/>
          <p:nvPr/>
        </p:nvCxnSpPr>
        <p:spPr>
          <a:xfrm>
            <a:off x="10244082" y="4413988"/>
            <a:ext cx="906000" cy="148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g3e0fca912b4_0_9"/>
          <p:cNvCxnSpPr/>
          <p:nvPr/>
        </p:nvCxnSpPr>
        <p:spPr>
          <a:xfrm>
            <a:off x="9282430" y="5150701"/>
            <a:ext cx="51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g3e0fca912b4_0_9"/>
          <p:cNvCxnSpPr/>
          <p:nvPr/>
        </p:nvCxnSpPr>
        <p:spPr>
          <a:xfrm flipH="1">
            <a:off x="8905593" y="5887414"/>
            <a:ext cx="381900" cy="19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g3e0fca912b4_0_9"/>
          <p:cNvCxnSpPr/>
          <p:nvPr/>
        </p:nvCxnSpPr>
        <p:spPr>
          <a:xfrm>
            <a:off x="9287619" y="5887414"/>
            <a:ext cx="4530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g3e0fca912b4_0_9"/>
          <p:cNvCxnSpPr/>
          <p:nvPr/>
        </p:nvCxnSpPr>
        <p:spPr>
          <a:xfrm flipH="1">
            <a:off x="10749938" y="5101897"/>
            <a:ext cx="399900" cy="209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g3e0fca912b4_0_9"/>
          <p:cNvCxnSpPr/>
          <p:nvPr/>
        </p:nvCxnSpPr>
        <p:spPr>
          <a:xfrm>
            <a:off x="11149985" y="5101897"/>
            <a:ext cx="459300" cy="22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g3e0fca912b4_0_9"/>
          <p:cNvSpPr txBox="1"/>
          <p:nvPr/>
        </p:nvSpPr>
        <p:spPr>
          <a:xfrm>
            <a:off x="5960615" y="2631677"/>
            <a:ext cx="56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Conjunto de elementos con </a:t>
            </a:r>
            <a:r>
              <a:rPr b="1" i="0" lang="es-AR" sz="18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jerarquía padre-hijo</a:t>
            </a:r>
            <a:endParaRPr b="1" i="0" sz="1800" u="none" cap="none" strike="noStrike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g3e0fca912b4_0_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0fca912b4_0_6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  <p:sp>
        <p:nvSpPr>
          <p:cNvPr id="196" name="Google Shape;196;g3e0fca912b4_0_66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Todo Árbol comienza con un </a:t>
            </a:r>
            <a:r>
              <a:rPr lang="es-AR" sz="2600">
                <a:solidFill>
                  <a:srgbClr val="FF7B61"/>
                </a:solidFill>
              </a:rPr>
              <a:t>nodo raíz </a:t>
            </a:r>
            <a:r>
              <a:rPr i="1" lang="es-AR" sz="2600">
                <a:solidFill>
                  <a:srgbClr val="FF7B61"/>
                </a:solidFill>
              </a:rPr>
              <a:t>(root)</a:t>
            </a:r>
            <a:r>
              <a:rPr lang="es-AR" sz="2600">
                <a:solidFill>
                  <a:schemeClr val="lt1"/>
                </a:solidFill>
              </a:rPr>
              <a:t> que no tiene padre.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Llamamos </a:t>
            </a:r>
            <a:r>
              <a:rPr lang="es-AR" sz="2600">
                <a:solidFill>
                  <a:srgbClr val="FF7B61"/>
                </a:solidFill>
              </a:rPr>
              <a:t>hojas </a:t>
            </a:r>
            <a:r>
              <a:rPr i="1" lang="es-AR" sz="2600">
                <a:solidFill>
                  <a:srgbClr val="FF7B61"/>
                </a:solidFill>
              </a:rPr>
              <a:t>(leaves)</a:t>
            </a:r>
            <a:r>
              <a:rPr lang="es-AR" sz="2600">
                <a:solidFill>
                  <a:schemeClr val="lt1"/>
                </a:solidFill>
              </a:rPr>
              <a:t> a los nodos que no tienen hijos.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Llamamos </a:t>
            </a:r>
            <a:r>
              <a:rPr lang="es-AR" sz="2600">
                <a:solidFill>
                  <a:srgbClr val="FF7B61"/>
                </a:solidFill>
              </a:rPr>
              <a:t>nodos internos</a:t>
            </a:r>
            <a:r>
              <a:rPr lang="es-AR" sz="2600">
                <a:solidFill>
                  <a:schemeClr val="lt1"/>
                </a:solidFill>
              </a:rPr>
              <a:t> a los que tienen padre e hijos.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0fca912b4_0_71"/>
          <p:cNvSpPr txBox="1"/>
          <p:nvPr/>
        </p:nvSpPr>
        <p:spPr>
          <a:xfrm>
            <a:off x="2414049" y="5940492"/>
            <a:ext cx="8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Hojas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2" name="Google Shape;202;g3e0fca912b4_0_71"/>
          <p:cNvCxnSpPr/>
          <p:nvPr/>
        </p:nvCxnSpPr>
        <p:spPr>
          <a:xfrm flipH="1" rot="10800000">
            <a:off x="3254585" y="4933278"/>
            <a:ext cx="528000" cy="11964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g3e0fca912b4_0_71"/>
          <p:cNvCxnSpPr/>
          <p:nvPr/>
        </p:nvCxnSpPr>
        <p:spPr>
          <a:xfrm flipH="1" rot="10800000">
            <a:off x="3254586" y="5651605"/>
            <a:ext cx="862500" cy="4965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g3e0fca912b4_0_71"/>
          <p:cNvCxnSpPr/>
          <p:nvPr/>
        </p:nvCxnSpPr>
        <p:spPr>
          <a:xfrm flipH="1" rot="10800000">
            <a:off x="3245407" y="5764714"/>
            <a:ext cx="1768800" cy="3789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g3e0fca912b4_0_71"/>
          <p:cNvCxnSpPr/>
          <p:nvPr/>
        </p:nvCxnSpPr>
        <p:spPr>
          <a:xfrm flipH="1" rot="10800000">
            <a:off x="3245405" y="6147552"/>
            <a:ext cx="2722200" cy="96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" name="Google Shape;206;g3e0fca912b4_0_71"/>
          <p:cNvSpPr txBox="1"/>
          <p:nvPr/>
        </p:nvSpPr>
        <p:spPr>
          <a:xfrm>
            <a:off x="8478937" y="3162968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Nodos Internos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7" name="Google Shape;207;g3e0fca912b4_0_71"/>
          <p:cNvCxnSpPr/>
          <p:nvPr/>
        </p:nvCxnSpPr>
        <p:spPr>
          <a:xfrm flipH="1">
            <a:off x="7858771" y="3545305"/>
            <a:ext cx="1450500" cy="3642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g3e0fca912b4_0_71"/>
          <p:cNvCxnSpPr/>
          <p:nvPr/>
        </p:nvCxnSpPr>
        <p:spPr>
          <a:xfrm flipH="1">
            <a:off x="8740081" y="3545305"/>
            <a:ext cx="564600" cy="8325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g3e0fca912b4_0_71"/>
          <p:cNvSpPr/>
          <p:nvPr/>
        </p:nvSpPr>
        <p:spPr>
          <a:xfrm>
            <a:off x="5678024" y="2768827"/>
            <a:ext cx="554100" cy="5397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3e0fca912b4_0_71"/>
          <p:cNvSpPr/>
          <p:nvPr/>
        </p:nvSpPr>
        <p:spPr>
          <a:xfrm>
            <a:off x="7305843" y="3692811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3e0fca912b4_0_71"/>
          <p:cNvSpPr/>
          <p:nvPr/>
        </p:nvSpPr>
        <p:spPr>
          <a:xfrm>
            <a:off x="4241255" y="3672624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3e0fca912b4_0_71"/>
          <p:cNvSpPr/>
          <p:nvPr/>
        </p:nvSpPr>
        <p:spPr>
          <a:xfrm>
            <a:off x="4845881" y="4371483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g3e0fca912b4_0_71"/>
          <p:cNvSpPr/>
          <p:nvPr/>
        </p:nvSpPr>
        <p:spPr>
          <a:xfrm>
            <a:off x="3660006" y="4380892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3e0fca912b4_0_71"/>
          <p:cNvSpPr/>
          <p:nvPr/>
        </p:nvSpPr>
        <p:spPr>
          <a:xfrm>
            <a:off x="5686121" y="3732436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3e0fca912b4_0_71"/>
          <p:cNvSpPr/>
          <p:nvPr/>
        </p:nvSpPr>
        <p:spPr>
          <a:xfrm>
            <a:off x="6344191" y="4429524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3e0fca912b4_0_71"/>
          <p:cNvSpPr/>
          <p:nvPr/>
        </p:nvSpPr>
        <p:spPr>
          <a:xfrm>
            <a:off x="7305843" y="4409770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3e0fca912b4_0_71"/>
          <p:cNvSpPr/>
          <p:nvPr/>
        </p:nvSpPr>
        <p:spPr>
          <a:xfrm>
            <a:off x="8211746" y="4380720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3e0fca912b4_0_71"/>
          <p:cNvSpPr/>
          <p:nvPr/>
        </p:nvSpPr>
        <p:spPr>
          <a:xfrm>
            <a:off x="4017624" y="5195626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e0fca912b4_0_71"/>
          <p:cNvSpPr/>
          <p:nvPr/>
        </p:nvSpPr>
        <p:spPr>
          <a:xfrm>
            <a:off x="4845881" y="518472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0fca912b4_0_71"/>
          <p:cNvSpPr/>
          <p:nvPr/>
        </p:nvSpPr>
        <p:spPr>
          <a:xfrm>
            <a:off x="5612885" y="516623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e0fca912b4_0_71"/>
          <p:cNvSpPr/>
          <p:nvPr/>
        </p:nvSpPr>
        <p:spPr>
          <a:xfrm>
            <a:off x="6349380" y="516623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e0fca912b4_0_71"/>
          <p:cNvSpPr/>
          <p:nvPr/>
        </p:nvSpPr>
        <p:spPr>
          <a:xfrm>
            <a:off x="7811993" y="5129672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e0fca912b4_0_71"/>
          <p:cNvSpPr/>
          <p:nvPr/>
        </p:nvSpPr>
        <p:spPr>
          <a:xfrm>
            <a:off x="8670896" y="5140733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e0fca912b4_0_71"/>
          <p:cNvSpPr/>
          <p:nvPr/>
        </p:nvSpPr>
        <p:spPr>
          <a:xfrm>
            <a:off x="5967606" y="5896222"/>
            <a:ext cx="554100" cy="539700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e0fca912b4_0_71"/>
          <p:cNvSpPr/>
          <p:nvPr/>
        </p:nvSpPr>
        <p:spPr>
          <a:xfrm>
            <a:off x="6802473" y="5902950"/>
            <a:ext cx="554100" cy="539700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g3e0fca912b4_0_71"/>
          <p:cNvCxnSpPr/>
          <p:nvPr/>
        </p:nvCxnSpPr>
        <p:spPr>
          <a:xfrm flipH="1">
            <a:off x="4518274" y="3322157"/>
            <a:ext cx="1441500" cy="355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g3e0fca912b4_0_71"/>
          <p:cNvCxnSpPr/>
          <p:nvPr/>
        </p:nvCxnSpPr>
        <p:spPr>
          <a:xfrm flipH="1">
            <a:off x="5963095" y="3308386"/>
            <a:ext cx="1200" cy="41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g3e0fca912b4_0_71"/>
          <p:cNvCxnSpPr/>
          <p:nvPr/>
        </p:nvCxnSpPr>
        <p:spPr>
          <a:xfrm>
            <a:off x="5987247" y="3331337"/>
            <a:ext cx="1591200" cy="352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g3e0fca912b4_0_71"/>
          <p:cNvCxnSpPr/>
          <p:nvPr/>
        </p:nvCxnSpPr>
        <p:spPr>
          <a:xfrm flipH="1">
            <a:off x="3937395" y="4212183"/>
            <a:ext cx="5811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g3e0fca912b4_0_71"/>
          <p:cNvCxnSpPr/>
          <p:nvPr/>
        </p:nvCxnSpPr>
        <p:spPr>
          <a:xfrm>
            <a:off x="4518346" y="4212183"/>
            <a:ext cx="6045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g3e0fca912b4_0_71"/>
          <p:cNvCxnSpPr/>
          <p:nvPr/>
        </p:nvCxnSpPr>
        <p:spPr>
          <a:xfrm flipH="1">
            <a:off x="4294629" y="4911042"/>
            <a:ext cx="828300" cy="2847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g3e0fca912b4_0_71"/>
          <p:cNvCxnSpPr/>
          <p:nvPr/>
        </p:nvCxnSpPr>
        <p:spPr>
          <a:xfrm>
            <a:off x="5122972" y="4911042"/>
            <a:ext cx="0" cy="27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g3e0fca912b4_0_71"/>
          <p:cNvCxnSpPr/>
          <p:nvPr/>
        </p:nvCxnSpPr>
        <p:spPr>
          <a:xfrm>
            <a:off x="5122972" y="4911042"/>
            <a:ext cx="767100" cy="255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g3e0fca912b4_0_71"/>
          <p:cNvCxnSpPr/>
          <p:nvPr/>
        </p:nvCxnSpPr>
        <p:spPr>
          <a:xfrm flipH="1">
            <a:off x="6620986" y="4232370"/>
            <a:ext cx="9618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g3e0fca912b4_0_71"/>
          <p:cNvCxnSpPr/>
          <p:nvPr/>
        </p:nvCxnSpPr>
        <p:spPr>
          <a:xfrm>
            <a:off x="7582934" y="4232370"/>
            <a:ext cx="0" cy="177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g3e0fca912b4_0_71"/>
          <p:cNvCxnSpPr/>
          <p:nvPr/>
        </p:nvCxnSpPr>
        <p:spPr>
          <a:xfrm>
            <a:off x="7582934" y="4232370"/>
            <a:ext cx="906000" cy="148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g3e0fca912b4_0_71"/>
          <p:cNvCxnSpPr/>
          <p:nvPr/>
        </p:nvCxnSpPr>
        <p:spPr>
          <a:xfrm>
            <a:off x="6621282" y="4969083"/>
            <a:ext cx="51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g3e0fca912b4_0_71"/>
          <p:cNvCxnSpPr/>
          <p:nvPr/>
        </p:nvCxnSpPr>
        <p:spPr>
          <a:xfrm flipH="1">
            <a:off x="6244445" y="5705796"/>
            <a:ext cx="381900" cy="19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g3e0fca912b4_0_71"/>
          <p:cNvCxnSpPr/>
          <p:nvPr/>
        </p:nvCxnSpPr>
        <p:spPr>
          <a:xfrm>
            <a:off x="6626471" y="5705796"/>
            <a:ext cx="4530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g3e0fca912b4_0_71"/>
          <p:cNvCxnSpPr/>
          <p:nvPr/>
        </p:nvCxnSpPr>
        <p:spPr>
          <a:xfrm flipH="1">
            <a:off x="8088790" y="4920279"/>
            <a:ext cx="399900" cy="209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g3e0fca912b4_0_71"/>
          <p:cNvCxnSpPr/>
          <p:nvPr/>
        </p:nvCxnSpPr>
        <p:spPr>
          <a:xfrm>
            <a:off x="8488837" y="4920279"/>
            <a:ext cx="459300" cy="22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g3e0fca912b4_0_71"/>
          <p:cNvSpPr txBox="1"/>
          <p:nvPr/>
        </p:nvSpPr>
        <p:spPr>
          <a:xfrm>
            <a:off x="5634840" y="2365912"/>
            <a:ext cx="80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Raíz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" name="Google Shape;243;g3e0fca912b4_0_7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0fca912b4_0_11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  <p:sp>
        <p:nvSpPr>
          <p:cNvPr id="249" name="Google Shape;249;g3e0fca912b4_0_117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Arista: </a:t>
            </a:r>
            <a:r>
              <a:rPr lang="es-AR" sz="2600">
                <a:solidFill>
                  <a:schemeClr val="lt1"/>
                </a:solidFill>
              </a:rPr>
              <a:t>cada conexión entre dos nodos.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Dirección:</a:t>
            </a:r>
            <a:r>
              <a:rPr lang="es-AR" sz="2600">
                <a:solidFill>
                  <a:schemeClr val="lt1"/>
                </a:solidFill>
              </a:rPr>
              <a:t> "arriba" es hacia el root, "abajo" es lejos del root.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Profundidad:</a:t>
            </a:r>
            <a:r>
              <a:rPr lang="es-AR" sz="2600">
                <a:solidFill>
                  <a:schemeClr val="lt1"/>
                </a:solidFill>
              </a:rPr>
              <a:t> cuántas aristas hay desde el root hacia un nodo.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Altura:</a:t>
            </a:r>
            <a:r>
              <a:rPr lang="es-AR" sz="2600">
                <a:solidFill>
                  <a:schemeClr val="lt1"/>
                </a:solidFill>
              </a:rPr>
              <a:t> cuántas aristas hay desde un nodo hasta su hoja más lejana.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Nivel:</a:t>
            </a:r>
            <a:r>
              <a:rPr lang="es-AR" sz="2600">
                <a:solidFill>
                  <a:schemeClr val="lt1"/>
                </a:solidFill>
              </a:rPr>
              <a:t> lo mismo que profundidad, por convención empieza en 1.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0fca912b4_0_122"/>
          <p:cNvSpPr/>
          <p:nvPr/>
        </p:nvSpPr>
        <p:spPr>
          <a:xfrm>
            <a:off x="5678024" y="2768827"/>
            <a:ext cx="554100" cy="5397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g3e0fca912b4_0_122"/>
          <p:cNvSpPr/>
          <p:nvPr/>
        </p:nvSpPr>
        <p:spPr>
          <a:xfrm>
            <a:off x="7305843" y="3692811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3e0fca912b4_0_122"/>
          <p:cNvSpPr/>
          <p:nvPr/>
        </p:nvSpPr>
        <p:spPr>
          <a:xfrm>
            <a:off x="4241255" y="3672624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g3e0fca912b4_0_122"/>
          <p:cNvSpPr/>
          <p:nvPr/>
        </p:nvSpPr>
        <p:spPr>
          <a:xfrm>
            <a:off x="4845881" y="4371483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g3e0fca912b4_0_122"/>
          <p:cNvSpPr/>
          <p:nvPr/>
        </p:nvSpPr>
        <p:spPr>
          <a:xfrm>
            <a:off x="3660006" y="4380892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g3e0fca912b4_0_122"/>
          <p:cNvSpPr/>
          <p:nvPr/>
        </p:nvSpPr>
        <p:spPr>
          <a:xfrm>
            <a:off x="5686121" y="3732436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" name="Google Shape;260;g3e0fca912b4_0_122"/>
          <p:cNvSpPr/>
          <p:nvPr/>
        </p:nvSpPr>
        <p:spPr>
          <a:xfrm>
            <a:off x="6344191" y="4429524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" name="Google Shape;261;g3e0fca912b4_0_122"/>
          <p:cNvSpPr/>
          <p:nvPr/>
        </p:nvSpPr>
        <p:spPr>
          <a:xfrm>
            <a:off x="7305843" y="4409770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3e0fca912b4_0_122"/>
          <p:cNvSpPr/>
          <p:nvPr/>
        </p:nvSpPr>
        <p:spPr>
          <a:xfrm>
            <a:off x="8211746" y="4380720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g3e0fca912b4_0_122"/>
          <p:cNvSpPr/>
          <p:nvPr/>
        </p:nvSpPr>
        <p:spPr>
          <a:xfrm>
            <a:off x="4017624" y="5195626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e0fca912b4_0_122"/>
          <p:cNvSpPr/>
          <p:nvPr/>
        </p:nvSpPr>
        <p:spPr>
          <a:xfrm>
            <a:off x="4845881" y="518472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0fca912b4_0_122"/>
          <p:cNvSpPr/>
          <p:nvPr/>
        </p:nvSpPr>
        <p:spPr>
          <a:xfrm>
            <a:off x="5612885" y="516623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e0fca912b4_0_122"/>
          <p:cNvSpPr/>
          <p:nvPr/>
        </p:nvSpPr>
        <p:spPr>
          <a:xfrm>
            <a:off x="6349380" y="516623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0fca912b4_0_122"/>
          <p:cNvSpPr/>
          <p:nvPr/>
        </p:nvSpPr>
        <p:spPr>
          <a:xfrm>
            <a:off x="7811993" y="5129672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e0fca912b4_0_122"/>
          <p:cNvSpPr/>
          <p:nvPr/>
        </p:nvSpPr>
        <p:spPr>
          <a:xfrm>
            <a:off x="8670896" y="5140733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0fca912b4_0_122"/>
          <p:cNvSpPr/>
          <p:nvPr/>
        </p:nvSpPr>
        <p:spPr>
          <a:xfrm>
            <a:off x="5967606" y="5896222"/>
            <a:ext cx="554100" cy="539700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0fca912b4_0_122"/>
          <p:cNvSpPr/>
          <p:nvPr/>
        </p:nvSpPr>
        <p:spPr>
          <a:xfrm>
            <a:off x="6802473" y="5902950"/>
            <a:ext cx="554100" cy="539700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g3e0fca912b4_0_122"/>
          <p:cNvCxnSpPr/>
          <p:nvPr/>
        </p:nvCxnSpPr>
        <p:spPr>
          <a:xfrm flipH="1">
            <a:off x="4518274" y="3322157"/>
            <a:ext cx="1441500" cy="355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g3e0fca912b4_0_122"/>
          <p:cNvCxnSpPr/>
          <p:nvPr/>
        </p:nvCxnSpPr>
        <p:spPr>
          <a:xfrm flipH="1">
            <a:off x="5963095" y="3308386"/>
            <a:ext cx="1200" cy="41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g3e0fca912b4_0_122"/>
          <p:cNvCxnSpPr/>
          <p:nvPr/>
        </p:nvCxnSpPr>
        <p:spPr>
          <a:xfrm>
            <a:off x="5987247" y="3331337"/>
            <a:ext cx="1591200" cy="352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g3e0fca912b4_0_122"/>
          <p:cNvCxnSpPr/>
          <p:nvPr/>
        </p:nvCxnSpPr>
        <p:spPr>
          <a:xfrm flipH="1">
            <a:off x="3937395" y="4212183"/>
            <a:ext cx="5811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g3e0fca912b4_0_122"/>
          <p:cNvCxnSpPr/>
          <p:nvPr/>
        </p:nvCxnSpPr>
        <p:spPr>
          <a:xfrm>
            <a:off x="4518346" y="4212183"/>
            <a:ext cx="6045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g3e0fca912b4_0_122"/>
          <p:cNvCxnSpPr/>
          <p:nvPr/>
        </p:nvCxnSpPr>
        <p:spPr>
          <a:xfrm flipH="1">
            <a:off x="4294629" y="4911042"/>
            <a:ext cx="828300" cy="2847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g3e0fca912b4_0_122"/>
          <p:cNvCxnSpPr/>
          <p:nvPr/>
        </p:nvCxnSpPr>
        <p:spPr>
          <a:xfrm>
            <a:off x="5122972" y="4911042"/>
            <a:ext cx="0" cy="27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g3e0fca912b4_0_122"/>
          <p:cNvCxnSpPr/>
          <p:nvPr/>
        </p:nvCxnSpPr>
        <p:spPr>
          <a:xfrm>
            <a:off x="5122972" y="4911042"/>
            <a:ext cx="767100" cy="255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g3e0fca912b4_0_122"/>
          <p:cNvCxnSpPr/>
          <p:nvPr/>
        </p:nvCxnSpPr>
        <p:spPr>
          <a:xfrm flipH="1">
            <a:off x="6620986" y="4232370"/>
            <a:ext cx="9618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g3e0fca912b4_0_122"/>
          <p:cNvCxnSpPr/>
          <p:nvPr/>
        </p:nvCxnSpPr>
        <p:spPr>
          <a:xfrm>
            <a:off x="7582934" y="4232370"/>
            <a:ext cx="0" cy="177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g3e0fca912b4_0_122"/>
          <p:cNvCxnSpPr/>
          <p:nvPr/>
        </p:nvCxnSpPr>
        <p:spPr>
          <a:xfrm>
            <a:off x="7582934" y="4232370"/>
            <a:ext cx="906000" cy="148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g3e0fca912b4_0_122"/>
          <p:cNvCxnSpPr/>
          <p:nvPr/>
        </p:nvCxnSpPr>
        <p:spPr>
          <a:xfrm>
            <a:off x="6621282" y="4969083"/>
            <a:ext cx="51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g3e0fca912b4_0_122"/>
          <p:cNvCxnSpPr/>
          <p:nvPr/>
        </p:nvCxnSpPr>
        <p:spPr>
          <a:xfrm flipH="1">
            <a:off x="6244445" y="5705796"/>
            <a:ext cx="381900" cy="19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g3e0fca912b4_0_122"/>
          <p:cNvCxnSpPr/>
          <p:nvPr/>
        </p:nvCxnSpPr>
        <p:spPr>
          <a:xfrm>
            <a:off x="6626471" y="5705796"/>
            <a:ext cx="4530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g3e0fca912b4_0_122"/>
          <p:cNvCxnSpPr/>
          <p:nvPr/>
        </p:nvCxnSpPr>
        <p:spPr>
          <a:xfrm flipH="1">
            <a:off x="8088790" y="4920279"/>
            <a:ext cx="399900" cy="209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g3e0fca912b4_0_122"/>
          <p:cNvCxnSpPr/>
          <p:nvPr/>
        </p:nvCxnSpPr>
        <p:spPr>
          <a:xfrm>
            <a:off x="8488837" y="4920279"/>
            <a:ext cx="459300" cy="22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g3e0fca912b4_0_122"/>
          <p:cNvSpPr txBox="1"/>
          <p:nvPr/>
        </p:nvSpPr>
        <p:spPr>
          <a:xfrm>
            <a:off x="5634840" y="2365912"/>
            <a:ext cx="80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Raíz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g3e0fca912b4_0_122"/>
          <p:cNvSpPr txBox="1"/>
          <p:nvPr/>
        </p:nvSpPr>
        <p:spPr>
          <a:xfrm>
            <a:off x="1515359" y="2364245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Profundidad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g3e0fca912b4_0_122"/>
          <p:cNvCxnSpPr/>
          <p:nvPr/>
        </p:nvCxnSpPr>
        <p:spPr>
          <a:xfrm>
            <a:off x="2455862" y="2737403"/>
            <a:ext cx="4500" cy="38070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g3e0fca912b4_0_122"/>
          <p:cNvSpPr txBox="1"/>
          <p:nvPr/>
        </p:nvSpPr>
        <p:spPr>
          <a:xfrm>
            <a:off x="2488515" y="2855413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e0fca912b4_0_122"/>
          <p:cNvSpPr txBox="1"/>
          <p:nvPr/>
        </p:nvSpPr>
        <p:spPr>
          <a:xfrm>
            <a:off x="2488515" y="3681677"/>
            <a:ext cx="3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0fca912b4_0_122"/>
          <p:cNvSpPr txBox="1"/>
          <p:nvPr/>
        </p:nvSpPr>
        <p:spPr>
          <a:xfrm>
            <a:off x="2488515" y="4452858"/>
            <a:ext cx="3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</p:txBody>
      </p:sp>
      <p:sp>
        <p:nvSpPr>
          <p:cNvPr id="293" name="Google Shape;293;g3e0fca912b4_0_122"/>
          <p:cNvSpPr txBox="1"/>
          <p:nvPr/>
        </p:nvSpPr>
        <p:spPr>
          <a:xfrm>
            <a:off x="2488515" y="5237809"/>
            <a:ext cx="52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/>
          </a:p>
        </p:txBody>
      </p:sp>
      <p:sp>
        <p:nvSpPr>
          <p:cNvPr id="294" name="Google Shape;294;g3e0fca912b4_0_122"/>
          <p:cNvSpPr txBox="1"/>
          <p:nvPr/>
        </p:nvSpPr>
        <p:spPr>
          <a:xfrm>
            <a:off x="2483925" y="5958496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/>
          </a:p>
        </p:txBody>
      </p:sp>
      <p:sp>
        <p:nvSpPr>
          <p:cNvPr id="295" name="Google Shape;295;g3e0fca912b4_0_122"/>
          <p:cNvSpPr txBox="1"/>
          <p:nvPr/>
        </p:nvSpPr>
        <p:spPr>
          <a:xfrm>
            <a:off x="8974696" y="2368836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Nivel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g3e0fca912b4_0_122"/>
          <p:cNvCxnSpPr/>
          <p:nvPr/>
        </p:nvCxnSpPr>
        <p:spPr>
          <a:xfrm>
            <a:off x="9915199" y="2741994"/>
            <a:ext cx="4500" cy="38070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7" name="Google Shape;297;g3e0fca912b4_0_122"/>
          <p:cNvSpPr txBox="1"/>
          <p:nvPr/>
        </p:nvSpPr>
        <p:spPr>
          <a:xfrm>
            <a:off x="9947852" y="2860004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sp>
        <p:nvSpPr>
          <p:cNvPr id="298" name="Google Shape;298;g3e0fca912b4_0_122"/>
          <p:cNvSpPr txBox="1"/>
          <p:nvPr/>
        </p:nvSpPr>
        <p:spPr>
          <a:xfrm>
            <a:off x="9947852" y="3686268"/>
            <a:ext cx="3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</p:txBody>
      </p:sp>
      <p:sp>
        <p:nvSpPr>
          <p:cNvPr id="299" name="Google Shape;299;g3e0fca912b4_0_122"/>
          <p:cNvSpPr txBox="1"/>
          <p:nvPr/>
        </p:nvSpPr>
        <p:spPr>
          <a:xfrm>
            <a:off x="9947852" y="4457449"/>
            <a:ext cx="3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/>
          </a:p>
        </p:txBody>
      </p:sp>
      <p:sp>
        <p:nvSpPr>
          <p:cNvPr id="300" name="Google Shape;300;g3e0fca912b4_0_122"/>
          <p:cNvSpPr txBox="1"/>
          <p:nvPr/>
        </p:nvSpPr>
        <p:spPr>
          <a:xfrm>
            <a:off x="9947852" y="5242400"/>
            <a:ext cx="52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/>
          </a:p>
        </p:txBody>
      </p:sp>
      <p:sp>
        <p:nvSpPr>
          <p:cNvPr id="301" name="Google Shape;301;g3e0fca912b4_0_122"/>
          <p:cNvSpPr txBox="1"/>
          <p:nvPr/>
        </p:nvSpPr>
        <p:spPr>
          <a:xfrm>
            <a:off x="9943262" y="5963087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/>
          </a:p>
        </p:txBody>
      </p:sp>
      <p:sp>
        <p:nvSpPr>
          <p:cNvPr id="302" name="Google Shape;302;g3e0fca912b4_0_12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0fca912b4_0_174"/>
          <p:cNvSpPr/>
          <p:nvPr/>
        </p:nvSpPr>
        <p:spPr>
          <a:xfrm>
            <a:off x="5678024" y="2768827"/>
            <a:ext cx="554100" cy="5397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g3e0fca912b4_0_174"/>
          <p:cNvSpPr/>
          <p:nvPr/>
        </p:nvSpPr>
        <p:spPr>
          <a:xfrm>
            <a:off x="7305843" y="3692811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g3e0fca912b4_0_174"/>
          <p:cNvSpPr/>
          <p:nvPr/>
        </p:nvSpPr>
        <p:spPr>
          <a:xfrm>
            <a:off x="4241255" y="3672624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3e0fca912b4_0_174"/>
          <p:cNvSpPr/>
          <p:nvPr/>
        </p:nvSpPr>
        <p:spPr>
          <a:xfrm>
            <a:off x="4845881" y="4371483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g3e0fca912b4_0_174"/>
          <p:cNvSpPr/>
          <p:nvPr/>
        </p:nvSpPr>
        <p:spPr>
          <a:xfrm>
            <a:off x="3660006" y="4380892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g3e0fca912b4_0_174"/>
          <p:cNvSpPr/>
          <p:nvPr/>
        </p:nvSpPr>
        <p:spPr>
          <a:xfrm>
            <a:off x="5686121" y="3732436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g3e0fca912b4_0_174"/>
          <p:cNvSpPr/>
          <p:nvPr/>
        </p:nvSpPr>
        <p:spPr>
          <a:xfrm>
            <a:off x="6344191" y="4429524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g3e0fca912b4_0_174"/>
          <p:cNvSpPr/>
          <p:nvPr/>
        </p:nvSpPr>
        <p:spPr>
          <a:xfrm>
            <a:off x="7305843" y="4409770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3e0fca912b4_0_174"/>
          <p:cNvSpPr/>
          <p:nvPr/>
        </p:nvSpPr>
        <p:spPr>
          <a:xfrm>
            <a:off x="8211746" y="4380720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g3e0fca912b4_0_174"/>
          <p:cNvSpPr/>
          <p:nvPr/>
        </p:nvSpPr>
        <p:spPr>
          <a:xfrm>
            <a:off x="4017624" y="5195626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e0fca912b4_0_174"/>
          <p:cNvSpPr/>
          <p:nvPr/>
        </p:nvSpPr>
        <p:spPr>
          <a:xfrm>
            <a:off x="4845881" y="518472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e0fca912b4_0_174"/>
          <p:cNvSpPr/>
          <p:nvPr/>
        </p:nvSpPr>
        <p:spPr>
          <a:xfrm>
            <a:off x="5612885" y="516623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e0fca912b4_0_174"/>
          <p:cNvSpPr/>
          <p:nvPr/>
        </p:nvSpPr>
        <p:spPr>
          <a:xfrm>
            <a:off x="6349380" y="516623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e0fca912b4_0_174"/>
          <p:cNvSpPr/>
          <p:nvPr/>
        </p:nvSpPr>
        <p:spPr>
          <a:xfrm>
            <a:off x="7811993" y="5129672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e0fca912b4_0_174"/>
          <p:cNvSpPr/>
          <p:nvPr/>
        </p:nvSpPr>
        <p:spPr>
          <a:xfrm>
            <a:off x="8670896" y="5140733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e0fca912b4_0_174"/>
          <p:cNvSpPr/>
          <p:nvPr/>
        </p:nvSpPr>
        <p:spPr>
          <a:xfrm>
            <a:off x="5967606" y="5896222"/>
            <a:ext cx="554100" cy="539700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e0fca912b4_0_174"/>
          <p:cNvSpPr/>
          <p:nvPr/>
        </p:nvSpPr>
        <p:spPr>
          <a:xfrm>
            <a:off x="6802473" y="5902950"/>
            <a:ext cx="554100" cy="539700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g3e0fca912b4_0_174"/>
          <p:cNvCxnSpPr/>
          <p:nvPr/>
        </p:nvCxnSpPr>
        <p:spPr>
          <a:xfrm flipH="1">
            <a:off x="4518274" y="3322157"/>
            <a:ext cx="1441500" cy="355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g3e0fca912b4_0_174"/>
          <p:cNvCxnSpPr/>
          <p:nvPr/>
        </p:nvCxnSpPr>
        <p:spPr>
          <a:xfrm flipH="1">
            <a:off x="5963095" y="3308386"/>
            <a:ext cx="1200" cy="41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g3e0fca912b4_0_174"/>
          <p:cNvCxnSpPr/>
          <p:nvPr/>
        </p:nvCxnSpPr>
        <p:spPr>
          <a:xfrm>
            <a:off x="5987247" y="3331337"/>
            <a:ext cx="1591200" cy="352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g3e0fca912b4_0_174"/>
          <p:cNvCxnSpPr/>
          <p:nvPr/>
        </p:nvCxnSpPr>
        <p:spPr>
          <a:xfrm flipH="1">
            <a:off x="3937395" y="4212183"/>
            <a:ext cx="5811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g3e0fca912b4_0_174"/>
          <p:cNvCxnSpPr/>
          <p:nvPr/>
        </p:nvCxnSpPr>
        <p:spPr>
          <a:xfrm>
            <a:off x="4518346" y="4212183"/>
            <a:ext cx="6045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g3e0fca912b4_0_174"/>
          <p:cNvCxnSpPr/>
          <p:nvPr/>
        </p:nvCxnSpPr>
        <p:spPr>
          <a:xfrm flipH="1">
            <a:off x="4294629" y="4911042"/>
            <a:ext cx="828300" cy="2847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g3e0fca912b4_0_174"/>
          <p:cNvCxnSpPr/>
          <p:nvPr/>
        </p:nvCxnSpPr>
        <p:spPr>
          <a:xfrm>
            <a:off x="5122972" y="4911042"/>
            <a:ext cx="0" cy="27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g3e0fca912b4_0_174"/>
          <p:cNvCxnSpPr/>
          <p:nvPr/>
        </p:nvCxnSpPr>
        <p:spPr>
          <a:xfrm>
            <a:off x="5122972" y="4911042"/>
            <a:ext cx="767100" cy="255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g3e0fca912b4_0_174"/>
          <p:cNvCxnSpPr/>
          <p:nvPr/>
        </p:nvCxnSpPr>
        <p:spPr>
          <a:xfrm flipH="1">
            <a:off x="6620986" y="4232370"/>
            <a:ext cx="9618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g3e0fca912b4_0_174"/>
          <p:cNvCxnSpPr/>
          <p:nvPr/>
        </p:nvCxnSpPr>
        <p:spPr>
          <a:xfrm>
            <a:off x="7582934" y="4232370"/>
            <a:ext cx="0" cy="177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g3e0fca912b4_0_174"/>
          <p:cNvCxnSpPr/>
          <p:nvPr/>
        </p:nvCxnSpPr>
        <p:spPr>
          <a:xfrm>
            <a:off x="7582934" y="4232370"/>
            <a:ext cx="906000" cy="148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g3e0fca912b4_0_174"/>
          <p:cNvCxnSpPr/>
          <p:nvPr/>
        </p:nvCxnSpPr>
        <p:spPr>
          <a:xfrm>
            <a:off x="6621282" y="4969083"/>
            <a:ext cx="51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g3e0fca912b4_0_174"/>
          <p:cNvCxnSpPr/>
          <p:nvPr/>
        </p:nvCxnSpPr>
        <p:spPr>
          <a:xfrm flipH="1">
            <a:off x="6244445" y="5705796"/>
            <a:ext cx="381900" cy="19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g3e0fca912b4_0_174"/>
          <p:cNvCxnSpPr/>
          <p:nvPr/>
        </p:nvCxnSpPr>
        <p:spPr>
          <a:xfrm>
            <a:off x="6626471" y="5705796"/>
            <a:ext cx="4530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g3e0fca912b4_0_174"/>
          <p:cNvCxnSpPr/>
          <p:nvPr/>
        </p:nvCxnSpPr>
        <p:spPr>
          <a:xfrm flipH="1">
            <a:off x="8088790" y="4920279"/>
            <a:ext cx="399900" cy="209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g3e0fca912b4_0_174"/>
          <p:cNvCxnSpPr/>
          <p:nvPr/>
        </p:nvCxnSpPr>
        <p:spPr>
          <a:xfrm>
            <a:off x="8488837" y="4920279"/>
            <a:ext cx="459300" cy="22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g3e0fca912b4_0_174"/>
          <p:cNvSpPr txBox="1"/>
          <p:nvPr/>
        </p:nvSpPr>
        <p:spPr>
          <a:xfrm>
            <a:off x="5634840" y="2365912"/>
            <a:ext cx="80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Raíz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1" name="Google Shape;341;g3e0fca912b4_0_174"/>
          <p:cNvSpPr txBox="1"/>
          <p:nvPr/>
        </p:nvSpPr>
        <p:spPr>
          <a:xfrm>
            <a:off x="1561262" y="3364943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g3e0fca912b4_0_174"/>
          <p:cNvCxnSpPr/>
          <p:nvPr/>
        </p:nvCxnSpPr>
        <p:spPr>
          <a:xfrm flipH="1">
            <a:off x="2478904" y="3816137"/>
            <a:ext cx="4500" cy="17736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g3e0fca912b4_0_174"/>
          <p:cNvSpPr txBox="1"/>
          <p:nvPr/>
        </p:nvSpPr>
        <p:spPr>
          <a:xfrm>
            <a:off x="2488515" y="3791847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e0fca912b4_0_174"/>
          <p:cNvSpPr txBox="1"/>
          <p:nvPr/>
        </p:nvSpPr>
        <p:spPr>
          <a:xfrm>
            <a:off x="2479334" y="4517123"/>
            <a:ext cx="3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e0fca912b4_0_174"/>
          <p:cNvSpPr txBox="1"/>
          <p:nvPr/>
        </p:nvSpPr>
        <p:spPr>
          <a:xfrm>
            <a:off x="2488515" y="5251581"/>
            <a:ext cx="3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</p:txBody>
      </p:sp>
      <p:sp>
        <p:nvSpPr>
          <p:cNvPr id="346" name="Google Shape;346;g3e0fca912b4_0_174"/>
          <p:cNvSpPr txBox="1"/>
          <p:nvPr/>
        </p:nvSpPr>
        <p:spPr>
          <a:xfrm>
            <a:off x="8694683" y="3364943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g3e0fca912b4_0_174"/>
          <p:cNvCxnSpPr/>
          <p:nvPr/>
        </p:nvCxnSpPr>
        <p:spPr>
          <a:xfrm>
            <a:off x="9630595" y="3811547"/>
            <a:ext cx="23100" cy="26088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g3e0fca912b4_0_174"/>
          <p:cNvSpPr txBox="1"/>
          <p:nvPr/>
        </p:nvSpPr>
        <p:spPr>
          <a:xfrm>
            <a:off x="9621936" y="3791847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e0fca912b4_0_174"/>
          <p:cNvSpPr txBox="1"/>
          <p:nvPr/>
        </p:nvSpPr>
        <p:spPr>
          <a:xfrm>
            <a:off x="9612755" y="4517123"/>
            <a:ext cx="3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e0fca912b4_0_174"/>
          <p:cNvSpPr txBox="1"/>
          <p:nvPr/>
        </p:nvSpPr>
        <p:spPr>
          <a:xfrm>
            <a:off x="9621936" y="5251581"/>
            <a:ext cx="3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</p:txBody>
      </p:sp>
      <p:sp>
        <p:nvSpPr>
          <p:cNvPr id="351" name="Google Shape;351;g3e0fca912b4_0_174"/>
          <p:cNvSpPr txBox="1"/>
          <p:nvPr/>
        </p:nvSpPr>
        <p:spPr>
          <a:xfrm>
            <a:off x="9640297" y="5986038"/>
            <a:ext cx="3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/>
          </a:p>
        </p:txBody>
      </p:sp>
      <p:sp>
        <p:nvSpPr>
          <p:cNvPr id="352" name="Google Shape;352;g3e0fca912b4_0_17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0fca912b4_0_22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  <p:sp>
        <p:nvSpPr>
          <p:cNvPr id="358" name="Google Shape;358;g3e0fca912b4_0_223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Podemos decir que la profundidad es "absoluta" y la altura "relativa".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Todos los nodos comparten el root.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Pueden existir hojas en distintos niveles.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En un mismo nivel, la profundidad es igual pero la altura no siempre.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Esto no es una definición formal, sino una ayuda conceptual.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0fca912b4_0_22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  <p:sp>
        <p:nvSpPr>
          <p:cNvPr id="364" name="Google Shape;364;g3e0fca912b4_0_228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Así como los nodos tienen altura y profundidad, el árbol también.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Altura del árbol = altura del root.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Profundidad del árbol = máxima profundidad entre los nodos.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Para un árbol, ¡la altura y la profundidad son iguales!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0fca912b4_0_23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  <p:sp>
        <p:nvSpPr>
          <p:cNvPr id="370" name="Google Shape;370;g3e0fca912b4_0_233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Podemos dividir un árbol en </a:t>
            </a:r>
            <a:r>
              <a:rPr b="1" lang="es-AR" sz="2600">
                <a:solidFill>
                  <a:srgbClr val="FF7B61"/>
                </a:solidFill>
              </a:rPr>
              <a:t>subárboles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Consideramos como un subárbol a un nodo no-root y todos sus hijos.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0fca912b4_0_238"/>
          <p:cNvSpPr/>
          <p:nvPr/>
        </p:nvSpPr>
        <p:spPr>
          <a:xfrm>
            <a:off x="5678024" y="2768827"/>
            <a:ext cx="554100" cy="5397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g3e0fca912b4_0_238"/>
          <p:cNvSpPr/>
          <p:nvPr/>
        </p:nvSpPr>
        <p:spPr>
          <a:xfrm>
            <a:off x="7305843" y="3692811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7" name="Google Shape;377;g3e0fca912b4_0_238"/>
          <p:cNvSpPr/>
          <p:nvPr/>
        </p:nvSpPr>
        <p:spPr>
          <a:xfrm>
            <a:off x="4241255" y="3672624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8" name="Google Shape;378;g3e0fca912b4_0_238"/>
          <p:cNvSpPr/>
          <p:nvPr/>
        </p:nvSpPr>
        <p:spPr>
          <a:xfrm>
            <a:off x="4845881" y="4371483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g3e0fca912b4_0_238"/>
          <p:cNvSpPr/>
          <p:nvPr/>
        </p:nvSpPr>
        <p:spPr>
          <a:xfrm>
            <a:off x="3660006" y="4380892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g3e0fca912b4_0_238"/>
          <p:cNvSpPr/>
          <p:nvPr/>
        </p:nvSpPr>
        <p:spPr>
          <a:xfrm>
            <a:off x="5686121" y="3732436"/>
            <a:ext cx="554100" cy="5397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g3e0fca912b4_0_238"/>
          <p:cNvSpPr/>
          <p:nvPr/>
        </p:nvSpPr>
        <p:spPr>
          <a:xfrm>
            <a:off x="6344191" y="4429524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g3e0fca912b4_0_238"/>
          <p:cNvSpPr/>
          <p:nvPr/>
        </p:nvSpPr>
        <p:spPr>
          <a:xfrm>
            <a:off x="7305843" y="4409770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3" name="Google Shape;383;g3e0fca912b4_0_238"/>
          <p:cNvSpPr/>
          <p:nvPr/>
        </p:nvSpPr>
        <p:spPr>
          <a:xfrm>
            <a:off x="8211746" y="4380720"/>
            <a:ext cx="554100" cy="5397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4" name="Google Shape;384;g3e0fca912b4_0_238"/>
          <p:cNvSpPr/>
          <p:nvPr/>
        </p:nvSpPr>
        <p:spPr>
          <a:xfrm>
            <a:off x="4017624" y="5195626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e0fca912b4_0_238"/>
          <p:cNvSpPr/>
          <p:nvPr/>
        </p:nvSpPr>
        <p:spPr>
          <a:xfrm>
            <a:off x="4845881" y="518472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e0fca912b4_0_238"/>
          <p:cNvSpPr/>
          <p:nvPr/>
        </p:nvSpPr>
        <p:spPr>
          <a:xfrm>
            <a:off x="5612885" y="516623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e0fca912b4_0_238"/>
          <p:cNvSpPr/>
          <p:nvPr/>
        </p:nvSpPr>
        <p:spPr>
          <a:xfrm>
            <a:off x="6349380" y="5166237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e0fca912b4_0_238"/>
          <p:cNvSpPr/>
          <p:nvPr/>
        </p:nvSpPr>
        <p:spPr>
          <a:xfrm>
            <a:off x="7811993" y="5129672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e0fca912b4_0_238"/>
          <p:cNvSpPr/>
          <p:nvPr/>
        </p:nvSpPr>
        <p:spPr>
          <a:xfrm>
            <a:off x="8670896" y="5140733"/>
            <a:ext cx="554100" cy="5397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e0fca912b4_0_238"/>
          <p:cNvSpPr/>
          <p:nvPr/>
        </p:nvSpPr>
        <p:spPr>
          <a:xfrm>
            <a:off x="5967606" y="5896222"/>
            <a:ext cx="554100" cy="539700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e0fca912b4_0_238"/>
          <p:cNvSpPr/>
          <p:nvPr/>
        </p:nvSpPr>
        <p:spPr>
          <a:xfrm>
            <a:off x="6802473" y="5902950"/>
            <a:ext cx="554100" cy="539700"/>
          </a:xfrm>
          <a:prstGeom prst="ellipse">
            <a:avLst/>
          </a:prstGeom>
          <a:solidFill>
            <a:srgbClr val="0070C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g3e0fca912b4_0_238"/>
          <p:cNvCxnSpPr/>
          <p:nvPr/>
        </p:nvCxnSpPr>
        <p:spPr>
          <a:xfrm flipH="1">
            <a:off x="4518274" y="3322157"/>
            <a:ext cx="1441500" cy="355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g3e0fca912b4_0_238"/>
          <p:cNvCxnSpPr/>
          <p:nvPr/>
        </p:nvCxnSpPr>
        <p:spPr>
          <a:xfrm flipH="1">
            <a:off x="5963095" y="3308386"/>
            <a:ext cx="1200" cy="41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g3e0fca912b4_0_238"/>
          <p:cNvCxnSpPr/>
          <p:nvPr/>
        </p:nvCxnSpPr>
        <p:spPr>
          <a:xfrm>
            <a:off x="5987247" y="3331337"/>
            <a:ext cx="1591200" cy="352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g3e0fca912b4_0_238"/>
          <p:cNvCxnSpPr/>
          <p:nvPr/>
        </p:nvCxnSpPr>
        <p:spPr>
          <a:xfrm flipH="1">
            <a:off x="3937395" y="4212183"/>
            <a:ext cx="5811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g3e0fca912b4_0_238"/>
          <p:cNvCxnSpPr/>
          <p:nvPr/>
        </p:nvCxnSpPr>
        <p:spPr>
          <a:xfrm>
            <a:off x="4518346" y="4212183"/>
            <a:ext cx="6045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g3e0fca912b4_0_238"/>
          <p:cNvCxnSpPr/>
          <p:nvPr/>
        </p:nvCxnSpPr>
        <p:spPr>
          <a:xfrm flipH="1">
            <a:off x="4294629" y="4911042"/>
            <a:ext cx="828300" cy="2847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g3e0fca912b4_0_238"/>
          <p:cNvCxnSpPr/>
          <p:nvPr/>
        </p:nvCxnSpPr>
        <p:spPr>
          <a:xfrm>
            <a:off x="5122972" y="4911042"/>
            <a:ext cx="0" cy="27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g3e0fca912b4_0_238"/>
          <p:cNvCxnSpPr/>
          <p:nvPr/>
        </p:nvCxnSpPr>
        <p:spPr>
          <a:xfrm>
            <a:off x="5122972" y="4911042"/>
            <a:ext cx="767100" cy="255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g3e0fca912b4_0_238"/>
          <p:cNvCxnSpPr/>
          <p:nvPr/>
        </p:nvCxnSpPr>
        <p:spPr>
          <a:xfrm flipH="1">
            <a:off x="6620986" y="4232370"/>
            <a:ext cx="9618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g3e0fca912b4_0_238"/>
          <p:cNvCxnSpPr/>
          <p:nvPr/>
        </p:nvCxnSpPr>
        <p:spPr>
          <a:xfrm>
            <a:off x="7582934" y="4232370"/>
            <a:ext cx="0" cy="177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g3e0fca912b4_0_238"/>
          <p:cNvCxnSpPr/>
          <p:nvPr/>
        </p:nvCxnSpPr>
        <p:spPr>
          <a:xfrm>
            <a:off x="7582934" y="4232370"/>
            <a:ext cx="906000" cy="148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g3e0fca912b4_0_238"/>
          <p:cNvCxnSpPr/>
          <p:nvPr/>
        </p:nvCxnSpPr>
        <p:spPr>
          <a:xfrm>
            <a:off x="6621282" y="4969083"/>
            <a:ext cx="51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g3e0fca912b4_0_238"/>
          <p:cNvCxnSpPr/>
          <p:nvPr/>
        </p:nvCxnSpPr>
        <p:spPr>
          <a:xfrm flipH="1">
            <a:off x="6244445" y="5705796"/>
            <a:ext cx="381900" cy="19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g3e0fca912b4_0_238"/>
          <p:cNvCxnSpPr/>
          <p:nvPr/>
        </p:nvCxnSpPr>
        <p:spPr>
          <a:xfrm>
            <a:off x="6626471" y="5705796"/>
            <a:ext cx="4530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g3e0fca912b4_0_238"/>
          <p:cNvCxnSpPr/>
          <p:nvPr/>
        </p:nvCxnSpPr>
        <p:spPr>
          <a:xfrm flipH="1">
            <a:off x="8088790" y="4920279"/>
            <a:ext cx="399900" cy="209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g3e0fca912b4_0_238"/>
          <p:cNvCxnSpPr/>
          <p:nvPr/>
        </p:nvCxnSpPr>
        <p:spPr>
          <a:xfrm>
            <a:off x="8488837" y="4920279"/>
            <a:ext cx="459300" cy="22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g3e0fca912b4_0_238"/>
          <p:cNvSpPr txBox="1"/>
          <p:nvPr/>
        </p:nvSpPr>
        <p:spPr>
          <a:xfrm>
            <a:off x="5634840" y="2365912"/>
            <a:ext cx="80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Raíz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9" name="Google Shape;409;g3e0fca912b4_0_23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DESCRIPCIÓN</a:t>
            </a:r>
            <a:endParaRPr/>
          </a:p>
        </p:txBody>
      </p:sp>
      <p:sp>
        <p:nvSpPr>
          <p:cNvPr id="410" name="Google Shape;410;g3e0fca912b4_0_238"/>
          <p:cNvSpPr/>
          <p:nvPr/>
        </p:nvSpPr>
        <p:spPr>
          <a:xfrm rot="1504636">
            <a:off x="2955767" y="3691683"/>
            <a:ext cx="3405293" cy="2128426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g3e0fca912b4_0_238"/>
          <p:cNvSpPr txBox="1"/>
          <p:nvPr/>
        </p:nvSpPr>
        <p:spPr>
          <a:xfrm>
            <a:off x="2034069" y="3571510"/>
            <a:ext cx="125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Subárbol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g3e0fca912b4_0_238"/>
          <p:cNvSpPr/>
          <p:nvPr/>
        </p:nvSpPr>
        <p:spPr>
          <a:xfrm rot="5400000">
            <a:off x="7571745" y="4448588"/>
            <a:ext cx="1854000" cy="1499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g3e0fca912b4_0_238"/>
          <p:cNvSpPr txBox="1"/>
          <p:nvPr/>
        </p:nvSpPr>
        <p:spPr>
          <a:xfrm>
            <a:off x="8671731" y="3778076"/>
            <a:ext cx="125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Subárbol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g3e0fca912b4_0_2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2655" y="2454983"/>
            <a:ext cx="6886690" cy="395583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e0fca912b4_0_28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TREE - EJEMPLO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B8E55A37-E500-455E-A9D6-19FF540C7FAF}"/>
</file>

<file path=customXml/itemProps2.xml><?xml version="1.0" encoding="utf-8"?>
<ds:datastoreItem xmlns:ds="http://schemas.openxmlformats.org/officeDocument/2006/customXml" ds:itemID="{DBD383B9-F68B-40B4-871E-19361314F155}"/>
</file>

<file path=customXml/itemProps3.xml><?xml version="1.0" encoding="utf-8"?>
<ds:datastoreItem xmlns:ds="http://schemas.openxmlformats.org/officeDocument/2006/customXml" ds:itemID="{B5765E25-3ECD-4AF7-A3ED-C19DAA86DD55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