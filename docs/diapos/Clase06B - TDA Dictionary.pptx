
<file path=[Content_Types].xml><?xml version="1.0" encoding="utf-8"?>
<Types xmlns="http://schemas.openxmlformats.org/package/2006/content-types">
  <Default Extension="fntdata" ContentType="application/x-fontdata"/>
  <Default Extension="odttf" ContentType="application/vnd.openxmlformats-officedocument.obfuscatedFont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Roboto Mono"/>
      <p:regular r:id="rId19"/>
      <p:bold r:id="rId20"/>
      <p:italic r:id="rId21"/>
      <p:boldItalic r:id="rId22"/>
    </p:embeddedFont>
    <p:embeddedFont>
      <p:font typeface="Century Gothic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hN/hOBNZAsWuLvbuCj7Nz9296w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CenturyGothic-boldItalic.fntdata"/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1" Type="http://schemas.openxmlformats.org/officeDocument/2006/relationships/font" Target="fonts/RobotoMono-italic.fntdata"/><Relationship Id="rId3" Type="http://schemas.openxmlformats.org/officeDocument/2006/relationships/presProps" Target="presProps.xml"/><Relationship Id="rId25" Type="http://schemas.openxmlformats.org/officeDocument/2006/relationships/font" Target="fonts/CenturyGothic-italic.fntdata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0" Type="http://schemas.openxmlformats.org/officeDocument/2006/relationships/font" Target="fonts/RobotoMono-bold.fntdata"/><Relationship Id="rId2" Type="http://schemas.openxmlformats.org/officeDocument/2006/relationships/viewProps" Target="viewProps.xml"/><Relationship Id="rId16" Type="http://schemas.openxmlformats.org/officeDocument/2006/relationships/slide" Target="slides/slide11.xml"/><Relationship Id="rId29" Type="http://schemas.openxmlformats.org/officeDocument/2006/relationships/customXml" Target="../customXml/item2.xml"/><Relationship Id="rId24" Type="http://schemas.openxmlformats.org/officeDocument/2006/relationships/font" Target="fonts/CenturyGothic-bold.fntdata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3" Type="http://schemas.openxmlformats.org/officeDocument/2006/relationships/font" Target="fonts/CenturyGothic-regular.fntdata"/><Relationship Id="rId5" Type="http://schemas.openxmlformats.org/officeDocument/2006/relationships/notesMaster" Target="notesMasters/notesMaster1.xml"/><Relationship Id="rId15" Type="http://schemas.openxmlformats.org/officeDocument/2006/relationships/slide" Target="slides/slide10.xml"/><Relationship Id="rId28" Type="http://schemas.openxmlformats.org/officeDocument/2006/relationships/customXml" Target="../customXml/item1.xml"/><Relationship Id="rId10" Type="http://schemas.openxmlformats.org/officeDocument/2006/relationships/slide" Target="slides/slide5.xml"/><Relationship Id="rId19" Type="http://schemas.openxmlformats.org/officeDocument/2006/relationships/font" Target="fonts/RobotoMono-regular.fntdata"/><Relationship Id="rId22" Type="http://schemas.openxmlformats.org/officeDocument/2006/relationships/font" Target="fonts/RobotoMono-boldItalic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7" Type="http://customschemas.google.com/relationships/presentationmetadata" Target="metadata"/><Relationship Id="rId14" Type="http://schemas.openxmlformats.org/officeDocument/2006/relationships/slide" Target="slides/slide9.xml"/><Relationship Id="rId30" Type="http://schemas.openxmlformats.org/officeDocument/2006/relationships/customXml" Target="../customXml/item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A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970b3c5c6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" name="Google Shape;124;g3970b3c5c6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70b3c5c6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g3970b3c5c6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12bde053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39712bde053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9712bde053_0_2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9712bde053_0_2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712bde053_0_2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39712bde053_0_2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712bde053_0_30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9712bde053_0_3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712bde053_0_3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8" name="Google Shape;158;g39712bde053_0_3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71c1e9b51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971c1e9b51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712bde053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g39712bde053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971c1e9b51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971c1e9b5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712bde053_0_3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9712bde053_0_3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712bde053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g39712bde053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0"/>
          <p:cNvSpPr/>
          <p:nvPr/>
        </p:nvSpPr>
        <p:spPr>
          <a:xfrm>
            <a:off x="0" y="-3175"/>
            <a:ext cx="12192000" cy="5203825"/>
          </a:xfrm>
          <a:custGeom>
            <a:rect b="b" l="l" r="r" t="t"/>
            <a:pathLst>
              <a:path extrusionOk="0" h="3278" w="576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40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subTitle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4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2"/>
          <p:cNvSpPr txBox="1"/>
          <p:nvPr>
            <p:ph idx="1" type="body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0" name="Google Shape;30;p4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3"/>
          <p:cNvSpPr/>
          <p:nvPr/>
        </p:nvSpPr>
        <p:spPr>
          <a:xfrm>
            <a:off x="0" y="1"/>
            <a:ext cx="12192000" cy="5203825"/>
          </a:xfrm>
          <a:custGeom>
            <a:rect b="b" l="l" r="r" t="t"/>
            <a:pathLst>
              <a:path extrusionOk="0" h="3278" w="576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43"/>
          <p:cNvSpPr txBox="1"/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b="1" sz="48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3"/>
          <p:cNvSpPr txBox="1"/>
          <p:nvPr>
            <p:ph idx="1" type="body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4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44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4"/>
          <p:cNvSpPr txBox="1"/>
          <p:nvPr>
            <p:ph idx="1" type="body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4" name="Google Shape;44;p44"/>
          <p:cNvSpPr txBox="1"/>
          <p:nvPr>
            <p:ph idx="2" type="body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45" name="Google Shape;45;p44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4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4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5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5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5"/>
          <p:cNvSpPr txBox="1"/>
          <p:nvPr>
            <p:ph idx="1" type="body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45"/>
          <p:cNvSpPr txBox="1"/>
          <p:nvPr>
            <p:ph idx="2" type="body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45"/>
          <p:cNvSpPr txBox="1"/>
          <p:nvPr>
            <p:ph idx="3" type="body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b="0"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45"/>
          <p:cNvSpPr txBox="1"/>
          <p:nvPr>
            <p:ph idx="4" type="body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5" name="Google Shape;55;p45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5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6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46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6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6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7"/>
          <p:cNvSpPr/>
          <p:nvPr/>
        </p:nvSpPr>
        <p:spPr>
          <a:xfrm>
            <a:off x="1073151" y="446087"/>
            <a:ext cx="3547533" cy="1814651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47"/>
          <p:cNvSpPr txBox="1"/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7"/>
          <p:cNvSpPr txBox="1"/>
          <p:nvPr>
            <p:ph idx="1" type="body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68" name="Google Shape;68;p47"/>
          <p:cNvSpPr txBox="1"/>
          <p:nvPr>
            <p:ph idx="2" type="body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47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8"/>
          <p:cNvSpPr txBox="1"/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8"/>
          <p:cNvSpPr/>
          <p:nvPr>
            <p:ph idx="2" type="pic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48"/>
          <p:cNvSpPr txBox="1"/>
          <p:nvPr>
            <p:ph idx="1" type="body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6" name="Google Shape;76;p48"/>
          <p:cNvSpPr txBox="1"/>
          <p:nvPr>
            <p:ph idx="10" type="dt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1" type="ftr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2" type="sldNum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9"/>
          <p:cNvSpPr txBox="1"/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9"/>
          <p:cNvSpPr/>
          <p:nvPr>
            <p:ph idx="2" type="pic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cap="rnd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49"/>
          <p:cNvSpPr txBox="1"/>
          <p:nvPr>
            <p:ph idx="1" type="body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3" name="Google Shape;83;p4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0"/>
          <p:cNvSpPr/>
          <p:nvPr/>
        </p:nvSpPr>
        <p:spPr>
          <a:xfrm>
            <a:off x="631697" y="1081456"/>
            <a:ext cx="6332416" cy="3239188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0"/>
          <p:cNvSpPr txBox="1"/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b="1" sz="4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0"/>
          <p:cNvSpPr txBox="1"/>
          <p:nvPr>
            <p:ph idx="1" type="body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50"/>
          <p:cNvSpPr txBox="1"/>
          <p:nvPr>
            <p:ph idx="2" type="body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1" name="Google Shape;91;p50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0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0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1"/>
          <p:cNvSpPr/>
          <p:nvPr/>
        </p:nvSpPr>
        <p:spPr>
          <a:xfrm>
            <a:off x="1140884" y="2286585"/>
            <a:ext cx="4895115" cy="2503972"/>
          </a:xfrm>
          <a:custGeom>
            <a:rect b="b" l="l" r="r" t="t"/>
            <a:pathLst>
              <a:path extrusionOk="0" h="2308" w="3384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1"/>
          <p:cNvSpPr txBox="1"/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1"/>
          <p:cNvSpPr txBox="1"/>
          <p:nvPr>
            <p:ph idx="1" type="body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98" name="Google Shape;98;p51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1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1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2"/>
          <p:cNvSpPr/>
          <p:nvPr/>
        </p:nvSpPr>
        <p:spPr>
          <a:xfrm>
            <a:off x="0" y="0"/>
            <a:ext cx="12192000" cy="2185988"/>
          </a:xfrm>
          <a:custGeom>
            <a:rect b="b" l="l" r="r" t="t"/>
            <a:pathLst>
              <a:path extrusionOk="0" h="1377" w="576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2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2"/>
          <p:cNvSpPr txBox="1"/>
          <p:nvPr>
            <p:ph idx="1" type="body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05" name="Google Shape;105;p52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2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2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3"/>
          <p:cNvSpPr/>
          <p:nvPr/>
        </p:nvSpPr>
        <p:spPr>
          <a:xfrm>
            <a:off x="7669651" y="446089"/>
            <a:ext cx="4522349" cy="5414962"/>
          </a:xfrm>
          <a:custGeom>
            <a:rect b="b" l="l" r="r" t="t"/>
            <a:pathLst>
              <a:path extrusionOk="0" h="4320" w="2879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algn="tl" flip="none" tx="0" sx="100000" ty="0" sy="100000"/>
          </a:blipFill>
          <a:ln cap="rnd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53"/>
          <p:cNvSpPr txBox="1"/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3"/>
          <p:cNvSpPr txBox="1"/>
          <p:nvPr>
            <p:ph idx="1" type="body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112" name="Google Shape;112;p53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53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53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9"/>
          <p:cNvSpPr txBox="1"/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b="1" i="0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9"/>
          <p:cNvSpPr txBox="1"/>
          <p:nvPr>
            <p:ph idx="1" type="body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b="0" i="0" sz="12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2" name="Google Shape;12;p39"/>
          <p:cNvSpPr txBox="1"/>
          <p:nvPr>
            <p:ph idx="11" type="ftr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3" name="Google Shape;13;p39"/>
          <p:cNvSpPr txBox="1"/>
          <p:nvPr>
            <p:ph idx="10" type="dt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4" name="Google Shape;14;p39"/>
          <p:cNvSpPr txBox="1"/>
          <p:nvPr>
            <p:ph idx="12" type="sldNum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</a:pPr>
            <a:r>
              <a:rPr lang="es-AR"/>
              <a:t>TDA Dictionary</a:t>
            </a:r>
            <a:endParaRPr/>
          </a:p>
        </p:txBody>
      </p:sp>
      <p:sp>
        <p:nvSpPr>
          <p:cNvPr id="120" name="Google Shape;120;p1"/>
          <p:cNvSpPr txBox="1"/>
          <p:nvPr>
            <p:ph idx="1" type="subTitle"/>
          </p:nvPr>
        </p:nvSpPr>
        <p:spPr>
          <a:xfrm>
            <a:off x="810000" y="5408853"/>
            <a:ext cx="6672979" cy="95000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i="1" lang="es-AR" sz="4000">
                <a:solidFill>
                  <a:srgbClr val="A5A5A5"/>
                </a:solidFill>
              </a:rPr>
              <a:t>Programación II</a:t>
            </a:r>
            <a:endParaRPr/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950" y="9541"/>
            <a:ext cx="2701797" cy="11579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0b3c5c61_0_0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</a:t>
            </a:r>
            <a:r>
              <a:rPr lang="es-AR" sz="6600">
                <a:solidFill>
                  <a:srgbClr val="43FFF5"/>
                </a:solidFill>
              </a:rPr>
              <a:t>DICTIONARY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970b3c5c61_0_4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/>
              <a:t>Un </a:t>
            </a:r>
            <a:r>
              <a:rPr b="1" lang="es-AR" sz="2600">
                <a:solidFill>
                  <a:srgbClr val="FF7B61"/>
                </a:solidFill>
              </a:rPr>
              <a:t>Dictionary</a:t>
            </a:r>
            <a:r>
              <a:rPr lang="es-AR" sz="2600"/>
              <a:t> es una colección de </a:t>
            </a:r>
            <a:r>
              <a:rPr lang="es-AR" sz="2600">
                <a:solidFill>
                  <a:srgbClr val="FF7B61"/>
                </a:solidFill>
              </a:rPr>
              <a:t>elementos asociados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Un elemento</a:t>
            </a:r>
            <a:r>
              <a:rPr b="1" lang="es-AR" sz="2600">
                <a:solidFill>
                  <a:srgbClr val="FF7B61"/>
                </a:solidFill>
              </a:rPr>
              <a:t> key</a:t>
            </a:r>
            <a:r>
              <a:rPr lang="es-AR" sz="2600"/>
              <a:t> hace de “índice” para buscar.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Otro elemento </a:t>
            </a:r>
            <a:r>
              <a:rPr b="1" lang="es-AR" sz="2600">
                <a:solidFill>
                  <a:srgbClr val="FF7B61"/>
                </a:solidFill>
              </a:rPr>
              <a:t>value</a:t>
            </a:r>
            <a:r>
              <a:rPr lang="es-AR" sz="2600"/>
              <a:t> es el valor que guardamos.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Se pueden repetir values pero </a:t>
            </a:r>
            <a:r>
              <a:rPr lang="es-AR" sz="2600">
                <a:solidFill>
                  <a:srgbClr val="FF7B61"/>
                </a:solidFill>
              </a:rPr>
              <a:t>las keys deben ser únicas</a:t>
            </a:r>
            <a:r>
              <a:rPr lang="es-AR" sz="2600"/>
              <a:t>.</a:t>
            </a:r>
            <a:endParaRPr sz="26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>
                <a:solidFill>
                  <a:srgbClr val="FF7B61"/>
                </a:solidFill>
              </a:rPr>
              <a:t>No se garantiza el orden</a:t>
            </a:r>
            <a:r>
              <a:rPr lang="es-AR" sz="2600"/>
              <a:t> de keys dentro de la estructura.</a:t>
            </a:r>
            <a:endParaRPr sz="2600"/>
          </a:p>
          <a:p>
            <a:pPr indent="-3873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Century Gothic"/>
              <a:buChar char="❖"/>
            </a:pPr>
            <a:r>
              <a:rPr lang="es-AR" sz="2600"/>
              <a:t>Permite búsquedas con </a:t>
            </a:r>
            <a:r>
              <a:rPr lang="es-AR" sz="2600">
                <a:solidFill>
                  <a:srgbClr val="FF7B61"/>
                </a:solidFill>
              </a:rPr>
              <a:t>significado</a:t>
            </a:r>
            <a:r>
              <a:rPr lang="es-AR" sz="2600"/>
              <a:t> en vez de usando índices.</a:t>
            </a:r>
            <a:endParaRPr sz="2600"/>
          </a:p>
        </p:txBody>
      </p:sp>
      <p:sp>
        <p:nvSpPr>
          <p:cNvPr id="132" name="Google Shape;132;g3970b3c5c61_0_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DICTIONARY</a:t>
            </a: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CONCEPTO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712bde053_0_114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DICTIONARY</a:t>
            </a: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FUNCIONES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38" name="Google Shape;138;g39712bde053_0_114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b="0"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put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Agrega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asociado a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Si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ya existe, reemplaza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devuelve el anterior. Si no, agrega el par y devuelve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b="0"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remove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s-AR" sz="2600" u="none" cap="none" strike="noStrike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Remueve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y su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si existen. Devuelve el éxito del proceso.</a:t>
            </a:r>
            <a:endParaRPr b="0" i="0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b="0"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boolean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containsKey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b="0" i="0" lang="es-AR" sz="2600" u="none" cap="none" strike="noStrike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si 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existe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en el diccionario.</a:t>
            </a:r>
            <a:endParaRPr b="1" i="0" sz="2600" u="none" cap="none" strike="noStrike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712bde053_0_291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DICTIONARY</a:t>
            </a: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FUNCIONES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44" name="Google Shape;144;g39712bde053_0_291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get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el value asociado a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si 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no existe.</a:t>
            </a:r>
            <a:endParaRPr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b="0"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ublic</a:t>
            </a:r>
            <a:r>
              <a:rPr b="0"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keys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un array con tod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las keys del diccionario</a:t>
            </a: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public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values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lang="es-AR" sz="2600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un array con todas las values del diccionario.</a:t>
            </a:r>
            <a:endParaRPr sz="26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712bde053_0_286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TDA </a:t>
            </a:r>
            <a:r>
              <a:rPr b="1" lang="es-AR" sz="4000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DICTIONARY</a:t>
            </a: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FUNCIONES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0" name="Google Shape;150;g39712bde053_0_286"/>
          <p:cNvSpPr txBox="1"/>
          <p:nvPr/>
        </p:nvSpPr>
        <p:spPr>
          <a:xfrm>
            <a:off x="288981" y="2326106"/>
            <a:ext cx="11604900" cy="42750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b="0"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int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size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la cantidad de elementos en el 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diccionario</a:t>
            </a: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18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b="0"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boolean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isEmpty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Devuelve si está vacío.</a:t>
            </a:r>
            <a:endParaRPr b="0" i="0" sz="26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Noto Sans Symbols"/>
              <a:buChar char="❖"/>
            </a:pPr>
            <a:r>
              <a:rPr b="0" i="0" lang="es-AR" sz="2600" u="none" cap="none" strike="noStrike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private void</a:t>
            </a:r>
            <a:r>
              <a:rPr b="0" i="0" lang="es-AR" sz="2600" u="none" cap="none" strike="noStrike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 clear</a:t>
            </a:r>
            <a:r>
              <a:rPr b="0" i="0" lang="es-AR" sz="2600" u="none" cap="none" strike="noStrike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()</a:t>
            </a:r>
            <a: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br>
              <a:rPr b="1" i="0" lang="es-AR" sz="2600" u="none" cap="none" strike="noStrike">
                <a:solidFill>
                  <a:srgbClr val="FF7B61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Vacía el </a:t>
            </a:r>
            <a:r>
              <a:rPr lang="es-AR" sz="26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diccionario</a:t>
            </a:r>
            <a:r>
              <a:rPr b="0" i="0" lang="es-AR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1" i="0" sz="2600" u="none" cap="none" strike="noStrike">
              <a:solidFill>
                <a:srgbClr val="FF7B6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9712bde053_0_301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712bde053_0_305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Java existen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Dictionary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-AR" sz="2600"/>
              <a:t>,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 </a:t>
            </a:r>
            <a:r>
              <a:rPr lang="es-AR" sz="2600"/>
              <a:t>y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Map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-AR" sz="2600"/>
              <a:t>,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Nuevamente hay una clase deprecada y una interfaz diferente.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Vamos a trabajar ignorándolas, de una forma más “pura”.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Interfaz: </a:t>
            </a:r>
            <a:r>
              <a:rPr lang="es-AR" sz="2600">
                <a:solidFill>
                  <a:srgbClr val="43FFF5"/>
                </a:solidFill>
                <a:latin typeface="Roboto Mono"/>
                <a:ea typeface="Roboto Mono"/>
                <a:cs typeface="Roboto Mono"/>
                <a:sym typeface="Roboto Mono"/>
              </a:rPr>
              <a:t>SimpleDictionary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-AR" sz="2600"/>
              <a:t>,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Clases</a:t>
            </a:r>
            <a:r>
              <a:rPr lang="es-AR" sz="2600"/>
              <a:t>: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SimpleArrayDictionary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-AR" sz="2600"/>
              <a:t>,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 y </a:t>
            </a:r>
            <a:br>
              <a:rPr lang="es-AR" sz="2600"/>
            </a:br>
            <a:r>
              <a:rPr lang="es-AR" sz="2600"/>
              <a:t>            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SimpleLinkedDictionary</a:t>
            </a:r>
            <a:r>
              <a:rPr lang="es-AR" sz="2600">
                <a:solidFill>
                  <a:srgbClr val="FEFEFE"/>
                </a:solidFill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-AR" sz="2600"/>
              <a:t>,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Tiramos </a:t>
            </a:r>
            <a:r>
              <a:rPr lang="es-AR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NullPointer</a:t>
            </a:r>
            <a:r>
              <a:rPr lang="es-AR" sz="2600">
                <a:solidFill>
                  <a:srgbClr val="ADFF66"/>
                </a:solidFill>
                <a:latin typeface="Roboto Mono"/>
                <a:ea typeface="Roboto Mono"/>
                <a:cs typeface="Roboto Mono"/>
                <a:sym typeface="Roboto Mono"/>
              </a:rPr>
              <a:t>Exception</a:t>
            </a:r>
            <a:r>
              <a:rPr lang="es-AR" sz="2600"/>
              <a:t> con keys y values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/>
              <a:t>.</a:t>
            </a:r>
            <a:endParaRPr sz="2600"/>
          </a:p>
        </p:txBody>
      </p:sp>
      <p:sp>
        <p:nvSpPr>
          <p:cNvPr id="161" name="Google Shape;161;g39712bde053_0_30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971c1e9b51_0_11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 complejidad temporal es igual en ambas implementaciones.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Todos los procesos básicos son O(n).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En algún punto se debe iterar sobre todas las keys, igual que en Set.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containsKey</a:t>
            </a:r>
            <a:r>
              <a:rPr lang="es-AR" sz="2600"/>
              <a:t>: para chequear si existe.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put</a:t>
            </a:r>
            <a:r>
              <a:rPr lang="es-AR" sz="2600"/>
              <a:t>: para ver si reemplaza o agrega.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remove</a:t>
            </a:r>
            <a:r>
              <a:rPr lang="es-AR" sz="2600"/>
              <a:t>: para ver si puede remover o no.</a:t>
            </a:r>
            <a:endParaRPr sz="2600"/>
          </a:p>
        </p:txBody>
      </p:sp>
      <p:sp>
        <p:nvSpPr>
          <p:cNvPr id="167" name="Google Shape;167;g3971c1e9b51_0_11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712bde053_0_311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ESTÁTICA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71c1e9b51_0_0"/>
          <p:cNvSpPr txBox="1"/>
          <p:nvPr>
            <p:ph idx="1" type="body"/>
          </p:nvPr>
        </p:nvSpPr>
        <p:spPr>
          <a:xfrm>
            <a:off x="290946" y="2286000"/>
            <a:ext cx="11568600" cy="4255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Exactamente igual que Set.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Vuelven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validateSize</a:t>
            </a:r>
            <a:r>
              <a:rPr lang="es-AR" sz="2600"/>
              <a:t> y </a:t>
            </a:r>
            <a:r>
              <a:rPr lang="es-AR" sz="2600">
                <a:solidFill>
                  <a:srgbClr val="00CF37"/>
                </a:solidFill>
                <a:latin typeface="Roboto Mono"/>
                <a:ea typeface="Roboto Mono"/>
                <a:cs typeface="Roboto Mono"/>
                <a:sym typeface="Roboto Mono"/>
              </a:rPr>
              <a:t>resize</a:t>
            </a:r>
            <a:r>
              <a:rPr lang="es-AR" sz="2600"/>
              <a:t> </a:t>
            </a:r>
            <a:r>
              <a:rPr lang="es-AR" sz="2600"/>
              <a:t>como en otras estructuras.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El orden no se garantiza, entonces </a:t>
            </a:r>
            <a:r>
              <a:rPr lang="es-AR" sz="2600">
                <a:solidFill>
                  <a:srgbClr val="FF7B61"/>
                </a:solidFill>
              </a:rPr>
              <a:t>no corremos todo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remover, </a:t>
            </a:r>
            <a:r>
              <a:rPr lang="es-AR" sz="2600">
                <a:solidFill>
                  <a:srgbClr val="FF7B61"/>
                </a:solidFill>
              </a:rPr>
              <a:t>solo se mueve el último elemento al lugar vacío</a:t>
            </a:r>
            <a:r>
              <a:rPr lang="es-AR" sz="2600"/>
              <a:t>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Nulleamos el último o único elemento al remover.</a:t>
            </a:r>
            <a:endParaRPr sz="2600"/>
          </a:p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Para insertar, siempre al final (luego de iterar e intentar reemplazar).</a:t>
            </a:r>
            <a:endParaRPr sz="2600"/>
          </a:p>
        </p:txBody>
      </p:sp>
      <p:sp>
        <p:nvSpPr>
          <p:cNvPr id="178" name="Google Shape;178;g3971c1e9b51_0_0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ESTÁTICA</a:t>
            </a:r>
            <a:endParaRPr b="1" i="0" sz="4000" u="none" cap="none" strike="noStrike">
              <a:solidFill>
                <a:srgbClr val="FEFEFE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712bde053_0_315"/>
          <p:cNvSpPr txBox="1"/>
          <p:nvPr>
            <p:ph idx="4294967295" type="ctrTitle"/>
          </p:nvPr>
        </p:nvSpPr>
        <p:spPr>
          <a:xfrm>
            <a:off x="332509" y="1872886"/>
            <a:ext cx="11526900" cy="31122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FFF5"/>
              </a:buClr>
              <a:buSzPts val="6600"/>
              <a:buFont typeface="Century Gothic"/>
              <a:buNone/>
            </a:pPr>
            <a:r>
              <a:rPr b="1" i="0" lang="es-AR" sz="6600" u="none" cap="none" strike="noStrike">
                <a:solidFill>
                  <a:srgbClr val="43FFF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DINÁMICA</a:t>
            </a:r>
            <a:endParaRPr b="1" i="0" sz="6600" u="none" cap="none" strike="noStrike">
              <a:solidFill>
                <a:srgbClr val="43FFF5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712bde053_0_165"/>
          <p:cNvSpPr txBox="1"/>
          <p:nvPr>
            <p:ph idx="1" type="body"/>
          </p:nvPr>
        </p:nvSpPr>
        <p:spPr>
          <a:xfrm>
            <a:off x="290946" y="2286000"/>
            <a:ext cx="11568600" cy="41247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❖"/>
            </a:pPr>
            <a:r>
              <a:rPr lang="es-AR" sz="2600"/>
              <a:t>Vamos a necesitar un nuevo </a:t>
            </a:r>
            <a:r>
              <a:rPr lang="es-AR" sz="2600">
                <a:solidFill>
                  <a:srgbClr val="66B0FF"/>
                </a:solidFill>
                <a:latin typeface="Roboto Mono"/>
                <a:ea typeface="Roboto Mono"/>
                <a:cs typeface="Roboto Mono"/>
                <a:sym typeface="Roboto Mono"/>
              </a:rPr>
              <a:t>SimpleDictionaryNode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&lt;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K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s-AR" sz="2600">
                <a:solidFill>
                  <a:srgbClr val="BD5BFF"/>
                </a:solidFill>
                <a:latin typeface="Roboto Mono"/>
                <a:ea typeface="Roboto Mono"/>
                <a:cs typeface="Roboto Mono"/>
                <a:sym typeface="Roboto Mono"/>
              </a:rPr>
              <a:t>V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r>
              <a:rPr lang="es-AR" sz="2600"/>
              <a:t>.</a:t>
            </a:r>
            <a:endParaRPr sz="2600"/>
          </a:p>
          <a:p>
            <a:pPr indent="-27305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500"/>
              <a:buFont typeface="Noto Sans Symbols"/>
              <a:buChar char="❖"/>
            </a:pPr>
            <a:r>
              <a:rPr lang="es-AR" sz="2600"/>
              <a:t>Va a tener 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/>
              <a:t>, 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value</a:t>
            </a:r>
            <a:r>
              <a:rPr lang="es-AR" sz="2600"/>
              <a:t>, y </a:t>
            </a:r>
            <a:r>
              <a:rPr lang="es-AR" sz="2600"/>
              <a:t>sólo</a:t>
            </a:r>
            <a:r>
              <a:rPr lang="es-AR" sz="2600"/>
              <a:t> 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AR" sz="2600"/>
              <a:t> o 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prev</a:t>
            </a:r>
            <a:r>
              <a:rPr lang="es-AR" sz="2600"/>
              <a:t> (simplemente enlazada).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Las operaciones únicas siguen siendo O(n) debido a las búsquedas.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Iteramos con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!= 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es-AR" sz="2600"/>
              <a:t> ya que es </a:t>
            </a:r>
            <a:r>
              <a:rPr lang="es-AR" sz="2600"/>
              <a:t>enlace simple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Preguntamos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FF7B61"/>
                </a:solidFill>
                <a:latin typeface="Roboto Mono"/>
                <a:ea typeface="Roboto Mono"/>
                <a:cs typeface="Roboto Mono"/>
                <a:sym typeface="Roboto Mono"/>
              </a:rPr>
              <a:t>equals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s-AR" sz="2600">
                <a:solidFill>
                  <a:srgbClr val="7790FE"/>
                </a:solidFill>
                <a:latin typeface="Roboto Mono"/>
                <a:ea typeface="Roboto Mono"/>
                <a:cs typeface="Roboto Mono"/>
                <a:sym typeface="Roboto Mono"/>
              </a:rPr>
              <a:t>key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s-AR" sz="2600"/>
              <a:t> por la misma razón.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Reconectamos con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s-AR" sz="26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current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AR" sz="2600">
                <a:latin typeface="Roboto Mono"/>
                <a:ea typeface="Roboto Mono"/>
                <a:cs typeface="Roboto Mono"/>
                <a:sym typeface="Roboto Mono"/>
              </a:rPr>
              <a:t>.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next</a:t>
            </a:r>
            <a:r>
              <a:rPr lang="es-AR" sz="2600"/>
              <a:t>.</a:t>
            </a:r>
            <a:endParaRPr sz="2600"/>
          </a:p>
          <a:p>
            <a:pPr indent="-279400" lvl="0" marL="3429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600"/>
              <a:buChar char="❖"/>
            </a:pPr>
            <a:r>
              <a:rPr lang="es-AR" sz="2600"/>
              <a:t>Caso especial si está vacío o el </a:t>
            </a:r>
            <a:r>
              <a:rPr lang="es-AR" sz="2600">
                <a:solidFill>
                  <a:srgbClr val="56F4FF"/>
                </a:solidFill>
                <a:latin typeface="Roboto Mono"/>
                <a:ea typeface="Roboto Mono"/>
                <a:cs typeface="Roboto Mono"/>
                <a:sym typeface="Roboto Mono"/>
              </a:rPr>
              <a:t>first</a:t>
            </a:r>
            <a:r>
              <a:rPr lang="es-AR" sz="2600"/>
              <a:t> tiene la key que buscamos.</a:t>
            </a:r>
            <a:endParaRPr sz="2600"/>
          </a:p>
        </p:txBody>
      </p:sp>
      <p:sp>
        <p:nvSpPr>
          <p:cNvPr id="189" name="Google Shape;189;g39712bde053_0_165"/>
          <p:cNvSpPr txBox="1"/>
          <p:nvPr/>
        </p:nvSpPr>
        <p:spPr>
          <a:xfrm>
            <a:off x="927274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s-AR" sz="4000" u="none" cap="none" strike="noStrik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IMPLEMENTACIÓN DINÁMICA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Quotable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0A0978C92AED346A5B2D7523A4F38C1" ma:contentTypeVersion="11" ma:contentTypeDescription="Create a new document." ma:contentTypeScope="" ma:versionID="9b7c089625d03db1c6ed6f35da32867c">
  <xsd:schema xmlns:xsd="http://www.w3.org/2001/XMLSchema" xmlns:xs="http://www.w3.org/2001/XMLSchema" xmlns:p="http://schemas.microsoft.com/office/2006/metadata/properties" xmlns:ns2="6817ed02-5f63-452f-a9ab-4e2e87cdde74" xmlns:ns3="d9712c82-8ca0-418e-ada4-f7c700f483f3" targetNamespace="http://schemas.microsoft.com/office/2006/metadata/properties" ma:root="true" ma:fieldsID="3a7b83f13e99b01aa6e51fa71a333831" ns2:_="" ns3:_="">
    <xsd:import namespace="6817ed02-5f63-452f-a9ab-4e2e87cdde74"/>
    <xsd:import namespace="d9712c82-8ca0-418e-ada4-f7c700f483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17ed02-5f63-452f-a9ab-4e2e87cdde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12c82-8ca0-418e-ada4-f7c700f483f3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faab1de-4294-47d5-a1a3-1b1d16ca90d5}" ma:internalName="TaxCatchAll" ma:showField="CatchAllData" ma:web="d9712c82-8ca0-418e-ada4-f7c700f483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817ed02-5f63-452f-a9ab-4e2e87cdde74">
      <Terms xmlns="http://schemas.microsoft.com/office/infopath/2007/PartnerControls"/>
    </lcf76f155ced4ddcb4097134ff3c332f>
    <TaxCatchAll xmlns="d9712c82-8ca0-418e-ada4-f7c700f483f3" xsi:nil="true"/>
  </documentManagement>
</p:properties>
</file>

<file path=customXml/itemProps1.xml><?xml version="1.0" encoding="utf-8"?>
<ds:datastoreItem xmlns:ds="http://schemas.openxmlformats.org/officeDocument/2006/customXml" ds:itemID="{4AC58FB7-9055-4744-BFB2-B3416EEC5F9E}"/>
</file>

<file path=customXml/itemProps2.xml><?xml version="1.0" encoding="utf-8"?>
<ds:datastoreItem xmlns:ds="http://schemas.openxmlformats.org/officeDocument/2006/customXml" ds:itemID="{738EA340-56E3-4939-BB39-D6085F2AACE6}"/>
</file>

<file path=customXml/itemProps3.xml><?xml version="1.0" encoding="utf-8"?>
<ds:datastoreItem xmlns:ds="http://schemas.openxmlformats.org/officeDocument/2006/customXml" ds:itemID="{92E8C3C1-FF0C-418B-A0C3-A7981EB7AB16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Pardo</dc:creator>
  <dcterms:created xsi:type="dcterms:W3CDTF">2018-04-10T17:58:03Z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0x010100B0A0978C92AED346A5B2D7523A4F38C1</vt:lpwstr>
  </property>
</Properties>
</file>