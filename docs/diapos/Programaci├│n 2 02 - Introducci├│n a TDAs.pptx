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gnV4aXRuiEueUJND1U0GUyjP+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RobotoMono-regular.fntdata"/><Relationship Id="rId21" Type="http://schemas.openxmlformats.org/officeDocument/2006/relationships/font" Target="fonts/RobotoMono-boldItalic.fntdata"/><Relationship Id="rId3" Type="http://schemas.openxmlformats.org/officeDocument/2006/relationships/presProps" Target="presProps.xml"/><Relationship Id="rId25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obotoMono-italic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3.xml"/><Relationship Id="rId24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font" Target="fonts/RobotoMono-bold.fntdata"/><Relationship Id="rId22" Type="http://schemas.openxmlformats.org/officeDocument/2006/relationships/font" Target="fonts/CenturyGothic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6218728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6218728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2187284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62187284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2187284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962187284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62187284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962187284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2187284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962187284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2187284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962187284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62187284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62187284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419"/>
              <a:t>Introducción a TDAs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1" lang="es-419" sz="4000">
                <a:solidFill>
                  <a:srgbClr val="A5A5A5"/>
                </a:solidFill>
              </a:rPr>
              <a:t>Estructuras de Datos</a:t>
            </a:r>
            <a:endParaRPr b="1" i="1" sz="4000">
              <a:solidFill>
                <a:srgbClr val="A5A5A5"/>
              </a:solidFill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4"/>
          <p:cNvSpPr txBox="1"/>
          <p:nvPr>
            <p:ph idx="4294967295" type="ctrTitle"/>
          </p:nvPr>
        </p:nvSpPr>
        <p:spPr>
          <a:xfrm>
            <a:off x="1814818" y="2346754"/>
            <a:ext cx="8562363" cy="21644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TDAs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32" name="Google Shape;132;p75"/>
          <p:cNvSpPr txBox="1"/>
          <p:nvPr>
            <p:ph idx="1" type="body"/>
          </p:nvPr>
        </p:nvSpPr>
        <p:spPr>
          <a:xfrm>
            <a:off x="314241" y="2507512"/>
            <a:ext cx="11555272" cy="407108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Los </a:t>
            </a:r>
            <a:r>
              <a:rPr b="1" lang="es-419" sz="2600">
                <a:solidFill>
                  <a:srgbClr val="FF7B61"/>
                </a:solidFill>
              </a:rPr>
              <a:t>Tipos de Dato Abstractos</a:t>
            </a:r>
            <a:r>
              <a:rPr lang="es-419" sz="2600"/>
              <a:t> son </a:t>
            </a:r>
            <a:r>
              <a:rPr lang="es-419" sz="2600">
                <a:solidFill>
                  <a:srgbClr val="FF7B61"/>
                </a:solidFill>
              </a:rPr>
              <a:t>modelos</a:t>
            </a:r>
            <a:r>
              <a:rPr lang="es-419" sz="2600"/>
              <a:t> de estructuras de datos.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Son </a:t>
            </a:r>
            <a:r>
              <a:rPr lang="es-419" sz="2600">
                <a:solidFill>
                  <a:srgbClr val="FF7B61"/>
                </a:solidFill>
              </a:rPr>
              <a:t>conceptuales</a:t>
            </a:r>
            <a:r>
              <a:rPr lang="es-419" sz="2600">
                <a:solidFill>
                  <a:srgbClr val="FFFFFF"/>
                </a:solidFill>
              </a:rPr>
              <a:t>, definen </a:t>
            </a:r>
            <a:r>
              <a:rPr lang="es-419" sz="2600">
                <a:solidFill>
                  <a:srgbClr val="FF7B61"/>
                </a:solidFill>
              </a:rPr>
              <a:t>comportamientos</a:t>
            </a:r>
            <a:r>
              <a:rPr lang="es-419" sz="2600">
                <a:solidFill>
                  <a:srgbClr val="FFFFFF"/>
                </a:solidFill>
              </a:rPr>
              <a:t> y </a:t>
            </a:r>
            <a:r>
              <a:rPr lang="es-419" sz="2600">
                <a:solidFill>
                  <a:srgbClr val="FF7B61"/>
                </a:solidFill>
              </a:rPr>
              <a:t>operaciones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Importa </a:t>
            </a:r>
            <a:r>
              <a:rPr i="1" lang="es-419" sz="2600">
                <a:solidFill>
                  <a:srgbClr val="FFFFFF"/>
                </a:solidFill>
              </a:rPr>
              <a:t>qué</a:t>
            </a:r>
            <a:r>
              <a:rPr lang="es-419" sz="2600">
                <a:solidFill>
                  <a:srgbClr val="FFFFFF"/>
                </a:solidFill>
              </a:rPr>
              <a:t> hacen, no </a:t>
            </a:r>
            <a:r>
              <a:rPr i="1" lang="es-419" sz="2600">
                <a:solidFill>
                  <a:srgbClr val="FFFFFF"/>
                </a:solidFill>
              </a:rPr>
              <a:t>cómo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 sz="2600">
              <a:solidFill>
                <a:srgbClr val="FFFFFF"/>
              </a:solidFill>
            </a:endParaRPr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Por esta razón los TDAs van de la mano de las interfaces.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Las interfaces </a:t>
            </a:r>
            <a:r>
              <a:rPr lang="es-419" sz="2600">
                <a:solidFill>
                  <a:srgbClr val="FF7B61"/>
                </a:solidFill>
              </a:rPr>
              <a:t>fuerzan el comportamiento abstracto</a:t>
            </a:r>
            <a:r>
              <a:rPr lang="es-419" sz="2600"/>
              <a:t> del TDA.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38" name="Google Shape;138;p77"/>
          <p:cNvSpPr txBox="1"/>
          <p:nvPr>
            <p:ph idx="1" type="body"/>
          </p:nvPr>
        </p:nvSpPr>
        <p:spPr>
          <a:xfrm>
            <a:off x="314241" y="2507512"/>
            <a:ext cx="11555272" cy="407108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Cuando decimos abstracto no confundir con la keyword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abstract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abstract</a:t>
            </a:r>
            <a:r>
              <a:rPr lang="es-419" sz="2600">
                <a:solidFill>
                  <a:srgbClr val="FFFFFF"/>
                </a:solidFill>
              </a:rPr>
              <a:t> hace que una clase </a:t>
            </a:r>
            <a:r>
              <a:rPr lang="es-419" sz="2600">
                <a:solidFill>
                  <a:srgbClr val="FF7B61"/>
                </a:solidFill>
              </a:rPr>
              <a:t>no pueda ser instanciada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Sirve para </a:t>
            </a:r>
            <a:r>
              <a:rPr lang="es-419" sz="2600">
                <a:solidFill>
                  <a:srgbClr val="FF7B61"/>
                </a:solidFill>
              </a:rPr>
              <a:t>obligar a crear clases que hereden</a:t>
            </a:r>
            <a:r>
              <a:rPr lang="es-419" sz="2600">
                <a:solidFill>
                  <a:srgbClr val="FFFFFF"/>
                </a:solidFill>
              </a:rPr>
              <a:t> de la clase abstracta.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21872847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44" name="Google Shape;144;g39621872847_0_0"/>
          <p:cNvSpPr txBox="1"/>
          <p:nvPr>
            <p:ph idx="1" type="body"/>
          </p:nvPr>
        </p:nvSpPr>
        <p:spPr>
          <a:xfrm>
            <a:off x="314241" y="2507512"/>
            <a:ext cx="115554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Un</a:t>
            </a:r>
            <a:r>
              <a:rPr lang="es-419" sz="2600"/>
              <a:t> TDA tiene dos partes principales: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419" sz="2600">
                <a:solidFill>
                  <a:srgbClr val="FF7B61"/>
                </a:solidFill>
              </a:rPr>
              <a:t>Especificación</a:t>
            </a:r>
            <a:r>
              <a:rPr lang="es-419" sz="2600"/>
              <a:t>: modelo de qué comportamientos debería tener.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419" sz="2600"/>
              <a:t>Se expresa con una </a:t>
            </a:r>
            <a:r>
              <a:rPr lang="es-419" sz="2600">
                <a:solidFill>
                  <a:srgbClr val="FF7B61"/>
                </a:solidFill>
              </a:rPr>
              <a:t>interfaz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419" sz="2600">
                <a:solidFill>
                  <a:srgbClr val="FF7B61"/>
                </a:solidFill>
              </a:rPr>
              <a:t>Implementación</a:t>
            </a:r>
            <a:r>
              <a:rPr lang="es-419" sz="2600"/>
              <a:t>: programación de dichos comportamientos.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➢"/>
            </a:pPr>
            <a:r>
              <a:rPr lang="es-419" sz="2600"/>
              <a:t>Se realiza mediante </a:t>
            </a:r>
            <a:r>
              <a:rPr lang="es-419" sz="2600">
                <a:solidFill>
                  <a:srgbClr val="FF7B61"/>
                </a:solidFill>
              </a:rPr>
              <a:t>clases</a:t>
            </a:r>
            <a:r>
              <a:rPr lang="es-419" sz="2600"/>
              <a:t> que implementan la interfaz.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21872847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50" name="Google Shape;150;g39621872847_0_5"/>
          <p:cNvSpPr txBox="1"/>
          <p:nvPr>
            <p:ph idx="1" type="body"/>
          </p:nvPr>
        </p:nvSpPr>
        <p:spPr>
          <a:xfrm>
            <a:off x="314241" y="2507512"/>
            <a:ext cx="115554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A su vez, existen implementaciones </a:t>
            </a:r>
            <a:r>
              <a:rPr b="1" lang="es-419" sz="2600">
                <a:solidFill>
                  <a:srgbClr val="FF7B61"/>
                </a:solidFill>
              </a:rPr>
              <a:t>estáticas</a:t>
            </a:r>
            <a:r>
              <a:rPr lang="es-419" sz="2600"/>
              <a:t> y </a:t>
            </a:r>
            <a:r>
              <a:rPr b="1" lang="es-419" sz="2600">
                <a:solidFill>
                  <a:srgbClr val="FF7B61"/>
                </a:solidFill>
              </a:rPr>
              <a:t>dinámicas</a:t>
            </a:r>
            <a:r>
              <a:rPr lang="es-419" sz="2600"/>
              <a:t>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419" sz="2600">
                <a:solidFill>
                  <a:srgbClr val="FF7B61"/>
                </a:solidFill>
              </a:rPr>
              <a:t>Estáticas</a:t>
            </a:r>
            <a:r>
              <a:rPr lang="es-419" sz="2600"/>
              <a:t>: internamente utilizan un </a:t>
            </a:r>
            <a:r>
              <a:rPr b="1" lang="es-419" sz="2600">
                <a:solidFill>
                  <a:srgbClr val="FF7B61"/>
                </a:solidFill>
              </a:rPr>
              <a:t>array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419" sz="2600">
                <a:solidFill>
                  <a:srgbClr val="FF7B61"/>
                </a:solidFill>
              </a:rPr>
              <a:t>Dinámicas</a:t>
            </a:r>
            <a:r>
              <a:rPr lang="es-419" sz="2600"/>
              <a:t>: internamente usan </a:t>
            </a:r>
            <a:r>
              <a:rPr b="1" lang="es-419" sz="2600">
                <a:solidFill>
                  <a:srgbClr val="FF7B61"/>
                </a:solidFill>
              </a:rPr>
              <a:t>Nodos Enlazados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621872847_0_1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56" name="Google Shape;156;g39621872847_0_14"/>
          <p:cNvSpPr txBox="1"/>
          <p:nvPr>
            <p:ph idx="1" type="body"/>
          </p:nvPr>
        </p:nvSpPr>
        <p:spPr>
          <a:xfrm>
            <a:off x="314250" y="2507510"/>
            <a:ext cx="11555400" cy="546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Ejemplo ilustrativo:</a:t>
            </a:r>
            <a:endParaRPr sz="2600"/>
          </a:p>
        </p:txBody>
      </p:sp>
      <p:pic>
        <p:nvPicPr>
          <p:cNvPr id="157" name="Google Shape;157;g39621872847_0_14" title="Array vs Linked Lis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462" y="3116375"/>
            <a:ext cx="6769076" cy="344767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66FFD6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21872847_0_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TDAs</a:t>
            </a:r>
            <a:endParaRPr/>
          </a:p>
        </p:txBody>
      </p:sp>
      <p:sp>
        <p:nvSpPr>
          <p:cNvPr id="163" name="Google Shape;163;g39621872847_0_20"/>
          <p:cNvSpPr txBox="1"/>
          <p:nvPr>
            <p:ph idx="1" type="body"/>
          </p:nvPr>
        </p:nvSpPr>
        <p:spPr>
          <a:xfrm>
            <a:off x="314241" y="2507512"/>
            <a:ext cx="115554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Las implementaciones estáticas y dinámicas </a:t>
            </a:r>
            <a:r>
              <a:rPr lang="es-419" sz="2600">
                <a:solidFill>
                  <a:srgbClr val="FF7B61"/>
                </a:solidFill>
              </a:rPr>
              <a:t>tienen pros y contras en cuanto a performance</a:t>
            </a:r>
            <a:r>
              <a:rPr lang="es-419" sz="2600"/>
              <a:t>, tanto en </a:t>
            </a:r>
            <a:r>
              <a:rPr lang="es-419" sz="2600">
                <a:solidFill>
                  <a:srgbClr val="FF7B61"/>
                </a:solidFill>
              </a:rPr>
              <a:t>velocidad</a:t>
            </a:r>
            <a:r>
              <a:rPr lang="es-419" sz="2600"/>
              <a:t> como </a:t>
            </a:r>
            <a:r>
              <a:rPr lang="es-419" sz="2600">
                <a:solidFill>
                  <a:srgbClr val="FF7B61"/>
                </a:solidFill>
              </a:rPr>
              <a:t>memoria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Las vamos a ver más adelante, y es importante tenerlas en cuenta a la hora de </a:t>
            </a:r>
            <a:r>
              <a:rPr lang="es-419" sz="2600">
                <a:solidFill>
                  <a:srgbClr val="FF7B61"/>
                </a:solidFill>
              </a:rPr>
              <a:t>elegir la implementación correcta</a:t>
            </a:r>
            <a:r>
              <a:rPr lang="es-419" sz="2600"/>
              <a:t> para cada problema.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621872847_0_10"/>
          <p:cNvSpPr txBox="1"/>
          <p:nvPr>
            <p:ph idx="4294967295" type="ctrTitle"/>
          </p:nvPr>
        </p:nvSpPr>
        <p:spPr>
          <a:xfrm>
            <a:off x="1814818" y="2346754"/>
            <a:ext cx="8562300" cy="216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</a:t>
            </a:r>
            <a:r>
              <a:rPr lang="es-419" sz="6600">
                <a:solidFill>
                  <a:srgbClr val="43FFF5"/>
                </a:solidFill>
              </a:rPr>
              <a:t> LIST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</a:t>
            </a:r>
            <a:endParaRPr/>
          </a:p>
        </p:txBody>
      </p:sp>
      <p:sp>
        <p:nvSpPr>
          <p:cNvPr id="174" name="Google Shape;174;p78"/>
          <p:cNvSpPr txBox="1"/>
          <p:nvPr>
            <p:ph idx="1" type="body"/>
          </p:nvPr>
        </p:nvSpPr>
        <p:spPr>
          <a:xfrm>
            <a:off x="314241" y="2507512"/>
            <a:ext cx="11555272" cy="407108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Tomamos por ejemplo el </a:t>
            </a:r>
            <a:r>
              <a:rPr b="1" lang="es-419" sz="2600">
                <a:solidFill>
                  <a:srgbClr val="FF7B61"/>
                </a:solidFill>
              </a:rPr>
              <a:t>TDA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b="1" lang="es-419" sz="2600">
                <a:solidFill>
                  <a:srgbClr val="FF7B61"/>
                </a:solidFill>
              </a:rPr>
              <a:t>List</a:t>
            </a:r>
            <a:r>
              <a:rPr lang="es-419" sz="2600"/>
              <a:t>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En Java, su </a:t>
            </a:r>
            <a:r>
              <a:rPr lang="es-419" sz="2600">
                <a:solidFill>
                  <a:srgbClr val="FF7B61"/>
                </a:solidFill>
              </a:rPr>
              <a:t>interfaz</a:t>
            </a:r>
            <a:r>
              <a:rPr lang="es-419" sz="2600"/>
              <a:t> es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/>
              <a:t>S</a:t>
            </a:r>
            <a:r>
              <a:rPr lang="es-419" sz="2600"/>
              <a:t>u </a:t>
            </a:r>
            <a:r>
              <a:rPr lang="es-419" sz="2600">
                <a:solidFill>
                  <a:srgbClr val="FF7B61"/>
                </a:solidFill>
              </a:rPr>
              <a:t>implementación estática</a:t>
            </a:r>
            <a:r>
              <a:rPr lang="es-419" sz="2600"/>
              <a:t> es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ArrayList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/>
              <a:t>Su </a:t>
            </a:r>
            <a:r>
              <a:rPr lang="es-419" sz="2600">
                <a:solidFill>
                  <a:srgbClr val="FF7B61"/>
                </a:solidFill>
              </a:rPr>
              <a:t>implementación dinámica</a:t>
            </a:r>
            <a:r>
              <a:rPr lang="es-419" sz="2600"/>
              <a:t> es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LinkedList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21872847_0_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</a:t>
            </a:r>
            <a:endParaRPr/>
          </a:p>
        </p:txBody>
      </p:sp>
      <p:sp>
        <p:nvSpPr>
          <p:cNvPr id="180" name="Google Shape;180;g39621872847_0_25"/>
          <p:cNvSpPr txBox="1"/>
          <p:nvPr>
            <p:ph idx="1" type="body"/>
          </p:nvPr>
        </p:nvSpPr>
        <p:spPr>
          <a:xfrm>
            <a:off x="314241" y="2507512"/>
            <a:ext cx="115554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El TDA List tiene como puntos principales</a:t>
            </a:r>
            <a:r>
              <a:rPr lang="es-419" sz="2600"/>
              <a:t>: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</a:rPr>
              <a:t>Agregar</a:t>
            </a:r>
            <a:r>
              <a:rPr lang="es-419" sz="2600"/>
              <a:t> y </a:t>
            </a:r>
            <a:r>
              <a:rPr lang="es-419" sz="2600">
                <a:solidFill>
                  <a:srgbClr val="FF7B61"/>
                </a:solidFill>
              </a:rPr>
              <a:t>remover</a:t>
            </a:r>
            <a:r>
              <a:rPr lang="es-419" sz="2600"/>
              <a:t> elementos.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</a:rPr>
              <a:t>Obtener</a:t>
            </a:r>
            <a:r>
              <a:rPr lang="es-419" sz="2600"/>
              <a:t> y </a:t>
            </a:r>
            <a:r>
              <a:rPr lang="es-419" sz="2600">
                <a:solidFill>
                  <a:srgbClr val="FF7B61"/>
                </a:solidFill>
              </a:rPr>
              <a:t>actualizar</a:t>
            </a:r>
            <a:r>
              <a:rPr lang="es-419" sz="2600"/>
              <a:t> elementos.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</a:rPr>
              <a:t>Limpiar</a:t>
            </a:r>
            <a:r>
              <a:rPr lang="es-419" sz="2600"/>
              <a:t> la lista.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Obtener la </a:t>
            </a:r>
            <a:r>
              <a:rPr lang="es-419" sz="2600">
                <a:solidFill>
                  <a:srgbClr val="FF7B61"/>
                </a:solidFill>
              </a:rPr>
              <a:t>cantidad de elementos</a:t>
            </a:r>
            <a:r>
              <a:rPr lang="es-419" sz="2600"/>
              <a:t> en la lista, y </a:t>
            </a:r>
            <a:r>
              <a:rPr lang="es-419" sz="2600">
                <a:solidFill>
                  <a:srgbClr val="FF7B61"/>
                </a:solidFill>
              </a:rPr>
              <a:t>si está vacía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Chequear </a:t>
            </a:r>
            <a:r>
              <a:rPr lang="es-419" sz="2600">
                <a:solidFill>
                  <a:srgbClr val="FF7B61"/>
                </a:solidFill>
              </a:rPr>
              <a:t>si existe</a:t>
            </a:r>
            <a:r>
              <a:rPr lang="es-419" sz="2600"/>
              <a:t> un elemento y obtener </a:t>
            </a:r>
            <a:r>
              <a:rPr lang="es-419" sz="2600">
                <a:solidFill>
                  <a:srgbClr val="FF7B61"/>
                </a:solidFill>
              </a:rPr>
              <a:t>su </a:t>
            </a:r>
            <a:r>
              <a:rPr lang="es-419" sz="2600">
                <a:solidFill>
                  <a:srgbClr val="FF7B61"/>
                </a:solidFill>
              </a:rPr>
              <a:t>índice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21872847_0_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</a:t>
            </a:r>
            <a:endParaRPr/>
          </a:p>
        </p:txBody>
      </p:sp>
      <p:sp>
        <p:nvSpPr>
          <p:cNvPr id="186" name="Google Shape;186;g39621872847_0_3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La interfaz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lang="es-419" sz="2600"/>
              <a:t>incluye</a:t>
            </a:r>
            <a:r>
              <a:rPr lang="es-419" sz="2600"/>
              <a:t>: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s-419" sz="2600"/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get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set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clear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isEmpty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indexOf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40CD4FA1-EA18-436F-96E0-0C62326B09DD}"/>
</file>

<file path=customXml/itemProps2.xml><?xml version="1.0" encoding="utf-8"?>
<ds:datastoreItem xmlns:ds="http://schemas.openxmlformats.org/officeDocument/2006/customXml" ds:itemID="{885BABCE-A466-43FC-B58E-B77A521AAD56}"/>
</file>

<file path=customXml/itemProps3.xml><?xml version="1.0" encoding="utf-8"?>
<ds:datastoreItem xmlns:ds="http://schemas.openxmlformats.org/officeDocument/2006/customXml" ds:itemID="{7C0DE158-6BA7-488D-B6B6-00B31DF6CAA0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