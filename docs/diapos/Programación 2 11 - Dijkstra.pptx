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SynUPvfT39PrQHmGZF0Y4p0ug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4" Type="http://customschemas.google.com/relationships/presentationmetadata" Target="metadata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33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24" Type="http://schemas.openxmlformats.org/officeDocument/2006/relationships/slide" Target="slides/slide1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CenturyGothic-italic.fntdata"/><Relationship Id="rId37" Type="http://schemas.openxmlformats.org/officeDocument/2006/relationships/customXml" Target="../customXml/item3.xml"/><Relationship Id="rId23" Type="http://schemas.openxmlformats.org/officeDocument/2006/relationships/slide" Target="slides/slide18.xml"/><Relationship Id="rId28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customXml" Target="../customXml/item2.xml"/><Relationship Id="rId31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RobotoMono-bold.fntdata"/><Relationship Id="rId30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35" Type="http://schemas.openxmlformats.org/officeDocument/2006/relationships/customXml" Target="../customXml/item1.xml"/><Relationship Id="rId8" Type="http://schemas.openxmlformats.org/officeDocument/2006/relationships/slide" Target="slides/slide3.xml"/><Relationship Id="rId3" Type="http://schemas.openxmlformats.org/officeDocument/2006/relationships/presProps" Target="presProps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57ec7b1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ed57ec7b1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57ec7b1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ed57ec7b1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57ec7b1c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ed57ec7b1c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d57ec7b1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ed57ec7b1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d57ec7b1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ed57ec7b1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57ec7b1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ed57ec7b1c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d57ec7b1c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ed57ec7b1c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d57ec7b1c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ed57ec7b1c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57ec7b1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ed57ec7b1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57ec7b1c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ed57ec7b1c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d57ec7b1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ed57ec7b1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d57ec7b1c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ed57ec7b1c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57ec7b1c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ed57ec7b1c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d57ec7b1c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ed57ec7b1c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d57ec7b1c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ed57ec7b1c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d57ec7b1c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ed57ec7b1c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d57ec7b1c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ed57ec7b1c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d57ec7b1c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ed57ec7b1c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d57ec7b1c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ed57ec7b1c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Dijkstra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57ec7b1c_0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d57ec7b1c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El </a:t>
            </a:r>
            <a:r>
              <a:rPr b="1" lang="es-AR" sz="2600">
                <a:solidFill>
                  <a:srgbClr val="FF7B61"/>
                </a:solidFill>
              </a:rPr>
              <a:t>Algoritmo de Dijkstra</a:t>
            </a:r>
            <a:r>
              <a:rPr lang="es-AR" sz="2600">
                <a:solidFill>
                  <a:srgbClr val="FFFFFF"/>
                </a:solidFill>
              </a:rPr>
              <a:t> es un algoritmo de búsqueda en grafos.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Encuentra la </a:t>
            </a:r>
            <a:r>
              <a:rPr b="1" lang="es-AR" sz="2600">
                <a:solidFill>
                  <a:srgbClr val="FF7B61"/>
                </a:solidFill>
              </a:rPr>
              <a:t>distancia mínima</a:t>
            </a:r>
            <a:r>
              <a:rPr lang="es-AR" sz="2600">
                <a:solidFill>
                  <a:srgbClr val="FFFFFF"/>
                </a:solidFill>
              </a:rPr>
              <a:t> desde un nodo a todos los demás.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Solo funciona en grafos ponderados </a:t>
            </a:r>
            <a:r>
              <a:rPr b="1" lang="es-AR" sz="2600">
                <a:solidFill>
                  <a:srgbClr val="FF7B61"/>
                </a:solidFill>
              </a:rPr>
              <a:t>sin pesos negativos.</a:t>
            </a:r>
            <a:endParaRPr/>
          </a:p>
        </p:txBody>
      </p:sp>
      <p:sp>
        <p:nvSpPr>
          <p:cNvPr id="132" name="Google Shape;132;g3ed57ec7b1c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DEFINICIÓN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57ec7b1c_0_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Fué desarrollado por </a:t>
            </a:r>
            <a:r>
              <a:rPr b="1" lang="es-AR" sz="2600">
                <a:solidFill>
                  <a:srgbClr val="FF7B61"/>
                </a:solidFill>
              </a:rPr>
              <a:t>Edsger Dijkstra</a:t>
            </a:r>
            <a:r>
              <a:rPr lang="es-AR" sz="2600">
                <a:solidFill>
                  <a:srgbClr val="FFFFFF"/>
                </a:solidFill>
              </a:rPr>
              <a:t> en 1956.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Desde entonces existen muchas variantes con ligeras diferencias.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Hay variantes para buscar el camino más corto entre 2 nodos.</a:t>
            </a:r>
            <a:endParaRPr/>
          </a:p>
        </p:txBody>
      </p:sp>
      <p:sp>
        <p:nvSpPr>
          <p:cNvPr id="138" name="Google Shape;138;g3ed57ec7b1c_0_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DEFINICIÓN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57ec7b1c_0_1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Dijkstra recibe un nodo inicial y un grafo.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Devuelve una "tabla" con cada nodo, su distancia y nodo previo.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Trabaja con colecciones de nodos visitados y no visitados.</a:t>
            </a:r>
            <a:endParaRPr/>
          </a:p>
        </p:txBody>
      </p:sp>
      <p:sp>
        <p:nvSpPr>
          <p:cNvPr id="144" name="Google Shape;144;g3ed57ec7b1c_0_1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57ec7b1c_0_1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84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AutoNum type="arabicPeriod"/>
            </a:pPr>
            <a:r>
              <a:rPr lang="es-AR" sz="2600"/>
              <a:t>Asignar valores iniciales.</a:t>
            </a:r>
            <a:endParaRPr/>
          </a:p>
          <a:p>
            <a:pPr indent="-514350" lvl="0" marL="584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AutoNum type="arabicPeriod"/>
            </a:pPr>
            <a:r>
              <a:rPr lang="es-AR" sz="2600"/>
              <a:t>Seleccionar el nodo no visitado más cercano al origen.</a:t>
            </a:r>
            <a:endParaRPr/>
          </a:p>
          <a:p>
            <a:pPr indent="-514350" lvl="0" marL="584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AutoNum type="arabicPeriod"/>
            </a:pPr>
            <a:r>
              <a:rPr lang="es-AR" sz="2600"/>
              <a:t>Actualizar valores de los vecinos al nodo seleccionado.</a:t>
            </a:r>
            <a:endParaRPr/>
          </a:p>
          <a:p>
            <a:pPr indent="-514350" lvl="0" marL="584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AutoNum type="arabicPeriod"/>
            </a:pPr>
            <a:r>
              <a:rPr lang="es-AR" sz="2600"/>
              <a:t>Marcar el nodo como visitado.</a:t>
            </a:r>
            <a:endParaRPr/>
          </a:p>
          <a:p>
            <a:pPr indent="-514350" lvl="0" marL="584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AutoNum type="arabicPeriod"/>
            </a:pPr>
            <a:r>
              <a:rPr lang="es-AR" sz="2600"/>
              <a:t>Repetir.</a:t>
            </a:r>
            <a:endParaRPr/>
          </a:p>
        </p:txBody>
      </p:sp>
      <p:sp>
        <p:nvSpPr>
          <p:cNvPr id="150" name="Google Shape;150;g3ed57ec7b1c_0_1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57ec7b1c_0_2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None/>
            </a:pPr>
            <a:r>
              <a:rPr b="1" lang="es-AR" sz="2600">
                <a:solidFill>
                  <a:srgbClr val="FF7B61"/>
                </a:solidFill>
              </a:rPr>
              <a:t>Asignar valores iniciales:</a:t>
            </a:r>
            <a:endParaRPr b="1">
              <a:solidFill>
                <a:srgbClr val="FF7B6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Para el nodo inicial, su distancia es 0 y su previo null.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Para los demás, distancia infinita o m</a:t>
            </a:r>
            <a:r>
              <a:rPr lang="es-AR" sz="2600"/>
              <a:t>áxima</a:t>
            </a:r>
            <a:r>
              <a:rPr lang="es-AR" sz="2600"/>
              <a:t> y previo null.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Los nodos van a una Cola de Prioridad, Cola o Lista.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Lo importante es poder tomar el nodo más cercano al origen.</a:t>
            </a:r>
            <a:endParaRPr/>
          </a:p>
        </p:txBody>
      </p:sp>
      <p:sp>
        <p:nvSpPr>
          <p:cNvPr id="156" name="Google Shape;156;g3ed57ec7b1c_0_2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57ec7b1c_0_2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None/>
            </a:pPr>
            <a:r>
              <a:rPr b="1" lang="es-AR" sz="2600">
                <a:solidFill>
                  <a:srgbClr val="FF7B61"/>
                </a:solidFill>
              </a:rPr>
              <a:t>Seleccionar el nodo no visitado más cercano al origen:</a:t>
            </a:r>
            <a:endParaRPr b="1">
              <a:solidFill>
                <a:srgbClr val="FF7B6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De la cola de no visitados, sacamos el más cercano al origen.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cola con prioridad hace esto autom</a:t>
            </a:r>
            <a:r>
              <a:rPr lang="es-AR" sz="2600"/>
              <a:t>áticamente.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Si no la usamos, podemos ordenar manualmente por otros medios.</a:t>
            </a:r>
            <a:endParaRPr/>
          </a:p>
        </p:txBody>
      </p:sp>
      <p:sp>
        <p:nvSpPr>
          <p:cNvPr id="162" name="Google Shape;162;g3ed57ec7b1c_0_2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57ec7b1c_0_3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1800"/>
              <a:buNone/>
            </a:pPr>
            <a:r>
              <a:rPr b="1" lang="es-AR" sz="2600">
                <a:solidFill>
                  <a:srgbClr val="FF7B61"/>
                </a:solidFill>
              </a:rPr>
              <a:t>Actualizar valores de los vecinos al nodo seleccionado:</a:t>
            </a:r>
            <a:endParaRPr b="1" sz="2600">
              <a:solidFill>
                <a:srgbClr val="FF7B6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Sumamos el costo total del nodo + el costo a cada vecino.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Si esa suma es menor al costo total del vecino, lo actualizamos.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El nuevo costo del vecino es dicha suma, y su anterior es el actual.</a:t>
            </a:r>
            <a:endParaRPr/>
          </a:p>
        </p:txBody>
      </p:sp>
      <p:sp>
        <p:nvSpPr>
          <p:cNvPr id="168" name="Google Shape;168;g3ed57ec7b1c_0_3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57ec7b1c_0_3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2600">
                <a:solidFill>
                  <a:srgbClr val="FF7B61"/>
                </a:solidFill>
              </a:rPr>
              <a:t>Marcar el nodo como visitado:</a:t>
            </a:r>
            <a:endParaRPr b="1">
              <a:solidFill>
                <a:srgbClr val="FF7B6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Agregamos al nodo a la colección de visitados.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Ya sabemos cuál es su distancia mínima al origen y su nodo anterior.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No lo vamos a actualizar más.</a:t>
            </a:r>
            <a:endParaRPr/>
          </a:p>
        </p:txBody>
      </p:sp>
      <p:sp>
        <p:nvSpPr>
          <p:cNvPr id="174" name="Google Shape;174;g3ed57ec7b1c_0_3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d57ec7b1c_0_4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9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2600">
                <a:solidFill>
                  <a:srgbClr val="FF7B61"/>
                </a:solidFill>
              </a:rPr>
              <a:t>Repetir:</a:t>
            </a:r>
            <a:endParaRPr b="1">
              <a:solidFill>
                <a:srgbClr val="FF7B6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Seguimos sacando nodos no visitados hasta haberlos visto todos.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/>
              <a:t>Eventualmente vamos a completar la tabla.</a:t>
            </a:r>
            <a:endParaRPr/>
          </a:p>
        </p:txBody>
      </p:sp>
      <p:sp>
        <p:nvSpPr>
          <p:cNvPr id="180" name="Google Shape;180;g3ed57ec7b1c_0_4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d57ec7b1c_0_4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Una vez que termina el proceso, podemos reconstruir los caminos.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Tomamos un nodo, vemos su previo, el previo del previo, etc.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Seguimos hasta encontrar el nodo origen.</a:t>
            </a:r>
            <a:endParaRPr/>
          </a:p>
        </p:txBody>
      </p:sp>
      <p:sp>
        <p:nvSpPr>
          <p:cNvPr id="186" name="Google Shape;186;g3ed57ec7b1c_0_4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PASOS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d57ec7b1c_0_54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PRÁCTICA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d57ec7b1c_0_5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Simular el algoritmo de Dijkstra entre todos con este grafo:</a:t>
            </a:r>
            <a:endParaRPr/>
          </a:p>
        </p:txBody>
      </p:sp>
      <p:sp>
        <p:nvSpPr>
          <p:cNvPr id="197" name="Google Shape;197;g3ed57ec7b1c_0_5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PRÁCTICA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diagram of a network&#10;&#10;AI-generated content may be incorrect." id="198" name="Google Shape;198;g3ed57ec7b1c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932" y="3336046"/>
            <a:ext cx="5094728" cy="3105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57ec7b1c_0_64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d57ec7b1c_0_6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Vamos a representar el grafo con la </a:t>
            </a:r>
            <a:r>
              <a:rPr b="1" lang="es-AR" sz="2600">
                <a:solidFill>
                  <a:srgbClr val="FF7B61"/>
                </a:solidFill>
              </a:rPr>
              <a:t>Lista de Adyacencia</a:t>
            </a:r>
            <a:r>
              <a:rPr lang="es-AR" sz="2600"/>
              <a:t>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Funciona con matriz de adyacencia, pero es menos legible.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Como ejemplo usamos 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Character</a:t>
            </a:r>
            <a:r>
              <a:rPr lang="es-AR" sz="2600"/>
              <a:t> para nodos, pero es gen</a:t>
            </a:r>
            <a:r>
              <a:rPr lang="es-AR" sz="2600"/>
              <a:t>érico.</a:t>
            </a:r>
            <a:endParaRPr sz="2600"/>
          </a:p>
        </p:txBody>
      </p:sp>
      <p:sp>
        <p:nvSpPr>
          <p:cNvPr id="209" name="Google Shape;209;g3ed57ec7b1c_0_6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d57ec7b1c_0_7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Dijimos que la función que ejecuta Dijkstra devuelve una "tabla".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Dictionary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Edge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La key guarda cada nodo del grafo.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Edge</a:t>
            </a:r>
            <a:r>
              <a:rPr lang="es-AR" sz="2600"/>
              <a:t> guarda la combinación de nodo previo y costo total</a:t>
            </a:r>
            <a:r>
              <a:rPr lang="es-AR" sz="2600"/>
              <a:t>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No significa que haya una arista directa hacia cada nodo.</a:t>
            </a:r>
            <a:endParaRPr/>
          </a:p>
        </p:txBody>
      </p:sp>
      <p:sp>
        <p:nvSpPr>
          <p:cNvPr id="215" name="Google Shape;215;g3ed57ec7b1c_0_7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57ec7b1c_0_83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Por otra parte, recibe por parámetro el nodo inicial, y el grafo.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Arrancamos inicializando el diccionario que vamos a devolver.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Ahí inicializamos los costos de los nodos (0 inicial, infinito el resto).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Inicializamos los previos (null).</a:t>
            </a:r>
            <a:endParaRPr/>
          </a:p>
        </p:txBody>
      </p:sp>
      <p:sp>
        <p:nvSpPr>
          <p:cNvPr id="221" name="Google Shape;221;g3ed57ec7b1c_0_8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d57ec7b1c_0_8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Usamos una SimpleLinkedPriorityQueue para nodos no visitados.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Empezamos encolando el primer nodo.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Luego encolamos los vecinos y las sumas de los pesos.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Usamos un SimpleArraySet para nodos visitados.</a:t>
            </a:r>
            <a:endParaRPr/>
          </a:p>
        </p:txBody>
      </p:sp>
      <p:sp>
        <p:nvSpPr>
          <p:cNvPr id="227" name="Google Shape;227;g3ed57ec7b1c_0_8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d57ec7b1c_0_93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Finalmente, aplicamos un bucle while. 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Mientras haya algo en la cola, desencolamos un nodo y visitamos.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Pasamos por los vecinos, sumando costos y encolando.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Lo importante es seguir los pasos 3 y 4 que vimos antes.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Cuando ya visitamos todos los nodos, se devuelve el resultado.</a:t>
            </a:r>
            <a:endParaRPr/>
          </a:p>
        </p:txBody>
      </p:sp>
      <p:sp>
        <p:nvSpPr>
          <p:cNvPr id="233" name="Google Shape;233;g3ed57ec7b1c_0_9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DIJKSTRA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B28FE855-C348-4028-B272-F53E38AEDF01}"/>
</file>

<file path=customXml/itemProps2.xml><?xml version="1.0" encoding="utf-8"?>
<ds:datastoreItem xmlns:ds="http://schemas.openxmlformats.org/officeDocument/2006/customXml" ds:itemID="{BBB0568F-50A2-41E6-8E29-3B5C6DA3C665}"/>
</file>

<file path=customXml/itemProps3.xml><?xml version="1.0" encoding="utf-8"?>
<ds:datastoreItem xmlns:ds="http://schemas.openxmlformats.org/officeDocument/2006/customXml" ds:itemID="{6A294CB1-9926-4EFC-8015-9B8C4753C692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