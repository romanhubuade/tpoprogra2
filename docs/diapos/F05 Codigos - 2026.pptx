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notesSlides/notesSlide1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7" r:id="rId1"/>
  </p:sldMasterIdLst>
  <p:notesMasterIdLst>
    <p:notesMasterId r:id="rId70"/>
  </p:notes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59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9" r:id="rId26"/>
    <p:sldId id="300" r:id="rId27"/>
    <p:sldId id="345" r:id="rId28"/>
    <p:sldId id="346" r:id="rId29"/>
    <p:sldId id="348" r:id="rId30"/>
    <p:sldId id="347" r:id="rId31"/>
    <p:sldId id="349" r:id="rId32"/>
    <p:sldId id="350" r:id="rId33"/>
    <p:sldId id="351" r:id="rId34"/>
    <p:sldId id="354" r:id="rId35"/>
    <p:sldId id="301" r:id="rId36"/>
    <p:sldId id="302" r:id="rId37"/>
    <p:sldId id="303" r:id="rId38"/>
    <p:sldId id="304" r:id="rId39"/>
    <p:sldId id="305" r:id="rId40"/>
    <p:sldId id="314" r:id="rId41"/>
    <p:sldId id="315" r:id="rId42"/>
    <p:sldId id="317" r:id="rId43"/>
    <p:sldId id="318" r:id="rId44"/>
    <p:sldId id="319" r:id="rId45"/>
    <p:sldId id="321" r:id="rId46"/>
    <p:sldId id="322" r:id="rId47"/>
    <p:sldId id="323" r:id="rId48"/>
    <p:sldId id="324" r:id="rId49"/>
    <p:sldId id="325" r:id="rId50"/>
    <p:sldId id="326" r:id="rId51"/>
    <p:sldId id="327" r:id="rId52"/>
    <p:sldId id="328" r:id="rId53"/>
    <p:sldId id="329" r:id="rId54"/>
    <p:sldId id="330" r:id="rId55"/>
    <p:sldId id="332" r:id="rId56"/>
    <p:sldId id="334" r:id="rId57"/>
    <p:sldId id="337" r:id="rId58"/>
    <p:sldId id="338" r:id="rId59"/>
    <p:sldId id="339" r:id="rId60"/>
    <p:sldId id="355" r:id="rId61"/>
    <p:sldId id="340" r:id="rId62"/>
    <p:sldId id="341" r:id="rId63"/>
    <p:sldId id="352" r:id="rId64"/>
    <p:sldId id="342" r:id="rId65"/>
    <p:sldId id="353" r:id="rId66"/>
    <p:sldId id="343" r:id="rId67"/>
    <p:sldId id="344" r:id="rId68"/>
    <p:sldId id="265" r:id="rId6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EGO ARIEL WIERNIK" initials="DAW" lastIdx="1" clrIdx="0">
    <p:extLst>
      <p:ext uri="{19B8F6BF-5375-455C-9EA6-DF929625EA0E}">
        <p15:presenceInfo xmlns:p15="http://schemas.microsoft.com/office/powerpoint/2012/main" userId="S::dwiernik@uade.edu.ar::5a06b0fb-1082-490a-8f33-df9e504fefc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EC2"/>
    <a:srgbClr val="F8C8CD"/>
    <a:srgbClr val="BAECD5"/>
    <a:srgbClr val="579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47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78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ustomXml" Target="../customXml/item1.xml"/><Relationship Id="rId7" Type="http://schemas.openxmlformats.org/officeDocument/2006/relationships/slide" Target="slides/slide6.xml"/><Relationship Id="rId71" Type="http://schemas.openxmlformats.org/officeDocument/2006/relationships/commentAuthors" Target="commentAuthors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21571A-BAB2-42AC-A420-CDDE68482818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6F0A606-B74C-4DB2-8F96-1C4460A4C8F3}">
      <dgm:prSet/>
      <dgm:spPr/>
      <dgm:t>
        <a:bodyPr/>
        <a:lstStyle/>
        <a:p>
          <a:r>
            <a:rPr lang="es-MX"/>
            <a:t>Detección</a:t>
          </a:r>
          <a:endParaRPr lang="en-US"/>
        </a:p>
      </dgm:t>
    </dgm:pt>
    <dgm:pt modelId="{047C4F66-A3FB-44F5-92F5-08F25A4AB21A}" type="parTrans" cxnId="{1C6F06AA-383D-49B1-8235-95D5DE144968}">
      <dgm:prSet/>
      <dgm:spPr/>
      <dgm:t>
        <a:bodyPr/>
        <a:lstStyle/>
        <a:p>
          <a:endParaRPr lang="en-US"/>
        </a:p>
      </dgm:t>
    </dgm:pt>
    <dgm:pt modelId="{758F4972-91FD-4306-B5FE-991029B0B6A6}" type="sibTrans" cxnId="{1C6F06AA-383D-49B1-8235-95D5DE144968}">
      <dgm:prSet/>
      <dgm:spPr/>
      <dgm:t>
        <a:bodyPr/>
        <a:lstStyle/>
        <a:p>
          <a:endParaRPr lang="en-US"/>
        </a:p>
      </dgm:t>
    </dgm:pt>
    <dgm:pt modelId="{A6D1D8BC-AB96-4BB8-ADFE-491CE66B79C2}">
      <dgm:prSet/>
      <dgm:spPr/>
      <dgm:t>
        <a:bodyPr/>
        <a:lstStyle/>
        <a:p>
          <a:r>
            <a:rPr lang="es-MX"/>
            <a:t>Control de Paridad</a:t>
          </a:r>
          <a:endParaRPr lang="en-US"/>
        </a:p>
      </dgm:t>
    </dgm:pt>
    <dgm:pt modelId="{3E35AA1D-E75A-4FEE-949B-05B15955ECC5}" type="parTrans" cxnId="{ECBF229B-8D99-446A-AD7B-31490123C87F}">
      <dgm:prSet/>
      <dgm:spPr/>
      <dgm:t>
        <a:bodyPr/>
        <a:lstStyle/>
        <a:p>
          <a:endParaRPr lang="en-US"/>
        </a:p>
      </dgm:t>
    </dgm:pt>
    <dgm:pt modelId="{A194B474-758B-4C0C-BF0C-08780421D14A}" type="sibTrans" cxnId="{ECBF229B-8D99-446A-AD7B-31490123C87F}">
      <dgm:prSet/>
      <dgm:spPr/>
      <dgm:t>
        <a:bodyPr/>
        <a:lstStyle/>
        <a:p>
          <a:endParaRPr lang="en-US"/>
        </a:p>
      </dgm:t>
    </dgm:pt>
    <dgm:pt modelId="{88F0E00F-BCEE-4C9F-A316-15F8B1FC5D90}">
      <dgm:prSet/>
      <dgm:spPr/>
      <dgm:t>
        <a:bodyPr/>
        <a:lstStyle/>
        <a:p>
          <a:r>
            <a:rPr lang="es-MX"/>
            <a:t>Vertical</a:t>
          </a:r>
          <a:endParaRPr lang="en-US"/>
        </a:p>
      </dgm:t>
    </dgm:pt>
    <dgm:pt modelId="{7ADDF5F1-5F45-42B1-9060-E72852B30A6D}" type="parTrans" cxnId="{A197C16F-567C-4D30-9E32-1CD18DB30E8C}">
      <dgm:prSet/>
      <dgm:spPr/>
      <dgm:t>
        <a:bodyPr/>
        <a:lstStyle/>
        <a:p>
          <a:endParaRPr lang="en-US"/>
        </a:p>
      </dgm:t>
    </dgm:pt>
    <dgm:pt modelId="{8FAE787B-F8B0-4D34-9C49-428F10C1DCF0}" type="sibTrans" cxnId="{A197C16F-567C-4D30-9E32-1CD18DB30E8C}">
      <dgm:prSet/>
      <dgm:spPr/>
      <dgm:t>
        <a:bodyPr/>
        <a:lstStyle/>
        <a:p>
          <a:endParaRPr lang="en-US"/>
        </a:p>
      </dgm:t>
    </dgm:pt>
    <dgm:pt modelId="{C05E3C5B-D2B7-48A8-96E5-4D70B89902D2}">
      <dgm:prSet/>
      <dgm:spPr/>
      <dgm:t>
        <a:bodyPr/>
        <a:lstStyle/>
        <a:p>
          <a:r>
            <a:rPr lang="es-MX"/>
            <a:t>Horizontal</a:t>
          </a:r>
          <a:endParaRPr lang="en-US"/>
        </a:p>
      </dgm:t>
    </dgm:pt>
    <dgm:pt modelId="{038B1BE6-3B88-47A0-B8ED-B9BCF6F92CA4}" type="parTrans" cxnId="{BC22F527-807F-4CEA-B45E-FF0DA7C258D3}">
      <dgm:prSet/>
      <dgm:spPr/>
      <dgm:t>
        <a:bodyPr/>
        <a:lstStyle/>
        <a:p>
          <a:endParaRPr lang="en-US"/>
        </a:p>
      </dgm:t>
    </dgm:pt>
    <dgm:pt modelId="{8EB6CF05-A1C9-477A-9D04-38B5B710B42B}" type="sibTrans" cxnId="{BC22F527-807F-4CEA-B45E-FF0DA7C258D3}">
      <dgm:prSet/>
      <dgm:spPr/>
      <dgm:t>
        <a:bodyPr/>
        <a:lstStyle/>
        <a:p>
          <a:endParaRPr lang="en-US"/>
        </a:p>
      </dgm:t>
    </dgm:pt>
    <dgm:pt modelId="{FB377E8D-E6DB-4382-BE93-742E3B0CBC0E}">
      <dgm:prSet/>
      <dgm:spPr/>
      <dgm:t>
        <a:bodyPr/>
        <a:lstStyle/>
        <a:p>
          <a:r>
            <a:rPr lang="es-MX"/>
            <a:t>Doble Paridad</a:t>
          </a:r>
          <a:endParaRPr lang="en-US"/>
        </a:p>
      </dgm:t>
    </dgm:pt>
    <dgm:pt modelId="{83186860-AAE0-4245-A956-A28426130AB3}" type="parTrans" cxnId="{AF9AA28A-F5CE-4697-98D9-136F1B7C590D}">
      <dgm:prSet/>
      <dgm:spPr/>
      <dgm:t>
        <a:bodyPr/>
        <a:lstStyle/>
        <a:p>
          <a:endParaRPr lang="en-US"/>
        </a:p>
      </dgm:t>
    </dgm:pt>
    <dgm:pt modelId="{C9303AD0-1BE3-4AF2-9DBE-DDF0AD348517}" type="sibTrans" cxnId="{AF9AA28A-F5CE-4697-98D9-136F1B7C590D}">
      <dgm:prSet/>
      <dgm:spPr/>
      <dgm:t>
        <a:bodyPr/>
        <a:lstStyle/>
        <a:p>
          <a:endParaRPr lang="en-US"/>
        </a:p>
      </dgm:t>
    </dgm:pt>
    <dgm:pt modelId="{7FE6A5DC-F6A6-49F7-8F0C-70562B949B86}">
      <dgm:prSet/>
      <dgm:spPr/>
      <dgm:t>
        <a:bodyPr/>
        <a:lstStyle/>
        <a:p>
          <a:r>
            <a:rPr lang="es-MX"/>
            <a:t>Cíclica / entrelazada</a:t>
          </a:r>
          <a:endParaRPr lang="en-US"/>
        </a:p>
      </dgm:t>
    </dgm:pt>
    <dgm:pt modelId="{7AD8110B-FC71-4FC9-8480-864CCF33A3AC}" type="parTrans" cxnId="{1D1DDC03-692F-4F45-ABAD-3FD6526CDB7B}">
      <dgm:prSet/>
      <dgm:spPr/>
      <dgm:t>
        <a:bodyPr/>
        <a:lstStyle/>
        <a:p>
          <a:endParaRPr lang="en-US"/>
        </a:p>
      </dgm:t>
    </dgm:pt>
    <dgm:pt modelId="{BFA4E813-49DC-42CF-A799-D16B9DE56C1E}" type="sibTrans" cxnId="{1D1DDC03-692F-4F45-ABAD-3FD6526CDB7B}">
      <dgm:prSet/>
      <dgm:spPr/>
      <dgm:t>
        <a:bodyPr/>
        <a:lstStyle/>
        <a:p>
          <a:endParaRPr lang="en-US"/>
        </a:p>
      </dgm:t>
    </dgm:pt>
    <dgm:pt modelId="{4C9A138F-2582-4EF3-A36D-F271902AA7AA}">
      <dgm:prSet/>
      <dgm:spPr/>
      <dgm:t>
        <a:bodyPr/>
        <a:lstStyle/>
        <a:p>
          <a:r>
            <a:rPr lang="es-MX"/>
            <a:t>Código Polinomial</a:t>
          </a:r>
          <a:endParaRPr lang="en-US"/>
        </a:p>
      </dgm:t>
    </dgm:pt>
    <dgm:pt modelId="{1923F9AE-136A-46A6-A21A-E4219A398AC7}" type="parTrans" cxnId="{15DF6204-B13A-44F1-AE1D-11A15CB80FE2}">
      <dgm:prSet/>
      <dgm:spPr/>
      <dgm:t>
        <a:bodyPr/>
        <a:lstStyle/>
        <a:p>
          <a:endParaRPr lang="en-US"/>
        </a:p>
      </dgm:t>
    </dgm:pt>
    <dgm:pt modelId="{1DB75AB6-53BC-4CEC-AD9B-46BFD7E4A1FA}" type="sibTrans" cxnId="{15DF6204-B13A-44F1-AE1D-11A15CB80FE2}">
      <dgm:prSet/>
      <dgm:spPr/>
      <dgm:t>
        <a:bodyPr/>
        <a:lstStyle/>
        <a:p>
          <a:endParaRPr lang="en-US"/>
        </a:p>
      </dgm:t>
    </dgm:pt>
    <dgm:pt modelId="{DF88A9F4-0558-497E-A413-E35416C51799}">
      <dgm:prSet/>
      <dgm:spPr/>
      <dgm:t>
        <a:bodyPr/>
        <a:lstStyle/>
        <a:p>
          <a:r>
            <a:rPr lang="es-MX"/>
            <a:t>Corrección</a:t>
          </a:r>
          <a:endParaRPr lang="en-US"/>
        </a:p>
      </dgm:t>
    </dgm:pt>
    <dgm:pt modelId="{C04553A6-2035-4080-937B-EAC4A29C8EC7}" type="parTrans" cxnId="{75020B4E-6608-4D01-B895-62FC6158CD83}">
      <dgm:prSet/>
      <dgm:spPr/>
      <dgm:t>
        <a:bodyPr/>
        <a:lstStyle/>
        <a:p>
          <a:endParaRPr lang="en-US"/>
        </a:p>
      </dgm:t>
    </dgm:pt>
    <dgm:pt modelId="{2A8B140A-99C6-4EB4-8EF9-2A8D8E8E6199}" type="sibTrans" cxnId="{75020B4E-6608-4D01-B895-62FC6158CD83}">
      <dgm:prSet/>
      <dgm:spPr/>
      <dgm:t>
        <a:bodyPr/>
        <a:lstStyle/>
        <a:p>
          <a:endParaRPr lang="en-US"/>
        </a:p>
      </dgm:t>
    </dgm:pt>
    <dgm:pt modelId="{DD61CF11-8648-4238-92F7-717A81C28E5E}">
      <dgm:prSet/>
      <dgm:spPr/>
      <dgm:t>
        <a:bodyPr/>
        <a:lstStyle/>
        <a:p>
          <a:r>
            <a:rPr lang="es-MX"/>
            <a:t>Códigos autocorrectivos </a:t>
          </a:r>
          <a:endParaRPr lang="en-US"/>
        </a:p>
      </dgm:t>
    </dgm:pt>
    <dgm:pt modelId="{797018E2-9D92-4F92-B6D8-4E58A65CEBBA}" type="parTrans" cxnId="{8AFD5947-B6C9-475C-BF8A-D0E7FFF4E6B9}">
      <dgm:prSet/>
      <dgm:spPr/>
      <dgm:t>
        <a:bodyPr/>
        <a:lstStyle/>
        <a:p>
          <a:endParaRPr lang="en-US"/>
        </a:p>
      </dgm:t>
    </dgm:pt>
    <dgm:pt modelId="{89780B9C-868B-405F-88BF-B037A2BD5EC8}" type="sibTrans" cxnId="{8AFD5947-B6C9-475C-BF8A-D0E7FFF4E6B9}">
      <dgm:prSet/>
      <dgm:spPr/>
      <dgm:t>
        <a:bodyPr/>
        <a:lstStyle/>
        <a:p>
          <a:endParaRPr lang="en-US"/>
        </a:p>
      </dgm:t>
    </dgm:pt>
    <dgm:pt modelId="{F60991EF-CF93-47C7-A944-2E1891D43E92}">
      <dgm:prSet/>
      <dgm:spPr/>
      <dgm:t>
        <a:bodyPr/>
        <a:lstStyle/>
        <a:p>
          <a:r>
            <a:rPr lang="es-MX"/>
            <a:t>Hamming</a:t>
          </a:r>
          <a:endParaRPr lang="en-US"/>
        </a:p>
      </dgm:t>
    </dgm:pt>
    <dgm:pt modelId="{91F729A0-46D6-4F17-AD5C-C53B37376E6A}" type="parTrans" cxnId="{0D5D1E29-A53C-4C43-86EF-DE3E35118B62}">
      <dgm:prSet/>
      <dgm:spPr/>
      <dgm:t>
        <a:bodyPr/>
        <a:lstStyle/>
        <a:p>
          <a:endParaRPr lang="en-US"/>
        </a:p>
      </dgm:t>
    </dgm:pt>
    <dgm:pt modelId="{125BC20D-8080-4D5B-AE0E-382C46766C2A}" type="sibTrans" cxnId="{0D5D1E29-A53C-4C43-86EF-DE3E35118B62}">
      <dgm:prSet/>
      <dgm:spPr/>
      <dgm:t>
        <a:bodyPr/>
        <a:lstStyle/>
        <a:p>
          <a:endParaRPr lang="en-US"/>
        </a:p>
      </dgm:t>
    </dgm:pt>
    <dgm:pt modelId="{6DBEA3CC-6526-45F4-A192-B11264635047}">
      <dgm:prSet/>
      <dgm:spPr/>
      <dgm:t>
        <a:bodyPr/>
        <a:lstStyle/>
        <a:p>
          <a:r>
            <a:rPr lang="es-MX"/>
            <a:t>Técnicas especiales</a:t>
          </a:r>
          <a:endParaRPr lang="en-US"/>
        </a:p>
      </dgm:t>
    </dgm:pt>
    <dgm:pt modelId="{F75E78B2-E55C-4475-A733-A665DB348996}" type="parTrans" cxnId="{18FBA867-F84D-478E-A451-48E212B7509B}">
      <dgm:prSet/>
      <dgm:spPr/>
      <dgm:t>
        <a:bodyPr/>
        <a:lstStyle/>
        <a:p>
          <a:endParaRPr lang="en-US"/>
        </a:p>
      </dgm:t>
    </dgm:pt>
    <dgm:pt modelId="{1B1B61B6-7EA4-444F-981C-6FA9025E9424}" type="sibTrans" cxnId="{18FBA867-F84D-478E-A451-48E212B7509B}">
      <dgm:prSet/>
      <dgm:spPr/>
      <dgm:t>
        <a:bodyPr/>
        <a:lstStyle/>
        <a:p>
          <a:endParaRPr lang="en-US"/>
        </a:p>
      </dgm:t>
    </dgm:pt>
    <dgm:pt modelId="{74C91CE6-F350-49C3-898E-9B370CC9992B}">
      <dgm:prSet/>
      <dgm:spPr/>
      <dgm:t>
        <a:bodyPr/>
        <a:lstStyle/>
        <a:p>
          <a:r>
            <a:rPr lang="es-MX"/>
            <a:t>Hacia adelante (FEC)</a:t>
          </a:r>
          <a:endParaRPr lang="en-US"/>
        </a:p>
      </dgm:t>
    </dgm:pt>
    <dgm:pt modelId="{623178A1-11D6-4FC0-B895-0029B1E8BC7A}" type="parTrans" cxnId="{E0A644C9-35D5-48E8-9F0A-01474252DF12}">
      <dgm:prSet/>
      <dgm:spPr/>
      <dgm:t>
        <a:bodyPr/>
        <a:lstStyle/>
        <a:p>
          <a:endParaRPr lang="en-US"/>
        </a:p>
      </dgm:t>
    </dgm:pt>
    <dgm:pt modelId="{E4A81021-2839-4C4E-968D-4EE28FE94963}" type="sibTrans" cxnId="{E0A644C9-35D5-48E8-9F0A-01474252DF12}">
      <dgm:prSet/>
      <dgm:spPr/>
      <dgm:t>
        <a:bodyPr/>
        <a:lstStyle/>
        <a:p>
          <a:endParaRPr lang="en-US"/>
        </a:p>
      </dgm:t>
    </dgm:pt>
    <dgm:pt modelId="{822AB880-6F9D-432D-8865-A71F77DB61B0}">
      <dgm:prSet/>
      <dgm:spPr/>
      <dgm:t>
        <a:bodyPr/>
        <a:lstStyle/>
        <a:p>
          <a:r>
            <a:rPr lang="es-MX"/>
            <a:t>Con repetición (ARQ)</a:t>
          </a:r>
          <a:endParaRPr lang="en-US"/>
        </a:p>
      </dgm:t>
    </dgm:pt>
    <dgm:pt modelId="{45A9B56C-6BB4-4597-9AC7-7B0C2C1E70A2}" type="parTrans" cxnId="{75578C8C-9D20-4397-A903-38AFAEAE197C}">
      <dgm:prSet/>
      <dgm:spPr/>
      <dgm:t>
        <a:bodyPr/>
        <a:lstStyle/>
        <a:p>
          <a:endParaRPr lang="en-US"/>
        </a:p>
      </dgm:t>
    </dgm:pt>
    <dgm:pt modelId="{420C9075-D824-43ED-87A4-0FBA53FB3053}" type="sibTrans" cxnId="{75578C8C-9D20-4397-A903-38AFAEAE197C}">
      <dgm:prSet/>
      <dgm:spPr/>
      <dgm:t>
        <a:bodyPr/>
        <a:lstStyle/>
        <a:p>
          <a:endParaRPr lang="en-US"/>
        </a:p>
      </dgm:t>
    </dgm:pt>
    <dgm:pt modelId="{D9675929-8367-48FB-8DAE-AFC86488BE45}" type="pres">
      <dgm:prSet presAssocID="{5E21571A-BAB2-42AC-A420-CDDE68482818}" presName="linear" presStyleCnt="0">
        <dgm:presLayoutVars>
          <dgm:dir/>
          <dgm:animLvl val="lvl"/>
          <dgm:resizeHandles val="exact"/>
        </dgm:presLayoutVars>
      </dgm:prSet>
      <dgm:spPr/>
    </dgm:pt>
    <dgm:pt modelId="{6244540C-349E-40B5-A5BE-01BB004B5B5E}" type="pres">
      <dgm:prSet presAssocID="{06F0A606-B74C-4DB2-8F96-1C4460A4C8F3}" presName="parentLin" presStyleCnt="0"/>
      <dgm:spPr/>
    </dgm:pt>
    <dgm:pt modelId="{74ED0B6E-E3FD-4701-9437-E968F5559A5F}" type="pres">
      <dgm:prSet presAssocID="{06F0A606-B74C-4DB2-8F96-1C4460A4C8F3}" presName="parentLeftMargin" presStyleLbl="node1" presStyleIdx="0" presStyleCnt="2"/>
      <dgm:spPr/>
    </dgm:pt>
    <dgm:pt modelId="{91CB3BCD-744A-4015-BF95-7F3FF83EF881}" type="pres">
      <dgm:prSet presAssocID="{06F0A606-B74C-4DB2-8F96-1C4460A4C8F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D6B49D4-33AC-4F08-810C-D3A67DCA1496}" type="pres">
      <dgm:prSet presAssocID="{06F0A606-B74C-4DB2-8F96-1C4460A4C8F3}" presName="negativeSpace" presStyleCnt="0"/>
      <dgm:spPr/>
    </dgm:pt>
    <dgm:pt modelId="{FD912BD3-7050-4375-A0AA-F7E6781CE5A2}" type="pres">
      <dgm:prSet presAssocID="{06F0A606-B74C-4DB2-8F96-1C4460A4C8F3}" presName="childText" presStyleLbl="conFgAcc1" presStyleIdx="0" presStyleCnt="2">
        <dgm:presLayoutVars>
          <dgm:bulletEnabled val="1"/>
        </dgm:presLayoutVars>
      </dgm:prSet>
      <dgm:spPr/>
    </dgm:pt>
    <dgm:pt modelId="{295BC05B-C0AB-48B1-84F3-FFD88491AB0E}" type="pres">
      <dgm:prSet presAssocID="{758F4972-91FD-4306-B5FE-991029B0B6A6}" presName="spaceBetweenRectangles" presStyleCnt="0"/>
      <dgm:spPr/>
    </dgm:pt>
    <dgm:pt modelId="{FE30C338-92B6-49C7-9921-905F5740A1B1}" type="pres">
      <dgm:prSet presAssocID="{DF88A9F4-0558-497E-A413-E35416C51799}" presName="parentLin" presStyleCnt="0"/>
      <dgm:spPr/>
    </dgm:pt>
    <dgm:pt modelId="{5AEFADA1-85DD-492D-9162-C7F87C01F04D}" type="pres">
      <dgm:prSet presAssocID="{DF88A9F4-0558-497E-A413-E35416C51799}" presName="parentLeftMargin" presStyleLbl="node1" presStyleIdx="0" presStyleCnt="2"/>
      <dgm:spPr/>
    </dgm:pt>
    <dgm:pt modelId="{84A2B251-5838-4A35-A99C-23498C0E1B7F}" type="pres">
      <dgm:prSet presAssocID="{DF88A9F4-0558-497E-A413-E35416C5179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D56BB4A-52CC-46D5-BAE0-1AA484E5139C}" type="pres">
      <dgm:prSet presAssocID="{DF88A9F4-0558-497E-A413-E35416C51799}" presName="negativeSpace" presStyleCnt="0"/>
      <dgm:spPr/>
    </dgm:pt>
    <dgm:pt modelId="{6E8E6C16-BFD6-439C-8FD4-A50EB2EB123E}" type="pres">
      <dgm:prSet presAssocID="{DF88A9F4-0558-497E-A413-E35416C5179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D1DDC03-692F-4F45-ABAD-3FD6526CDB7B}" srcId="{A6D1D8BC-AB96-4BB8-ADFE-491CE66B79C2}" destId="{7FE6A5DC-F6A6-49F7-8F0C-70562B949B86}" srcOrd="3" destOrd="0" parTransId="{7AD8110B-FC71-4FC9-8480-864CCF33A3AC}" sibTransId="{BFA4E813-49DC-42CF-A799-D16B9DE56C1E}"/>
    <dgm:cxn modelId="{15DF6204-B13A-44F1-AE1D-11A15CB80FE2}" srcId="{06F0A606-B74C-4DB2-8F96-1C4460A4C8F3}" destId="{4C9A138F-2582-4EF3-A36D-F271902AA7AA}" srcOrd="1" destOrd="0" parTransId="{1923F9AE-136A-46A6-A21A-E4219A398AC7}" sibTransId="{1DB75AB6-53BC-4CEC-AD9B-46BFD7E4A1FA}"/>
    <dgm:cxn modelId="{89BC4705-25AD-4FBB-A8E4-A5818874AE16}" type="presOf" srcId="{F60991EF-CF93-47C7-A944-2E1891D43E92}" destId="{6E8E6C16-BFD6-439C-8FD4-A50EB2EB123E}" srcOrd="0" destOrd="1" presId="urn:microsoft.com/office/officeart/2005/8/layout/list1"/>
    <dgm:cxn modelId="{9F67C21E-30CA-4300-9AA2-95C15425BE30}" type="presOf" srcId="{74C91CE6-F350-49C3-898E-9B370CC9992B}" destId="{6E8E6C16-BFD6-439C-8FD4-A50EB2EB123E}" srcOrd="0" destOrd="3" presId="urn:microsoft.com/office/officeart/2005/8/layout/list1"/>
    <dgm:cxn modelId="{BC22F527-807F-4CEA-B45E-FF0DA7C258D3}" srcId="{A6D1D8BC-AB96-4BB8-ADFE-491CE66B79C2}" destId="{C05E3C5B-D2B7-48A8-96E5-4D70B89902D2}" srcOrd="1" destOrd="0" parTransId="{038B1BE6-3B88-47A0-B8ED-B9BCF6F92CA4}" sibTransId="{8EB6CF05-A1C9-477A-9D04-38B5B710B42B}"/>
    <dgm:cxn modelId="{0D5D1E29-A53C-4C43-86EF-DE3E35118B62}" srcId="{DD61CF11-8648-4238-92F7-717A81C28E5E}" destId="{F60991EF-CF93-47C7-A944-2E1891D43E92}" srcOrd="0" destOrd="0" parTransId="{91F729A0-46D6-4F17-AD5C-C53B37376E6A}" sibTransId="{125BC20D-8080-4D5B-AE0E-382C46766C2A}"/>
    <dgm:cxn modelId="{E1B3D829-90CF-494F-AFD2-35D4BBCE4429}" type="presOf" srcId="{6DBEA3CC-6526-45F4-A192-B11264635047}" destId="{6E8E6C16-BFD6-439C-8FD4-A50EB2EB123E}" srcOrd="0" destOrd="2" presId="urn:microsoft.com/office/officeart/2005/8/layout/list1"/>
    <dgm:cxn modelId="{C9E0983F-D954-42CC-85BB-EF1B18B1542C}" type="presOf" srcId="{DF88A9F4-0558-497E-A413-E35416C51799}" destId="{84A2B251-5838-4A35-A99C-23498C0E1B7F}" srcOrd="1" destOrd="0" presId="urn:microsoft.com/office/officeart/2005/8/layout/list1"/>
    <dgm:cxn modelId="{A2ED7B5F-2B10-46B7-BE39-D3DDDF5EED78}" type="presOf" srcId="{A6D1D8BC-AB96-4BB8-ADFE-491CE66B79C2}" destId="{FD912BD3-7050-4375-A0AA-F7E6781CE5A2}" srcOrd="0" destOrd="0" presId="urn:microsoft.com/office/officeart/2005/8/layout/list1"/>
    <dgm:cxn modelId="{8AFD5947-B6C9-475C-BF8A-D0E7FFF4E6B9}" srcId="{DF88A9F4-0558-497E-A413-E35416C51799}" destId="{DD61CF11-8648-4238-92F7-717A81C28E5E}" srcOrd="0" destOrd="0" parTransId="{797018E2-9D92-4F92-B6D8-4E58A65CEBBA}" sibTransId="{89780B9C-868B-405F-88BF-B037A2BD5EC8}"/>
    <dgm:cxn modelId="{18FBA867-F84D-478E-A451-48E212B7509B}" srcId="{DF88A9F4-0558-497E-A413-E35416C51799}" destId="{6DBEA3CC-6526-45F4-A192-B11264635047}" srcOrd="1" destOrd="0" parTransId="{F75E78B2-E55C-4475-A733-A665DB348996}" sibTransId="{1B1B61B6-7EA4-444F-981C-6FA9025E9424}"/>
    <dgm:cxn modelId="{75020B4E-6608-4D01-B895-62FC6158CD83}" srcId="{5E21571A-BAB2-42AC-A420-CDDE68482818}" destId="{DF88A9F4-0558-497E-A413-E35416C51799}" srcOrd="1" destOrd="0" parTransId="{C04553A6-2035-4080-937B-EAC4A29C8EC7}" sibTransId="{2A8B140A-99C6-4EB4-8EF9-2A8D8E8E6199}"/>
    <dgm:cxn modelId="{A197C16F-567C-4D30-9E32-1CD18DB30E8C}" srcId="{A6D1D8BC-AB96-4BB8-ADFE-491CE66B79C2}" destId="{88F0E00F-BCEE-4C9F-A316-15F8B1FC5D90}" srcOrd="0" destOrd="0" parTransId="{7ADDF5F1-5F45-42B1-9060-E72852B30A6D}" sibTransId="{8FAE787B-F8B0-4D34-9C49-428F10C1DCF0}"/>
    <dgm:cxn modelId="{676A907E-D2FB-46EF-9D4C-083CCC56BD8D}" type="presOf" srcId="{88F0E00F-BCEE-4C9F-A316-15F8B1FC5D90}" destId="{FD912BD3-7050-4375-A0AA-F7E6781CE5A2}" srcOrd="0" destOrd="1" presId="urn:microsoft.com/office/officeart/2005/8/layout/list1"/>
    <dgm:cxn modelId="{592B1388-8E50-4296-BD80-19EE9EBF8A35}" type="presOf" srcId="{DD61CF11-8648-4238-92F7-717A81C28E5E}" destId="{6E8E6C16-BFD6-439C-8FD4-A50EB2EB123E}" srcOrd="0" destOrd="0" presId="urn:microsoft.com/office/officeart/2005/8/layout/list1"/>
    <dgm:cxn modelId="{AF9AA28A-F5CE-4697-98D9-136F1B7C590D}" srcId="{A6D1D8BC-AB96-4BB8-ADFE-491CE66B79C2}" destId="{FB377E8D-E6DB-4382-BE93-742E3B0CBC0E}" srcOrd="2" destOrd="0" parTransId="{83186860-AAE0-4245-A956-A28426130AB3}" sibTransId="{C9303AD0-1BE3-4AF2-9DBE-DDF0AD348517}"/>
    <dgm:cxn modelId="{75578C8C-9D20-4397-A903-38AFAEAE197C}" srcId="{6DBEA3CC-6526-45F4-A192-B11264635047}" destId="{822AB880-6F9D-432D-8865-A71F77DB61B0}" srcOrd="1" destOrd="0" parTransId="{45A9B56C-6BB4-4597-9AC7-7B0C2C1E70A2}" sibTransId="{420C9075-D824-43ED-87A4-0FBA53FB3053}"/>
    <dgm:cxn modelId="{5A993D8E-BB5D-4E4B-BA7A-6AAF77D7F7C8}" type="presOf" srcId="{DF88A9F4-0558-497E-A413-E35416C51799}" destId="{5AEFADA1-85DD-492D-9162-C7F87C01F04D}" srcOrd="0" destOrd="0" presId="urn:microsoft.com/office/officeart/2005/8/layout/list1"/>
    <dgm:cxn modelId="{ECBF229B-8D99-446A-AD7B-31490123C87F}" srcId="{06F0A606-B74C-4DB2-8F96-1C4460A4C8F3}" destId="{A6D1D8BC-AB96-4BB8-ADFE-491CE66B79C2}" srcOrd="0" destOrd="0" parTransId="{3E35AA1D-E75A-4FEE-949B-05B15955ECC5}" sibTransId="{A194B474-758B-4C0C-BF0C-08780421D14A}"/>
    <dgm:cxn modelId="{C553ADA5-9163-4280-B66E-9FECFE956DEA}" type="presOf" srcId="{C05E3C5B-D2B7-48A8-96E5-4D70B89902D2}" destId="{FD912BD3-7050-4375-A0AA-F7E6781CE5A2}" srcOrd="0" destOrd="2" presId="urn:microsoft.com/office/officeart/2005/8/layout/list1"/>
    <dgm:cxn modelId="{1C6F06AA-383D-49B1-8235-95D5DE144968}" srcId="{5E21571A-BAB2-42AC-A420-CDDE68482818}" destId="{06F0A606-B74C-4DB2-8F96-1C4460A4C8F3}" srcOrd="0" destOrd="0" parTransId="{047C4F66-A3FB-44F5-92F5-08F25A4AB21A}" sibTransId="{758F4972-91FD-4306-B5FE-991029B0B6A6}"/>
    <dgm:cxn modelId="{466E15AE-2DC8-4802-98F9-A44CB5C36F20}" type="presOf" srcId="{06F0A606-B74C-4DB2-8F96-1C4460A4C8F3}" destId="{91CB3BCD-744A-4015-BF95-7F3FF83EF881}" srcOrd="1" destOrd="0" presId="urn:microsoft.com/office/officeart/2005/8/layout/list1"/>
    <dgm:cxn modelId="{17A5ABB2-B1FB-4229-ACFF-D87084BEC036}" type="presOf" srcId="{7FE6A5DC-F6A6-49F7-8F0C-70562B949B86}" destId="{FD912BD3-7050-4375-A0AA-F7E6781CE5A2}" srcOrd="0" destOrd="4" presId="urn:microsoft.com/office/officeart/2005/8/layout/list1"/>
    <dgm:cxn modelId="{E0A644C9-35D5-48E8-9F0A-01474252DF12}" srcId="{6DBEA3CC-6526-45F4-A192-B11264635047}" destId="{74C91CE6-F350-49C3-898E-9B370CC9992B}" srcOrd="0" destOrd="0" parTransId="{623178A1-11D6-4FC0-B895-0029B1E8BC7A}" sibTransId="{E4A81021-2839-4C4E-968D-4EE28FE94963}"/>
    <dgm:cxn modelId="{3E1905D8-9497-412A-82A1-3461EC7C06B6}" type="presOf" srcId="{822AB880-6F9D-432D-8865-A71F77DB61B0}" destId="{6E8E6C16-BFD6-439C-8FD4-A50EB2EB123E}" srcOrd="0" destOrd="4" presId="urn:microsoft.com/office/officeart/2005/8/layout/list1"/>
    <dgm:cxn modelId="{EF64D0DA-06E0-4C0C-BEC9-D03E7EC0E241}" type="presOf" srcId="{06F0A606-B74C-4DB2-8F96-1C4460A4C8F3}" destId="{74ED0B6E-E3FD-4701-9437-E968F5559A5F}" srcOrd="0" destOrd="0" presId="urn:microsoft.com/office/officeart/2005/8/layout/list1"/>
    <dgm:cxn modelId="{62F6A8F0-8859-4AEB-B662-2824A05DC508}" type="presOf" srcId="{5E21571A-BAB2-42AC-A420-CDDE68482818}" destId="{D9675929-8367-48FB-8DAE-AFC86488BE45}" srcOrd="0" destOrd="0" presId="urn:microsoft.com/office/officeart/2005/8/layout/list1"/>
    <dgm:cxn modelId="{1AF873F7-6CF9-4BD1-85C6-DA5ACFB836F4}" type="presOf" srcId="{FB377E8D-E6DB-4382-BE93-742E3B0CBC0E}" destId="{FD912BD3-7050-4375-A0AA-F7E6781CE5A2}" srcOrd="0" destOrd="3" presId="urn:microsoft.com/office/officeart/2005/8/layout/list1"/>
    <dgm:cxn modelId="{A83BADFE-3064-4DC5-BA79-D75B3352C831}" type="presOf" srcId="{4C9A138F-2582-4EF3-A36D-F271902AA7AA}" destId="{FD912BD3-7050-4375-A0AA-F7E6781CE5A2}" srcOrd="0" destOrd="5" presId="urn:microsoft.com/office/officeart/2005/8/layout/list1"/>
    <dgm:cxn modelId="{2DA16C04-D0B3-406D-97D2-3E4372BDDF47}" type="presParOf" srcId="{D9675929-8367-48FB-8DAE-AFC86488BE45}" destId="{6244540C-349E-40B5-A5BE-01BB004B5B5E}" srcOrd="0" destOrd="0" presId="urn:microsoft.com/office/officeart/2005/8/layout/list1"/>
    <dgm:cxn modelId="{AE39CA76-E0B5-47AC-8661-DBF7AA41B68B}" type="presParOf" srcId="{6244540C-349E-40B5-A5BE-01BB004B5B5E}" destId="{74ED0B6E-E3FD-4701-9437-E968F5559A5F}" srcOrd="0" destOrd="0" presId="urn:microsoft.com/office/officeart/2005/8/layout/list1"/>
    <dgm:cxn modelId="{B854839D-6309-43EE-A055-F7F4245840AB}" type="presParOf" srcId="{6244540C-349E-40B5-A5BE-01BB004B5B5E}" destId="{91CB3BCD-744A-4015-BF95-7F3FF83EF881}" srcOrd="1" destOrd="0" presId="urn:microsoft.com/office/officeart/2005/8/layout/list1"/>
    <dgm:cxn modelId="{4382ED37-C647-4D36-8612-25EC40F8CA75}" type="presParOf" srcId="{D9675929-8367-48FB-8DAE-AFC86488BE45}" destId="{9D6B49D4-33AC-4F08-810C-D3A67DCA1496}" srcOrd="1" destOrd="0" presId="urn:microsoft.com/office/officeart/2005/8/layout/list1"/>
    <dgm:cxn modelId="{3E6A9A46-AEF8-4917-88AB-611B426A41F7}" type="presParOf" srcId="{D9675929-8367-48FB-8DAE-AFC86488BE45}" destId="{FD912BD3-7050-4375-A0AA-F7E6781CE5A2}" srcOrd="2" destOrd="0" presId="urn:microsoft.com/office/officeart/2005/8/layout/list1"/>
    <dgm:cxn modelId="{11CC738A-4C08-4FA5-9477-771C6AFFD2F7}" type="presParOf" srcId="{D9675929-8367-48FB-8DAE-AFC86488BE45}" destId="{295BC05B-C0AB-48B1-84F3-FFD88491AB0E}" srcOrd="3" destOrd="0" presId="urn:microsoft.com/office/officeart/2005/8/layout/list1"/>
    <dgm:cxn modelId="{E8841B4E-2749-4252-8847-EAD5BC645155}" type="presParOf" srcId="{D9675929-8367-48FB-8DAE-AFC86488BE45}" destId="{FE30C338-92B6-49C7-9921-905F5740A1B1}" srcOrd="4" destOrd="0" presId="urn:microsoft.com/office/officeart/2005/8/layout/list1"/>
    <dgm:cxn modelId="{95355C58-481D-488F-9003-0BA4A4D1429E}" type="presParOf" srcId="{FE30C338-92B6-49C7-9921-905F5740A1B1}" destId="{5AEFADA1-85DD-492D-9162-C7F87C01F04D}" srcOrd="0" destOrd="0" presId="urn:microsoft.com/office/officeart/2005/8/layout/list1"/>
    <dgm:cxn modelId="{D6495402-3608-48C3-A720-7EE2768E63E4}" type="presParOf" srcId="{FE30C338-92B6-49C7-9921-905F5740A1B1}" destId="{84A2B251-5838-4A35-A99C-23498C0E1B7F}" srcOrd="1" destOrd="0" presId="urn:microsoft.com/office/officeart/2005/8/layout/list1"/>
    <dgm:cxn modelId="{39521CC6-F33B-4CCA-8C0B-5FFDEFDF760D}" type="presParOf" srcId="{D9675929-8367-48FB-8DAE-AFC86488BE45}" destId="{4D56BB4A-52CC-46D5-BAE0-1AA484E5139C}" srcOrd="5" destOrd="0" presId="urn:microsoft.com/office/officeart/2005/8/layout/list1"/>
    <dgm:cxn modelId="{D72FE002-D9E8-4514-9888-AE3040ACD85F}" type="presParOf" srcId="{D9675929-8367-48FB-8DAE-AFC86488BE45}" destId="{6E8E6C16-BFD6-439C-8FD4-A50EB2EB123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912BD3-7050-4375-A0AA-F7E6781CE5A2}">
      <dsp:nvSpPr>
        <dsp:cNvPr id="0" name=""/>
        <dsp:cNvSpPr/>
      </dsp:nvSpPr>
      <dsp:spPr>
        <a:xfrm>
          <a:off x="0" y="286949"/>
          <a:ext cx="6492875" cy="239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3919" tIns="395732" rIns="50391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/>
            <a:t>Control de Paridad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/>
            <a:t>Vertical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/>
            <a:t>Horizontal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/>
            <a:t>Doble Paridad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/>
            <a:t>Cíclica / entrelazada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/>
            <a:t>Código Polinomial</a:t>
          </a:r>
          <a:endParaRPr lang="en-US" sz="1900" kern="1200"/>
        </a:p>
      </dsp:txBody>
      <dsp:txXfrm>
        <a:off x="0" y="286949"/>
        <a:ext cx="6492875" cy="2394000"/>
      </dsp:txXfrm>
    </dsp:sp>
    <dsp:sp modelId="{91CB3BCD-744A-4015-BF95-7F3FF83EF881}">
      <dsp:nvSpPr>
        <dsp:cNvPr id="0" name=""/>
        <dsp:cNvSpPr/>
      </dsp:nvSpPr>
      <dsp:spPr>
        <a:xfrm>
          <a:off x="324643" y="6509"/>
          <a:ext cx="4545012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791" tIns="0" rIns="17179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Detección</a:t>
          </a:r>
          <a:endParaRPr lang="en-US" sz="1900" kern="1200"/>
        </a:p>
      </dsp:txBody>
      <dsp:txXfrm>
        <a:off x="352023" y="33889"/>
        <a:ext cx="4490252" cy="506120"/>
      </dsp:txXfrm>
    </dsp:sp>
    <dsp:sp modelId="{6E8E6C16-BFD6-439C-8FD4-A50EB2EB123E}">
      <dsp:nvSpPr>
        <dsp:cNvPr id="0" name=""/>
        <dsp:cNvSpPr/>
      </dsp:nvSpPr>
      <dsp:spPr>
        <a:xfrm>
          <a:off x="0" y="3063990"/>
          <a:ext cx="6492875" cy="2034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3919" tIns="395732" rIns="50391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/>
            <a:t>Códigos autocorrectivos 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/>
            <a:t>Hamming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/>
            <a:t>Técnicas especiales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/>
            <a:t>Hacia adelante (FEC)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/>
            <a:t>Con repetición (ARQ)</a:t>
          </a:r>
          <a:endParaRPr lang="en-US" sz="1900" kern="1200"/>
        </a:p>
      </dsp:txBody>
      <dsp:txXfrm>
        <a:off x="0" y="3063990"/>
        <a:ext cx="6492875" cy="2034900"/>
      </dsp:txXfrm>
    </dsp:sp>
    <dsp:sp modelId="{84A2B251-5838-4A35-A99C-23498C0E1B7F}">
      <dsp:nvSpPr>
        <dsp:cNvPr id="0" name=""/>
        <dsp:cNvSpPr/>
      </dsp:nvSpPr>
      <dsp:spPr>
        <a:xfrm>
          <a:off x="324643" y="2783550"/>
          <a:ext cx="4545012" cy="56088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791" tIns="0" rIns="17179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Corrección</a:t>
          </a:r>
          <a:endParaRPr lang="en-US" sz="1900" kern="1200"/>
        </a:p>
      </dsp:txBody>
      <dsp:txXfrm>
        <a:off x="352023" y="2810930"/>
        <a:ext cx="4490252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98C1C-D9F7-4A58-8237-D1BE8D90E15E}" type="datetimeFigureOut">
              <a:rPr lang="es-AR" smtClean="0"/>
              <a:t>7/8/2023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B7A7D-ADD8-4F61-BA6A-910384E1E244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58110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7475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2935C73-4497-4DEF-AB50-1E256B8F60D0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10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848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7578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A0160F9-7606-45D0-B7F2-BCF86E845026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11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010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76804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88D188A-1A1B-4C2A-977F-F0185C7BDEAC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12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341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77828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A7850E6-3595-402D-9996-E34E889A5685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13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044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7885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7027AFD-FAD4-40D8-8638-A5589BECEE3E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14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704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7987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B75D4BE-F9FD-4D7F-84FE-41BCE7FD6998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15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727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8090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63BF594-1FAF-4E22-93D5-586383BE2F3C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16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974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81924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E41A991-4365-4CDD-8928-C5079D8CCB7C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17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365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82948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A781282-787A-4984-A73C-286138994721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18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661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8397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CA80375-BB2A-4D63-8566-598F862CCEDA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19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842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8499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92B973C-4CA2-4EDE-B762-C41E537B9FB1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20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934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8602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1F45737-F0EE-4D2F-A856-F82A22D54245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21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4620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87044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AEB1EEF-74EF-4DA8-BA9D-CE8CD95BAA87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22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5886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88068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84F8128-22C4-4F65-AA6D-B34DAE2145E8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23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1373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8909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8C9A6C2-A271-48D0-924A-DC5460F77991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24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9203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9114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A5FA644-8FE6-4D05-9D54-112DCF8FA224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25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0012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92164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A87A946-E1CC-4656-8E3D-E40336752C05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26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0790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93188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1C1A236-8381-47EA-8D8D-91AEEB423772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35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117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9421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8B1B01D-20FA-44D6-961A-9EA1036BC4A6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36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2173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9523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8281B2E-5F8B-4C84-8525-8242DA7BA7A5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37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6468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9626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BDBDF82-0A87-4848-931D-20053625327E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38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8978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97284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40CF5EF-47C3-4042-A19F-68A8042F112E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39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2824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0650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9F47125-7F0E-465F-AB56-9357A4946DCD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40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4364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07524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4AA37F0-3D5C-4495-A1FA-95FFDB581B9B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41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9168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0957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2105E12-4B6E-46B1-8265-116081591569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42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1168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1059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97C9A59-F16D-4EA4-B829-0D564302F20D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43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2641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1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1162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AD0BC43-A26B-4964-9AFB-91AB3CE3CD46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44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7909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7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13668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B090B62-071B-4E8E-9552-545380304318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45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2409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1469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9832B13-3ED0-4497-B1AF-101D997F2B2E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46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0960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1571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FBBEA2F-7FA4-4619-B689-9376F96ADB0B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47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7939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3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1674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BFE0EDA-E70C-4CB3-8CFF-070F6EF4D1A9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48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4553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AR" altLang="es-AR"/>
          </a:p>
        </p:txBody>
      </p:sp>
      <p:sp>
        <p:nvSpPr>
          <p:cNvPr id="117764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36A66C8-29AB-4B45-9133-79AB03671E8E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49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1294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7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18788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217ED82-C51A-48F6-8617-D504D35A6721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50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3824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981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1981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7331565-F136-42B4-BC0B-8BE63367D895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51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2717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2083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67E6C28-E1F2-4A30-857D-25F91CAE0664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52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7692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185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2186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E864197-918A-42CD-81C4-04A121563222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53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7409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88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22884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A50395C-EE4D-4263-BE5C-44AAA57EFF4C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54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2231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2493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B057682-F915-45F9-952D-E12799BBBB6C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55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8495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697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2698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8A12694-4DC8-46B3-9C6D-E4DEA12434AF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56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6180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3005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8CE1092-7C63-4A5F-829C-92842D5AE317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57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1946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107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3107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9AC2BFA-DFCF-43B0-938B-F6A324A2898B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58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805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209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3210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48FE340-C5C6-42FB-AA83-9F9D067FFAA5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59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1076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2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33124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7FB843C-C266-47BA-AC46-459C97C791FF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61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47208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7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34148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73B39EA-F9B1-4CD3-A49D-1EFD8EACA153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62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18353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7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34148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73B39EA-F9B1-4CD3-A49D-1EFD8EACA153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63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34768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3517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1947CD1-7FFE-47E4-9738-76004572C374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64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36655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3517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1947CD1-7FFE-47E4-9738-76004572C374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65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0501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3619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E84D87A-4DE9-49BC-9E40-DE92A404091B}" type="slidenum">
              <a:rPr lang="es-AR" altLang="es-AR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66</a:t>
            </a:fld>
            <a:endParaRPr lang="es-AR" altLang="es-A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41080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1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AR" altLang="es-AR"/>
          </a:p>
        </p:txBody>
      </p:sp>
      <p:sp>
        <p:nvSpPr>
          <p:cNvPr id="13722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891AA56-3A12-4385-95AF-494BA6FDCE17}" type="slidenum">
              <a:rPr lang="es-AR" altLang="es-AR" sz="1200"/>
              <a:pPr eaLnBrk="1" hangingPunct="1"/>
              <a:t>67</a:t>
            </a:fld>
            <a:endParaRPr lang="es-AR" altLang="es-AR" sz="1200"/>
          </a:p>
        </p:txBody>
      </p:sp>
    </p:spTree>
    <p:extLst>
      <p:ext uri="{BB962C8B-B14F-4D97-AF65-F5344CB8AC3E}">
        <p14:creationId xmlns:p14="http://schemas.microsoft.com/office/powerpoint/2010/main" val="4042524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4DDC1-2C1D-479A-9501-DCB1A6E475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4762E7-3CA5-4541-99DA-C61983A98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1E6CC1-87FA-4795-A632-344D2F1CC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8/7/2023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F2D071-BD0F-40C3-BB98-19C45E247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38C3B4-2015-4C4E-B948-03BF7101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537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7237D9-DCE2-450D-9E49-CD88F2D35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DA833C-07E6-4794-9329-CFBF78ECB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9A3220-8F30-4C90-B2D5-463405876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8/7/2023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8A0B43-93AD-4F6A-B548-775B3E60E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8862C4-A2B3-4D98-8102-CE8E317F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830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3524C-A6F6-4ED8-9AE9-6F1E9B2E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93B02C-7931-4A84-80EB-23B9F5B8B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D0653E-5B1E-4C6C-970A-4171EC6F6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8/7/2023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55A63C-4D4F-4310-88FA-E3476B528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7C29B2-031A-4DB9-9C72-47B1B304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765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F0F922-BBDB-4BE7-9A48-1449A0A2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A44DF2-2C39-4732-9DD0-A81251586B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D519EE-B463-47D1-8894-36B066F58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F3CB06-5294-424E-AD61-78F0098A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8/7/2023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C5E2055-46DA-4EC1-9945-53F0E7A7F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48122B-05E7-4ADC-B593-8A5993503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92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D95AD-14E3-4489-AC5D-E8BBBB66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F96388-9FA9-4BD4-9C0A-ED6A16BE3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E60E699-302B-484C-B73D-F30EA7EEC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D145A4-4489-43D0-8001-0F0B2A547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E0EC911-F388-4924-A987-DA3AF51D6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0AE4A6-5BC0-42CD-BF3C-B7A228C6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8/7/2023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315252C-C10F-46B8-9A8E-A65315E14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61D4604-BEB2-46D9-9C8D-333BB1B32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007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46591F-35CF-466A-BAEB-3981219F8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994D361-C1C9-404F-8F8B-274D674E9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8/7/2023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00A1E3-48F0-4ABF-8B96-8576533D7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D702BAF-ECCB-4AD1-9B52-B9C9DE98E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201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820326E-CD3F-4114-91E2-0BC2825DC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8/7/2023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4484729-F0E9-457C-8217-BEA74606C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870241-92FD-45A8-9D34-CF404A48F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871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6AC82F-0684-43F1-AD2E-6D10EEBA5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530C12-D4EA-4775-B70E-FCFCCF1DA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8C5A68-4AF8-4060-9100-41F5C1FCE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F7BA53-AB67-4CE8-9ED4-4B8B2E714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8/7/2023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B1735E-A554-49AE-A2B3-B7D2C8320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C54CDAE-B3EA-4F27-8E0B-68F7E0379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26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3A8B5-3CD5-4CB1-9CB7-CD76D29E4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7EACD31-1DDB-4EB8-9CFB-ECECC6C0B2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D37B9B-F2B6-4E6F-A3ED-F5AF89D9D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5A1494-A5AA-42CE-ACDA-4E433066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8/7/2023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E39F6E-3E98-486A-B89C-656F3A27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44EA79-CBAE-4D97-8A86-C6A6CAA7E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74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C2D6E-6C74-46BD-B686-8CE4A317E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9D52C7F-1826-4907-A5F2-46671FB8E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605A74-0192-4467-BCF0-6C9D2FA2A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8/7/2023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162276-36D3-4336-B53F-CC306B2F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419090-1E65-4F09-AA0E-D53C25F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843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53194BA-B414-4CDA-8C5B-2771972AED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C55008-20ED-4FE0-9448-B5AB802A3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4C4B88-0CA3-47E1-8C04-82CE8BD2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8/7/2023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F295FA-B57A-4925-A73B-596A2137F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56D091-B81D-49BD-B9C7-FE804855A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592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7D33F26-F126-418F-A113-E64D2AA87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59FA15-1CAA-4313-ADBE-4BF02A839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104685-8751-449A-A5F1-A428916A22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8/7/2023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6EBC42-C8AD-4280-A885-DFC60219B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E579B0-762D-4114-8BCA-8C62E9336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95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ldiario.es/turing/criptografia/Breve-historia-criptografia_0_261773822.html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sv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sv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08CA803-85FB-4E32-BBA5-80E38B3D1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" y="0"/>
            <a:ext cx="12192000" cy="6857999"/>
          </a:xfrm>
          <a:prstGeom prst="rect">
            <a:avLst/>
          </a:prstGeom>
        </p:spPr>
      </p:pic>
      <p:sp>
        <p:nvSpPr>
          <p:cNvPr id="12" name="Título 13">
            <a:extLst>
              <a:ext uri="{FF2B5EF4-FFF2-40B4-BE49-F238E27FC236}">
                <a16:creationId xmlns:a16="http://schemas.microsoft.com/office/drawing/2014/main" id="{4BA449AB-F926-40C6-86FA-6E9AE79C5E03}"/>
              </a:ext>
            </a:extLst>
          </p:cNvPr>
          <p:cNvSpPr txBox="1">
            <a:spLocks/>
          </p:cNvSpPr>
          <p:nvPr/>
        </p:nvSpPr>
        <p:spPr>
          <a:xfrm>
            <a:off x="845127" y="365760"/>
            <a:ext cx="4124037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7200" b="1" dirty="0">
                <a:solidFill>
                  <a:schemeClr val="bg1"/>
                </a:solidFill>
                <a:latin typeface="Britannic Bold" panose="020B0903060703020204" pitchFamily="34" charset="0"/>
              </a:rPr>
              <a:t>CÓDIGOS</a:t>
            </a:r>
            <a:endParaRPr lang="es-AR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732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9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AA33C47-7E10-40A6-86C7-86CFC332D718}"/>
              </a:ext>
            </a:extLst>
          </p:cNvPr>
          <p:cNvSpPr txBox="1"/>
          <p:nvPr/>
        </p:nvSpPr>
        <p:spPr>
          <a:xfrm>
            <a:off x="674237" y="914400"/>
            <a:ext cx="3657600" cy="2887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Alguien sabe qué es esto?</a:t>
            </a:r>
          </a:p>
        </p:txBody>
      </p:sp>
      <p:cxnSp>
        <p:nvCxnSpPr>
          <p:cNvPr id="17" name="Straight Connector 11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38" r="9091" b="15007"/>
          <a:stretch/>
        </p:blipFill>
        <p:spPr>
          <a:xfrm>
            <a:off x="5269338" y="492573"/>
            <a:ext cx="6322512" cy="58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118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s://upload.wikimedia.org/wikipedia/commons/c/ca/Rosetta_Stone_BW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56" r="-2" b="15447"/>
          <a:stretch/>
        </p:blipFill>
        <p:spPr bwMode="auto">
          <a:xfrm>
            <a:off x="212055" y="0"/>
            <a:ext cx="7534636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7259782" y="365125"/>
            <a:ext cx="4932218" cy="1870075"/>
          </a:xfrm>
        </p:spPr>
        <p:txBody>
          <a:bodyPr anchor="t">
            <a:normAutofit fontScale="90000"/>
          </a:bodyPr>
          <a:lstStyle/>
          <a:p>
            <a:r>
              <a:rPr lang="es-AR" sz="3600" dirty="0"/>
              <a:t>La piedra de Rosetta</a:t>
            </a:r>
            <a:br>
              <a:rPr lang="es-AR" sz="3600" dirty="0"/>
            </a:br>
            <a:br>
              <a:rPr lang="es-AR" sz="3600" dirty="0"/>
            </a:br>
            <a:r>
              <a:rPr lang="es-AR" sz="2700" dirty="0"/>
              <a:t>Menfis 196A.C</a:t>
            </a:r>
            <a:br>
              <a:rPr lang="es-AR" sz="2700" dirty="0"/>
            </a:br>
            <a:br>
              <a:rPr lang="es-AR" sz="2700" dirty="0"/>
            </a:br>
            <a:r>
              <a:rPr lang="es-AR" sz="2700" dirty="0"/>
              <a:t>Actualmente en el Museo Británico</a:t>
            </a:r>
            <a:endParaRPr lang="es-AR" sz="3600" dirty="0"/>
          </a:p>
        </p:txBody>
      </p:sp>
      <p:sp>
        <p:nvSpPr>
          <p:cNvPr id="4" name="CuadroTexto 3"/>
          <p:cNvSpPr txBox="1"/>
          <p:nvPr/>
        </p:nvSpPr>
        <p:spPr>
          <a:xfrm>
            <a:off x="2614399" y="365125"/>
            <a:ext cx="244793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sz="3600" b="1" dirty="0" err="1"/>
              <a:t>Geroglíficos</a:t>
            </a:r>
            <a:endParaRPr lang="es-AR" sz="3600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2614399" y="2483953"/>
            <a:ext cx="244793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sz="3600" b="1" dirty="0"/>
              <a:t>Demótico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2614399" y="5249113"/>
            <a:ext cx="244793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sz="3600" b="1" dirty="0"/>
              <a:t>Griego</a:t>
            </a:r>
          </a:p>
        </p:txBody>
      </p:sp>
      <p:pic>
        <p:nvPicPr>
          <p:cNvPr id="1030" name="Picture 6" descr="http://www.agestrad.com/wp-content/uploads/2015/06/Ptolomeo-Hier-Dem-Greek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0892" y="2886754"/>
            <a:ext cx="1517858" cy="1500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www.agestrad.com/wp-content/uploads/2015/06/Ptolmis-Kleopatr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1071" y="4972203"/>
            <a:ext cx="2857500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7006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Atbash</a:t>
            </a:r>
          </a:p>
        </p:txBody>
      </p:sp>
      <p:pic>
        <p:nvPicPr>
          <p:cNvPr id="4098" name="Picture 2" descr="https://scr.sad.supinfo.com/articles/resources/212924/1730/5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714341" y="1675227"/>
            <a:ext cx="10763318" cy="439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98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scr.sad.supinfo.com/articles/resources/212924/1730/7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51" b="25699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523875" y="5317240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Alberti-Vigenere Cipher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688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ítala grieg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3FCFC39-F7B7-49B7-AAE6-B344F2231A62}"/>
              </a:ext>
            </a:extLst>
          </p:cNvPr>
          <p:cNvSpPr txBox="1"/>
          <p:nvPr/>
        </p:nvSpPr>
        <p:spPr>
          <a:xfrm>
            <a:off x="523875" y="5317240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Para profundizar un poco más…..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/>
          <p:cNvSpPr/>
          <p:nvPr/>
        </p:nvSpPr>
        <p:spPr>
          <a:xfrm>
            <a:off x="1384989" y="11196300"/>
            <a:ext cx="46825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AR" b="0" i="0" dirty="0">
                <a:solidFill>
                  <a:srgbClr val="59544B"/>
                </a:solidFill>
                <a:effectLst/>
                <a:latin typeface="Noto Serif"/>
              </a:rPr>
              <a:t>Estatua de Alan Turing en </a:t>
            </a:r>
            <a:r>
              <a:rPr lang="es-AR" b="0" i="0" dirty="0" err="1">
                <a:solidFill>
                  <a:srgbClr val="59544B"/>
                </a:solidFill>
                <a:effectLst/>
                <a:latin typeface="Noto Serif"/>
              </a:rPr>
              <a:t>Bletchley</a:t>
            </a:r>
            <a:r>
              <a:rPr lang="es-AR" b="0" i="0" dirty="0">
                <a:solidFill>
                  <a:srgbClr val="59544B"/>
                </a:solidFill>
                <a:effectLst/>
                <a:latin typeface="Noto Serif"/>
              </a:rPr>
              <a:t> Park, realizada por Stephen </a:t>
            </a:r>
            <a:r>
              <a:rPr lang="es-AR" b="0" i="0" dirty="0" err="1">
                <a:solidFill>
                  <a:srgbClr val="59544B"/>
                </a:solidFill>
                <a:effectLst/>
                <a:latin typeface="Noto Serif"/>
              </a:rPr>
              <a:t>Ketlle</a:t>
            </a:r>
            <a:r>
              <a:rPr lang="es-AR" b="0" i="0" dirty="0">
                <a:solidFill>
                  <a:srgbClr val="59544B"/>
                </a:solidFill>
                <a:effectLst/>
                <a:latin typeface="Noto Serif"/>
              </a:rPr>
              <a:t> en 2007. Richard </a:t>
            </a:r>
            <a:r>
              <a:rPr lang="es-AR" b="0" i="0" dirty="0" err="1">
                <a:solidFill>
                  <a:srgbClr val="59544B"/>
                </a:solidFill>
                <a:effectLst/>
                <a:latin typeface="Noto Serif"/>
              </a:rPr>
              <a:t>Gillin</a:t>
            </a:r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A56F251-ADEA-4B8B-8064-33BDDCA3543B}"/>
              </a:ext>
            </a:extLst>
          </p:cNvPr>
          <p:cNvSpPr/>
          <p:nvPr/>
        </p:nvSpPr>
        <p:spPr>
          <a:xfrm>
            <a:off x="2383383" y="6428516"/>
            <a:ext cx="96331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hlinkClick r:id="rId3"/>
              </a:rPr>
              <a:t>http://www.eldiario.es/turing/criptografia/Breve-historia-criptografia_0_261773822.html</a:t>
            </a:r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68348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La máquina Enigma, que los alemanes creían indescifrabl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Maquina Enigma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2" descr="Resultado de imagen para U57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4" name="AutoShape 4" descr="http://www.notrecinema.com/images/cache/u-571-wallpaper_345296_11974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34045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Estatua de Alan Turing en Bletchley Park, realizada por Stephen Ketlle en 2007. Richard Gilli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640080" y="640080"/>
            <a:ext cx="2752354" cy="2709275"/>
          </a:xfrm>
          <a:prstGeom prst="ellipse">
            <a:avLst/>
          </a:prstGeom>
          <a:solidFill>
            <a:srgbClr val="FFFFFF"/>
          </a:solidFill>
          <a:ln w="174625" cmpd="thinThick">
            <a:solidFill>
              <a:srgbClr val="FFFFFF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dirty="0">
                <a:solidFill>
                  <a:srgbClr val="262626"/>
                </a:solidFill>
              </a:rPr>
              <a:t>Alan Turing</a:t>
            </a:r>
            <a:br>
              <a:rPr lang="en-US" sz="2600" dirty="0">
                <a:solidFill>
                  <a:srgbClr val="262626"/>
                </a:solidFill>
              </a:rPr>
            </a:br>
            <a:r>
              <a:rPr lang="en-US" sz="2600" dirty="0" err="1">
                <a:solidFill>
                  <a:srgbClr val="262626"/>
                </a:solidFill>
              </a:rPr>
              <a:t>Responsable</a:t>
            </a:r>
            <a:r>
              <a:rPr lang="en-US" sz="2600" dirty="0">
                <a:solidFill>
                  <a:srgbClr val="262626"/>
                </a:solidFill>
              </a:rPr>
              <a:t> de </a:t>
            </a:r>
            <a:r>
              <a:rPr lang="en-US" sz="2600" dirty="0" err="1">
                <a:solidFill>
                  <a:srgbClr val="262626"/>
                </a:solidFill>
              </a:rPr>
              <a:t>descifrar</a:t>
            </a:r>
            <a:r>
              <a:rPr lang="en-US" sz="2600" dirty="0">
                <a:solidFill>
                  <a:srgbClr val="262626"/>
                </a:solidFill>
              </a:rPr>
              <a:t> el Código Enigma</a:t>
            </a:r>
          </a:p>
        </p:txBody>
      </p:sp>
    </p:spTree>
    <p:extLst>
      <p:ext uri="{BB962C8B-B14F-4D97-AF65-F5344CB8AC3E}">
        <p14:creationId xmlns:p14="http://schemas.microsoft.com/office/powerpoint/2010/main" val="474319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ítulo 2"/>
          <p:cNvSpPr txBox="1">
            <a:spLocks/>
          </p:cNvSpPr>
          <p:nvPr/>
        </p:nvSpPr>
        <p:spPr>
          <a:xfrm>
            <a:off x="1691308" y="298251"/>
            <a:ext cx="8915399" cy="563142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</a:rPr>
              <a:t>Objetivo</a:t>
            </a:r>
            <a:endParaRPr lang="es-AR" sz="2800" dirty="0">
              <a:solidFill>
                <a:schemeClr val="accent4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302494" y="1965266"/>
            <a:ext cx="7693025" cy="250513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5438" lvl="1" indent="0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es-AR" sz="3200" dirty="0" err="1">
                <a:solidFill>
                  <a:srgbClr val="000000"/>
                </a:solidFill>
              </a:rPr>
              <a:t>Conocer</a:t>
            </a:r>
            <a:r>
              <a:rPr lang="en-US" altLang="es-AR" sz="3200" dirty="0">
                <a:solidFill>
                  <a:srgbClr val="000000"/>
                </a:solidFill>
              </a:rPr>
              <a:t> los </a:t>
            </a:r>
            <a:r>
              <a:rPr lang="en-US" altLang="es-AR" sz="3200" dirty="0" err="1">
                <a:solidFill>
                  <a:srgbClr val="000000"/>
                </a:solidFill>
              </a:rPr>
              <a:t>distintos</a:t>
            </a:r>
            <a:r>
              <a:rPr lang="en-US" altLang="es-AR" sz="3200" dirty="0">
                <a:solidFill>
                  <a:srgbClr val="000000"/>
                </a:solidFill>
              </a:rPr>
              <a:t> </a:t>
            </a:r>
            <a:r>
              <a:rPr lang="en-US" altLang="es-AR" sz="3200" dirty="0" err="1">
                <a:solidFill>
                  <a:srgbClr val="000000"/>
                </a:solidFill>
              </a:rPr>
              <a:t>tipos</a:t>
            </a:r>
            <a:r>
              <a:rPr lang="en-US" altLang="es-AR" sz="3200" dirty="0">
                <a:solidFill>
                  <a:srgbClr val="000000"/>
                </a:solidFill>
              </a:rPr>
              <a:t> de </a:t>
            </a:r>
            <a:r>
              <a:rPr lang="en-US" altLang="es-AR" sz="3200" dirty="0" err="1">
                <a:solidFill>
                  <a:srgbClr val="000000"/>
                </a:solidFill>
              </a:rPr>
              <a:t>códigos</a:t>
            </a:r>
            <a:r>
              <a:rPr lang="en-US" altLang="es-AR" sz="3200" dirty="0">
                <a:solidFill>
                  <a:srgbClr val="000000"/>
                </a:solidFill>
              </a:rPr>
              <a:t> y </a:t>
            </a:r>
            <a:r>
              <a:rPr lang="en-US" altLang="es-AR" sz="3200" dirty="0" err="1">
                <a:solidFill>
                  <a:srgbClr val="000000"/>
                </a:solidFill>
              </a:rPr>
              <a:t>sus</a:t>
            </a:r>
            <a:r>
              <a:rPr lang="en-US" altLang="es-AR" sz="3200" dirty="0">
                <a:solidFill>
                  <a:srgbClr val="000000"/>
                </a:solidFill>
              </a:rPr>
              <a:t> </a:t>
            </a:r>
            <a:r>
              <a:rPr lang="en-US" altLang="es-AR" sz="3200" dirty="0" err="1">
                <a:solidFill>
                  <a:srgbClr val="000000"/>
                </a:solidFill>
              </a:rPr>
              <a:t>aplicaciones</a:t>
            </a:r>
            <a:r>
              <a:rPr lang="en-US" altLang="es-AR" sz="3200" dirty="0">
                <a:solidFill>
                  <a:srgbClr val="000000"/>
                </a:solidFill>
              </a:rPr>
              <a:t>.</a:t>
            </a:r>
            <a:endParaRPr lang="en-US" altLang="es-AR" sz="3200" dirty="0"/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endParaRPr lang="en-US" altLang="es-AR" sz="3200" dirty="0">
              <a:solidFill>
                <a:srgbClr val="000000"/>
              </a:solidFill>
            </a:endParaRPr>
          </a:p>
          <a:p>
            <a:pPr marL="75438" lvl="1" indent="0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es-AR" sz="3200" dirty="0" err="1">
                <a:solidFill>
                  <a:srgbClr val="000000"/>
                </a:solidFill>
              </a:rPr>
              <a:t>Presentar</a:t>
            </a:r>
            <a:r>
              <a:rPr lang="en-US" altLang="es-AR" sz="3200" dirty="0">
                <a:solidFill>
                  <a:srgbClr val="000000"/>
                </a:solidFill>
              </a:rPr>
              <a:t> los </a:t>
            </a:r>
            <a:r>
              <a:rPr lang="en-US" altLang="es-AR" sz="3200" dirty="0" err="1">
                <a:solidFill>
                  <a:srgbClr val="000000"/>
                </a:solidFill>
              </a:rPr>
              <a:t>mecanismos</a:t>
            </a:r>
            <a:r>
              <a:rPr lang="en-US" altLang="es-AR" sz="3200" dirty="0">
                <a:solidFill>
                  <a:srgbClr val="000000"/>
                </a:solidFill>
              </a:rPr>
              <a:t> de </a:t>
            </a:r>
            <a:r>
              <a:rPr lang="en-US" altLang="es-AR" sz="3200" dirty="0" err="1">
                <a:solidFill>
                  <a:srgbClr val="000000"/>
                </a:solidFill>
              </a:rPr>
              <a:t>detección</a:t>
            </a:r>
            <a:r>
              <a:rPr lang="en-US" altLang="es-AR" sz="3200" dirty="0">
                <a:solidFill>
                  <a:srgbClr val="000000"/>
                </a:solidFill>
              </a:rPr>
              <a:t> y </a:t>
            </a:r>
            <a:r>
              <a:rPr lang="en-US" altLang="es-AR" sz="3200" dirty="0" err="1">
                <a:solidFill>
                  <a:srgbClr val="000000"/>
                </a:solidFill>
              </a:rPr>
              <a:t>corrección</a:t>
            </a:r>
            <a:r>
              <a:rPr lang="en-US" altLang="es-AR" sz="3200" dirty="0">
                <a:solidFill>
                  <a:srgbClr val="000000"/>
                </a:solidFill>
              </a:rPr>
              <a:t> de </a:t>
            </a:r>
            <a:r>
              <a:rPr lang="en-US" altLang="es-AR" sz="3200" dirty="0" err="1">
                <a:solidFill>
                  <a:srgbClr val="000000"/>
                </a:solidFill>
              </a:rPr>
              <a:t>errores</a:t>
            </a:r>
            <a:r>
              <a:rPr lang="en-US" altLang="es-AR" sz="32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0423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838200" y="963877"/>
            <a:ext cx="3494362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en-US" sz="44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Definiciones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7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b="1"/>
              <a:t>Carácter</a:t>
            </a:r>
            <a:r>
              <a:rPr lang="en-US" altLang="es-AR"/>
              <a:t>: Grupo de bits que representa un símbolo. (letra, número o control)</a:t>
            </a:r>
          </a:p>
          <a:p>
            <a:pPr marL="0">
              <a:spcBef>
                <a:spcPct val="0"/>
              </a:spcBef>
              <a:spcAft>
                <a:spcPts val="600"/>
              </a:spcAft>
            </a:pPr>
            <a:endParaRPr lang="en-US" altLang="es-AR" sz="2400"/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b="1"/>
              <a:t>Byte</a:t>
            </a:r>
            <a:r>
              <a:rPr lang="en-US" altLang="es-AR"/>
              <a:t>: Grupo de bits consecutivos que se tratan como una unidad o caracter. </a:t>
            </a:r>
          </a:p>
          <a:p>
            <a:pPr marL="0">
              <a:spcBef>
                <a:spcPct val="0"/>
              </a:spcBef>
              <a:spcAft>
                <a:spcPts val="600"/>
              </a:spcAft>
            </a:pPr>
            <a:endParaRPr lang="en-US" altLang="es-AR" sz="2400"/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b="1"/>
              <a:t>Alfabeto</a:t>
            </a:r>
            <a:r>
              <a:rPr lang="en-US" altLang="es-AR"/>
              <a:t>: conjunto de grupos de bits o caracteres que conforman un sistema.</a:t>
            </a:r>
          </a:p>
          <a:p>
            <a:pPr marL="0">
              <a:spcBef>
                <a:spcPct val="0"/>
              </a:spcBef>
              <a:spcAft>
                <a:spcPts val="600"/>
              </a:spcAft>
            </a:pPr>
            <a:endParaRPr lang="en-US" altLang="es-AR" sz="2400"/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b="1"/>
              <a:t>Protocolo</a:t>
            </a:r>
            <a:r>
              <a:rPr lang="en-US" altLang="es-AR"/>
              <a:t>: Conjunto de reglas y procedimientos que regulan las comunicaciones entre dos o mas dispositivos</a:t>
            </a:r>
          </a:p>
        </p:txBody>
      </p:sp>
    </p:spTree>
    <p:extLst>
      <p:ext uri="{BB962C8B-B14F-4D97-AF65-F5344CB8AC3E}">
        <p14:creationId xmlns:p14="http://schemas.microsoft.com/office/powerpoint/2010/main" val="1903555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ítulo 2"/>
          <p:cNvSpPr txBox="1">
            <a:spLocks/>
          </p:cNvSpPr>
          <p:nvPr/>
        </p:nvSpPr>
        <p:spPr>
          <a:xfrm>
            <a:off x="838200" y="963877"/>
            <a:ext cx="3494362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en-US" sz="44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Código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1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b="1"/>
              <a:t>Definición</a:t>
            </a:r>
            <a:r>
              <a:rPr lang="en-US" altLang="es-AR"/>
              <a:t>: Correspondencia que se puede establecer entre los símbolos del alfabeto fuente con los del alfabeto código.</a:t>
            </a:r>
          </a:p>
          <a:p>
            <a:pPr marL="0">
              <a:spcBef>
                <a:spcPct val="0"/>
              </a:spcBef>
              <a:spcAft>
                <a:spcPts val="600"/>
              </a:spcAft>
            </a:pPr>
            <a:endParaRPr lang="en-US" altLang="es-AR" sz="2400"/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b="1"/>
              <a:t>Alfabeto Fuente</a:t>
            </a:r>
            <a:r>
              <a:rPr lang="en-US" altLang="es-AR"/>
              <a:t>: Contiene los símbolos originales que se quieren codificar.</a:t>
            </a:r>
          </a:p>
          <a:p>
            <a:pPr marL="0">
              <a:spcBef>
                <a:spcPct val="0"/>
              </a:spcBef>
              <a:spcAft>
                <a:spcPts val="600"/>
              </a:spcAft>
            </a:pPr>
            <a:endParaRPr lang="en-US" altLang="es-AR" sz="2400"/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b="1"/>
              <a:t>Alfabeto Código</a:t>
            </a:r>
            <a:r>
              <a:rPr lang="en-US" altLang="es-AR"/>
              <a:t>: Contiene los símbolos equivalentes a los símbolos originales.</a:t>
            </a:r>
          </a:p>
        </p:txBody>
      </p:sp>
    </p:spTree>
    <p:extLst>
      <p:ext uri="{BB962C8B-B14F-4D97-AF65-F5344CB8AC3E}">
        <p14:creationId xmlns:p14="http://schemas.microsoft.com/office/powerpoint/2010/main" val="682805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ubtítulo 2"/>
          <p:cNvSpPr txBox="1">
            <a:spLocks/>
          </p:cNvSpPr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Códigos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A3C93A8-DE3A-4283-9D66-CE0FD703E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499" y="1675227"/>
            <a:ext cx="760900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538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71">
            <a:extLst>
              <a:ext uri="{FF2B5EF4-FFF2-40B4-BE49-F238E27FC236}">
                <a16:creationId xmlns:a16="http://schemas.microsoft.com/office/drawing/2014/main" id="{6F9EB9F2-07E2-4D64-BBD8-BB5B217F1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2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ítulo 2"/>
          <p:cNvSpPr txBox="1">
            <a:spLocks/>
          </p:cNvSpPr>
          <p:nvPr/>
        </p:nvSpPr>
        <p:spPr>
          <a:xfrm>
            <a:off x="1194043" y="965198"/>
            <a:ext cx="6766078" cy="4927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5400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Códigos</a:t>
            </a:r>
            <a:endParaRPr lang="en-US" sz="540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703452" y="965198"/>
            <a:ext cx="5903878" cy="49276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1" indent="0">
              <a:spcBef>
                <a:spcPts val="1000"/>
              </a:spcBef>
              <a:buClr>
                <a:srgbClr val="000000"/>
              </a:buClr>
              <a:buNone/>
            </a:pPr>
            <a:r>
              <a:rPr lang="en-US" altLang="es-AR" sz="2000" b="1" kern="1200" dirty="0" err="1">
                <a:latin typeface="+mn-lt"/>
                <a:ea typeface="+mn-ea"/>
                <a:cs typeface="+mn-cs"/>
              </a:rPr>
              <a:t>Codificación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: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Operación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que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nos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permite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pasar del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alfabeto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fuente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al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alfabeto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código</a:t>
            </a:r>
            <a:endParaRPr lang="en-US" altLang="es-AR" sz="2000" kern="12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es-AR" sz="2000" kern="1200" dirty="0">
              <a:latin typeface="+mn-lt"/>
              <a:ea typeface="+mn-ea"/>
              <a:cs typeface="+mn-cs"/>
            </a:endParaRPr>
          </a:p>
          <a:p>
            <a:pPr marL="0" lvl="1" indent="0">
              <a:spcBef>
                <a:spcPts val="1000"/>
              </a:spcBef>
              <a:buClr>
                <a:srgbClr val="000000"/>
              </a:buClr>
              <a:buNone/>
            </a:pPr>
            <a:r>
              <a:rPr lang="en-US" altLang="es-AR" sz="2000" b="1" kern="1200" dirty="0" err="1">
                <a:latin typeface="+mn-lt"/>
                <a:ea typeface="+mn-ea"/>
                <a:cs typeface="+mn-cs"/>
              </a:rPr>
              <a:t>Decodificación</a:t>
            </a:r>
            <a:r>
              <a:rPr lang="en-US" altLang="es-AR" sz="2000" b="1" kern="1200" dirty="0">
                <a:latin typeface="+mn-lt"/>
                <a:ea typeface="+mn-ea"/>
                <a:cs typeface="+mn-cs"/>
              </a:rPr>
              <a:t>: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Operación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inversa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a la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codificación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,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permite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pasar del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alfabeto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código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al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fuente</a:t>
            </a:r>
            <a:endParaRPr lang="en-US" altLang="es-AR" sz="2000" kern="1200" dirty="0">
              <a:latin typeface="+mn-lt"/>
              <a:ea typeface="+mn-ea"/>
              <a:cs typeface="+mn-cs"/>
            </a:endParaRPr>
          </a:p>
        </p:txBody>
      </p:sp>
      <p:cxnSp>
        <p:nvCxnSpPr>
          <p:cNvPr id="9222" name="Straight Connector 73">
            <a:extLst>
              <a:ext uri="{FF2B5EF4-FFF2-40B4-BE49-F238E27FC236}">
                <a16:creationId xmlns:a16="http://schemas.microsoft.com/office/drawing/2014/main" id="{F0C57C7C-DFE9-4A1E-B7A9-DF40E633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233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ítulo 2"/>
          <p:cNvSpPr txBox="1">
            <a:spLocks/>
          </p:cNvSpPr>
          <p:nvPr/>
        </p:nvSpPr>
        <p:spPr>
          <a:xfrm>
            <a:off x="838200" y="963877"/>
            <a:ext cx="3494362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en-US" sz="44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Clasificación de los códigos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3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es-AR" sz="2800" b="1" dirty="0"/>
              <a:t>Código </a:t>
            </a:r>
            <a:r>
              <a:rPr lang="en-US" altLang="es-AR" sz="2800" b="1" dirty="0" err="1"/>
              <a:t>Bloque</a:t>
            </a:r>
            <a:r>
              <a:rPr lang="en-US" altLang="es-AR" b="1" dirty="0"/>
              <a:t>: </a:t>
            </a:r>
            <a:r>
              <a:rPr lang="en-US" altLang="es-AR" dirty="0" err="1"/>
              <a:t>Cada</a:t>
            </a:r>
            <a:r>
              <a:rPr lang="en-US" altLang="es-AR" dirty="0"/>
              <a:t> </a:t>
            </a:r>
            <a:r>
              <a:rPr lang="en-US" altLang="es-AR" dirty="0" err="1"/>
              <a:t>caracter</a:t>
            </a:r>
            <a:r>
              <a:rPr lang="en-US" altLang="es-AR" dirty="0"/>
              <a:t> </a:t>
            </a:r>
            <a:r>
              <a:rPr lang="en-US" altLang="es-AR" dirty="0" err="1"/>
              <a:t>codificado</a:t>
            </a:r>
            <a:r>
              <a:rPr lang="en-US" altLang="es-AR" dirty="0"/>
              <a:t> </a:t>
            </a:r>
            <a:r>
              <a:rPr lang="en-US" altLang="es-AR" dirty="0" err="1"/>
              <a:t>tiene</a:t>
            </a:r>
            <a:r>
              <a:rPr lang="en-US" altLang="es-AR" dirty="0"/>
              <a:t> la </a:t>
            </a:r>
            <a:r>
              <a:rPr lang="en-US" altLang="es-AR" dirty="0" err="1"/>
              <a:t>misma</a:t>
            </a:r>
            <a:r>
              <a:rPr lang="en-US" altLang="es-AR" dirty="0"/>
              <a:t> </a:t>
            </a:r>
            <a:r>
              <a:rPr lang="en-US" altLang="es-AR" dirty="0" err="1"/>
              <a:t>longitud</a:t>
            </a:r>
            <a:r>
              <a:rPr lang="en-US" altLang="es-AR" dirty="0"/>
              <a:t>.</a:t>
            </a:r>
          </a:p>
          <a:p>
            <a:pPr marL="0" indent="-26746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es-AR" b="1" dirty="0"/>
              <a:t>Código No singular</a:t>
            </a:r>
            <a:r>
              <a:rPr lang="en-US" altLang="es-AR" dirty="0"/>
              <a:t>: Código </a:t>
            </a:r>
            <a:r>
              <a:rPr lang="en-US" altLang="es-AR" dirty="0" err="1"/>
              <a:t>bloque</a:t>
            </a:r>
            <a:r>
              <a:rPr lang="en-US" altLang="es-AR" dirty="0"/>
              <a:t> </a:t>
            </a:r>
            <a:r>
              <a:rPr lang="en-US" altLang="es-AR" dirty="0" err="1"/>
              <a:t>en</a:t>
            </a:r>
            <a:r>
              <a:rPr lang="en-US" altLang="es-AR" dirty="0"/>
              <a:t> el </a:t>
            </a:r>
            <a:r>
              <a:rPr lang="en-US" altLang="es-AR" dirty="0" err="1"/>
              <a:t>cual</a:t>
            </a:r>
            <a:r>
              <a:rPr lang="en-US" altLang="es-AR" dirty="0"/>
              <a:t> a </a:t>
            </a:r>
            <a:r>
              <a:rPr lang="en-US" altLang="es-AR" dirty="0" err="1"/>
              <a:t>cada</a:t>
            </a:r>
            <a:r>
              <a:rPr lang="en-US" altLang="es-AR" dirty="0"/>
              <a:t> </a:t>
            </a:r>
            <a:r>
              <a:rPr lang="en-US" altLang="es-AR" dirty="0" err="1"/>
              <a:t>símbolo</a:t>
            </a:r>
            <a:r>
              <a:rPr lang="en-US" altLang="es-AR" dirty="0"/>
              <a:t> le </a:t>
            </a:r>
            <a:r>
              <a:rPr lang="en-US" altLang="es-AR" dirty="0" err="1"/>
              <a:t>corresponde</a:t>
            </a:r>
            <a:r>
              <a:rPr lang="en-US" altLang="es-AR" dirty="0"/>
              <a:t> una </a:t>
            </a:r>
            <a:r>
              <a:rPr lang="en-US" altLang="es-AR" dirty="0" err="1"/>
              <a:t>única</a:t>
            </a:r>
            <a:r>
              <a:rPr lang="en-US" altLang="es-AR" dirty="0"/>
              <a:t> </a:t>
            </a:r>
            <a:r>
              <a:rPr lang="en-US" altLang="es-AR" dirty="0" err="1"/>
              <a:t>codificación</a:t>
            </a:r>
            <a:r>
              <a:rPr lang="en-US" altLang="es-AR" dirty="0"/>
              <a:t>.</a:t>
            </a:r>
          </a:p>
          <a:p>
            <a:pPr marL="0" indent="-26746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es-AR" b="1" dirty="0"/>
              <a:t>Código Singular</a:t>
            </a:r>
            <a:r>
              <a:rPr lang="en-US" altLang="es-AR" dirty="0"/>
              <a:t>: Código </a:t>
            </a:r>
            <a:r>
              <a:rPr lang="en-US" altLang="es-AR" dirty="0" err="1"/>
              <a:t>bloque</a:t>
            </a:r>
            <a:r>
              <a:rPr lang="en-US" altLang="es-AR" dirty="0"/>
              <a:t> </a:t>
            </a:r>
            <a:r>
              <a:rPr lang="en-US" altLang="es-AR" dirty="0" err="1"/>
              <a:t>en</a:t>
            </a:r>
            <a:r>
              <a:rPr lang="en-US" altLang="es-AR" dirty="0"/>
              <a:t> el </a:t>
            </a:r>
            <a:r>
              <a:rPr lang="en-US" altLang="es-AR" dirty="0" err="1"/>
              <a:t>cual</a:t>
            </a:r>
            <a:r>
              <a:rPr lang="en-US" altLang="es-AR" dirty="0"/>
              <a:t> a </a:t>
            </a:r>
            <a:r>
              <a:rPr lang="en-US" altLang="es-AR" dirty="0" err="1"/>
              <a:t>cada</a:t>
            </a:r>
            <a:r>
              <a:rPr lang="en-US" altLang="es-AR" dirty="0"/>
              <a:t> </a:t>
            </a:r>
            <a:r>
              <a:rPr lang="en-US" altLang="es-AR" dirty="0" err="1"/>
              <a:t>símbolo</a:t>
            </a:r>
            <a:r>
              <a:rPr lang="en-US" altLang="es-AR" dirty="0"/>
              <a:t> le </a:t>
            </a:r>
            <a:r>
              <a:rPr lang="en-US" altLang="es-AR" dirty="0" err="1"/>
              <a:t>corresponden</a:t>
            </a:r>
            <a:r>
              <a:rPr lang="en-US" altLang="es-AR" dirty="0"/>
              <a:t> dos o mas </a:t>
            </a:r>
            <a:r>
              <a:rPr lang="en-US" altLang="es-AR" dirty="0" err="1"/>
              <a:t>codificaciones</a:t>
            </a:r>
            <a:endParaRPr lang="en-US" altLang="es-AR" dirty="0"/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es-AR" sz="2800" b="1" dirty="0"/>
              <a:t>Código </a:t>
            </a:r>
            <a:r>
              <a:rPr lang="en-US" altLang="es-AR" sz="2800" b="1" dirty="0" err="1"/>
              <a:t>Compacto</a:t>
            </a:r>
            <a:r>
              <a:rPr lang="en-US" altLang="es-AR" sz="2800" dirty="0"/>
              <a:t>: </a:t>
            </a:r>
            <a:r>
              <a:rPr lang="en-US" altLang="es-AR" dirty="0" err="1"/>
              <a:t>cada</a:t>
            </a:r>
            <a:r>
              <a:rPr lang="en-US" altLang="es-AR" dirty="0"/>
              <a:t> </a:t>
            </a:r>
            <a:r>
              <a:rPr lang="en-US" altLang="es-AR" dirty="0" err="1"/>
              <a:t>caracter</a:t>
            </a:r>
            <a:r>
              <a:rPr lang="en-US" altLang="es-AR" dirty="0"/>
              <a:t> </a:t>
            </a:r>
            <a:r>
              <a:rPr lang="en-US" altLang="es-AR" dirty="0" err="1"/>
              <a:t>puede</a:t>
            </a:r>
            <a:r>
              <a:rPr lang="en-US" altLang="es-AR" dirty="0"/>
              <a:t> </a:t>
            </a:r>
            <a:r>
              <a:rPr lang="en-US" altLang="es-AR" dirty="0" err="1"/>
              <a:t>tener</a:t>
            </a:r>
            <a:r>
              <a:rPr lang="en-US" altLang="es-AR" dirty="0"/>
              <a:t> una </a:t>
            </a:r>
            <a:r>
              <a:rPr lang="en-US" altLang="es-AR" dirty="0" err="1"/>
              <a:t>longitud</a:t>
            </a:r>
            <a:r>
              <a:rPr lang="en-US" altLang="es-AR" dirty="0"/>
              <a:t> </a:t>
            </a:r>
            <a:r>
              <a:rPr lang="en-US" altLang="es-AR" dirty="0" err="1"/>
              <a:t>diferente</a:t>
            </a:r>
            <a:r>
              <a:rPr lang="en-US" altLang="es-AR" dirty="0"/>
              <a:t>, </a:t>
            </a:r>
            <a:r>
              <a:rPr lang="en-US" altLang="es-AR" dirty="0" err="1"/>
              <a:t>buscando</a:t>
            </a:r>
            <a:r>
              <a:rPr lang="en-US" altLang="es-AR" dirty="0"/>
              <a:t> que </a:t>
            </a:r>
            <a:r>
              <a:rPr lang="en-US" altLang="es-AR" dirty="0" err="1"/>
              <a:t>cada</a:t>
            </a:r>
            <a:r>
              <a:rPr lang="en-US" altLang="es-AR" dirty="0"/>
              <a:t> </a:t>
            </a:r>
            <a:r>
              <a:rPr lang="en-US" altLang="es-AR" dirty="0" err="1"/>
              <a:t>mensaje</a:t>
            </a:r>
            <a:r>
              <a:rPr lang="en-US" altLang="es-AR" dirty="0"/>
              <a:t> </a:t>
            </a:r>
            <a:r>
              <a:rPr lang="en-US" altLang="es-AR" dirty="0" err="1"/>
              <a:t>pueda</a:t>
            </a:r>
            <a:r>
              <a:rPr lang="en-US" altLang="es-AR" dirty="0"/>
              <a:t> </a:t>
            </a:r>
            <a:r>
              <a:rPr lang="en-US" altLang="es-AR" dirty="0" err="1"/>
              <a:t>transmitirse</a:t>
            </a:r>
            <a:r>
              <a:rPr lang="en-US" altLang="es-AR" dirty="0"/>
              <a:t> con el </a:t>
            </a:r>
            <a:r>
              <a:rPr lang="en-US" altLang="es-AR" dirty="0" err="1"/>
              <a:t>menor</a:t>
            </a:r>
            <a:r>
              <a:rPr lang="en-US" altLang="es-AR" dirty="0"/>
              <a:t> </a:t>
            </a:r>
            <a:r>
              <a:rPr lang="en-US" altLang="es-AR" dirty="0" err="1"/>
              <a:t>numero</a:t>
            </a:r>
            <a:r>
              <a:rPr lang="en-US" altLang="es-AR" dirty="0"/>
              <a:t> </a:t>
            </a:r>
            <a:r>
              <a:rPr lang="en-US" altLang="es-AR" dirty="0" err="1"/>
              <a:t>posible</a:t>
            </a:r>
            <a:r>
              <a:rPr lang="en-US" altLang="es-AR" dirty="0"/>
              <a:t> de </a:t>
            </a:r>
            <a:r>
              <a:rPr lang="en-US" altLang="es-AR" dirty="0" err="1"/>
              <a:t>símbolos</a:t>
            </a:r>
            <a:r>
              <a:rPr lang="en-US" altLang="es-A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7947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ubtítulo 2"/>
          <p:cNvSpPr txBox="1">
            <a:spLocks/>
          </p:cNvSpPr>
          <p:nvPr/>
        </p:nvSpPr>
        <p:spPr>
          <a:xfrm>
            <a:off x="527538" y="4756638"/>
            <a:ext cx="11139854" cy="9304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sz="54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Código Morse</a:t>
            </a:r>
          </a:p>
        </p:txBody>
      </p:sp>
      <p:pic>
        <p:nvPicPr>
          <p:cNvPr id="119810" name="Picture 2" descr="https://s-media-cache-ak0.pinimg.com/originals/47/1f/fe/471ffe065a08b8901a7c0dce54493165.jp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8879" y="307731"/>
            <a:ext cx="2978238" cy="399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573173" y="307731"/>
            <a:ext cx="5141656" cy="399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31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85" y="3871945"/>
            <a:ext cx="6649403" cy="2353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upo 2"/>
          <p:cNvGrpSpPr/>
          <p:nvPr/>
        </p:nvGrpSpPr>
        <p:grpSpPr>
          <a:xfrm>
            <a:off x="511985" y="1394404"/>
            <a:ext cx="6173629" cy="1944529"/>
            <a:chOff x="2961323" y="1580198"/>
            <a:chExt cx="6173629" cy="1944529"/>
          </a:xfrm>
        </p:grpSpPr>
        <p:pic>
          <p:nvPicPr>
            <p:cNvPr id="12292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1323" y="1580198"/>
              <a:ext cx="6173629" cy="1944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3" name="Text Box 8"/>
            <p:cNvSpPr txBox="1">
              <a:spLocks noChangeArrowheads="1"/>
            </p:cNvSpPr>
            <p:nvPr/>
          </p:nvSpPr>
          <p:spPr bwMode="auto">
            <a:xfrm>
              <a:off x="6426042" y="3171826"/>
              <a:ext cx="1284446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111</a:t>
              </a:r>
            </a:p>
          </p:txBody>
        </p:sp>
        <p:sp>
          <p:nvSpPr>
            <p:cNvPr id="12294" name="Text Box 9"/>
            <p:cNvSpPr txBox="1">
              <a:spLocks noChangeArrowheads="1"/>
            </p:cNvSpPr>
            <p:nvPr/>
          </p:nvSpPr>
          <p:spPr bwMode="auto">
            <a:xfrm>
              <a:off x="6426042" y="2790350"/>
              <a:ext cx="1284446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110</a:t>
              </a:r>
            </a:p>
          </p:txBody>
        </p:sp>
        <p:sp>
          <p:nvSpPr>
            <p:cNvPr id="12295" name="Text Box 10"/>
            <p:cNvSpPr txBox="1">
              <a:spLocks noChangeArrowheads="1"/>
            </p:cNvSpPr>
            <p:nvPr/>
          </p:nvSpPr>
          <p:spPr bwMode="auto">
            <a:xfrm>
              <a:off x="6426042" y="2407445"/>
              <a:ext cx="1284446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101</a:t>
              </a:r>
            </a:p>
          </p:txBody>
        </p:sp>
        <p:sp>
          <p:nvSpPr>
            <p:cNvPr id="12296" name="Text Box 11"/>
            <p:cNvSpPr txBox="1">
              <a:spLocks noChangeArrowheads="1"/>
            </p:cNvSpPr>
            <p:nvPr/>
          </p:nvSpPr>
          <p:spPr bwMode="auto">
            <a:xfrm>
              <a:off x="6426042" y="2025968"/>
              <a:ext cx="1284446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100</a:t>
              </a:r>
            </a:p>
          </p:txBody>
        </p:sp>
        <p:sp>
          <p:nvSpPr>
            <p:cNvPr id="12297" name="Text Box 12"/>
            <p:cNvSpPr txBox="1">
              <a:spLocks noChangeArrowheads="1"/>
            </p:cNvSpPr>
            <p:nvPr/>
          </p:nvSpPr>
          <p:spPr bwMode="auto">
            <a:xfrm>
              <a:off x="6426042" y="1645921"/>
              <a:ext cx="1284446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Binario</a:t>
              </a:r>
            </a:p>
          </p:txBody>
        </p:sp>
        <p:sp>
          <p:nvSpPr>
            <p:cNvPr id="12298" name="Text Box 13"/>
            <p:cNvSpPr txBox="1">
              <a:spLocks noChangeArrowheads="1"/>
            </p:cNvSpPr>
            <p:nvPr/>
          </p:nvSpPr>
          <p:spPr bwMode="auto">
            <a:xfrm>
              <a:off x="3359944" y="3171826"/>
              <a:ext cx="1283018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011</a:t>
              </a:r>
            </a:p>
          </p:txBody>
        </p:sp>
        <p:sp>
          <p:nvSpPr>
            <p:cNvPr id="12299" name="Text Box 14"/>
            <p:cNvSpPr txBox="1">
              <a:spLocks noChangeArrowheads="1"/>
            </p:cNvSpPr>
            <p:nvPr/>
          </p:nvSpPr>
          <p:spPr bwMode="auto">
            <a:xfrm>
              <a:off x="3359944" y="2790350"/>
              <a:ext cx="1283018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010</a:t>
              </a:r>
            </a:p>
          </p:txBody>
        </p:sp>
        <p:sp>
          <p:nvSpPr>
            <p:cNvPr id="12300" name="Text Box 15"/>
            <p:cNvSpPr txBox="1">
              <a:spLocks noChangeArrowheads="1"/>
            </p:cNvSpPr>
            <p:nvPr/>
          </p:nvSpPr>
          <p:spPr bwMode="auto">
            <a:xfrm>
              <a:off x="3359944" y="2407445"/>
              <a:ext cx="1283018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001</a:t>
              </a:r>
            </a:p>
          </p:txBody>
        </p:sp>
        <p:sp>
          <p:nvSpPr>
            <p:cNvPr id="12301" name="Text Box 16"/>
            <p:cNvSpPr txBox="1">
              <a:spLocks noChangeArrowheads="1"/>
            </p:cNvSpPr>
            <p:nvPr/>
          </p:nvSpPr>
          <p:spPr bwMode="auto">
            <a:xfrm>
              <a:off x="3359944" y="2025968"/>
              <a:ext cx="1283018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000</a:t>
              </a:r>
            </a:p>
          </p:txBody>
        </p:sp>
        <p:sp>
          <p:nvSpPr>
            <p:cNvPr id="12302" name="Text Box 17"/>
            <p:cNvSpPr txBox="1">
              <a:spLocks noChangeArrowheads="1"/>
            </p:cNvSpPr>
            <p:nvPr/>
          </p:nvSpPr>
          <p:spPr bwMode="auto">
            <a:xfrm>
              <a:off x="3359944" y="1645921"/>
              <a:ext cx="1283018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Binario</a:t>
              </a:r>
            </a:p>
          </p:txBody>
        </p:sp>
        <p:sp>
          <p:nvSpPr>
            <p:cNvPr id="12303" name="Text Box 18"/>
            <p:cNvSpPr txBox="1">
              <a:spLocks noChangeArrowheads="1"/>
            </p:cNvSpPr>
            <p:nvPr/>
          </p:nvSpPr>
          <p:spPr bwMode="auto">
            <a:xfrm>
              <a:off x="7789069" y="1645921"/>
              <a:ext cx="1283018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Gray</a:t>
              </a:r>
            </a:p>
          </p:txBody>
        </p:sp>
        <p:sp>
          <p:nvSpPr>
            <p:cNvPr id="12304" name="Text Box 19"/>
            <p:cNvSpPr txBox="1">
              <a:spLocks noChangeArrowheads="1"/>
            </p:cNvSpPr>
            <p:nvPr/>
          </p:nvSpPr>
          <p:spPr bwMode="auto">
            <a:xfrm>
              <a:off x="4721543" y="1645921"/>
              <a:ext cx="1285875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Gray</a:t>
              </a:r>
            </a:p>
          </p:txBody>
        </p:sp>
        <p:sp>
          <p:nvSpPr>
            <p:cNvPr id="12305" name="Text Box 20"/>
            <p:cNvSpPr txBox="1">
              <a:spLocks noChangeArrowheads="1"/>
            </p:cNvSpPr>
            <p:nvPr/>
          </p:nvSpPr>
          <p:spPr bwMode="auto">
            <a:xfrm>
              <a:off x="7789069" y="3171826"/>
              <a:ext cx="1283018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100</a:t>
              </a:r>
            </a:p>
          </p:txBody>
        </p:sp>
        <p:sp>
          <p:nvSpPr>
            <p:cNvPr id="12306" name="Text Box 21"/>
            <p:cNvSpPr txBox="1">
              <a:spLocks noChangeArrowheads="1"/>
            </p:cNvSpPr>
            <p:nvPr/>
          </p:nvSpPr>
          <p:spPr bwMode="auto">
            <a:xfrm>
              <a:off x="6084570" y="3171826"/>
              <a:ext cx="264319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7</a:t>
              </a:r>
            </a:p>
          </p:txBody>
        </p:sp>
        <p:sp>
          <p:nvSpPr>
            <p:cNvPr id="12307" name="Text Box 22"/>
            <p:cNvSpPr txBox="1">
              <a:spLocks noChangeArrowheads="1"/>
            </p:cNvSpPr>
            <p:nvPr/>
          </p:nvSpPr>
          <p:spPr bwMode="auto">
            <a:xfrm>
              <a:off x="4721543" y="3171826"/>
              <a:ext cx="1285875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010</a:t>
              </a:r>
            </a:p>
          </p:txBody>
        </p:sp>
        <p:sp>
          <p:nvSpPr>
            <p:cNvPr id="12308" name="Text Box 23"/>
            <p:cNvSpPr txBox="1">
              <a:spLocks noChangeArrowheads="1"/>
            </p:cNvSpPr>
            <p:nvPr/>
          </p:nvSpPr>
          <p:spPr bwMode="auto">
            <a:xfrm>
              <a:off x="3018473" y="3171826"/>
              <a:ext cx="262890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2309" name="Text Box 24"/>
            <p:cNvSpPr txBox="1">
              <a:spLocks noChangeArrowheads="1"/>
            </p:cNvSpPr>
            <p:nvPr/>
          </p:nvSpPr>
          <p:spPr bwMode="auto">
            <a:xfrm>
              <a:off x="7789069" y="2790350"/>
              <a:ext cx="1283018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101</a:t>
              </a:r>
            </a:p>
          </p:txBody>
        </p:sp>
        <p:sp>
          <p:nvSpPr>
            <p:cNvPr id="12310" name="Text Box 25"/>
            <p:cNvSpPr txBox="1">
              <a:spLocks noChangeArrowheads="1"/>
            </p:cNvSpPr>
            <p:nvPr/>
          </p:nvSpPr>
          <p:spPr bwMode="auto">
            <a:xfrm>
              <a:off x="6084570" y="2790350"/>
              <a:ext cx="264319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12311" name="Text Box 26"/>
            <p:cNvSpPr txBox="1">
              <a:spLocks noChangeArrowheads="1"/>
            </p:cNvSpPr>
            <p:nvPr/>
          </p:nvSpPr>
          <p:spPr bwMode="auto">
            <a:xfrm>
              <a:off x="4721543" y="2790350"/>
              <a:ext cx="1285875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011</a:t>
              </a:r>
            </a:p>
          </p:txBody>
        </p:sp>
        <p:sp>
          <p:nvSpPr>
            <p:cNvPr id="12312" name="Text Box 27"/>
            <p:cNvSpPr txBox="1">
              <a:spLocks noChangeArrowheads="1"/>
            </p:cNvSpPr>
            <p:nvPr/>
          </p:nvSpPr>
          <p:spPr bwMode="auto">
            <a:xfrm>
              <a:off x="3018473" y="2790350"/>
              <a:ext cx="262890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2313" name="Text Box 28"/>
            <p:cNvSpPr txBox="1">
              <a:spLocks noChangeArrowheads="1"/>
            </p:cNvSpPr>
            <p:nvPr/>
          </p:nvSpPr>
          <p:spPr bwMode="auto">
            <a:xfrm>
              <a:off x="7789069" y="2407445"/>
              <a:ext cx="1283018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111</a:t>
              </a:r>
            </a:p>
          </p:txBody>
        </p:sp>
        <p:sp>
          <p:nvSpPr>
            <p:cNvPr id="12314" name="Text Box 29"/>
            <p:cNvSpPr txBox="1">
              <a:spLocks noChangeArrowheads="1"/>
            </p:cNvSpPr>
            <p:nvPr/>
          </p:nvSpPr>
          <p:spPr bwMode="auto">
            <a:xfrm>
              <a:off x="6084570" y="2407445"/>
              <a:ext cx="264319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2315" name="Text Box 30"/>
            <p:cNvSpPr txBox="1">
              <a:spLocks noChangeArrowheads="1"/>
            </p:cNvSpPr>
            <p:nvPr/>
          </p:nvSpPr>
          <p:spPr bwMode="auto">
            <a:xfrm>
              <a:off x="4721543" y="2407445"/>
              <a:ext cx="1285875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001</a:t>
              </a:r>
            </a:p>
          </p:txBody>
        </p:sp>
        <p:sp>
          <p:nvSpPr>
            <p:cNvPr id="12316" name="Text Box 31"/>
            <p:cNvSpPr txBox="1">
              <a:spLocks noChangeArrowheads="1"/>
            </p:cNvSpPr>
            <p:nvPr/>
          </p:nvSpPr>
          <p:spPr bwMode="auto">
            <a:xfrm>
              <a:off x="3018473" y="2407445"/>
              <a:ext cx="262890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2317" name="Text Box 32"/>
            <p:cNvSpPr txBox="1">
              <a:spLocks noChangeArrowheads="1"/>
            </p:cNvSpPr>
            <p:nvPr/>
          </p:nvSpPr>
          <p:spPr bwMode="auto">
            <a:xfrm>
              <a:off x="7789069" y="2025968"/>
              <a:ext cx="1283018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110</a:t>
              </a:r>
            </a:p>
          </p:txBody>
        </p:sp>
        <p:sp>
          <p:nvSpPr>
            <p:cNvPr id="12318" name="Text Box 33"/>
            <p:cNvSpPr txBox="1">
              <a:spLocks noChangeArrowheads="1"/>
            </p:cNvSpPr>
            <p:nvPr/>
          </p:nvSpPr>
          <p:spPr bwMode="auto">
            <a:xfrm>
              <a:off x="6084570" y="2025968"/>
              <a:ext cx="264319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2319" name="Text Box 34"/>
            <p:cNvSpPr txBox="1">
              <a:spLocks noChangeArrowheads="1"/>
            </p:cNvSpPr>
            <p:nvPr/>
          </p:nvSpPr>
          <p:spPr bwMode="auto">
            <a:xfrm>
              <a:off x="4721543" y="2025968"/>
              <a:ext cx="1285875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000</a:t>
              </a:r>
            </a:p>
          </p:txBody>
        </p:sp>
        <p:sp>
          <p:nvSpPr>
            <p:cNvPr id="12320" name="Text Box 35"/>
            <p:cNvSpPr txBox="1">
              <a:spLocks noChangeArrowheads="1"/>
            </p:cNvSpPr>
            <p:nvPr/>
          </p:nvSpPr>
          <p:spPr bwMode="auto">
            <a:xfrm>
              <a:off x="3018473" y="2025968"/>
              <a:ext cx="262890" cy="26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es-AR" sz="180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</p:grpSp>
      <p:pic>
        <p:nvPicPr>
          <p:cNvPr id="117762" name="Picture 2" descr="http://2.bp.blogspot.com/-PoTuqgOAiOM/UotZv4U-ibI/AAAAAAAAYPg/Q7xkRfbRaUk/s1600/Sensores+digitales_html_7c40bc07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8540" y="1762125"/>
            <a:ext cx="47244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Subtítulo 2"/>
          <p:cNvSpPr txBox="1">
            <a:spLocks/>
          </p:cNvSpPr>
          <p:nvPr/>
        </p:nvSpPr>
        <p:spPr>
          <a:xfrm>
            <a:off x="1691308" y="298251"/>
            <a:ext cx="8915399" cy="563142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</a:rPr>
              <a:t>Código Gray</a:t>
            </a:r>
            <a:endParaRPr lang="es-AR" sz="2800" dirty="0">
              <a:solidFill>
                <a:schemeClr val="accent4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099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4" name="Picture 2" descr="https://3.bp.blogspot.com/-BH7iO4eEIUQ/V1N4ytN3nKI/AAAAAAAAADo/MLPqlqTXDHkybplgFBS7DQLM9NIaqdwiwCLcB/s1600/colossus_tap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398"/>
            <a:ext cx="12192001" cy="6881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4" name="Rectangle 1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320675"/>
            <a:ext cx="11461072" cy="1050925"/>
          </a:xfrm>
        </p:spPr>
        <p:txBody>
          <a:bodyPr vert="horz" lIns="0" tIns="0" rIns="0" bIns="0" rtlCol="0" anchor="t">
            <a:normAutofit/>
          </a:bodyPr>
          <a:lstStyle/>
          <a:p>
            <a:pPr algn="r" eaLnBrk="1" hangingPunct="1">
              <a:lnSpc>
                <a:spcPct val="95000"/>
              </a:lnSpc>
            </a:pPr>
            <a:r>
              <a:rPr lang="en-US" altLang="es-AR" sz="4410" dirty="0" err="1">
                <a:solidFill>
                  <a:schemeClr val="bg1"/>
                </a:solidFill>
                <a:latin typeface="Arial" panose="020B0604020202020204" pitchFamily="34" charset="0"/>
              </a:rPr>
              <a:t>Código</a:t>
            </a:r>
            <a:r>
              <a:rPr lang="en-US" altLang="es-AR" sz="441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s-AR" sz="4410" dirty="0" err="1">
                <a:solidFill>
                  <a:schemeClr val="bg1"/>
                </a:solidFill>
                <a:latin typeface="Arial" panose="020B0604020202020204" pitchFamily="34" charset="0"/>
              </a:rPr>
              <a:t>Baudot</a:t>
            </a:r>
            <a:endParaRPr lang="en-US" altLang="es-AR" sz="441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5010150" y="1581150"/>
            <a:ext cx="7181850" cy="4687888"/>
          </a:xfrm>
          <a:noFill/>
        </p:spPr>
        <p:txBody>
          <a:bodyPr vert="horz" lIns="0" tIns="0" rIns="0" bIns="0" rtlCol="0">
            <a:noAutofit/>
          </a:bodyPr>
          <a:lstStyle/>
          <a:p>
            <a:pPr lvl="1" indent="-308610" algn="l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Código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de 5 bits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utilizado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en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teletipos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  <a:endParaRPr lang="en-US" altLang="es-AR" sz="2800" dirty="0">
              <a:solidFill>
                <a:schemeClr val="bg1"/>
              </a:solidFill>
            </a:endParaRPr>
          </a:p>
          <a:p>
            <a:pPr lvl="1" indent="-308610" algn="l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También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llamado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Alfabeto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internacional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Nº 2 o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código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CCITT</a:t>
            </a:r>
            <a:r>
              <a:rPr lang="en-US" altLang="es-AR" sz="2400" dirty="0">
                <a:solidFill>
                  <a:schemeClr val="bg1"/>
                </a:solidFill>
                <a:latin typeface="Arial" panose="020B0604020202020204" pitchFamily="34" charset="0"/>
              </a:rPr>
              <a:t>*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Nº 2</a:t>
            </a:r>
            <a:endParaRPr lang="en-US" altLang="es-AR" sz="2800" dirty="0">
              <a:solidFill>
                <a:schemeClr val="bg1"/>
              </a:solidFill>
            </a:endParaRPr>
          </a:p>
          <a:p>
            <a:pPr lvl="1" indent="-308610" algn="l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2^5=32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combinaciones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insuficientes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para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representar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26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letras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+ 10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números</a:t>
            </a:r>
            <a:endParaRPr lang="en-US" altLang="es-AR" sz="2800" dirty="0">
              <a:solidFill>
                <a:schemeClr val="bg1"/>
              </a:solidFill>
            </a:endParaRPr>
          </a:p>
          <a:p>
            <a:pPr lvl="1" indent="-308610" algn="l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Utiliza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2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caracteres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especiales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(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inversión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letras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inversión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números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), y se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obtienen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2x30=60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combinaciones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posibles</a:t>
            </a:r>
            <a:endParaRPr lang="en-US" altLang="es-AR" sz="2800" dirty="0">
              <a:solidFill>
                <a:schemeClr val="bg1"/>
              </a:solidFill>
            </a:endParaRPr>
          </a:p>
          <a:p>
            <a:pPr marL="1131570" lvl="3" indent="-205740" algn="l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es-AR" sz="2000" dirty="0">
                <a:solidFill>
                  <a:schemeClr val="bg1"/>
                </a:solidFill>
                <a:latin typeface="Arial" panose="020B0604020202020204" pitchFamily="34" charset="0"/>
              </a:rPr>
              <a:t>11111 (32) (</a:t>
            </a:r>
            <a:r>
              <a:rPr lang="en-US" altLang="es-AR" sz="2000" dirty="0" err="1">
                <a:solidFill>
                  <a:schemeClr val="bg1"/>
                </a:solidFill>
                <a:latin typeface="Arial" panose="020B0604020202020204" pitchFamily="34" charset="0"/>
              </a:rPr>
              <a:t>letras</a:t>
            </a:r>
            <a:r>
              <a:rPr lang="en-US" altLang="es-AR" sz="2000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  <a:endParaRPr lang="en-US" altLang="es-AR" sz="2000" dirty="0">
              <a:solidFill>
                <a:schemeClr val="bg1"/>
              </a:solidFill>
            </a:endParaRPr>
          </a:p>
          <a:p>
            <a:pPr marL="1131570" lvl="3" indent="-205740" algn="l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es-AR" sz="2000" dirty="0">
                <a:solidFill>
                  <a:schemeClr val="bg1"/>
                </a:solidFill>
                <a:latin typeface="Arial" panose="020B0604020202020204" pitchFamily="34" charset="0"/>
              </a:rPr>
              <a:t>11011 (27) (</a:t>
            </a:r>
            <a:r>
              <a:rPr lang="en-US" altLang="es-AR" sz="2000" dirty="0" err="1">
                <a:solidFill>
                  <a:schemeClr val="bg1"/>
                </a:solidFill>
                <a:latin typeface="Arial" panose="020B0604020202020204" pitchFamily="34" charset="0"/>
              </a:rPr>
              <a:t>dígitos</a:t>
            </a:r>
            <a:r>
              <a:rPr lang="en-US" altLang="es-AR" sz="2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US" altLang="es-AR" sz="2000" dirty="0" err="1">
                <a:solidFill>
                  <a:schemeClr val="bg1"/>
                </a:solidFill>
                <a:latin typeface="Arial" panose="020B0604020202020204" pitchFamily="34" charset="0"/>
              </a:rPr>
              <a:t>puntuación</a:t>
            </a:r>
            <a:r>
              <a:rPr lang="en-US" altLang="es-AR" sz="2000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  <a:endParaRPr lang="en-US" altLang="es-AR" sz="2000" dirty="0">
              <a:solidFill>
                <a:schemeClr val="bg1"/>
              </a:solidFill>
            </a:endParaRPr>
          </a:p>
          <a:p>
            <a:pPr lvl="1" indent="-308610" algn="l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4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códigos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s-AR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especiales</a:t>
            </a:r>
            <a:r>
              <a:rPr lang="en-US" altLang="es-AR" sz="2800" dirty="0">
                <a:solidFill>
                  <a:schemeClr val="bg1"/>
                </a:solidFill>
                <a:latin typeface="Arial" panose="020B0604020202020204" pitchFamily="34" charset="0"/>
              </a:rPr>
              <a:t> para SP, CR, LF &amp; blank</a:t>
            </a:r>
          </a:p>
        </p:txBody>
      </p:sp>
      <p:sp>
        <p:nvSpPr>
          <p:cNvPr id="13316" name="Text Box 6"/>
          <p:cNvSpPr txBox="1">
            <a:spLocks noChangeArrowheads="1"/>
          </p:cNvSpPr>
          <p:nvPr/>
        </p:nvSpPr>
        <p:spPr bwMode="auto">
          <a:xfrm>
            <a:off x="5484189" y="6373334"/>
            <a:ext cx="7768113" cy="210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s-AR" sz="1440" i="1" dirty="0">
                <a:solidFill>
                  <a:schemeClr val="bg1"/>
                </a:solidFill>
                <a:latin typeface="Arial" panose="020B0604020202020204" pitchFamily="34" charset="0"/>
              </a:rPr>
              <a:t>*</a:t>
            </a:r>
            <a:r>
              <a:rPr lang="en-US" altLang="es-AR" sz="1440" i="1" dirty="0" err="1">
                <a:solidFill>
                  <a:schemeClr val="bg1"/>
                </a:solidFill>
                <a:latin typeface="Arial" panose="020B0604020202020204" pitchFamily="34" charset="0"/>
              </a:rPr>
              <a:t>Comité</a:t>
            </a:r>
            <a:r>
              <a:rPr lang="en-US" altLang="es-AR" sz="1440" i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s-AR" sz="1440" i="1" dirty="0" err="1">
                <a:solidFill>
                  <a:schemeClr val="bg1"/>
                </a:solidFill>
                <a:latin typeface="Arial" panose="020B0604020202020204" pitchFamily="34" charset="0"/>
              </a:rPr>
              <a:t>Consultatif</a:t>
            </a:r>
            <a:r>
              <a:rPr lang="en-US" altLang="es-AR" sz="1440" i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s-AR" sz="1440" i="1" dirty="0" err="1">
                <a:solidFill>
                  <a:schemeClr val="bg1"/>
                </a:solidFill>
                <a:latin typeface="Arial" panose="020B0604020202020204" pitchFamily="34" charset="0"/>
              </a:rPr>
              <a:t>Internationale</a:t>
            </a:r>
            <a:r>
              <a:rPr lang="en-US" altLang="es-AR" sz="1440" i="1" dirty="0">
                <a:solidFill>
                  <a:schemeClr val="bg1"/>
                </a:solidFill>
                <a:latin typeface="Arial" panose="020B0604020202020204" pitchFamily="34" charset="0"/>
              </a:rPr>
              <a:t> de </a:t>
            </a:r>
            <a:r>
              <a:rPr lang="en-US" altLang="es-AR" sz="1440" i="1" dirty="0" err="1">
                <a:solidFill>
                  <a:schemeClr val="bg1"/>
                </a:solidFill>
                <a:latin typeface="Arial" panose="020B0604020202020204" pitchFamily="34" charset="0"/>
              </a:rPr>
              <a:t>Telephonie</a:t>
            </a:r>
            <a:r>
              <a:rPr lang="en-US" altLang="es-AR" sz="1440" i="1" dirty="0">
                <a:solidFill>
                  <a:schemeClr val="bg1"/>
                </a:solidFill>
                <a:latin typeface="Arial" panose="020B0604020202020204" pitchFamily="34" charset="0"/>
              </a:rPr>
              <a:t> et de </a:t>
            </a:r>
            <a:r>
              <a:rPr lang="en-US" altLang="es-AR" sz="1440" i="1" dirty="0" err="1">
                <a:solidFill>
                  <a:schemeClr val="bg1"/>
                </a:solidFill>
                <a:latin typeface="Arial" panose="020B0604020202020204" pitchFamily="34" charset="0"/>
              </a:rPr>
              <a:t>Telegrtaphie</a:t>
            </a:r>
            <a:r>
              <a:rPr lang="en-US" altLang="es-AR" sz="1440" i="1" dirty="0">
                <a:solidFill>
                  <a:schemeClr val="bg1"/>
                </a:solidFill>
                <a:latin typeface="Arial" panose="020B0604020202020204" pitchFamily="34" charset="0"/>
              </a:rPr>
              <a:t> - </a:t>
            </a:r>
            <a:r>
              <a:rPr lang="en-US" altLang="es-AR" sz="1440" i="1" dirty="0" err="1">
                <a:solidFill>
                  <a:schemeClr val="bg1"/>
                </a:solidFill>
                <a:latin typeface="Arial" panose="020B0604020202020204" pitchFamily="34" charset="0"/>
              </a:rPr>
              <a:t>Ginebra</a:t>
            </a:r>
            <a:endParaRPr lang="en-US" altLang="es-AR" sz="1440" i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15716" name="Picture 4" descr="https://upload.wikimedia.org/wikipedia/commons/e/ec/Telex_machine_ASR-32.jpg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70" y="2719701"/>
            <a:ext cx="3289059" cy="2192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727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Código Baudot</a:t>
            </a:r>
          </a:p>
        </p:txBody>
      </p:sp>
      <p:pic>
        <p:nvPicPr>
          <p:cNvPr id="1433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19782" y="123426"/>
            <a:ext cx="5754254" cy="6690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2972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4000"/>
            </a:schemeClr>
          </a:solidFill>
          <a:ln w="127000" cap="sq" cmpd="thinThick">
            <a:solidFill>
              <a:schemeClr val="tx1">
                <a:lumMod val="85000"/>
                <a:lumOff val="15000"/>
                <a:alpha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>
            <a:off x="838200" y="6318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Codigo baudot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057400"/>
            <a:ext cx="10515600" cy="3871762"/>
          </a:xfrm>
        </p:spPr>
        <p:txBody>
          <a:bodyPr vert="horz" lIns="91440" tIns="45720" rIns="91440" bIns="45720" rtlCol="0">
            <a:normAutofit/>
          </a:bodyPr>
          <a:lstStyle/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 err="1"/>
              <a:t>Problemas</a:t>
            </a:r>
            <a:r>
              <a:rPr lang="en-US" altLang="es-AR" dirty="0"/>
              <a:t>:</a:t>
            </a:r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 dirty="0" err="1"/>
              <a:t>Requiere</a:t>
            </a:r>
            <a:r>
              <a:rPr lang="en-US" altLang="es-AR" sz="2400" dirty="0"/>
              <a:t> </a:t>
            </a:r>
            <a:r>
              <a:rPr lang="en-US" altLang="es-AR" sz="2400" dirty="0" err="1"/>
              <a:t>códigos</a:t>
            </a:r>
            <a:r>
              <a:rPr lang="en-US" altLang="es-AR" sz="2400" dirty="0"/>
              <a:t> </a:t>
            </a:r>
            <a:r>
              <a:rPr lang="en-US" altLang="es-AR" sz="2400" dirty="0" err="1"/>
              <a:t>especiales</a:t>
            </a:r>
            <a:r>
              <a:rPr lang="en-US" altLang="es-AR" sz="2400" dirty="0"/>
              <a:t> para </a:t>
            </a:r>
            <a:r>
              <a:rPr lang="en-US" altLang="es-AR" sz="2400" dirty="0" err="1"/>
              <a:t>cambiar</a:t>
            </a:r>
            <a:r>
              <a:rPr lang="en-US" altLang="es-AR" sz="2400" dirty="0"/>
              <a:t> el set de </a:t>
            </a:r>
            <a:r>
              <a:rPr lang="en-US" altLang="es-AR" sz="2400" dirty="0" err="1"/>
              <a:t>caracteres</a:t>
            </a:r>
            <a:r>
              <a:rPr lang="en-US" altLang="es-AR" sz="2400" dirty="0"/>
              <a:t>. </a:t>
            </a:r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 dirty="0"/>
              <a:t>No </a:t>
            </a:r>
            <a:r>
              <a:rPr lang="en-US" altLang="es-AR" sz="2400" dirty="0" err="1"/>
              <a:t>posee</a:t>
            </a:r>
            <a:r>
              <a:rPr lang="en-US" altLang="es-AR" sz="2400" dirty="0"/>
              <a:t> </a:t>
            </a:r>
            <a:r>
              <a:rPr lang="en-US" altLang="es-AR" sz="2400" dirty="0" err="1"/>
              <a:t>minúsculas</a:t>
            </a:r>
            <a:r>
              <a:rPr lang="en-US" altLang="es-AR" sz="2400" dirty="0"/>
              <a:t>, y </a:t>
            </a:r>
            <a:r>
              <a:rPr lang="en-US" altLang="es-AR" sz="2400" dirty="0" err="1"/>
              <a:t>tiene</a:t>
            </a:r>
            <a:r>
              <a:rPr lang="en-US" altLang="es-AR" sz="2400" dirty="0"/>
              <a:t> </a:t>
            </a:r>
            <a:r>
              <a:rPr lang="en-US" altLang="es-AR" sz="2400" dirty="0" err="1"/>
              <a:t>pocos</a:t>
            </a:r>
            <a:r>
              <a:rPr lang="en-US" altLang="es-AR" sz="2400" dirty="0"/>
              <a:t> </a:t>
            </a:r>
            <a:r>
              <a:rPr lang="en-US" altLang="es-AR" sz="2400" dirty="0" err="1"/>
              <a:t>caracteres</a:t>
            </a:r>
            <a:r>
              <a:rPr lang="en-US" altLang="es-AR" sz="2400" dirty="0"/>
              <a:t> </a:t>
            </a:r>
            <a:r>
              <a:rPr lang="en-US" altLang="es-AR" sz="2400" dirty="0" err="1"/>
              <a:t>especiales</a:t>
            </a:r>
            <a:r>
              <a:rPr lang="en-US" altLang="es-AR" sz="2400" dirty="0"/>
              <a:t>. </a:t>
            </a:r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 dirty="0"/>
              <a:t>No </a:t>
            </a:r>
            <a:r>
              <a:rPr lang="en-US" altLang="es-AR" sz="2400" dirty="0" err="1"/>
              <a:t>posee</a:t>
            </a:r>
            <a:r>
              <a:rPr lang="en-US" altLang="es-AR" sz="2400" dirty="0"/>
              <a:t> </a:t>
            </a:r>
            <a:r>
              <a:rPr lang="en-US" altLang="es-AR" sz="2400" dirty="0" err="1"/>
              <a:t>mecanismo</a:t>
            </a:r>
            <a:r>
              <a:rPr lang="en-US" altLang="es-AR" sz="2400" dirty="0"/>
              <a:t> de </a:t>
            </a:r>
            <a:r>
              <a:rPr lang="en-US" altLang="es-AR" sz="2400" dirty="0" err="1"/>
              <a:t>detección</a:t>
            </a:r>
            <a:r>
              <a:rPr lang="en-US" altLang="es-AR" sz="2400" dirty="0"/>
              <a:t> de </a:t>
            </a:r>
            <a:r>
              <a:rPr lang="en-US" altLang="es-AR" sz="2400" dirty="0" err="1"/>
              <a:t>errores</a:t>
            </a:r>
            <a:r>
              <a:rPr lang="en-US" altLang="es-AR" sz="2400" dirty="0"/>
              <a:t>. </a:t>
            </a:r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 dirty="0"/>
              <a:t>Los </a:t>
            </a:r>
            <a:r>
              <a:rPr lang="en-US" altLang="es-AR" sz="2400" dirty="0" err="1"/>
              <a:t>caracteres</a:t>
            </a:r>
            <a:r>
              <a:rPr lang="en-US" altLang="es-AR" sz="2400" dirty="0"/>
              <a:t> no </a:t>
            </a:r>
            <a:r>
              <a:rPr lang="en-US" altLang="es-AR" sz="2400" dirty="0" err="1"/>
              <a:t>están</a:t>
            </a:r>
            <a:r>
              <a:rPr lang="en-US" altLang="es-AR" sz="2400" dirty="0"/>
              <a:t> </a:t>
            </a:r>
            <a:r>
              <a:rPr lang="en-US" altLang="es-AR" sz="2400" dirty="0" err="1"/>
              <a:t>en</a:t>
            </a:r>
            <a:r>
              <a:rPr lang="en-US" altLang="es-AR" sz="2400" dirty="0"/>
              <a:t> </a:t>
            </a:r>
            <a:r>
              <a:rPr lang="en-US" altLang="es-AR" sz="2400" dirty="0" err="1"/>
              <a:t>orden</a:t>
            </a:r>
            <a:r>
              <a:rPr lang="en-US" altLang="es-AR" sz="2400" dirty="0"/>
              <a:t> por </a:t>
            </a:r>
            <a:r>
              <a:rPr lang="en-US" altLang="es-AR" sz="2400" dirty="0" err="1"/>
              <a:t>su</a:t>
            </a:r>
            <a:r>
              <a:rPr lang="en-US" altLang="es-AR" sz="2400" dirty="0"/>
              <a:t> valor </a:t>
            </a:r>
            <a:r>
              <a:rPr lang="en-US" altLang="es-AR" sz="2400" dirty="0" err="1"/>
              <a:t>binario</a:t>
            </a:r>
            <a:r>
              <a:rPr lang="en-US" altLang="es-AR" sz="2400" dirty="0"/>
              <a:t>. </a:t>
            </a:r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 dirty="0" err="1"/>
              <a:t>Diseñado</a:t>
            </a:r>
            <a:r>
              <a:rPr lang="en-US" altLang="es-AR" sz="2400" dirty="0"/>
              <a:t> para </a:t>
            </a:r>
            <a:r>
              <a:rPr lang="en-US" altLang="es-AR" sz="2400" dirty="0" err="1"/>
              <a:t>transmisión</a:t>
            </a:r>
            <a:r>
              <a:rPr lang="en-US" altLang="es-AR" sz="2400" dirty="0"/>
              <a:t> de </a:t>
            </a:r>
            <a:r>
              <a:rPr lang="en-US" altLang="es-AR" sz="2400" dirty="0" err="1"/>
              <a:t>datos</a:t>
            </a:r>
            <a:r>
              <a:rPr lang="en-US" altLang="es-AR" sz="2400" dirty="0"/>
              <a:t>, no para </a:t>
            </a:r>
            <a:r>
              <a:rPr lang="en-US" altLang="es-AR" sz="2400" dirty="0" err="1"/>
              <a:t>procesamiento</a:t>
            </a:r>
            <a:r>
              <a:rPr lang="en-US" altLang="es-AR" sz="2400" dirty="0"/>
              <a:t>.</a:t>
            </a:r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endParaRPr lang="en-US" altLang="es-AR" sz="2400" dirty="0"/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/>
              <a:t>Código </a:t>
            </a:r>
            <a:r>
              <a:rPr lang="en-US" altLang="es-AR" dirty="0" err="1"/>
              <a:t>Baudot</a:t>
            </a:r>
            <a:r>
              <a:rPr lang="en-US" altLang="es-AR" dirty="0"/>
              <a:t> </a:t>
            </a:r>
            <a:r>
              <a:rPr lang="en-US" altLang="es-AR" dirty="0" err="1"/>
              <a:t>Internacional</a:t>
            </a:r>
            <a:endParaRPr lang="en-US" altLang="es-AR" dirty="0"/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 dirty="0" err="1"/>
              <a:t>Agrega</a:t>
            </a:r>
            <a:r>
              <a:rPr lang="en-US" altLang="es-AR" sz="2400" dirty="0"/>
              <a:t> un 6to bit para </a:t>
            </a:r>
            <a:r>
              <a:rPr lang="en-US" altLang="es-AR" sz="2400" dirty="0" err="1"/>
              <a:t>paridad</a:t>
            </a:r>
            <a:endParaRPr lang="en-US" altLang="es-AR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7D8437D-5977-452E-8858-8A0EC5813792}"/>
              </a:ext>
            </a:extLst>
          </p:cNvPr>
          <p:cNvSpPr txBox="1"/>
          <p:nvPr/>
        </p:nvSpPr>
        <p:spPr>
          <a:xfrm>
            <a:off x="7044818" y="5202513"/>
            <a:ext cx="3651128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AR" sz="3200" dirty="0"/>
              <a:t>Paridad??? Que es??</a:t>
            </a:r>
          </a:p>
        </p:txBody>
      </p:sp>
    </p:spTree>
    <p:extLst>
      <p:ext uri="{BB962C8B-B14F-4D97-AF65-F5344CB8AC3E}">
        <p14:creationId xmlns:p14="http://schemas.microsoft.com/office/powerpoint/2010/main" val="6973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4000"/>
            </a:schemeClr>
          </a:solidFill>
          <a:ln w="127000" cap="sq" cmpd="thinThick">
            <a:solidFill>
              <a:schemeClr val="tx1">
                <a:lumMod val="85000"/>
                <a:lumOff val="15000"/>
                <a:alpha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838200" y="6318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Códigos BCD</a:t>
            </a: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057400"/>
            <a:ext cx="10515600" cy="3871762"/>
          </a:xfrm>
        </p:spPr>
        <p:txBody>
          <a:bodyPr vert="horz" lIns="91440" tIns="45720" rIns="91440" bIns="45720" rtlCol="0">
            <a:normAutofit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200"/>
              <a:t>Binary Coded Decimal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200"/>
              <a:t>Era el utilizado en las tarjetas perforada 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200"/>
              <a:t>Código de 4 o 6 bits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200"/>
              <a:t>2</a:t>
            </a:r>
            <a:r>
              <a:rPr lang="en-US" altLang="es-AR" sz="2200" baseline="30000"/>
              <a:t>4</a:t>
            </a:r>
            <a:r>
              <a:rPr lang="en-US" altLang="es-AR" sz="2200"/>
              <a:t>=16 caracteres (4 bits)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200"/>
              <a:t>10 símbolos numéricos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200"/>
              <a:t>2</a:t>
            </a:r>
            <a:r>
              <a:rPr lang="en-US" altLang="es-AR" sz="2200" baseline="30000"/>
              <a:t>6</a:t>
            </a:r>
            <a:r>
              <a:rPr lang="en-US" altLang="es-AR" sz="2200"/>
              <a:t>=64 caracteres (6 bits)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200"/>
              <a:t>10 símbolos numéricos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200"/>
              <a:t>26 símbolos alfabéticos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200"/>
              <a:t>28 símbolos especiales de impresión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200"/>
              <a:t>5 símbolos adicionales de programación</a:t>
            </a:r>
          </a:p>
        </p:txBody>
      </p:sp>
    </p:spTree>
    <p:extLst>
      <p:ext uri="{BB962C8B-B14F-4D97-AF65-F5344CB8AC3E}">
        <p14:creationId xmlns:p14="http://schemas.microsoft.com/office/powerpoint/2010/main" val="2415979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4000"/>
            </a:schemeClr>
          </a:solidFill>
          <a:ln w="127000" cap="sq" cmpd="thinThick">
            <a:solidFill>
              <a:schemeClr val="tx1">
                <a:lumMod val="85000"/>
                <a:lumOff val="15000"/>
                <a:alpha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838200" y="6318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Código ASCII</a:t>
            </a: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057400"/>
            <a:ext cx="10515600" cy="3871762"/>
          </a:xfrm>
        </p:spPr>
        <p:txBody>
          <a:bodyPr vert="horz" lIns="91440" tIns="45720" rIns="91440" bIns="45720" rtlCol="0">
            <a:normAutofit/>
          </a:bodyPr>
          <a:lstStyle/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000"/>
              <a:t>American Standard Code for Information Interchange</a:t>
            </a:r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000"/>
              <a:t>Código de 7 bit desarrollado por el ANSI*</a:t>
            </a:r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000"/>
              <a:t>2</a:t>
            </a:r>
            <a:r>
              <a:rPr lang="en-US" altLang="es-AR" sz="2000" baseline="30000"/>
              <a:t>7</a:t>
            </a:r>
            <a:r>
              <a:rPr lang="en-US" altLang="es-AR" sz="2000"/>
              <a:t>=128 diferentes caracteres </a:t>
            </a:r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/>
              <a:t>Incluye mayúsculas y minúsculas</a:t>
            </a:r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/>
              <a:t>Posee caracteres especiales (non-printable)</a:t>
            </a:r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/>
              <a:t>Generalmente agregan un bit de paridad. </a:t>
            </a:r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/>
              <a:t>Los caracteres están en orden binario </a:t>
            </a:r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000"/>
              <a:t>El código ASCII extendido usa 8 bits.</a:t>
            </a:r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/>
              <a:t>Usado para procesamiento y almacenamiento de información. </a:t>
            </a:r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/>
              <a:t>Permite caracteres internacionales. </a:t>
            </a:r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000"/>
              <a:t>A ambos códigos se les puede agregar paridad</a:t>
            </a:r>
          </a:p>
        </p:txBody>
      </p:sp>
    </p:spTree>
    <p:extLst>
      <p:ext uri="{BB962C8B-B14F-4D97-AF65-F5344CB8AC3E}">
        <p14:creationId xmlns:p14="http://schemas.microsoft.com/office/powerpoint/2010/main" val="3966696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71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>
            <a:off x="674237" y="914400"/>
            <a:ext cx="3657600" cy="2887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Código ASCII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3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53822" y="1016352"/>
            <a:ext cx="6553545" cy="483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5158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674237" y="914400"/>
            <a:ext cx="3657600" cy="2887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Código ASCII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5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51644" y="492573"/>
            <a:ext cx="6157901" cy="588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2038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643467" y="643467"/>
            <a:ext cx="3363974" cy="159731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Código EBCDIC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332509" y="2638043"/>
            <a:ext cx="4045527" cy="3984429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600" dirty="0">
                <a:solidFill>
                  <a:schemeClr val="bg1"/>
                </a:solidFill>
              </a:rPr>
              <a:t>Extended Binary Coded Decimal Interchange Code</a:t>
            </a:r>
          </a:p>
          <a:p>
            <a:pPr marL="0">
              <a:spcBef>
                <a:spcPct val="0"/>
              </a:spcBef>
              <a:spcAft>
                <a:spcPts val="600"/>
              </a:spcAft>
            </a:pPr>
            <a:endParaRPr lang="en-US" altLang="es-AR" sz="1600" dirty="0">
              <a:solidFill>
                <a:schemeClr val="bg1"/>
              </a:solidFill>
            </a:endParaRP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600" dirty="0">
                <a:solidFill>
                  <a:schemeClr val="bg1"/>
                </a:solidFill>
              </a:rPr>
              <a:t>Código de 8 bit </a:t>
            </a:r>
            <a:r>
              <a:rPr lang="en-US" altLang="es-AR" sz="1600" dirty="0" err="1">
                <a:solidFill>
                  <a:schemeClr val="bg1"/>
                </a:solidFill>
              </a:rPr>
              <a:t>desarrollado</a:t>
            </a:r>
            <a:r>
              <a:rPr lang="en-US" altLang="es-AR" sz="1600" dirty="0">
                <a:solidFill>
                  <a:schemeClr val="bg1"/>
                </a:solidFill>
              </a:rPr>
              <a:t> por IBM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1600" dirty="0" err="1">
                <a:solidFill>
                  <a:schemeClr val="bg1"/>
                </a:solidFill>
              </a:rPr>
              <a:t>Usado</a:t>
            </a:r>
            <a:r>
              <a:rPr lang="en-US" altLang="es-AR" sz="1600" dirty="0">
                <a:solidFill>
                  <a:schemeClr val="bg1"/>
                </a:solidFill>
              </a:rPr>
              <a:t> </a:t>
            </a:r>
            <a:r>
              <a:rPr lang="en-US" altLang="es-AR" sz="1600" dirty="0" err="1">
                <a:solidFill>
                  <a:schemeClr val="bg1"/>
                </a:solidFill>
              </a:rPr>
              <a:t>en</a:t>
            </a:r>
            <a:r>
              <a:rPr lang="en-US" altLang="es-AR" sz="1600" dirty="0">
                <a:solidFill>
                  <a:schemeClr val="bg1"/>
                </a:solidFill>
              </a:rPr>
              <a:t> </a:t>
            </a:r>
            <a:r>
              <a:rPr lang="en-US" altLang="es-AR" sz="1600" dirty="0" err="1">
                <a:solidFill>
                  <a:schemeClr val="bg1"/>
                </a:solidFill>
              </a:rPr>
              <a:t>comunicaciones</a:t>
            </a:r>
            <a:r>
              <a:rPr lang="en-US" altLang="es-AR" sz="1600" dirty="0">
                <a:solidFill>
                  <a:schemeClr val="bg1"/>
                </a:solidFill>
              </a:rPr>
              <a:t>, </a:t>
            </a:r>
            <a:r>
              <a:rPr lang="en-US" altLang="es-AR" sz="1600" dirty="0" err="1">
                <a:solidFill>
                  <a:schemeClr val="bg1"/>
                </a:solidFill>
              </a:rPr>
              <a:t>procesamiento</a:t>
            </a:r>
            <a:r>
              <a:rPr lang="en-US" altLang="es-AR" sz="1600" dirty="0">
                <a:solidFill>
                  <a:schemeClr val="bg1"/>
                </a:solidFill>
              </a:rPr>
              <a:t> y </a:t>
            </a:r>
            <a:r>
              <a:rPr lang="en-US" altLang="es-AR" sz="1600" dirty="0" err="1">
                <a:solidFill>
                  <a:schemeClr val="bg1"/>
                </a:solidFill>
              </a:rPr>
              <a:t>almacenamiento</a:t>
            </a:r>
            <a:r>
              <a:rPr lang="en-US" altLang="es-AR" sz="1600" dirty="0">
                <a:solidFill>
                  <a:schemeClr val="bg1"/>
                </a:solidFill>
              </a:rPr>
              <a:t>. 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1600" dirty="0">
                <a:solidFill>
                  <a:schemeClr val="bg1"/>
                </a:solidFill>
              </a:rPr>
              <a:t>Es una </a:t>
            </a:r>
            <a:r>
              <a:rPr lang="en-US" altLang="es-AR" sz="1600" dirty="0" err="1">
                <a:solidFill>
                  <a:schemeClr val="bg1"/>
                </a:solidFill>
              </a:rPr>
              <a:t>extensión</a:t>
            </a:r>
            <a:r>
              <a:rPr lang="en-US" altLang="es-AR" sz="1600" dirty="0">
                <a:solidFill>
                  <a:schemeClr val="bg1"/>
                </a:solidFill>
              </a:rPr>
              <a:t> del </a:t>
            </a:r>
            <a:r>
              <a:rPr lang="en-US" altLang="es-AR" sz="1600" dirty="0" err="1">
                <a:solidFill>
                  <a:schemeClr val="bg1"/>
                </a:solidFill>
              </a:rPr>
              <a:t>código</a:t>
            </a:r>
            <a:r>
              <a:rPr lang="en-US" altLang="es-AR" sz="1600" dirty="0">
                <a:solidFill>
                  <a:schemeClr val="bg1"/>
                </a:solidFill>
              </a:rPr>
              <a:t> </a:t>
            </a:r>
            <a:r>
              <a:rPr lang="en-US" altLang="es-AR" sz="1600" dirty="0" err="1">
                <a:solidFill>
                  <a:schemeClr val="bg1"/>
                </a:solidFill>
              </a:rPr>
              <a:t>propietario</a:t>
            </a:r>
            <a:r>
              <a:rPr lang="en-US" altLang="es-AR" sz="1600" dirty="0">
                <a:solidFill>
                  <a:schemeClr val="bg1"/>
                </a:solidFill>
              </a:rPr>
              <a:t> BCD de 6 bits 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1600" dirty="0" err="1">
                <a:solidFill>
                  <a:schemeClr val="bg1"/>
                </a:solidFill>
              </a:rPr>
              <a:t>Todavía</a:t>
            </a:r>
            <a:r>
              <a:rPr lang="en-US" altLang="es-AR" sz="1600" dirty="0">
                <a:solidFill>
                  <a:schemeClr val="bg1"/>
                </a:solidFill>
              </a:rPr>
              <a:t> </a:t>
            </a:r>
            <a:r>
              <a:rPr lang="en-US" altLang="es-AR" sz="1600" dirty="0" err="1">
                <a:solidFill>
                  <a:schemeClr val="bg1"/>
                </a:solidFill>
              </a:rPr>
              <a:t>usado</a:t>
            </a:r>
            <a:r>
              <a:rPr lang="en-US" altLang="es-AR" sz="1600" dirty="0">
                <a:solidFill>
                  <a:schemeClr val="bg1"/>
                </a:solidFill>
              </a:rPr>
              <a:t> </a:t>
            </a:r>
            <a:r>
              <a:rPr lang="en-US" altLang="es-AR" sz="1600" dirty="0" err="1">
                <a:solidFill>
                  <a:schemeClr val="bg1"/>
                </a:solidFill>
              </a:rPr>
              <a:t>en</a:t>
            </a:r>
            <a:r>
              <a:rPr lang="en-US" altLang="es-AR" sz="1600" dirty="0">
                <a:solidFill>
                  <a:schemeClr val="bg1"/>
                </a:solidFill>
              </a:rPr>
              <a:t> mainframes.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sz="1600" dirty="0">
              <a:solidFill>
                <a:schemeClr val="bg1"/>
              </a:solidFill>
            </a:endParaRP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600" dirty="0">
                <a:solidFill>
                  <a:schemeClr val="bg1"/>
                </a:solidFill>
              </a:rPr>
              <a:t>28=256 </a:t>
            </a:r>
            <a:r>
              <a:rPr lang="en-US" altLang="es-AR" sz="1600" dirty="0" err="1">
                <a:solidFill>
                  <a:schemeClr val="bg1"/>
                </a:solidFill>
              </a:rPr>
              <a:t>diferentes</a:t>
            </a:r>
            <a:r>
              <a:rPr lang="en-US" altLang="es-AR" sz="1600" dirty="0">
                <a:solidFill>
                  <a:schemeClr val="bg1"/>
                </a:solidFill>
              </a:rPr>
              <a:t> </a:t>
            </a:r>
            <a:r>
              <a:rPr lang="en-US" altLang="es-AR" sz="1600" dirty="0" err="1">
                <a:solidFill>
                  <a:schemeClr val="bg1"/>
                </a:solidFill>
              </a:rPr>
              <a:t>caracteres</a:t>
            </a:r>
            <a:r>
              <a:rPr lang="en-US" altLang="es-AR" sz="1600" dirty="0">
                <a:solidFill>
                  <a:schemeClr val="bg1"/>
                </a:solidFill>
              </a:rPr>
              <a:t>. 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1600" dirty="0" err="1">
                <a:solidFill>
                  <a:schemeClr val="bg1"/>
                </a:solidFill>
              </a:rPr>
              <a:t>Incluye</a:t>
            </a:r>
            <a:r>
              <a:rPr lang="en-US" altLang="es-AR" sz="1600" dirty="0">
                <a:solidFill>
                  <a:schemeClr val="bg1"/>
                </a:solidFill>
              </a:rPr>
              <a:t> </a:t>
            </a:r>
            <a:r>
              <a:rPr lang="en-US" altLang="es-AR" sz="1600" dirty="0" err="1">
                <a:solidFill>
                  <a:schemeClr val="bg1"/>
                </a:solidFill>
              </a:rPr>
              <a:t>mayúsculas</a:t>
            </a:r>
            <a:r>
              <a:rPr lang="en-US" altLang="es-AR" sz="1600" dirty="0">
                <a:solidFill>
                  <a:schemeClr val="bg1"/>
                </a:solidFill>
              </a:rPr>
              <a:t> y </a:t>
            </a:r>
            <a:r>
              <a:rPr lang="en-US" altLang="es-AR" sz="1600" dirty="0" err="1">
                <a:solidFill>
                  <a:schemeClr val="bg1"/>
                </a:solidFill>
              </a:rPr>
              <a:t>minúsculas</a:t>
            </a:r>
            <a:r>
              <a:rPr lang="en-US" altLang="es-AR" sz="1600" dirty="0">
                <a:solidFill>
                  <a:schemeClr val="bg1"/>
                </a:solidFill>
              </a:rPr>
              <a:t>. 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1600" dirty="0" err="1">
                <a:solidFill>
                  <a:schemeClr val="bg1"/>
                </a:solidFill>
              </a:rPr>
              <a:t>Posee</a:t>
            </a:r>
            <a:r>
              <a:rPr lang="en-US" altLang="es-AR" sz="1600" dirty="0">
                <a:solidFill>
                  <a:schemeClr val="bg1"/>
                </a:solidFill>
              </a:rPr>
              <a:t> </a:t>
            </a:r>
            <a:r>
              <a:rPr lang="en-US" altLang="es-AR" sz="1600" dirty="0" err="1">
                <a:solidFill>
                  <a:schemeClr val="bg1"/>
                </a:solidFill>
              </a:rPr>
              <a:t>caracteres</a:t>
            </a:r>
            <a:r>
              <a:rPr lang="en-US" altLang="es-AR" sz="1600" dirty="0">
                <a:solidFill>
                  <a:schemeClr val="bg1"/>
                </a:solidFill>
              </a:rPr>
              <a:t> </a:t>
            </a:r>
            <a:r>
              <a:rPr lang="en-US" altLang="es-AR" sz="1600" dirty="0" err="1">
                <a:solidFill>
                  <a:schemeClr val="bg1"/>
                </a:solidFill>
              </a:rPr>
              <a:t>especiales</a:t>
            </a:r>
            <a:r>
              <a:rPr lang="en-US" altLang="es-AR" sz="1600" dirty="0">
                <a:solidFill>
                  <a:schemeClr val="bg1"/>
                </a:solidFill>
              </a:rPr>
              <a:t> (non-printable)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1600" dirty="0" err="1">
                <a:solidFill>
                  <a:schemeClr val="bg1"/>
                </a:solidFill>
              </a:rPr>
              <a:t>Muchos</a:t>
            </a:r>
            <a:r>
              <a:rPr lang="en-US" altLang="es-AR" sz="1600" dirty="0">
                <a:solidFill>
                  <a:schemeClr val="bg1"/>
                </a:solidFill>
              </a:rPr>
              <a:t> blanks (</a:t>
            </a:r>
            <a:r>
              <a:rPr lang="en-US" altLang="es-AR" sz="1600" dirty="0" err="1">
                <a:solidFill>
                  <a:schemeClr val="bg1"/>
                </a:solidFill>
              </a:rPr>
              <a:t>códigos</a:t>
            </a:r>
            <a:r>
              <a:rPr lang="en-US" altLang="es-AR" sz="1600" dirty="0">
                <a:solidFill>
                  <a:schemeClr val="bg1"/>
                </a:solidFill>
              </a:rPr>
              <a:t> no </a:t>
            </a:r>
            <a:r>
              <a:rPr lang="en-US" altLang="es-AR" sz="1600" dirty="0" err="1">
                <a:solidFill>
                  <a:schemeClr val="bg1"/>
                </a:solidFill>
              </a:rPr>
              <a:t>usados</a:t>
            </a:r>
            <a:r>
              <a:rPr lang="en-US" altLang="es-AR" sz="1600" dirty="0">
                <a:solidFill>
                  <a:schemeClr val="bg1"/>
                </a:solidFill>
              </a:rPr>
              <a:t>)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1600" dirty="0">
                <a:solidFill>
                  <a:schemeClr val="bg1"/>
                </a:solidFill>
              </a:rPr>
              <a:t>Se </a:t>
            </a:r>
            <a:r>
              <a:rPr lang="en-US" altLang="es-AR" sz="1600" dirty="0" err="1">
                <a:solidFill>
                  <a:schemeClr val="bg1"/>
                </a:solidFill>
              </a:rPr>
              <a:t>usa</a:t>
            </a:r>
            <a:r>
              <a:rPr lang="en-US" altLang="es-AR" sz="1600" dirty="0">
                <a:solidFill>
                  <a:schemeClr val="bg1"/>
                </a:solidFill>
              </a:rPr>
              <a:t> con/sin </a:t>
            </a:r>
            <a:r>
              <a:rPr lang="en-US" altLang="es-AR" sz="1600" dirty="0" err="1">
                <a:solidFill>
                  <a:schemeClr val="bg1"/>
                </a:solidFill>
              </a:rPr>
              <a:t>paridad</a:t>
            </a:r>
            <a:r>
              <a:rPr lang="en-US" altLang="es-AR" sz="1600" dirty="0">
                <a:solidFill>
                  <a:schemeClr val="bg1"/>
                </a:solidFill>
              </a:rPr>
              <a:t> (</a:t>
            </a:r>
            <a:r>
              <a:rPr lang="en-US" altLang="es-AR" sz="1600" dirty="0" err="1">
                <a:solidFill>
                  <a:schemeClr val="bg1"/>
                </a:solidFill>
              </a:rPr>
              <a:t>transmisión</a:t>
            </a:r>
            <a:r>
              <a:rPr lang="en-US" altLang="es-AR" sz="1600" dirty="0">
                <a:solidFill>
                  <a:schemeClr val="bg1"/>
                </a:solidFill>
              </a:rPr>
              <a:t> de </a:t>
            </a:r>
            <a:r>
              <a:rPr lang="en-US" altLang="es-AR" sz="1600" dirty="0" err="1">
                <a:solidFill>
                  <a:schemeClr val="bg1"/>
                </a:solidFill>
              </a:rPr>
              <a:t>bloques</a:t>
            </a:r>
            <a:r>
              <a:rPr lang="en-US" altLang="es-AR" sz="1600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E7DAABC3-0102-462A-AAF1-810FCA679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00437" y="204245"/>
            <a:ext cx="5153890" cy="640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40694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4000"/>
            </a:schemeClr>
          </a:solidFill>
          <a:ln w="127000" cap="sq" cmpd="thinThick">
            <a:solidFill>
              <a:schemeClr val="tx1">
                <a:lumMod val="85000"/>
                <a:lumOff val="15000"/>
                <a:alpha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838200" y="6318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Código UNICODE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057400"/>
            <a:ext cx="10515600" cy="3871762"/>
          </a:xfrm>
        </p:spPr>
        <p:txBody>
          <a:bodyPr vert="horz" lIns="91440" tIns="45720" rIns="91440" bIns="45720" rtlCol="0">
            <a:normAutofit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000" dirty="0" err="1"/>
              <a:t>Diseñado</a:t>
            </a:r>
            <a:r>
              <a:rPr lang="en-US" altLang="es-AR" sz="2000" dirty="0"/>
              <a:t> para </a:t>
            </a:r>
            <a:r>
              <a:rPr lang="en-US" altLang="es-AR" sz="2000" dirty="0" err="1"/>
              <a:t>soportar</a:t>
            </a:r>
            <a:r>
              <a:rPr lang="en-US" altLang="es-AR" sz="2000" dirty="0"/>
              <a:t> </a:t>
            </a:r>
            <a:r>
              <a:rPr lang="en-US" altLang="es-AR" sz="2000" dirty="0" err="1"/>
              <a:t>lenguajes</a:t>
            </a:r>
            <a:r>
              <a:rPr lang="en-US" altLang="es-AR" sz="2000" dirty="0"/>
              <a:t> </a:t>
            </a:r>
            <a:r>
              <a:rPr lang="en-US" altLang="es-AR" sz="2000" dirty="0" err="1"/>
              <a:t>internaciones</a:t>
            </a:r>
            <a:r>
              <a:rPr lang="en-US" altLang="es-AR" sz="2000" dirty="0"/>
              <a:t>: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/>
              <a:t>Latin; Greek; Cyrillic; Armenian; Hebrew; Arabic; Syriac; Thaana; Devanagari; Bengali; Gurmukhi; Oriya; Tamil; Telegu; Kannada; Malayalam; Sinhala; Thai; Lao; Tibetan; Myanmar; Georgian; Hangul; Ethiopic; Cherokee; Canadian-Aboriginal Syllabics; Ogham; Runic; Khmer; Mongolian; Han (Japanese, Chinese, Korean ideographs); Hiragana; Katakana; Bopomofo and Yi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000" dirty="0" err="1"/>
              <a:t>Codigo</a:t>
            </a:r>
            <a:r>
              <a:rPr lang="en-US" altLang="es-AR" sz="2000" dirty="0"/>
              <a:t> de 16 o 32 bits 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dirty="0" err="1"/>
              <a:t>Incorpora</a:t>
            </a:r>
            <a:r>
              <a:rPr lang="en-US" altLang="es-AR" dirty="0"/>
              <a:t> ASCII </a:t>
            </a:r>
            <a:r>
              <a:rPr lang="en-US" altLang="es-AR" dirty="0" err="1"/>
              <a:t>en</a:t>
            </a:r>
            <a:r>
              <a:rPr lang="en-US" altLang="es-AR" dirty="0"/>
              <a:t> los </a:t>
            </a:r>
            <a:r>
              <a:rPr lang="en-US" altLang="es-AR" dirty="0" err="1"/>
              <a:t>primeros</a:t>
            </a:r>
            <a:r>
              <a:rPr lang="en-US" altLang="es-AR" dirty="0"/>
              <a:t> 128 </a:t>
            </a:r>
            <a:r>
              <a:rPr lang="en-US" altLang="es-AR" dirty="0" err="1"/>
              <a:t>códigos</a:t>
            </a:r>
            <a:endParaRPr lang="en-US" altLang="es-AR" dirty="0"/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dirty="0" err="1"/>
              <a:t>Incorpora</a:t>
            </a:r>
            <a:r>
              <a:rPr lang="en-US" altLang="es-AR" dirty="0"/>
              <a:t> </a:t>
            </a:r>
            <a:r>
              <a:rPr lang="en-US" altLang="es-AR" dirty="0" err="1"/>
              <a:t>caracteres</a:t>
            </a:r>
            <a:r>
              <a:rPr lang="en-US" altLang="es-AR" dirty="0"/>
              <a:t> </a:t>
            </a:r>
            <a:r>
              <a:rPr lang="en-US" altLang="es-AR" dirty="0" err="1"/>
              <a:t>latinos</a:t>
            </a:r>
            <a:r>
              <a:rPr lang="en-US" altLang="es-AR" dirty="0"/>
              <a:t> </a:t>
            </a:r>
            <a:r>
              <a:rPr lang="en-US" altLang="es-AR" dirty="0" err="1"/>
              <a:t>en</a:t>
            </a:r>
            <a:r>
              <a:rPr lang="en-US" altLang="es-AR" dirty="0"/>
              <a:t> los </a:t>
            </a:r>
            <a:r>
              <a:rPr lang="en-US" altLang="es-AR" dirty="0" err="1"/>
              <a:t>primeros</a:t>
            </a:r>
            <a:r>
              <a:rPr lang="en-US" altLang="es-AR" dirty="0"/>
              <a:t> 256 </a:t>
            </a:r>
            <a:r>
              <a:rPr lang="en-US" altLang="es-AR" dirty="0" err="1"/>
              <a:t>códigos</a:t>
            </a:r>
            <a:endParaRPr lang="en-US" altLang="es-AR" dirty="0"/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000" dirty="0" err="1"/>
              <a:t>Soportado</a:t>
            </a:r>
            <a:r>
              <a:rPr lang="en-US" altLang="es-AR" sz="2000" dirty="0"/>
              <a:t> por las </a:t>
            </a:r>
            <a:r>
              <a:rPr lang="en-US" altLang="es-AR" sz="2000" dirty="0" err="1"/>
              <a:t>nuevas</a:t>
            </a:r>
            <a:r>
              <a:rPr lang="en-US" altLang="es-AR" sz="2000" dirty="0"/>
              <a:t> </a:t>
            </a:r>
            <a:r>
              <a:rPr lang="en-US" altLang="es-AR" sz="2000" dirty="0" err="1"/>
              <a:t>plataformas</a:t>
            </a:r>
            <a:r>
              <a:rPr lang="en-US" altLang="es-AR" sz="2000" dirty="0"/>
              <a:t> de hardware y software, </a:t>
            </a:r>
            <a:r>
              <a:rPr lang="en-US" altLang="es-AR" sz="2000" dirty="0" err="1"/>
              <a:t>especialmente</a:t>
            </a:r>
            <a:r>
              <a:rPr lang="en-US" altLang="es-AR" sz="2000" dirty="0"/>
              <a:t> </a:t>
            </a:r>
            <a:r>
              <a:rPr lang="en-US" altLang="es-AR" sz="2000" dirty="0" err="1"/>
              <a:t>tecnologías</a:t>
            </a:r>
            <a:r>
              <a:rPr lang="en-US" altLang="es-AR" sz="2000" dirty="0"/>
              <a:t> web (JAVA, XML, HTML)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000" u="sng" dirty="0"/>
              <a:t>www.unicode.org</a:t>
            </a:r>
          </a:p>
        </p:txBody>
      </p:sp>
    </p:spTree>
    <p:extLst>
      <p:ext uri="{BB962C8B-B14F-4D97-AF65-F5344CB8AC3E}">
        <p14:creationId xmlns:p14="http://schemas.microsoft.com/office/powerpoint/2010/main" val="1872782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/>
        </p:nvSpPr>
        <p:spPr>
          <a:xfrm>
            <a:off x="640079" y="2053641"/>
            <a:ext cx="3669161" cy="2760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Resumen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6090574" y="801866"/>
            <a:ext cx="5898226" cy="52306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altLang="es-AR" sz="2400" dirty="0">
                <a:solidFill>
                  <a:srgbClr val="000000"/>
                </a:solidFill>
              </a:rPr>
              <a:t>Morse </a:t>
            </a:r>
            <a:r>
              <a:rPr lang="en-US" altLang="es-AR" sz="2400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en-US" altLang="es-AR" sz="2400" dirty="0">
                <a:solidFill>
                  <a:srgbClr val="000000"/>
                </a:solidFill>
              </a:rPr>
              <a:t>. - (puntos y </a:t>
            </a:r>
            <a:r>
              <a:rPr lang="en-US" altLang="es-AR" sz="2400" dirty="0" err="1">
                <a:solidFill>
                  <a:srgbClr val="000000"/>
                </a:solidFill>
              </a:rPr>
              <a:t>rayas</a:t>
            </a:r>
            <a:r>
              <a:rPr lang="en-US" altLang="es-AR" sz="2400" dirty="0">
                <a:solidFill>
                  <a:srgbClr val="000000"/>
                </a:solidFill>
              </a:rPr>
              <a:t>)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altLang="es-AR" sz="2400" dirty="0" err="1">
                <a:solidFill>
                  <a:srgbClr val="000000"/>
                </a:solidFill>
              </a:rPr>
              <a:t>Baudot</a:t>
            </a:r>
            <a:r>
              <a:rPr lang="en-US" altLang="es-AR" sz="2400" dirty="0">
                <a:solidFill>
                  <a:srgbClr val="000000"/>
                </a:solidFill>
              </a:rPr>
              <a:t> </a:t>
            </a:r>
            <a:r>
              <a:rPr lang="en-US" altLang="es-AR" sz="2400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en-US" altLang="es-AR" sz="2400" dirty="0">
                <a:solidFill>
                  <a:srgbClr val="000000"/>
                </a:solidFill>
              </a:rPr>
              <a:t>5 bit (sin </a:t>
            </a:r>
            <a:r>
              <a:rPr lang="en-US" altLang="es-AR" sz="2400" dirty="0" err="1">
                <a:solidFill>
                  <a:srgbClr val="000000"/>
                </a:solidFill>
              </a:rPr>
              <a:t>paridad</a:t>
            </a:r>
            <a:r>
              <a:rPr lang="en-US" altLang="es-AR" sz="2400" dirty="0">
                <a:solidFill>
                  <a:srgbClr val="000000"/>
                </a:solidFill>
              </a:rPr>
              <a:t>)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altLang="es-AR" sz="2400" dirty="0">
                <a:solidFill>
                  <a:srgbClr val="000000"/>
                </a:solidFill>
              </a:rPr>
              <a:t>Int. </a:t>
            </a:r>
            <a:r>
              <a:rPr lang="en-US" altLang="es-AR" sz="2400" dirty="0" err="1">
                <a:solidFill>
                  <a:srgbClr val="000000"/>
                </a:solidFill>
              </a:rPr>
              <a:t>Baudot</a:t>
            </a:r>
            <a:r>
              <a:rPr lang="en-US" altLang="es-AR" sz="2400" dirty="0">
                <a:solidFill>
                  <a:srgbClr val="000000"/>
                </a:solidFill>
              </a:rPr>
              <a:t> </a:t>
            </a:r>
            <a:r>
              <a:rPr lang="en-US" altLang="es-AR" sz="240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US" altLang="es-AR" sz="2400" dirty="0">
                <a:solidFill>
                  <a:srgbClr val="000000"/>
                </a:solidFill>
              </a:rPr>
              <a:t> 6 bit (5 </a:t>
            </a:r>
            <a:r>
              <a:rPr lang="en-US" altLang="es-AR" sz="2400" dirty="0" err="1">
                <a:solidFill>
                  <a:srgbClr val="000000"/>
                </a:solidFill>
              </a:rPr>
              <a:t>datos</a:t>
            </a:r>
            <a:r>
              <a:rPr lang="en-US" altLang="es-AR" sz="2400" dirty="0">
                <a:solidFill>
                  <a:srgbClr val="000000"/>
                </a:solidFill>
              </a:rPr>
              <a:t> + 1 </a:t>
            </a:r>
            <a:r>
              <a:rPr lang="en-US" altLang="es-AR" sz="2400" dirty="0" err="1">
                <a:solidFill>
                  <a:srgbClr val="000000"/>
                </a:solidFill>
              </a:rPr>
              <a:t>paridad</a:t>
            </a:r>
            <a:r>
              <a:rPr lang="en-US" altLang="es-AR" sz="2400" dirty="0">
                <a:solidFill>
                  <a:srgbClr val="000000"/>
                </a:solidFill>
              </a:rPr>
              <a:t>)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altLang="es-AR" sz="2400" dirty="0">
                <a:solidFill>
                  <a:srgbClr val="000000"/>
                </a:solidFill>
              </a:rPr>
              <a:t>BCD </a:t>
            </a:r>
            <a:r>
              <a:rPr lang="en-US" altLang="es-AR" sz="240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US" altLang="es-AR" sz="2400" dirty="0">
                <a:solidFill>
                  <a:srgbClr val="000000"/>
                </a:solidFill>
              </a:rPr>
              <a:t> 4/6 bits (sin </a:t>
            </a:r>
            <a:r>
              <a:rPr lang="en-US" altLang="es-AR" sz="2400" dirty="0" err="1">
                <a:solidFill>
                  <a:srgbClr val="000000"/>
                </a:solidFill>
              </a:rPr>
              <a:t>paridad</a:t>
            </a:r>
            <a:r>
              <a:rPr lang="en-US" altLang="es-AR" sz="2400" dirty="0">
                <a:solidFill>
                  <a:srgbClr val="000000"/>
                </a:solidFill>
              </a:rPr>
              <a:t>)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altLang="es-AR" sz="2400" dirty="0">
                <a:solidFill>
                  <a:srgbClr val="000000"/>
                </a:solidFill>
              </a:rPr>
              <a:t>ASCII </a:t>
            </a:r>
            <a:r>
              <a:rPr lang="en-US" altLang="es-AR" sz="240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US" altLang="es-AR" sz="2400" dirty="0">
                <a:solidFill>
                  <a:srgbClr val="000000"/>
                </a:solidFill>
              </a:rPr>
              <a:t> 8 bit (7 </a:t>
            </a:r>
            <a:r>
              <a:rPr lang="en-US" altLang="es-AR" sz="2400" dirty="0" err="1">
                <a:solidFill>
                  <a:srgbClr val="000000"/>
                </a:solidFill>
              </a:rPr>
              <a:t>datos</a:t>
            </a:r>
            <a:r>
              <a:rPr lang="en-US" altLang="es-AR" sz="2400" dirty="0">
                <a:solidFill>
                  <a:srgbClr val="000000"/>
                </a:solidFill>
              </a:rPr>
              <a:t> + 1 </a:t>
            </a:r>
            <a:r>
              <a:rPr lang="en-US" altLang="es-AR" sz="2400" dirty="0" err="1">
                <a:solidFill>
                  <a:srgbClr val="000000"/>
                </a:solidFill>
              </a:rPr>
              <a:t>paridad</a:t>
            </a:r>
            <a:r>
              <a:rPr lang="en-US" altLang="es-AR" sz="2400" dirty="0">
                <a:solidFill>
                  <a:srgbClr val="000000"/>
                </a:solidFill>
              </a:rPr>
              <a:t>)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altLang="es-AR" sz="2400" dirty="0">
                <a:solidFill>
                  <a:srgbClr val="000000"/>
                </a:solidFill>
              </a:rPr>
              <a:t>EBCDIC </a:t>
            </a:r>
            <a:r>
              <a:rPr lang="en-US" altLang="es-AR" sz="240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US" altLang="es-AR" sz="2400" dirty="0">
                <a:solidFill>
                  <a:srgbClr val="000000"/>
                </a:solidFill>
              </a:rPr>
              <a:t> 9 bit (8 </a:t>
            </a:r>
            <a:r>
              <a:rPr lang="en-US" altLang="es-AR" sz="2400" dirty="0" err="1">
                <a:solidFill>
                  <a:srgbClr val="000000"/>
                </a:solidFill>
              </a:rPr>
              <a:t>datos</a:t>
            </a:r>
            <a:r>
              <a:rPr lang="en-US" altLang="es-AR" sz="2400" dirty="0">
                <a:solidFill>
                  <a:srgbClr val="000000"/>
                </a:solidFill>
              </a:rPr>
              <a:t> + 1 </a:t>
            </a:r>
            <a:r>
              <a:rPr lang="en-US" altLang="es-AR" sz="2400" dirty="0" err="1">
                <a:solidFill>
                  <a:srgbClr val="000000"/>
                </a:solidFill>
              </a:rPr>
              <a:t>paridad</a:t>
            </a:r>
            <a:r>
              <a:rPr lang="en-US" altLang="es-AR" sz="2400" dirty="0">
                <a:solidFill>
                  <a:srgbClr val="000000"/>
                </a:solidFill>
              </a:rPr>
              <a:t>)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altLang="es-AR" sz="2400" dirty="0">
                <a:solidFill>
                  <a:srgbClr val="000000"/>
                </a:solidFill>
              </a:rPr>
              <a:t>UNICODE </a:t>
            </a:r>
            <a:r>
              <a:rPr lang="en-US" altLang="es-AR" sz="240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US" altLang="es-AR" sz="2400" dirty="0">
                <a:solidFill>
                  <a:srgbClr val="000000"/>
                </a:solidFill>
              </a:rPr>
              <a:t> 16/32 bits (sin </a:t>
            </a:r>
            <a:r>
              <a:rPr lang="en-US" altLang="es-AR" sz="2400" dirty="0" err="1">
                <a:solidFill>
                  <a:srgbClr val="000000"/>
                </a:solidFill>
              </a:rPr>
              <a:t>paridad</a:t>
            </a:r>
            <a:r>
              <a:rPr lang="en-US" altLang="es-AR" sz="2400" dirty="0">
                <a:solidFill>
                  <a:srgbClr val="000000"/>
                </a:solidFill>
              </a:rPr>
              <a:t>)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endParaRPr lang="en-US" altLang="es-AR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076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8" name="Rectangle 7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9A4FAE70-A83C-4B00-BDAF-8A85D090D278}"/>
              </a:ext>
            </a:extLst>
          </p:cNvPr>
          <p:cNvSpPr txBox="1">
            <a:spLocks/>
          </p:cNvSpPr>
          <p:nvPr/>
        </p:nvSpPr>
        <p:spPr>
          <a:xfrm>
            <a:off x="589560" y="856180"/>
            <a:ext cx="4560584" cy="1128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Código de Huffman</a:t>
            </a:r>
          </a:p>
        </p:txBody>
      </p:sp>
      <p:grpSp>
        <p:nvGrpSpPr>
          <p:cNvPr id="1029" name="Group 7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030" name="Rectangle 7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1" name="Rectangle 7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2" name="Rectangle 7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CD7C92E-F9D4-459D-AD3D-20838BC41D5E}"/>
              </a:ext>
            </a:extLst>
          </p:cNvPr>
          <p:cNvSpPr/>
          <p:nvPr/>
        </p:nvSpPr>
        <p:spPr>
          <a:xfrm>
            <a:off x="263951" y="2224322"/>
            <a:ext cx="5057702" cy="4412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En</a:t>
            </a:r>
            <a:r>
              <a:rPr lang="en-US" sz="1400" dirty="0"/>
              <a:t> 1952, David Huffman </a:t>
            </a:r>
            <a:r>
              <a:rPr lang="en-US" sz="1400" dirty="0" err="1"/>
              <a:t>propuso</a:t>
            </a:r>
            <a:r>
              <a:rPr lang="en-US" sz="1400" dirty="0"/>
              <a:t> un </a:t>
            </a:r>
            <a:r>
              <a:rPr lang="en-US" sz="1400" dirty="0" err="1"/>
              <a:t>método</a:t>
            </a:r>
            <a:r>
              <a:rPr lang="en-US" sz="1400" dirty="0"/>
              <a:t> </a:t>
            </a:r>
            <a:r>
              <a:rPr lang="en-US" sz="1400" dirty="0" err="1"/>
              <a:t>estadístico</a:t>
            </a:r>
            <a:r>
              <a:rPr lang="en-US" sz="1400" dirty="0"/>
              <a:t> que </a:t>
            </a:r>
            <a:r>
              <a:rPr lang="en-US" sz="1400" dirty="0" err="1"/>
              <a:t>permitía</a:t>
            </a:r>
            <a:r>
              <a:rPr lang="en-US" sz="1400" dirty="0"/>
              <a:t> </a:t>
            </a:r>
            <a:r>
              <a:rPr lang="en-US" sz="1400" dirty="0" err="1"/>
              <a:t>asignar</a:t>
            </a:r>
            <a:r>
              <a:rPr lang="en-US" sz="1400" dirty="0"/>
              <a:t> un </a:t>
            </a:r>
            <a:r>
              <a:rPr lang="en-US" sz="1400" dirty="0" err="1"/>
              <a:t>código</a:t>
            </a:r>
            <a:r>
              <a:rPr lang="en-US" sz="1400" dirty="0"/>
              <a:t> </a:t>
            </a:r>
            <a:r>
              <a:rPr lang="en-US" sz="1400" dirty="0" err="1"/>
              <a:t>binario</a:t>
            </a:r>
            <a:r>
              <a:rPr lang="en-US" sz="1400" dirty="0"/>
              <a:t> a los </a:t>
            </a:r>
            <a:r>
              <a:rPr lang="en-US" sz="1400" dirty="0" err="1"/>
              <a:t>diversos</a:t>
            </a:r>
            <a:r>
              <a:rPr lang="en-US" sz="1400" dirty="0"/>
              <a:t> </a:t>
            </a:r>
            <a:r>
              <a:rPr lang="en-US" sz="1400" dirty="0" err="1"/>
              <a:t>símbolos</a:t>
            </a:r>
            <a:r>
              <a:rPr lang="en-US" sz="1400" dirty="0"/>
              <a:t>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Las claves de </a:t>
            </a:r>
            <a:r>
              <a:rPr lang="en-US" sz="1400" dirty="0" err="1"/>
              <a:t>este</a:t>
            </a:r>
            <a:r>
              <a:rPr lang="en-US" sz="1400" dirty="0"/>
              <a:t> </a:t>
            </a:r>
            <a:r>
              <a:rPr lang="en-US" sz="1400" dirty="0" err="1"/>
              <a:t>código</a:t>
            </a:r>
            <a:r>
              <a:rPr lang="en-US" sz="1400" dirty="0"/>
              <a:t> son: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La </a:t>
            </a:r>
            <a:r>
              <a:rPr lang="en-US" sz="1400" b="1" dirty="0" err="1"/>
              <a:t>longitud</a:t>
            </a:r>
            <a:r>
              <a:rPr lang="en-US" sz="1400" b="1" dirty="0"/>
              <a:t> del </a:t>
            </a:r>
            <a:r>
              <a:rPr lang="en-US" sz="1400" b="1" dirty="0" err="1"/>
              <a:t>código</a:t>
            </a:r>
            <a:r>
              <a:rPr lang="en-US" sz="1400" b="1" dirty="0"/>
              <a:t> </a:t>
            </a:r>
            <a:r>
              <a:rPr lang="en-US" sz="1400" dirty="0" err="1"/>
              <a:t>asignado</a:t>
            </a:r>
            <a:r>
              <a:rPr lang="en-US" sz="1400" dirty="0"/>
              <a:t> a </a:t>
            </a:r>
            <a:r>
              <a:rPr lang="en-US" sz="1400" dirty="0" err="1"/>
              <a:t>cada</a:t>
            </a:r>
            <a:r>
              <a:rPr lang="en-US" sz="1400" dirty="0"/>
              <a:t> </a:t>
            </a:r>
            <a:r>
              <a:rPr lang="en-US" sz="1400" dirty="0" err="1"/>
              <a:t>símbolo</a:t>
            </a:r>
            <a:r>
              <a:rPr lang="en-US" sz="1400" dirty="0"/>
              <a:t> </a:t>
            </a:r>
            <a:r>
              <a:rPr lang="en-US" sz="1400" b="1" dirty="0"/>
              <a:t>no</a:t>
            </a:r>
            <a:r>
              <a:rPr lang="en-US" sz="1400" dirty="0"/>
              <a:t> es </a:t>
            </a:r>
            <a:r>
              <a:rPr lang="en-US" sz="1400" dirty="0" err="1"/>
              <a:t>idéntica</a:t>
            </a:r>
            <a:endParaRPr lang="en-US" sz="1400" dirty="0"/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se </a:t>
            </a:r>
            <a:r>
              <a:rPr lang="en-US" sz="1400" dirty="0" err="1"/>
              <a:t>asignan</a:t>
            </a:r>
            <a:r>
              <a:rPr lang="en-US" sz="1400" dirty="0"/>
              <a:t> </a:t>
            </a:r>
            <a:r>
              <a:rPr lang="en-US" sz="1400" b="1" dirty="0" err="1"/>
              <a:t>códigos</a:t>
            </a:r>
            <a:r>
              <a:rPr lang="en-US" sz="1400" b="1" dirty="0"/>
              <a:t> </a:t>
            </a:r>
            <a:r>
              <a:rPr lang="en-US" sz="1400" b="1" dirty="0" err="1"/>
              <a:t>cortos</a:t>
            </a:r>
            <a:r>
              <a:rPr lang="en-US" sz="1400" dirty="0"/>
              <a:t> a los </a:t>
            </a:r>
            <a:r>
              <a:rPr lang="en-US" sz="1400" dirty="0" err="1"/>
              <a:t>símbolos</a:t>
            </a:r>
            <a:r>
              <a:rPr lang="en-US" sz="1400" dirty="0"/>
              <a:t> </a:t>
            </a:r>
            <a:r>
              <a:rPr lang="en-US" sz="1400" dirty="0" err="1"/>
              <a:t>utilizados</a:t>
            </a:r>
            <a:r>
              <a:rPr lang="en-US" sz="1400" dirty="0"/>
              <a:t> con </a:t>
            </a:r>
            <a:r>
              <a:rPr lang="en-US" sz="1400" b="1" dirty="0" err="1"/>
              <a:t>más</a:t>
            </a:r>
            <a:r>
              <a:rPr lang="en-US" sz="1400" b="1" dirty="0"/>
              <a:t> </a:t>
            </a:r>
            <a:r>
              <a:rPr lang="en-US" sz="1400" b="1" dirty="0" err="1"/>
              <a:t>frecuencia</a:t>
            </a:r>
            <a:r>
              <a:rPr lang="en-US" sz="1400" b="1" dirty="0"/>
              <a:t> </a:t>
            </a:r>
            <a:r>
              <a:rPr lang="en-US" sz="1400" dirty="0"/>
              <a:t>(los que </a:t>
            </a:r>
            <a:r>
              <a:rPr lang="en-US" sz="1400" dirty="0" err="1"/>
              <a:t>aparecen</a:t>
            </a:r>
            <a:r>
              <a:rPr lang="en-US" sz="1400" dirty="0"/>
              <a:t> </a:t>
            </a:r>
            <a:r>
              <a:rPr lang="en-US" sz="1400" dirty="0" err="1"/>
              <a:t>más</a:t>
            </a:r>
            <a:r>
              <a:rPr lang="en-US" sz="1400" dirty="0"/>
              <a:t> a menudo)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los </a:t>
            </a:r>
            <a:r>
              <a:rPr lang="en-US" sz="1400" dirty="0" err="1"/>
              <a:t>símbolos</a:t>
            </a:r>
            <a:r>
              <a:rPr lang="en-US" sz="1400" dirty="0"/>
              <a:t> </a:t>
            </a:r>
            <a:r>
              <a:rPr lang="en-US" sz="1400" b="1" dirty="0" err="1"/>
              <a:t>menos</a:t>
            </a:r>
            <a:r>
              <a:rPr lang="en-US" sz="1400" b="1" dirty="0"/>
              <a:t> </a:t>
            </a:r>
            <a:r>
              <a:rPr lang="en-US" sz="1400" b="1" dirty="0" err="1"/>
              <a:t>frecuentes</a:t>
            </a:r>
            <a:r>
              <a:rPr lang="en-US" sz="1400" b="1" dirty="0"/>
              <a:t> </a:t>
            </a:r>
            <a:r>
              <a:rPr lang="en-US" sz="1400" dirty="0" err="1"/>
              <a:t>reciben</a:t>
            </a:r>
            <a:r>
              <a:rPr lang="en-US" sz="1400" dirty="0"/>
              <a:t> </a:t>
            </a:r>
            <a:r>
              <a:rPr lang="en-US" sz="1400" dirty="0" err="1"/>
              <a:t>códigos</a:t>
            </a:r>
            <a:r>
              <a:rPr lang="en-US" sz="1400" dirty="0"/>
              <a:t> </a:t>
            </a:r>
            <a:r>
              <a:rPr lang="en-US" sz="1400" dirty="0" err="1"/>
              <a:t>binarios</a:t>
            </a:r>
            <a:r>
              <a:rPr lang="en-US" sz="1400" dirty="0"/>
              <a:t> </a:t>
            </a:r>
            <a:r>
              <a:rPr lang="en-US" sz="1400" b="1" dirty="0" err="1"/>
              <a:t>más</a:t>
            </a:r>
            <a:r>
              <a:rPr lang="en-US" sz="1400" b="1" dirty="0"/>
              <a:t> largos</a:t>
            </a:r>
            <a:r>
              <a:rPr lang="en-US" sz="1400" dirty="0"/>
              <a:t>.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la </a:t>
            </a:r>
            <a:r>
              <a:rPr lang="en-US" sz="1400" b="1" dirty="0" err="1"/>
              <a:t>sucesión</a:t>
            </a:r>
            <a:r>
              <a:rPr lang="en-US" sz="1400" b="1" dirty="0"/>
              <a:t> final de </a:t>
            </a:r>
            <a:r>
              <a:rPr lang="en-US" sz="1400" b="1" dirty="0" err="1"/>
              <a:t>códigos</a:t>
            </a:r>
            <a:r>
              <a:rPr lang="en-US" sz="1400" b="1" dirty="0"/>
              <a:t> </a:t>
            </a:r>
            <a:r>
              <a:rPr lang="en-US" sz="1400" dirty="0"/>
              <a:t>con longitudes variables </a:t>
            </a:r>
            <a:r>
              <a:rPr lang="en-US" sz="1400" dirty="0" err="1"/>
              <a:t>será</a:t>
            </a:r>
            <a:r>
              <a:rPr lang="en-US" sz="1400" dirty="0"/>
              <a:t> </a:t>
            </a:r>
            <a:r>
              <a:rPr lang="en-US" sz="1400" b="1" dirty="0" err="1"/>
              <a:t>en</a:t>
            </a:r>
            <a:r>
              <a:rPr lang="en-US" sz="1400" b="1" dirty="0"/>
              <a:t> </a:t>
            </a:r>
            <a:r>
              <a:rPr lang="en-US" sz="1400" b="1" dirty="0" err="1"/>
              <a:t>promedio</a:t>
            </a:r>
            <a:r>
              <a:rPr lang="en-US" sz="1400" b="1" dirty="0"/>
              <a:t> </a:t>
            </a:r>
            <a:r>
              <a:rPr lang="en-US" sz="1400" dirty="0" err="1"/>
              <a:t>más</a:t>
            </a:r>
            <a:r>
              <a:rPr lang="en-US" sz="1400" dirty="0"/>
              <a:t> </a:t>
            </a:r>
            <a:r>
              <a:rPr lang="en-US" sz="1400" dirty="0" err="1"/>
              <a:t>pequeña</a:t>
            </a:r>
            <a:r>
              <a:rPr lang="en-US" sz="1400" dirty="0"/>
              <a:t> que la </a:t>
            </a:r>
            <a:r>
              <a:rPr lang="en-US" sz="1400" dirty="0" err="1"/>
              <a:t>obtenida</a:t>
            </a:r>
            <a:r>
              <a:rPr lang="en-US" sz="1400" dirty="0"/>
              <a:t> con </a:t>
            </a:r>
            <a:r>
              <a:rPr lang="en-US" sz="1400" dirty="0" err="1"/>
              <a:t>códigos</a:t>
            </a:r>
            <a:r>
              <a:rPr lang="en-US" sz="1400" dirty="0"/>
              <a:t> de longitudes </a:t>
            </a:r>
            <a:r>
              <a:rPr lang="en-US" sz="1400" dirty="0" err="1"/>
              <a:t>constantes</a:t>
            </a:r>
            <a:endParaRPr lang="en-US" sz="14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El </a:t>
            </a:r>
            <a:r>
              <a:rPr lang="en-US" sz="1400" dirty="0" err="1"/>
              <a:t>código</a:t>
            </a:r>
            <a:r>
              <a:rPr lang="en-US" sz="1400" dirty="0"/>
              <a:t> Huffman </a:t>
            </a:r>
            <a:r>
              <a:rPr lang="en-US" sz="1400" dirty="0" err="1"/>
              <a:t>crea</a:t>
            </a:r>
            <a:r>
              <a:rPr lang="en-US" sz="1400" dirty="0"/>
              <a:t> una </a:t>
            </a:r>
            <a:r>
              <a:rPr lang="en-US" sz="1400" dirty="0" err="1"/>
              <a:t>estructura</a:t>
            </a:r>
            <a:r>
              <a:rPr lang="en-US" sz="1400" dirty="0"/>
              <a:t> de árbol </a:t>
            </a:r>
            <a:r>
              <a:rPr lang="en-US" sz="1400" dirty="0" err="1"/>
              <a:t>ordenada</a:t>
            </a:r>
            <a:r>
              <a:rPr lang="en-US" sz="1400" dirty="0"/>
              <a:t> con </a:t>
            </a:r>
            <a:r>
              <a:rPr lang="en-US" sz="1400" dirty="0" err="1"/>
              <a:t>todos</a:t>
            </a:r>
            <a:r>
              <a:rPr lang="en-US" sz="1400" dirty="0"/>
              <a:t> los </a:t>
            </a:r>
            <a:r>
              <a:rPr lang="en-US" sz="1400" dirty="0" err="1"/>
              <a:t>símbolos</a:t>
            </a:r>
            <a:r>
              <a:rPr lang="en-US" sz="1400" dirty="0"/>
              <a:t> y la </a:t>
            </a:r>
            <a:r>
              <a:rPr lang="en-US" sz="1400" dirty="0" err="1"/>
              <a:t>frecuencia</a:t>
            </a:r>
            <a:r>
              <a:rPr lang="en-US" sz="1400" dirty="0"/>
              <a:t> con que </a:t>
            </a:r>
            <a:r>
              <a:rPr lang="en-US" sz="1400" dirty="0" err="1"/>
              <a:t>aparecen</a:t>
            </a:r>
            <a:r>
              <a:rPr lang="en-US" sz="1400" dirty="0"/>
              <a:t>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Las </a:t>
            </a:r>
            <a:r>
              <a:rPr lang="en-US" sz="1400" dirty="0" err="1"/>
              <a:t>ramas</a:t>
            </a:r>
            <a:r>
              <a:rPr lang="en-US" sz="1400" dirty="0"/>
              <a:t> se </a:t>
            </a:r>
            <a:r>
              <a:rPr lang="en-US" sz="1400" dirty="0" err="1"/>
              <a:t>construyen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forma </a:t>
            </a:r>
            <a:r>
              <a:rPr lang="en-US" sz="1400" dirty="0" err="1"/>
              <a:t>recursiva</a:t>
            </a:r>
            <a:r>
              <a:rPr lang="en-US" sz="1400" dirty="0"/>
              <a:t> </a:t>
            </a:r>
            <a:r>
              <a:rPr lang="en-US" sz="1400" dirty="0" err="1"/>
              <a:t>comenzando</a:t>
            </a:r>
            <a:r>
              <a:rPr lang="en-US" sz="1400" dirty="0"/>
              <a:t> con los </a:t>
            </a:r>
            <a:r>
              <a:rPr lang="en-US" sz="1400" dirty="0" err="1"/>
              <a:t>símbolos</a:t>
            </a:r>
            <a:r>
              <a:rPr lang="en-US" sz="1400" dirty="0"/>
              <a:t> </a:t>
            </a:r>
            <a:r>
              <a:rPr lang="en-US" sz="1400" dirty="0" err="1"/>
              <a:t>menos</a:t>
            </a:r>
            <a:r>
              <a:rPr lang="en-US" sz="1400" dirty="0"/>
              <a:t> </a:t>
            </a:r>
            <a:r>
              <a:rPr lang="en-US" sz="1400" dirty="0" err="1"/>
              <a:t>frecuentes</a:t>
            </a:r>
            <a:endParaRPr lang="en-US" sz="14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lgoritmo de Huffman - Wikipedia, la enciclopedia libre">
            <a:extLst>
              <a:ext uri="{FF2B5EF4-FFF2-40B4-BE49-F238E27FC236}">
                <a16:creationId xmlns:a16="http://schemas.microsoft.com/office/drawing/2014/main" id="{77A791CF-4B26-424C-9ABD-13151189FE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57" t="-6015" r="-853" b="-5330"/>
          <a:stretch/>
        </p:blipFill>
        <p:spPr bwMode="auto">
          <a:xfrm>
            <a:off x="6096000" y="913945"/>
            <a:ext cx="5235019" cy="5074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552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4435BF-A8D1-4F66-AC61-F38014AF5B54}"/>
              </a:ext>
            </a:extLst>
          </p:cNvPr>
          <p:cNvSpPr txBox="1">
            <a:spLocks/>
          </p:cNvSpPr>
          <p:nvPr/>
        </p:nvSpPr>
        <p:spPr>
          <a:xfrm>
            <a:off x="645065" y="1463040"/>
            <a:ext cx="3796306" cy="26909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Código de Huffman – Cómo se construye?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293B6AE-95DD-4721-AEC2-072E59D6BE61}"/>
              </a:ext>
            </a:extLst>
          </p:cNvPr>
          <p:cNvSpPr/>
          <p:nvPr/>
        </p:nvSpPr>
        <p:spPr>
          <a:xfrm>
            <a:off x="5343374" y="1463040"/>
            <a:ext cx="6203561" cy="37405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700"/>
              <a:t>La construcción del árbol se realiza ordenando en primer lugar los símbolos según la frecuencia de aparición. 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700"/>
              <a:t>Los dos símbolos con menor frecuencia de aparición se introducen en el árbol y se eliminan de la lista. 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700"/>
              <a:t>Se conectan a un nodo cuyo peso es igual a la suma de la frecuencia de los dos símbolos. 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700"/>
              <a:t>Cada nodo formado se considera como un símbolo nuevo.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700"/>
              <a:t>Los pasos 1 a 4 se repiten hasta que se obtiene un nodo principal llamado </a:t>
            </a:r>
            <a:r>
              <a:rPr lang="en-US" sz="1700" i="1"/>
              <a:t>raíz</a:t>
            </a:r>
            <a:r>
              <a:rPr lang="en-US" sz="1700"/>
              <a:t>.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700"/>
              <a:t>El código de cada símbolo corresponde a la sucesión de códigos en el camino, comenzando desde la raíz. 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700"/>
              <a:t>De esta manera, cuanto más dentro del árbol esté el símbolo, más largo será el código.</a:t>
            </a:r>
          </a:p>
        </p:txBody>
      </p:sp>
    </p:spTree>
    <p:extLst>
      <p:ext uri="{BB962C8B-B14F-4D97-AF65-F5344CB8AC3E}">
        <p14:creationId xmlns:p14="http://schemas.microsoft.com/office/powerpoint/2010/main" val="37869558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114435BF-A8D1-4F66-AC61-F38014AF5B54}"/>
              </a:ext>
            </a:extLst>
          </p:cNvPr>
          <p:cNvSpPr txBox="1">
            <a:spLocks/>
          </p:cNvSpPr>
          <p:nvPr/>
        </p:nvSpPr>
        <p:spPr>
          <a:xfrm>
            <a:off x="795528" y="386930"/>
            <a:ext cx="10141799" cy="1300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Código de Huffman – 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9E0D4D2-B679-4956-B70A-1A7D4AA79C4F}"/>
                  </a:ext>
                </a:extLst>
              </p:cNvPr>
              <p:cNvSpPr txBox="1"/>
              <p:nvPr/>
            </p:nvSpPr>
            <p:spPr>
              <a:xfrm>
                <a:off x="6655324" y="2347274"/>
                <a:ext cx="4524866" cy="407478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sz="200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b="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sz="2000" b="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𝐶𝑎𝑛𝑡𝑖𝑑𝑎𝑑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𝑏𝑖𝑡𝑠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𝑑𝑒𝑙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ó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𝑑𝑖𝑔𝑜</m:t>
                    </m:r>
                  </m:oMath>
                </a14:m>
                <a:endParaRPr lang="en-US" sz="200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00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s-AR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∗100 </m:t>
                    </m:r>
                  </m:oMath>
                </a14:m>
                <a:endParaRPr lang="es-AR" sz="2000" b="0" i="1" dirty="0">
                  <a:latin typeface="Cambria Math" panose="02040503050406030204" pitchFamily="18" charset="0"/>
                </a:endParaRPr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s-AR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∗100</m:t>
                    </m:r>
                  </m:oMath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9E0D4D2-B679-4956-B70A-1A7D4AA79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324" y="2347274"/>
                <a:ext cx="4524866" cy="4074786"/>
              </a:xfrm>
              <a:prstGeom prst="rect">
                <a:avLst/>
              </a:prstGeom>
              <a:blipFill>
                <a:blip r:embed="rId2"/>
                <a:stretch>
                  <a:fillRect l="-121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BA1EE82F-7830-4BA5-AE40-D376EDC3D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966654"/>
              </p:ext>
            </p:extLst>
          </p:nvPr>
        </p:nvGraphicFramePr>
        <p:xfrm>
          <a:off x="207390" y="2232478"/>
          <a:ext cx="5499181" cy="4189584"/>
        </p:xfrm>
        <a:graphic>
          <a:graphicData uri="http://schemas.openxmlformats.org/drawingml/2006/table">
            <a:tbl>
              <a:tblPr firstRow="1" lastRow="1" bandRow="1">
                <a:noFill/>
                <a:tableStyleId>{5C22544A-7EE6-4342-B048-85BDC9FD1C3A}</a:tableStyleId>
              </a:tblPr>
              <a:tblGrid>
                <a:gridCol w="694945">
                  <a:extLst>
                    <a:ext uri="{9D8B030D-6E8A-4147-A177-3AD203B41FA5}">
                      <a16:colId xmlns:a16="http://schemas.microsoft.com/office/drawing/2014/main" val="79509268"/>
                    </a:ext>
                  </a:extLst>
                </a:gridCol>
                <a:gridCol w="1201293">
                  <a:extLst>
                    <a:ext uri="{9D8B030D-6E8A-4147-A177-3AD203B41FA5}">
                      <a16:colId xmlns:a16="http://schemas.microsoft.com/office/drawing/2014/main" val="2584884380"/>
                    </a:ext>
                  </a:extLst>
                </a:gridCol>
                <a:gridCol w="1207907">
                  <a:extLst>
                    <a:ext uri="{9D8B030D-6E8A-4147-A177-3AD203B41FA5}">
                      <a16:colId xmlns:a16="http://schemas.microsoft.com/office/drawing/2014/main" val="1401864633"/>
                    </a:ext>
                  </a:extLst>
                </a:gridCol>
                <a:gridCol w="1097186">
                  <a:extLst>
                    <a:ext uri="{9D8B030D-6E8A-4147-A177-3AD203B41FA5}">
                      <a16:colId xmlns:a16="http://schemas.microsoft.com/office/drawing/2014/main" val="404774414"/>
                    </a:ext>
                  </a:extLst>
                </a:gridCol>
                <a:gridCol w="1297850">
                  <a:extLst>
                    <a:ext uri="{9D8B030D-6E8A-4147-A177-3AD203B41FA5}">
                      <a16:colId xmlns:a16="http://schemas.microsoft.com/office/drawing/2014/main" val="1971214461"/>
                    </a:ext>
                  </a:extLst>
                </a:gridCol>
              </a:tblGrid>
              <a:tr h="566433">
                <a:tc>
                  <a:txBody>
                    <a:bodyPr/>
                    <a:lstStyle/>
                    <a:p>
                      <a:pPr algn="ctr"/>
                      <a:endParaRPr lang="es-AR" sz="1600" b="1">
                        <a:solidFill>
                          <a:srgbClr val="FFFFFF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Probilidad (pi)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Entropía (Hi)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Longitud (Li)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Long. Media (li)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474495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0,15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151549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</a:t>
                      </a:r>
                    </a:p>
                  </a:txBody>
                  <a:tcPr marL="162147" marR="97288" marT="97288" marB="9728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0,3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062044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753815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</a:t>
                      </a:r>
                    </a:p>
                  </a:txBody>
                  <a:tcPr marL="162147" marR="97288" marT="97288" marB="9728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0,05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646309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0,15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20108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</a:t>
                      </a:r>
                    </a:p>
                  </a:txBody>
                  <a:tcPr marL="162147" marR="97288" marT="97288" marB="9728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0,05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021049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36248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Total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 =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 =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453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118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4435BF-A8D1-4F66-AC61-F38014AF5B54}"/>
              </a:ext>
            </a:extLst>
          </p:cNvPr>
          <p:cNvSpPr txBox="1">
            <a:spLocks/>
          </p:cNvSpPr>
          <p:nvPr/>
        </p:nvSpPr>
        <p:spPr>
          <a:xfrm>
            <a:off x="795528" y="386930"/>
            <a:ext cx="10141799" cy="1300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Código de Huffman – Ejemplo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9E0D4D2-B679-4956-B70A-1A7D4AA79C4F}"/>
                  </a:ext>
                </a:extLst>
              </p:cNvPr>
              <p:cNvSpPr txBox="1"/>
              <p:nvPr/>
            </p:nvSpPr>
            <p:spPr>
              <a:xfrm>
                <a:off x="6655324" y="2347274"/>
                <a:ext cx="4524866" cy="407478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sz="200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b="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sz="2000" b="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𝐶𝑎𝑛𝑡𝑖𝑑𝑎𝑑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𝑏𝑖𝑡𝑠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𝑑𝑒𝑙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ó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𝑑𝑖𝑔𝑜</m:t>
                    </m:r>
                  </m:oMath>
                </a14:m>
                <a:endParaRPr lang="en-US" sz="200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00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s-AR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∗100 </m:t>
                    </m:r>
                  </m:oMath>
                </a14:m>
                <a:endParaRPr lang="es-AR" sz="2000" b="0" i="1" dirty="0">
                  <a:latin typeface="Cambria Math" panose="02040503050406030204" pitchFamily="18" charset="0"/>
                </a:endParaRPr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s-AR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∗100</m:t>
                    </m:r>
                  </m:oMath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9E0D4D2-B679-4956-B70A-1A7D4AA79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324" y="2347274"/>
                <a:ext cx="4524866" cy="4074786"/>
              </a:xfrm>
              <a:prstGeom prst="rect">
                <a:avLst/>
              </a:prstGeom>
              <a:blipFill>
                <a:blip r:embed="rId2"/>
                <a:stretch>
                  <a:fillRect l="-121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BA1EE82F-7830-4BA5-AE40-D376EDC3D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702010"/>
              </p:ext>
            </p:extLst>
          </p:nvPr>
        </p:nvGraphicFramePr>
        <p:xfrm>
          <a:off x="207390" y="2232478"/>
          <a:ext cx="5499181" cy="4189584"/>
        </p:xfrm>
        <a:graphic>
          <a:graphicData uri="http://schemas.openxmlformats.org/drawingml/2006/table">
            <a:tbl>
              <a:tblPr firstRow="1" lastRow="1" bandRow="1">
                <a:noFill/>
                <a:tableStyleId>{5C22544A-7EE6-4342-B048-85BDC9FD1C3A}</a:tableStyleId>
              </a:tblPr>
              <a:tblGrid>
                <a:gridCol w="694945">
                  <a:extLst>
                    <a:ext uri="{9D8B030D-6E8A-4147-A177-3AD203B41FA5}">
                      <a16:colId xmlns:a16="http://schemas.microsoft.com/office/drawing/2014/main" val="79509268"/>
                    </a:ext>
                  </a:extLst>
                </a:gridCol>
                <a:gridCol w="1201293">
                  <a:extLst>
                    <a:ext uri="{9D8B030D-6E8A-4147-A177-3AD203B41FA5}">
                      <a16:colId xmlns:a16="http://schemas.microsoft.com/office/drawing/2014/main" val="2584884380"/>
                    </a:ext>
                  </a:extLst>
                </a:gridCol>
                <a:gridCol w="1207907">
                  <a:extLst>
                    <a:ext uri="{9D8B030D-6E8A-4147-A177-3AD203B41FA5}">
                      <a16:colId xmlns:a16="http://schemas.microsoft.com/office/drawing/2014/main" val="1401864633"/>
                    </a:ext>
                  </a:extLst>
                </a:gridCol>
                <a:gridCol w="1097186">
                  <a:extLst>
                    <a:ext uri="{9D8B030D-6E8A-4147-A177-3AD203B41FA5}">
                      <a16:colId xmlns:a16="http://schemas.microsoft.com/office/drawing/2014/main" val="404774414"/>
                    </a:ext>
                  </a:extLst>
                </a:gridCol>
                <a:gridCol w="1297850">
                  <a:extLst>
                    <a:ext uri="{9D8B030D-6E8A-4147-A177-3AD203B41FA5}">
                      <a16:colId xmlns:a16="http://schemas.microsoft.com/office/drawing/2014/main" val="1971214461"/>
                    </a:ext>
                  </a:extLst>
                </a:gridCol>
              </a:tblGrid>
              <a:tr h="566433">
                <a:tc>
                  <a:txBody>
                    <a:bodyPr/>
                    <a:lstStyle/>
                    <a:p>
                      <a:pPr algn="ctr"/>
                      <a:endParaRPr lang="es-AR" sz="1600" b="1">
                        <a:solidFill>
                          <a:srgbClr val="FFFFFF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Probilidad (pi)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Entropía (Hi)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Longitud (Li)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Long. Media (li)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474495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0,15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0,41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151549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</a:t>
                      </a:r>
                    </a:p>
                  </a:txBody>
                  <a:tcPr marL="162147" marR="97288" marT="97288" marB="9728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0,3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0,52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062044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0,46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753815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</a:t>
                      </a:r>
                    </a:p>
                  </a:txBody>
                  <a:tcPr marL="162147" marR="97288" marT="97288" marB="9728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0,05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0,22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646309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0,15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0,41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20108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</a:t>
                      </a:r>
                    </a:p>
                  </a:txBody>
                  <a:tcPr marL="162147" marR="97288" marT="97288" marB="9728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0,05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0,22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021049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0,33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36248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Total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 = 2,57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 =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453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1275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4435BF-A8D1-4F66-AC61-F38014AF5B54}"/>
              </a:ext>
            </a:extLst>
          </p:cNvPr>
          <p:cNvSpPr txBox="1">
            <a:spLocks/>
          </p:cNvSpPr>
          <p:nvPr/>
        </p:nvSpPr>
        <p:spPr>
          <a:xfrm>
            <a:off x="795528" y="386930"/>
            <a:ext cx="10141799" cy="1300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Código de Huffman – Ejemplo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BA1EE82F-7830-4BA5-AE40-D376EDC3D56C}"/>
              </a:ext>
            </a:extLst>
          </p:cNvPr>
          <p:cNvGraphicFramePr>
            <a:graphicFrameLocks noGrp="1"/>
          </p:cNvGraphicFramePr>
          <p:nvPr/>
        </p:nvGraphicFramePr>
        <p:xfrm>
          <a:off x="207390" y="2232478"/>
          <a:ext cx="5499181" cy="4189584"/>
        </p:xfrm>
        <a:graphic>
          <a:graphicData uri="http://schemas.openxmlformats.org/drawingml/2006/table">
            <a:tbl>
              <a:tblPr firstRow="1" lastRow="1" bandRow="1">
                <a:noFill/>
                <a:tableStyleId>{5C22544A-7EE6-4342-B048-85BDC9FD1C3A}</a:tableStyleId>
              </a:tblPr>
              <a:tblGrid>
                <a:gridCol w="694945">
                  <a:extLst>
                    <a:ext uri="{9D8B030D-6E8A-4147-A177-3AD203B41FA5}">
                      <a16:colId xmlns:a16="http://schemas.microsoft.com/office/drawing/2014/main" val="79509268"/>
                    </a:ext>
                  </a:extLst>
                </a:gridCol>
                <a:gridCol w="1201293">
                  <a:extLst>
                    <a:ext uri="{9D8B030D-6E8A-4147-A177-3AD203B41FA5}">
                      <a16:colId xmlns:a16="http://schemas.microsoft.com/office/drawing/2014/main" val="2584884380"/>
                    </a:ext>
                  </a:extLst>
                </a:gridCol>
                <a:gridCol w="1207907">
                  <a:extLst>
                    <a:ext uri="{9D8B030D-6E8A-4147-A177-3AD203B41FA5}">
                      <a16:colId xmlns:a16="http://schemas.microsoft.com/office/drawing/2014/main" val="1401864633"/>
                    </a:ext>
                  </a:extLst>
                </a:gridCol>
                <a:gridCol w="1097186">
                  <a:extLst>
                    <a:ext uri="{9D8B030D-6E8A-4147-A177-3AD203B41FA5}">
                      <a16:colId xmlns:a16="http://schemas.microsoft.com/office/drawing/2014/main" val="404774414"/>
                    </a:ext>
                  </a:extLst>
                </a:gridCol>
                <a:gridCol w="1297850">
                  <a:extLst>
                    <a:ext uri="{9D8B030D-6E8A-4147-A177-3AD203B41FA5}">
                      <a16:colId xmlns:a16="http://schemas.microsoft.com/office/drawing/2014/main" val="1971214461"/>
                    </a:ext>
                  </a:extLst>
                </a:gridCol>
              </a:tblGrid>
              <a:tr h="566433">
                <a:tc>
                  <a:txBody>
                    <a:bodyPr/>
                    <a:lstStyle/>
                    <a:p>
                      <a:pPr algn="ctr"/>
                      <a:endParaRPr lang="es-AR" sz="1600" b="1">
                        <a:solidFill>
                          <a:srgbClr val="FFFFFF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Probilidad (pi)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Entropía (Hi)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Longitud (Li)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Long. Media (li)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474495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0,15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0,41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151549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</a:t>
                      </a:r>
                    </a:p>
                  </a:txBody>
                  <a:tcPr marL="162147" marR="97288" marT="97288" marB="9728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0,3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0,52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062044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0,46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753815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</a:t>
                      </a:r>
                    </a:p>
                  </a:txBody>
                  <a:tcPr marL="162147" marR="97288" marT="97288" marB="9728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0,05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0,22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646309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0,15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0,41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20108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</a:t>
                      </a:r>
                    </a:p>
                  </a:txBody>
                  <a:tcPr marL="162147" marR="97288" marT="97288" marB="9728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0,05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0,22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021049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0,33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36248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Total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 = 2,57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 =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453798"/>
                  </a:ext>
                </a:extLst>
              </a:tr>
            </a:tbl>
          </a:graphicData>
        </a:graphic>
      </p:graphicFrame>
      <p:sp>
        <p:nvSpPr>
          <p:cNvPr id="2" name="Elipse 1">
            <a:extLst>
              <a:ext uri="{FF2B5EF4-FFF2-40B4-BE49-F238E27FC236}">
                <a16:creationId xmlns:a16="http://schemas.microsoft.com/office/drawing/2014/main" id="{E4B26622-A704-4B02-A3F0-655F4F8E3DDA}"/>
              </a:ext>
            </a:extLst>
          </p:cNvPr>
          <p:cNvSpPr/>
          <p:nvPr/>
        </p:nvSpPr>
        <p:spPr>
          <a:xfrm>
            <a:off x="5910130" y="5747668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B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DE7AC60-81C2-4E49-9B30-F8023638A8AA}"/>
              </a:ext>
            </a:extLst>
          </p:cNvPr>
          <p:cNvSpPr/>
          <p:nvPr/>
        </p:nvSpPr>
        <p:spPr>
          <a:xfrm>
            <a:off x="6697012" y="5747668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A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EFCA4A54-0D5F-4E76-B73B-608F32DF8F72}"/>
              </a:ext>
            </a:extLst>
          </p:cNvPr>
          <p:cNvSpPr/>
          <p:nvPr/>
        </p:nvSpPr>
        <p:spPr>
          <a:xfrm>
            <a:off x="7495318" y="5740488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E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5874895-F417-416C-9C2D-96FCF361AF15}"/>
              </a:ext>
            </a:extLst>
          </p:cNvPr>
          <p:cNvSpPr/>
          <p:nvPr/>
        </p:nvSpPr>
        <p:spPr>
          <a:xfrm>
            <a:off x="8282200" y="5740488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C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E0C96A2-97A3-4D21-819B-522459721A7A}"/>
              </a:ext>
            </a:extLst>
          </p:cNvPr>
          <p:cNvSpPr/>
          <p:nvPr/>
        </p:nvSpPr>
        <p:spPr>
          <a:xfrm>
            <a:off x="9047099" y="5747668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G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1F01076-D92D-4449-A6A6-703D2770DB0D}"/>
              </a:ext>
            </a:extLst>
          </p:cNvPr>
          <p:cNvSpPr/>
          <p:nvPr/>
        </p:nvSpPr>
        <p:spPr>
          <a:xfrm>
            <a:off x="9832781" y="5747668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D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A0CC945-8752-468D-9E65-D23CE5A01D4F}"/>
              </a:ext>
            </a:extLst>
          </p:cNvPr>
          <p:cNvSpPr/>
          <p:nvPr/>
        </p:nvSpPr>
        <p:spPr>
          <a:xfrm>
            <a:off x="10619663" y="5740488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F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9D60DF06-B0C2-4528-B2F5-84A2E7EB9D9A}"/>
              </a:ext>
            </a:extLst>
          </p:cNvPr>
          <p:cNvSpPr/>
          <p:nvPr/>
        </p:nvSpPr>
        <p:spPr>
          <a:xfrm>
            <a:off x="10174645" y="4887873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600" dirty="0"/>
              <a:t>0,1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2E3DA3A-B1A8-483A-8D57-29A3C9556B76}"/>
              </a:ext>
            </a:extLst>
          </p:cNvPr>
          <p:cNvSpPr/>
          <p:nvPr/>
        </p:nvSpPr>
        <p:spPr>
          <a:xfrm>
            <a:off x="9541833" y="4060976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600" dirty="0"/>
              <a:t>0,2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D14583D6-CF51-4E29-A456-8EE50A195085}"/>
              </a:ext>
            </a:extLst>
          </p:cNvPr>
          <p:cNvSpPr/>
          <p:nvPr/>
        </p:nvSpPr>
        <p:spPr>
          <a:xfrm>
            <a:off x="8282200" y="2551636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1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6E286D0D-E34E-4C9C-AFB7-1B478314E27A}"/>
              </a:ext>
            </a:extLst>
          </p:cNvPr>
          <p:cNvSpPr/>
          <p:nvPr/>
        </p:nvSpPr>
        <p:spPr>
          <a:xfrm>
            <a:off x="8916682" y="3190540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600" dirty="0"/>
              <a:t>0,4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56A7D4BE-87AE-4421-93B4-89BC88E2EE06}"/>
              </a:ext>
            </a:extLst>
          </p:cNvPr>
          <p:cNvSpPr/>
          <p:nvPr/>
        </p:nvSpPr>
        <p:spPr>
          <a:xfrm>
            <a:off x="7059594" y="4887873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600" dirty="0"/>
              <a:t>0,3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A20A7EA6-CCD8-4D22-80D5-C1468C392909}"/>
              </a:ext>
            </a:extLst>
          </p:cNvPr>
          <p:cNvSpPr/>
          <p:nvPr/>
        </p:nvSpPr>
        <p:spPr>
          <a:xfrm>
            <a:off x="6429141" y="4053763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600" dirty="0"/>
              <a:t>0,6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DAC19A-5D90-44F4-8A19-F302EF2D8687}"/>
              </a:ext>
            </a:extLst>
          </p:cNvPr>
          <p:cNvSpPr txBox="1"/>
          <p:nvPr/>
        </p:nvSpPr>
        <p:spPr>
          <a:xfrm>
            <a:off x="9743622" y="4992041"/>
            <a:ext cx="523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DF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3E2670D-2497-4ADE-91C7-7091790A433D}"/>
              </a:ext>
            </a:extLst>
          </p:cNvPr>
          <p:cNvSpPr txBox="1"/>
          <p:nvPr/>
        </p:nvSpPr>
        <p:spPr>
          <a:xfrm>
            <a:off x="8966472" y="4192655"/>
            <a:ext cx="653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DFG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8DF3E65-BD60-4CF8-9C7A-1B7B263205FF}"/>
              </a:ext>
            </a:extLst>
          </p:cNvPr>
          <p:cNvSpPr txBox="1"/>
          <p:nvPr/>
        </p:nvSpPr>
        <p:spPr>
          <a:xfrm>
            <a:off x="8220298" y="3322459"/>
            <a:ext cx="69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DFGC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2B5EA7C-5E8D-4CC8-BA8D-B59F71253DD3}"/>
              </a:ext>
            </a:extLst>
          </p:cNvPr>
          <p:cNvSpPr txBox="1"/>
          <p:nvPr/>
        </p:nvSpPr>
        <p:spPr>
          <a:xfrm>
            <a:off x="7717968" y="5011117"/>
            <a:ext cx="653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AE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A44E23E-62D9-4705-8726-6923D30DAFA2}"/>
              </a:ext>
            </a:extLst>
          </p:cNvPr>
          <p:cNvSpPr txBox="1"/>
          <p:nvPr/>
        </p:nvSpPr>
        <p:spPr>
          <a:xfrm>
            <a:off x="7115846" y="4142604"/>
            <a:ext cx="653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AEB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41E8CB7-3C1E-41AC-A37C-6868BB23D638}"/>
              </a:ext>
            </a:extLst>
          </p:cNvPr>
          <p:cNvSpPr txBox="1"/>
          <p:nvPr/>
        </p:nvSpPr>
        <p:spPr>
          <a:xfrm>
            <a:off x="7203233" y="2674880"/>
            <a:ext cx="1078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ABCDEFG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3A57CED-4C7B-4CAE-8ABA-201402360B2F}"/>
              </a:ext>
            </a:extLst>
          </p:cNvPr>
          <p:cNvCxnSpPr>
            <a:stCxn id="18" idx="5"/>
            <a:endCxn id="19" idx="1"/>
          </p:cNvCxnSpPr>
          <p:nvPr/>
        </p:nvCxnSpPr>
        <p:spPr>
          <a:xfrm>
            <a:off x="8823764" y="3077271"/>
            <a:ext cx="185836" cy="203454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EE30D721-4ECC-491B-B210-FCA01DAD1F90}"/>
              </a:ext>
            </a:extLst>
          </p:cNvPr>
          <p:cNvCxnSpPr>
            <a:cxnSpLocks/>
            <a:stCxn id="13" idx="0"/>
            <a:endCxn id="17" idx="3"/>
          </p:cNvCxnSpPr>
          <p:nvPr/>
        </p:nvCxnSpPr>
        <p:spPr>
          <a:xfrm flipV="1">
            <a:off x="9364340" y="4586611"/>
            <a:ext cx="270411" cy="1161057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05BC915E-06F0-4A96-9EFA-586AF343C360}"/>
              </a:ext>
            </a:extLst>
          </p:cNvPr>
          <p:cNvCxnSpPr>
            <a:cxnSpLocks/>
            <a:stCxn id="19" idx="5"/>
            <a:endCxn id="17" idx="1"/>
          </p:cNvCxnSpPr>
          <p:nvPr/>
        </p:nvCxnSpPr>
        <p:spPr>
          <a:xfrm>
            <a:off x="9458246" y="3716175"/>
            <a:ext cx="176505" cy="434986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E01A6494-5131-4392-839F-FACC47C22418}"/>
              </a:ext>
            </a:extLst>
          </p:cNvPr>
          <p:cNvCxnSpPr>
            <a:cxnSpLocks/>
            <a:stCxn id="17" idx="5"/>
            <a:endCxn id="16" idx="1"/>
          </p:cNvCxnSpPr>
          <p:nvPr/>
        </p:nvCxnSpPr>
        <p:spPr>
          <a:xfrm>
            <a:off x="10083397" y="4586611"/>
            <a:ext cx="184166" cy="391447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A20D64F2-35BE-4AC6-A598-E9885BF71AF8}"/>
              </a:ext>
            </a:extLst>
          </p:cNvPr>
          <p:cNvCxnSpPr>
            <a:cxnSpLocks/>
            <a:stCxn id="16" idx="3"/>
            <a:endCxn id="14" idx="0"/>
          </p:cNvCxnSpPr>
          <p:nvPr/>
        </p:nvCxnSpPr>
        <p:spPr>
          <a:xfrm flipH="1">
            <a:off x="10150022" y="5413508"/>
            <a:ext cx="117541" cy="33416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25ECCAB6-D627-4F13-A18F-4EE6E2E1144C}"/>
              </a:ext>
            </a:extLst>
          </p:cNvPr>
          <p:cNvCxnSpPr>
            <a:cxnSpLocks/>
            <a:stCxn id="16" idx="5"/>
            <a:endCxn id="15" idx="0"/>
          </p:cNvCxnSpPr>
          <p:nvPr/>
        </p:nvCxnSpPr>
        <p:spPr>
          <a:xfrm>
            <a:off x="10716209" y="5413508"/>
            <a:ext cx="220695" cy="32698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5124C8A-657A-4E42-9241-EC849C0F1655}"/>
              </a:ext>
            </a:extLst>
          </p:cNvPr>
          <p:cNvCxnSpPr>
            <a:cxnSpLocks/>
            <a:stCxn id="10" idx="0"/>
            <a:endCxn id="20" idx="3"/>
          </p:cNvCxnSpPr>
          <p:nvPr/>
        </p:nvCxnSpPr>
        <p:spPr>
          <a:xfrm flipV="1">
            <a:off x="7014253" y="5413508"/>
            <a:ext cx="138259" cy="33416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C8F2A344-5871-49C5-8A06-70EB98E53C1B}"/>
              </a:ext>
            </a:extLst>
          </p:cNvPr>
          <p:cNvCxnSpPr>
            <a:cxnSpLocks/>
            <a:stCxn id="20" idx="5"/>
            <a:endCxn id="11" idx="0"/>
          </p:cNvCxnSpPr>
          <p:nvPr/>
        </p:nvCxnSpPr>
        <p:spPr>
          <a:xfrm>
            <a:off x="7601158" y="5413508"/>
            <a:ext cx="211401" cy="32698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83799E8-27F2-4191-91A1-14AF26D3B6B8}"/>
              </a:ext>
            </a:extLst>
          </p:cNvPr>
          <p:cNvCxnSpPr>
            <a:cxnSpLocks/>
            <a:stCxn id="19" idx="3"/>
            <a:endCxn id="12" idx="0"/>
          </p:cNvCxnSpPr>
          <p:nvPr/>
        </p:nvCxnSpPr>
        <p:spPr>
          <a:xfrm flipH="1">
            <a:off x="8599441" y="3716175"/>
            <a:ext cx="410159" cy="2024313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3B357B43-DF55-4BED-B01D-ACA86AB5851D}"/>
              </a:ext>
            </a:extLst>
          </p:cNvPr>
          <p:cNvCxnSpPr>
            <a:cxnSpLocks/>
            <a:stCxn id="2" idx="1"/>
            <a:endCxn id="21" idx="3"/>
          </p:cNvCxnSpPr>
          <p:nvPr/>
        </p:nvCxnSpPr>
        <p:spPr>
          <a:xfrm flipV="1">
            <a:off x="6003048" y="4579398"/>
            <a:ext cx="519011" cy="125845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AE441491-5734-4F07-84B4-CD0F69BFA2EF}"/>
              </a:ext>
            </a:extLst>
          </p:cNvPr>
          <p:cNvCxnSpPr>
            <a:cxnSpLocks/>
            <a:stCxn id="21" idx="5"/>
            <a:endCxn id="20" idx="1"/>
          </p:cNvCxnSpPr>
          <p:nvPr/>
        </p:nvCxnSpPr>
        <p:spPr>
          <a:xfrm>
            <a:off x="6970705" y="4579398"/>
            <a:ext cx="181807" cy="39866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FB0528A2-D0B6-4B82-950F-376F8674D3D7}"/>
              </a:ext>
            </a:extLst>
          </p:cNvPr>
          <p:cNvCxnSpPr>
            <a:cxnSpLocks/>
            <a:stCxn id="18" idx="3"/>
            <a:endCxn id="21" idx="0"/>
          </p:cNvCxnSpPr>
          <p:nvPr/>
        </p:nvCxnSpPr>
        <p:spPr>
          <a:xfrm flipH="1">
            <a:off x="6746382" y="3077271"/>
            <a:ext cx="1628736" cy="976492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45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5" grpId="0"/>
      <p:bldP spid="23" grpId="0"/>
      <p:bldP spid="24" grpId="0"/>
      <p:bldP spid="25" grpId="0"/>
      <p:bldP spid="26" grpId="0"/>
      <p:bldP spid="2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4435BF-A8D1-4F66-AC61-F38014AF5B54}"/>
              </a:ext>
            </a:extLst>
          </p:cNvPr>
          <p:cNvSpPr txBox="1">
            <a:spLocks/>
          </p:cNvSpPr>
          <p:nvPr/>
        </p:nvSpPr>
        <p:spPr>
          <a:xfrm>
            <a:off x="795528" y="386930"/>
            <a:ext cx="10141799" cy="1300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Código de Huffman – Ejemplo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BA1EE82F-7830-4BA5-AE40-D376EDC3D56C}"/>
              </a:ext>
            </a:extLst>
          </p:cNvPr>
          <p:cNvGraphicFramePr>
            <a:graphicFrameLocks noGrp="1"/>
          </p:cNvGraphicFramePr>
          <p:nvPr/>
        </p:nvGraphicFramePr>
        <p:xfrm>
          <a:off x="207390" y="2232478"/>
          <a:ext cx="5499181" cy="4189584"/>
        </p:xfrm>
        <a:graphic>
          <a:graphicData uri="http://schemas.openxmlformats.org/drawingml/2006/table">
            <a:tbl>
              <a:tblPr firstRow="1" lastRow="1" bandRow="1">
                <a:noFill/>
                <a:tableStyleId>{5C22544A-7EE6-4342-B048-85BDC9FD1C3A}</a:tableStyleId>
              </a:tblPr>
              <a:tblGrid>
                <a:gridCol w="694945">
                  <a:extLst>
                    <a:ext uri="{9D8B030D-6E8A-4147-A177-3AD203B41FA5}">
                      <a16:colId xmlns:a16="http://schemas.microsoft.com/office/drawing/2014/main" val="79509268"/>
                    </a:ext>
                  </a:extLst>
                </a:gridCol>
                <a:gridCol w="1201293">
                  <a:extLst>
                    <a:ext uri="{9D8B030D-6E8A-4147-A177-3AD203B41FA5}">
                      <a16:colId xmlns:a16="http://schemas.microsoft.com/office/drawing/2014/main" val="2584884380"/>
                    </a:ext>
                  </a:extLst>
                </a:gridCol>
                <a:gridCol w="1207907">
                  <a:extLst>
                    <a:ext uri="{9D8B030D-6E8A-4147-A177-3AD203B41FA5}">
                      <a16:colId xmlns:a16="http://schemas.microsoft.com/office/drawing/2014/main" val="1401864633"/>
                    </a:ext>
                  </a:extLst>
                </a:gridCol>
                <a:gridCol w="1097186">
                  <a:extLst>
                    <a:ext uri="{9D8B030D-6E8A-4147-A177-3AD203B41FA5}">
                      <a16:colId xmlns:a16="http://schemas.microsoft.com/office/drawing/2014/main" val="404774414"/>
                    </a:ext>
                  </a:extLst>
                </a:gridCol>
                <a:gridCol w="1297850">
                  <a:extLst>
                    <a:ext uri="{9D8B030D-6E8A-4147-A177-3AD203B41FA5}">
                      <a16:colId xmlns:a16="http://schemas.microsoft.com/office/drawing/2014/main" val="1971214461"/>
                    </a:ext>
                  </a:extLst>
                </a:gridCol>
              </a:tblGrid>
              <a:tr h="566433">
                <a:tc>
                  <a:txBody>
                    <a:bodyPr/>
                    <a:lstStyle/>
                    <a:p>
                      <a:pPr algn="ctr"/>
                      <a:endParaRPr lang="es-AR" sz="1600" b="1">
                        <a:solidFill>
                          <a:srgbClr val="FFFFFF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Probilidad (pi)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Entropía (Hi)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Longitud (Li)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Long. Media (li)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474495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0,15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0,41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151549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</a:t>
                      </a:r>
                    </a:p>
                  </a:txBody>
                  <a:tcPr marL="162147" marR="97288" marT="97288" marB="9728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0,3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0,52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062044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0,46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753815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</a:t>
                      </a:r>
                    </a:p>
                  </a:txBody>
                  <a:tcPr marL="162147" marR="97288" marT="97288" marB="9728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0,05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0,22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646309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0,15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0,41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20108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</a:t>
                      </a:r>
                    </a:p>
                  </a:txBody>
                  <a:tcPr marL="162147" marR="97288" marT="97288" marB="9728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0,05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0,22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021049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0,33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36248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Total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 = 2,57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 =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453798"/>
                  </a:ext>
                </a:extLst>
              </a:tr>
            </a:tbl>
          </a:graphicData>
        </a:graphic>
      </p:graphicFrame>
      <p:sp>
        <p:nvSpPr>
          <p:cNvPr id="2" name="Elipse 1">
            <a:extLst>
              <a:ext uri="{FF2B5EF4-FFF2-40B4-BE49-F238E27FC236}">
                <a16:creationId xmlns:a16="http://schemas.microsoft.com/office/drawing/2014/main" id="{E4B26622-A704-4B02-A3F0-655F4F8E3DDA}"/>
              </a:ext>
            </a:extLst>
          </p:cNvPr>
          <p:cNvSpPr/>
          <p:nvPr/>
        </p:nvSpPr>
        <p:spPr>
          <a:xfrm>
            <a:off x="5910130" y="5747668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B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DE7AC60-81C2-4E49-9B30-F8023638A8AA}"/>
              </a:ext>
            </a:extLst>
          </p:cNvPr>
          <p:cNvSpPr/>
          <p:nvPr/>
        </p:nvSpPr>
        <p:spPr>
          <a:xfrm>
            <a:off x="6697012" y="5747668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A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EFCA4A54-0D5F-4E76-B73B-608F32DF8F72}"/>
              </a:ext>
            </a:extLst>
          </p:cNvPr>
          <p:cNvSpPr/>
          <p:nvPr/>
        </p:nvSpPr>
        <p:spPr>
          <a:xfrm>
            <a:off x="7495318" y="5740488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E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5874895-F417-416C-9C2D-96FCF361AF15}"/>
              </a:ext>
            </a:extLst>
          </p:cNvPr>
          <p:cNvSpPr/>
          <p:nvPr/>
        </p:nvSpPr>
        <p:spPr>
          <a:xfrm>
            <a:off x="8282200" y="5740488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C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E0C96A2-97A3-4D21-819B-522459721A7A}"/>
              </a:ext>
            </a:extLst>
          </p:cNvPr>
          <p:cNvSpPr/>
          <p:nvPr/>
        </p:nvSpPr>
        <p:spPr>
          <a:xfrm>
            <a:off x="9047099" y="5747668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G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1F01076-D92D-4449-A6A6-703D2770DB0D}"/>
              </a:ext>
            </a:extLst>
          </p:cNvPr>
          <p:cNvSpPr/>
          <p:nvPr/>
        </p:nvSpPr>
        <p:spPr>
          <a:xfrm>
            <a:off x="9832781" y="5747668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D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A0CC945-8752-468D-9E65-D23CE5A01D4F}"/>
              </a:ext>
            </a:extLst>
          </p:cNvPr>
          <p:cNvSpPr/>
          <p:nvPr/>
        </p:nvSpPr>
        <p:spPr>
          <a:xfrm>
            <a:off x="10619663" y="5740488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F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9D60DF06-B0C2-4528-B2F5-84A2E7EB9D9A}"/>
              </a:ext>
            </a:extLst>
          </p:cNvPr>
          <p:cNvSpPr/>
          <p:nvPr/>
        </p:nvSpPr>
        <p:spPr>
          <a:xfrm>
            <a:off x="10174645" y="4887873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600" dirty="0"/>
              <a:t>0,1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2E3DA3A-B1A8-483A-8D57-29A3C9556B76}"/>
              </a:ext>
            </a:extLst>
          </p:cNvPr>
          <p:cNvSpPr/>
          <p:nvPr/>
        </p:nvSpPr>
        <p:spPr>
          <a:xfrm>
            <a:off x="9541833" y="4060976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600" dirty="0"/>
              <a:t>0,2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D14583D6-CF51-4E29-A456-8EE50A195085}"/>
              </a:ext>
            </a:extLst>
          </p:cNvPr>
          <p:cNvSpPr/>
          <p:nvPr/>
        </p:nvSpPr>
        <p:spPr>
          <a:xfrm>
            <a:off x="8282200" y="2551636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1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6E286D0D-E34E-4C9C-AFB7-1B478314E27A}"/>
              </a:ext>
            </a:extLst>
          </p:cNvPr>
          <p:cNvSpPr/>
          <p:nvPr/>
        </p:nvSpPr>
        <p:spPr>
          <a:xfrm>
            <a:off x="8916682" y="3190540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600" dirty="0"/>
              <a:t>0,4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56A7D4BE-87AE-4421-93B4-89BC88E2EE06}"/>
              </a:ext>
            </a:extLst>
          </p:cNvPr>
          <p:cNvSpPr/>
          <p:nvPr/>
        </p:nvSpPr>
        <p:spPr>
          <a:xfrm>
            <a:off x="7059594" y="4887873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600" dirty="0"/>
              <a:t>0,3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A20A7EA6-CCD8-4D22-80D5-C1468C392909}"/>
              </a:ext>
            </a:extLst>
          </p:cNvPr>
          <p:cNvSpPr/>
          <p:nvPr/>
        </p:nvSpPr>
        <p:spPr>
          <a:xfrm>
            <a:off x="6429141" y="4053763"/>
            <a:ext cx="634482" cy="61582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600" dirty="0"/>
              <a:t>0,6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3A57CED-4C7B-4CAE-8ABA-201402360B2F}"/>
              </a:ext>
            </a:extLst>
          </p:cNvPr>
          <p:cNvCxnSpPr>
            <a:stCxn id="18" idx="5"/>
            <a:endCxn id="19" idx="1"/>
          </p:cNvCxnSpPr>
          <p:nvPr/>
        </p:nvCxnSpPr>
        <p:spPr>
          <a:xfrm>
            <a:off x="8823764" y="3077271"/>
            <a:ext cx="185836" cy="203454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EE30D721-4ECC-491B-B210-FCA01DAD1F90}"/>
              </a:ext>
            </a:extLst>
          </p:cNvPr>
          <p:cNvCxnSpPr>
            <a:cxnSpLocks/>
            <a:stCxn id="13" idx="0"/>
            <a:endCxn id="17" idx="3"/>
          </p:cNvCxnSpPr>
          <p:nvPr/>
        </p:nvCxnSpPr>
        <p:spPr>
          <a:xfrm flipV="1">
            <a:off x="9364340" y="4586611"/>
            <a:ext cx="270411" cy="1161057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05BC915E-06F0-4A96-9EFA-586AF343C360}"/>
              </a:ext>
            </a:extLst>
          </p:cNvPr>
          <p:cNvCxnSpPr>
            <a:cxnSpLocks/>
            <a:stCxn id="19" idx="5"/>
            <a:endCxn id="17" idx="1"/>
          </p:cNvCxnSpPr>
          <p:nvPr/>
        </p:nvCxnSpPr>
        <p:spPr>
          <a:xfrm>
            <a:off x="9458246" y="3716175"/>
            <a:ext cx="176505" cy="434986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E01A6494-5131-4392-839F-FACC47C22418}"/>
              </a:ext>
            </a:extLst>
          </p:cNvPr>
          <p:cNvCxnSpPr>
            <a:cxnSpLocks/>
            <a:stCxn id="17" idx="5"/>
            <a:endCxn id="16" idx="1"/>
          </p:cNvCxnSpPr>
          <p:nvPr/>
        </p:nvCxnSpPr>
        <p:spPr>
          <a:xfrm>
            <a:off x="10083397" y="4586611"/>
            <a:ext cx="184166" cy="391447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A20D64F2-35BE-4AC6-A598-E9885BF71AF8}"/>
              </a:ext>
            </a:extLst>
          </p:cNvPr>
          <p:cNvCxnSpPr>
            <a:cxnSpLocks/>
            <a:stCxn id="16" idx="3"/>
            <a:endCxn id="14" idx="0"/>
          </p:cNvCxnSpPr>
          <p:nvPr/>
        </p:nvCxnSpPr>
        <p:spPr>
          <a:xfrm flipH="1">
            <a:off x="10150022" y="5413508"/>
            <a:ext cx="117541" cy="33416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25ECCAB6-D627-4F13-A18F-4EE6E2E1144C}"/>
              </a:ext>
            </a:extLst>
          </p:cNvPr>
          <p:cNvCxnSpPr>
            <a:cxnSpLocks/>
            <a:stCxn id="16" idx="5"/>
            <a:endCxn id="15" idx="0"/>
          </p:cNvCxnSpPr>
          <p:nvPr/>
        </p:nvCxnSpPr>
        <p:spPr>
          <a:xfrm>
            <a:off x="10716209" y="5413508"/>
            <a:ext cx="220695" cy="32698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5124C8A-657A-4E42-9241-EC849C0F1655}"/>
              </a:ext>
            </a:extLst>
          </p:cNvPr>
          <p:cNvCxnSpPr>
            <a:cxnSpLocks/>
            <a:stCxn id="10" idx="0"/>
            <a:endCxn id="20" idx="3"/>
          </p:cNvCxnSpPr>
          <p:nvPr/>
        </p:nvCxnSpPr>
        <p:spPr>
          <a:xfrm flipV="1">
            <a:off x="7014253" y="5413508"/>
            <a:ext cx="138259" cy="33416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C8F2A344-5871-49C5-8A06-70EB98E53C1B}"/>
              </a:ext>
            </a:extLst>
          </p:cNvPr>
          <p:cNvCxnSpPr>
            <a:cxnSpLocks/>
            <a:stCxn id="20" idx="5"/>
            <a:endCxn id="11" idx="0"/>
          </p:cNvCxnSpPr>
          <p:nvPr/>
        </p:nvCxnSpPr>
        <p:spPr>
          <a:xfrm>
            <a:off x="7601158" y="5413508"/>
            <a:ext cx="211401" cy="32698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83799E8-27F2-4191-91A1-14AF26D3B6B8}"/>
              </a:ext>
            </a:extLst>
          </p:cNvPr>
          <p:cNvCxnSpPr>
            <a:cxnSpLocks/>
            <a:stCxn id="19" idx="3"/>
            <a:endCxn id="12" idx="0"/>
          </p:cNvCxnSpPr>
          <p:nvPr/>
        </p:nvCxnSpPr>
        <p:spPr>
          <a:xfrm flipH="1">
            <a:off x="8599441" y="3716175"/>
            <a:ext cx="410159" cy="2024313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3B357B43-DF55-4BED-B01D-ACA86AB5851D}"/>
              </a:ext>
            </a:extLst>
          </p:cNvPr>
          <p:cNvCxnSpPr>
            <a:cxnSpLocks/>
            <a:stCxn id="2" idx="1"/>
            <a:endCxn id="21" idx="3"/>
          </p:cNvCxnSpPr>
          <p:nvPr/>
        </p:nvCxnSpPr>
        <p:spPr>
          <a:xfrm flipV="1">
            <a:off x="6003048" y="4579398"/>
            <a:ext cx="519011" cy="125845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AE441491-5734-4F07-84B4-CD0F69BFA2EF}"/>
              </a:ext>
            </a:extLst>
          </p:cNvPr>
          <p:cNvCxnSpPr>
            <a:cxnSpLocks/>
            <a:stCxn id="21" idx="5"/>
            <a:endCxn id="20" idx="1"/>
          </p:cNvCxnSpPr>
          <p:nvPr/>
        </p:nvCxnSpPr>
        <p:spPr>
          <a:xfrm>
            <a:off x="6970705" y="4579398"/>
            <a:ext cx="181807" cy="39866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FB0528A2-D0B6-4B82-950F-376F8674D3D7}"/>
              </a:ext>
            </a:extLst>
          </p:cNvPr>
          <p:cNvCxnSpPr>
            <a:cxnSpLocks/>
            <a:stCxn id="18" idx="3"/>
            <a:endCxn id="21" idx="0"/>
          </p:cNvCxnSpPr>
          <p:nvPr/>
        </p:nvCxnSpPr>
        <p:spPr>
          <a:xfrm flipH="1">
            <a:off x="6746382" y="3077271"/>
            <a:ext cx="1628736" cy="976492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0DDF5B1-31E4-46D1-98ED-7BCAA9F35040}"/>
              </a:ext>
            </a:extLst>
          </p:cNvPr>
          <p:cNvSpPr txBox="1"/>
          <p:nvPr/>
        </p:nvSpPr>
        <p:spPr>
          <a:xfrm>
            <a:off x="7153157" y="4453259"/>
            <a:ext cx="295469" cy="370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4FC8B4EB-B530-4C8D-8125-5C113C35B78E}"/>
              </a:ext>
            </a:extLst>
          </p:cNvPr>
          <p:cNvSpPr txBox="1"/>
          <p:nvPr/>
        </p:nvSpPr>
        <p:spPr>
          <a:xfrm>
            <a:off x="8521947" y="4109697"/>
            <a:ext cx="35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8B4565C-E334-4A87-8541-B23394259429}"/>
              </a:ext>
            </a:extLst>
          </p:cNvPr>
          <p:cNvSpPr txBox="1"/>
          <p:nvPr/>
        </p:nvSpPr>
        <p:spPr>
          <a:xfrm>
            <a:off x="9768292" y="5270754"/>
            <a:ext cx="35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753F87A-21E2-4A30-8A2B-255B44863706}"/>
              </a:ext>
            </a:extLst>
          </p:cNvPr>
          <p:cNvSpPr txBox="1"/>
          <p:nvPr/>
        </p:nvSpPr>
        <p:spPr>
          <a:xfrm>
            <a:off x="8923125" y="2802030"/>
            <a:ext cx="35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690D3B04-B3F4-4BDF-A9F5-1A5065365435}"/>
              </a:ext>
            </a:extLst>
          </p:cNvPr>
          <p:cNvSpPr txBox="1"/>
          <p:nvPr/>
        </p:nvSpPr>
        <p:spPr>
          <a:xfrm>
            <a:off x="9141005" y="4928004"/>
            <a:ext cx="35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AB4E159-898F-4F8B-BC1F-6A1AB6F44AFE}"/>
              </a:ext>
            </a:extLst>
          </p:cNvPr>
          <p:cNvSpPr txBox="1"/>
          <p:nvPr/>
        </p:nvSpPr>
        <p:spPr>
          <a:xfrm>
            <a:off x="10194238" y="4479029"/>
            <a:ext cx="35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F3E4E88-16B3-4D68-B1A2-EDB916213C89}"/>
              </a:ext>
            </a:extLst>
          </p:cNvPr>
          <p:cNvSpPr txBox="1"/>
          <p:nvPr/>
        </p:nvSpPr>
        <p:spPr>
          <a:xfrm>
            <a:off x="10826556" y="5256394"/>
            <a:ext cx="35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8D9CD468-E62E-4FCC-B9B0-B5B43F3E8B3D}"/>
              </a:ext>
            </a:extLst>
          </p:cNvPr>
          <p:cNvSpPr txBox="1"/>
          <p:nvPr/>
        </p:nvSpPr>
        <p:spPr>
          <a:xfrm>
            <a:off x="7723714" y="5207666"/>
            <a:ext cx="35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DFF0D76A-45D4-4004-8C48-2A98128C709B}"/>
              </a:ext>
            </a:extLst>
          </p:cNvPr>
          <p:cNvSpPr txBox="1"/>
          <p:nvPr/>
        </p:nvSpPr>
        <p:spPr>
          <a:xfrm>
            <a:off x="5955837" y="4848361"/>
            <a:ext cx="35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2EE5CD2D-8231-4202-B8A8-F4C39150AA0E}"/>
              </a:ext>
            </a:extLst>
          </p:cNvPr>
          <p:cNvSpPr txBox="1"/>
          <p:nvPr/>
        </p:nvSpPr>
        <p:spPr>
          <a:xfrm>
            <a:off x="7273036" y="3125862"/>
            <a:ext cx="35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5D2F97D5-A79B-4E9D-992D-975FD0B2128A}"/>
              </a:ext>
            </a:extLst>
          </p:cNvPr>
          <p:cNvSpPr txBox="1"/>
          <p:nvPr/>
        </p:nvSpPr>
        <p:spPr>
          <a:xfrm>
            <a:off x="6651551" y="5371156"/>
            <a:ext cx="35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97ED97F1-A572-4DBA-A8F1-7C6B71D1D66A}"/>
              </a:ext>
            </a:extLst>
          </p:cNvPr>
          <p:cNvSpPr txBox="1"/>
          <p:nvPr/>
        </p:nvSpPr>
        <p:spPr>
          <a:xfrm>
            <a:off x="9612789" y="3608169"/>
            <a:ext cx="35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833820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4435BF-A8D1-4F66-AC61-F38014AF5B54}"/>
              </a:ext>
            </a:extLst>
          </p:cNvPr>
          <p:cNvSpPr txBox="1">
            <a:spLocks/>
          </p:cNvSpPr>
          <p:nvPr/>
        </p:nvSpPr>
        <p:spPr>
          <a:xfrm>
            <a:off x="795528" y="386930"/>
            <a:ext cx="10141799" cy="1300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Código de Huffman – Ejemplo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9E0D4D2-B679-4956-B70A-1A7D4AA79C4F}"/>
                  </a:ext>
                </a:extLst>
              </p:cNvPr>
              <p:cNvSpPr txBox="1"/>
              <p:nvPr/>
            </p:nvSpPr>
            <p:spPr>
              <a:xfrm>
                <a:off x="7017833" y="2347276"/>
                <a:ext cx="4169571" cy="407478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sz="200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b="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sz="2000" b="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𝐶𝑎𝑛𝑡𝑖𝑑𝑎𝑑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𝑏𝑖𝑡𝑠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𝑑𝑒𝑙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ó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𝑑𝑖𝑔𝑜</m:t>
                    </m:r>
                  </m:oMath>
                </a14:m>
                <a:endParaRPr lang="en-US" sz="200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00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s-AR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∗100</m:t>
                    </m:r>
                  </m:oMath>
                </a14:m>
                <a:endParaRPr lang="es-AR" sz="2000" b="0" i="1" dirty="0">
                  <a:latin typeface="Cambria Math" panose="02040503050406030204" pitchFamily="18" charset="0"/>
                </a:endParaRPr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s-AR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∗100</m:t>
                    </m:r>
                  </m:oMath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9E0D4D2-B679-4956-B70A-1A7D4AA79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833" y="2347276"/>
                <a:ext cx="4169571" cy="4074786"/>
              </a:xfrm>
              <a:prstGeom prst="rect">
                <a:avLst/>
              </a:prstGeom>
              <a:blipFill>
                <a:blip r:embed="rId2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BA1EE82F-7830-4BA5-AE40-D376EDC3D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816625"/>
              </p:ext>
            </p:extLst>
          </p:nvPr>
        </p:nvGraphicFramePr>
        <p:xfrm>
          <a:off x="207390" y="2232478"/>
          <a:ext cx="6566634" cy="4189584"/>
        </p:xfrm>
        <a:graphic>
          <a:graphicData uri="http://schemas.openxmlformats.org/drawingml/2006/table">
            <a:tbl>
              <a:tblPr firstRow="1" lastRow="1" bandRow="1">
                <a:noFill/>
                <a:tableStyleId>{5C22544A-7EE6-4342-B048-85BDC9FD1C3A}</a:tableStyleId>
              </a:tblPr>
              <a:tblGrid>
                <a:gridCol w="671389">
                  <a:extLst>
                    <a:ext uri="{9D8B030D-6E8A-4147-A177-3AD203B41FA5}">
                      <a16:colId xmlns:a16="http://schemas.microsoft.com/office/drawing/2014/main" val="79509268"/>
                    </a:ext>
                  </a:extLst>
                </a:gridCol>
                <a:gridCol w="1160573">
                  <a:extLst>
                    <a:ext uri="{9D8B030D-6E8A-4147-A177-3AD203B41FA5}">
                      <a16:colId xmlns:a16="http://schemas.microsoft.com/office/drawing/2014/main" val="2584884380"/>
                    </a:ext>
                  </a:extLst>
                </a:gridCol>
                <a:gridCol w="1166963">
                  <a:extLst>
                    <a:ext uri="{9D8B030D-6E8A-4147-A177-3AD203B41FA5}">
                      <a16:colId xmlns:a16="http://schemas.microsoft.com/office/drawing/2014/main" val="1401864633"/>
                    </a:ext>
                  </a:extLst>
                </a:gridCol>
                <a:gridCol w="1059995">
                  <a:extLst>
                    <a:ext uri="{9D8B030D-6E8A-4147-A177-3AD203B41FA5}">
                      <a16:colId xmlns:a16="http://schemas.microsoft.com/office/drawing/2014/main" val="404774414"/>
                    </a:ext>
                  </a:extLst>
                </a:gridCol>
                <a:gridCol w="1253857">
                  <a:extLst>
                    <a:ext uri="{9D8B030D-6E8A-4147-A177-3AD203B41FA5}">
                      <a16:colId xmlns:a16="http://schemas.microsoft.com/office/drawing/2014/main" val="1193017832"/>
                    </a:ext>
                  </a:extLst>
                </a:gridCol>
                <a:gridCol w="1253857">
                  <a:extLst>
                    <a:ext uri="{9D8B030D-6E8A-4147-A177-3AD203B41FA5}">
                      <a16:colId xmlns:a16="http://schemas.microsoft.com/office/drawing/2014/main" val="1971214461"/>
                    </a:ext>
                  </a:extLst>
                </a:gridCol>
              </a:tblGrid>
              <a:tr h="566433">
                <a:tc>
                  <a:txBody>
                    <a:bodyPr/>
                    <a:lstStyle/>
                    <a:p>
                      <a:pPr algn="ctr"/>
                      <a:endParaRPr lang="es-AR" sz="1600" b="1">
                        <a:solidFill>
                          <a:srgbClr val="FFFFFF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Probilidad (pi)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Entropía (Hi)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b="1" dirty="0">
                          <a:solidFill>
                            <a:srgbClr val="FFFFFF"/>
                          </a:solidFill>
                        </a:rPr>
                        <a:t>Longitud (Li)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rgbClr val="FFFFFF"/>
                          </a:solidFill>
                        </a:rPr>
                        <a:t>Long. Media (</a:t>
                      </a:r>
                      <a:r>
                        <a:rPr lang="es-AR" sz="1600" b="1" dirty="0" err="1">
                          <a:solidFill>
                            <a:srgbClr val="FFFFFF"/>
                          </a:solidFill>
                        </a:rPr>
                        <a:t>li</a:t>
                      </a:r>
                      <a:r>
                        <a:rPr lang="es-AR" sz="1600" b="1" dirty="0">
                          <a:solidFill>
                            <a:srgbClr val="FFFFFF"/>
                          </a:solidFill>
                        </a:rPr>
                        <a:t>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474495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0,15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0,41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010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151549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</a:t>
                      </a:r>
                    </a:p>
                  </a:txBody>
                  <a:tcPr marL="162147" marR="97288" marT="97288" marB="9728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0,3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0,52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00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062044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0,46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753815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</a:t>
                      </a:r>
                    </a:p>
                  </a:txBody>
                  <a:tcPr marL="162147" marR="97288" marT="97288" marB="9728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0,05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0,22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1110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646309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0,15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0,41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011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20108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</a:t>
                      </a:r>
                    </a:p>
                  </a:txBody>
                  <a:tcPr marL="162147" marR="97288" marT="97288" marB="9728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0,05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0,22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1111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021049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0,33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110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36248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Total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 = 2,57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chemeClr val="tx1"/>
                          </a:solidFill>
                        </a:rPr>
                        <a:t>l =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453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0390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4435BF-A8D1-4F66-AC61-F38014AF5B54}"/>
              </a:ext>
            </a:extLst>
          </p:cNvPr>
          <p:cNvSpPr txBox="1">
            <a:spLocks/>
          </p:cNvSpPr>
          <p:nvPr/>
        </p:nvSpPr>
        <p:spPr>
          <a:xfrm>
            <a:off x="795528" y="386930"/>
            <a:ext cx="10141799" cy="1300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Código de Huffman – Ejemplo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9E0D4D2-B679-4956-B70A-1A7D4AA79C4F}"/>
                  </a:ext>
                </a:extLst>
              </p:cNvPr>
              <p:cNvSpPr txBox="1"/>
              <p:nvPr/>
            </p:nvSpPr>
            <p:spPr>
              <a:xfrm>
                <a:off x="7017833" y="2347276"/>
                <a:ext cx="4169571" cy="407478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sz="200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b="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sz="2000" b="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𝐶𝑎𝑛𝑡𝑖𝑑𝑎𝑑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𝑏𝑖𝑡𝑠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𝑑𝑒𝑙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ó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𝑑𝑖𝑔𝑜</m:t>
                    </m:r>
                  </m:oMath>
                </a14:m>
                <a:endParaRPr lang="en-US" sz="200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000" i="1" dirty="0"/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s-AR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∗100=</m:t>
                    </m:r>
                    <m:r>
                      <a:rPr lang="es-A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99%</m:t>
                    </m:r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AR" sz="2000" b="0" i="1" dirty="0">
                  <a:latin typeface="Cambria Math" panose="02040503050406030204" pitchFamily="18" charset="0"/>
                </a:endParaRPr>
              </a:p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s-AR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∗100=</m:t>
                    </m:r>
                    <m:r>
                      <a:rPr lang="es-A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9E0D4D2-B679-4956-B70A-1A7D4AA79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833" y="2347276"/>
                <a:ext cx="4169571" cy="4074786"/>
              </a:xfrm>
              <a:prstGeom prst="rect">
                <a:avLst/>
              </a:prstGeom>
              <a:blipFill>
                <a:blip r:embed="rId2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BA1EE82F-7830-4BA5-AE40-D376EDC3D56C}"/>
              </a:ext>
            </a:extLst>
          </p:cNvPr>
          <p:cNvGraphicFramePr>
            <a:graphicFrameLocks noGrp="1"/>
          </p:cNvGraphicFramePr>
          <p:nvPr/>
        </p:nvGraphicFramePr>
        <p:xfrm>
          <a:off x="207390" y="2232478"/>
          <a:ext cx="6566634" cy="4189584"/>
        </p:xfrm>
        <a:graphic>
          <a:graphicData uri="http://schemas.openxmlformats.org/drawingml/2006/table">
            <a:tbl>
              <a:tblPr firstRow="1" lastRow="1" bandRow="1">
                <a:noFill/>
                <a:tableStyleId>{5C22544A-7EE6-4342-B048-85BDC9FD1C3A}</a:tableStyleId>
              </a:tblPr>
              <a:tblGrid>
                <a:gridCol w="671389">
                  <a:extLst>
                    <a:ext uri="{9D8B030D-6E8A-4147-A177-3AD203B41FA5}">
                      <a16:colId xmlns:a16="http://schemas.microsoft.com/office/drawing/2014/main" val="79509268"/>
                    </a:ext>
                  </a:extLst>
                </a:gridCol>
                <a:gridCol w="1160573">
                  <a:extLst>
                    <a:ext uri="{9D8B030D-6E8A-4147-A177-3AD203B41FA5}">
                      <a16:colId xmlns:a16="http://schemas.microsoft.com/office/drawing/2014/main" val="2584884380"/>
                    </a:ext>
                  </a:extLst>
                </a:gridCol>
                <a:gridCol w="1166963">
                  <a:extLst>
                    <a:ext uri="{9D8B030D-6E8A-4147-A177-3AD203B41FA5}">
                      <a16:colId xmlns:a16="http://schemas.microsoft.com/office/drawing/2014/main" val="1401864633"/>
                    </a:ext>
                  </a:extLst>
                </a:gridCol>
                <a:gridCol w="1059995">
                  <a:extLst>
                    <a:ext uri="{9D8B030D-6E8A-4147-A177-3AD203B41FA5}">
                      <a16:colId xmlns:a16="http://schemas.microsoft.com/office/drawing/2014/main" val="404774414"/>
                    </a:ext>
                  </a:extLst>
                </a:gridCol>
                <a:gridCol w="1253857">
                  <a:extLst>
                    <a:ext uri="{9D8B030D-6E8A-4147-A177-3AD203B41FA5}">
                      <a16:colId xmlns:a16="http://schemas.microsoft.com/office/drawing/2014/main" val="1193017832"/>
                    </a:ext>
                  </a:extLst>
                </a:gridCol>
                <a:gridCol w="1253857">
                  <a:extLst>
                    <a:ext uri="{9D8B030D-6E8A-4147-A177-3AD203B41FA5}">
                      <a16:colId xmlns:a16="http://schemas.microsoft.com/office/drawing/2014/main" val="1971214461"/>
                    </a:ext>
                  </a:extLst>
                </a:gridCol>
              </a:tblGrid>
              <a:tr h="566433">
                <a:tc>
                  <a:txBody>
                    <a:bodyPr/>
                    <a:lstStyle/>
                    <a:p>
                      <a:pPr algn="ctr"/>
                      <a:endParaRPr lang="es-AR" sz="1600" b="1">
                        <a:solidFill>
                          <a:srgbClr val="FFFFFF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Probilidad (pi)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rgbClr val="FFFFFF"/>
                          </a:solidFill>
                        </a:rPr>
                        <a:t>Entropía (Hi)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b="1" dirty="0">
                          <a:solidFill>
                            <a:srgbClr val="FFFFFF"/>
                          </a:solidFill>
                        </a:rPr>
                        <a:t>Longitud (Li)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rgbClr val="FFFFFF"/>
                          </a:solidFill>
                        </a:rPr>
                        <a:t>Long. Media (</a:t>
                      </a:r>
                      <a:r>
                        <a:rPr lang="es-AR" sz="1600" b="1" dirty="0" err="1">
                          <a:solidFill>
                            <a:srgbClr val="FFFFFF"/>
                          </a:solidFill>
                        </a:rPr>
                        <a:t>li</a:t>
                      </a:r>
                      <a:r>
                        <a:rPr lang="es-AR" sz="1600" b="1" dirty="0">
                          <a:solidFill>
                            <a:srgbClr val="FFFFFF"/>
                          </a:solidFill>
                        </a:rPr>
                        <a:t>)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474495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0,15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0,41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010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0,45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151549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</a:t>
                      </a:r>
                    </a:p>
                  </a:txBody>
                  <a:tcPr marL="162147" marR="97288" marT="97288" marB="9728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0,3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0,52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00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0,6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062044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0,46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0,4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753815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</a:t>
                      </a:r>
                    </a:p>
                  </a:txBody>
                  <a:tcPr marL="162147" marR="97288" marT="97288" marB="9728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0,05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0,22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1110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0,2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646309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0,15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0,41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011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0,45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20108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</a:t>
                      </a:r>
                    </a:p>
                  </a:txBody>
                  <a:tcPr marL="162147" marR="97288" marT="97288" marB="9728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0,05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0,22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1111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0,2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021049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0,33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110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rgbClr val="FF0000"/>
                          </a:solidFill>
                        </a:rPr>
                        <a:t>0,3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36248"/>
                  </a:ext>
                </a:extLst>
              </a:tr>
              <a:tr h="393477"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Total</a:t>
                      </a:r>
                    </a:p>
                  </a:txBody>
                  <a:tcPr marL="162147" marR="97288" marT="97288" marB="9728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 = 2,57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rgbClr val="FF0000"/>
                          </a:solidFill>
                        </a:rPr>
                        <a:t>l =2,6</a:t>
                      </a:r>
                    </a:p>
                  </a:txBody>
                  <a:tcPr marL="162147" marR="97288" marT="97288" marB="9728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453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0867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15911E3A-C35B-4EF7-A355-B84E9A14A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21ADB3D-AD65-44B4-847D-5E90E90A5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>
              <a:extLst>
                <a:ext uri="{FF2B5EF4-FFF2-40B4-BE49-F238E27FC236}">
                  <a16:creationId xmlns:a16="http://schemas.microsoft.com/office/drawing/2014/main" id="{CF580C70-814C-4845-B645-919BFFBD1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>
              <a:extLst>
                <a:ext uri="{FF2B5EF4-FFF2-40B4-BE49-F238E27FC236}">
                  <a16:creationId xmlns:a16="http://schemas.microsoft.com/office/drawing/2014/main" id="{34D7BF57-4CAA-45B2-9EF0-0AA1FCF70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>
              <a:extLst>
                <a:ext uri="{FF2B5EF4-FFF2-40B4-BE49-F238E27FC236}">
                  <a16:creationId xmlns:a16="http://schemas.microsoft.com/office/drawing/2014/main" id="{7886F306-C03A-40C6-8FD5-DCE3D4595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>
              <a:extLst>
                <a:ext uri="{FF2B5EF4-FFF2-40B4-BE49-F238E27FC236}">
                  <a16:creationId xmlns:a16="http://schemas.microsoft.com/office/drawing/2014/main" id="{2FDC9A36-C7C3-47D7-A64E-ED25C47EC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>
              <a:extLst>
                <a:ext uri="{FF2B5EF4-FFF2-40B4-BE49-F238E27FC236}">
                  <a16:creationId xmlns:a16="http://schemas.microsoft.com/office/drawing/2014/main" id="{BB19BC37-158A-43DC-9A9E-E45CC7195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>
              <a:extLst>
                <a:ext uri="{FF2B5EF4-FFF2-40B4-BE49-F238E27FC236}">
                  <a16:creationId xmlns:a16="http://schemas.microsoft.com/office/drawing/2014/main" id="{077654CC-108F-48D5-B5E9-437F164F5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>
              <a:extLst>
                <a:ext uri="{FF2B5EF4-FFF2-40B4-BE49-F238E27FC236}">
                  <a16:creationId xmlns:a16="http://schemas.microsoft.com/office/drawing/2014/main" id="{A3CF3A63-1C1E-4E85-A78A-FDC16431E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>
              <a:extLst>
                <a:ext uri="{FF2B5EF4-FFF2-40B4-BE49-F238E27FC236}">
                  <a16:creationId xmlns:a16="http://schemas.microsoft.com/office/drawing/2014/main" id="{8740FC9A-72DD-4D9B-BA25-1CCED13524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>
              <a:extLst>
                <a:ext uri="{FF2B5EF4-FFF2-40B4-BE49-F238E27FC236}">
                  <a16:creationId xmlns:a16="http://schemas.microsoft.com/office/drawing/2014/main" id="{7FBF5743-F2AE-4D0D-BCD1-01F7686D0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>
              <a:extLst>
                <a:ext uri="{FF2B5EF4-FFF2-40B4-BE49-F238E27FC236}">
                  <a16:creationId xmlns:a16="http://schemas.microsoft.com/office/drawing/2014/main" id="{CED32316-D4F7-4795-BBE0-DEBB60E27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>
              <a:extLst>
                <a:ext uri="{FF2B5EF4-FFF2-40B4-BE49-F238E27FC236}">
                  <a16:creationId xmlns:a16="http://schemas.microsoft.com/office/drawing/2014/main" id="{583B23C9-B9B7-4E93-9538-CBE316F83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>
              <a:extLst>
                <a:ext uri="{FF2B5EF4-FFF2-40B4-BE49-F238E27FC236}">
                  <a16:creationId xmlns:a16="http://schemas.microsoft.com/office/drawing/2014/main" id="{5B144260-9F2C-4ADB-A37C-1CFB4B42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>
              <a:extLst>
                <a:ext uri="{FF2B5EF4-FFF2-40B4-BE49-F238E27FC236}">
                  <a16:creationId xmlns:a16="http://schemas.microsoft.com/office/drawing/2014/main" id="{53FF918D-79D3-4F55-A68C-0DD5880DA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>
              <a:extLst>
                <a:ext uri="{FF2B5EF4-FFF2-40B4-BE49-F238E27FC236}">
                  <a16:creationId xmlns:a16="http://schemas.microsoft.com/office/drawing/2014/main" id="{B9FC1440-933F-44FE-8D77-4827DD0F9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>
              <a:extLst>
                <a:ext uri="{FF2B5EF4-FFF2-40B4-BE49-F238E27FC236}">
                  <a16:creationId xmlns:a16="http://schemas.microsoft.com/office/drawing/2014/main" id="{0F67F308-A67C-4D2E-B081-59BB31D8E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>
              <a:extLst>
                <a:ext uri="{FF2B5EF4-FFF2-40B4-BE49-F238E27FC236}">
                  <a16:creationId xmlns:a16="http://schemas.microsoft.com/office/drawing/2014/main" id="{80112F01-90EB-4AEC-A39C-5C6875FFB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>
              <a:extLst>
                <a:ext uri="{FF2B5EF4-FFF2-40B4-BE49-F238E27FC236}">
                  <a16:creationId xmlns:a16="http://schemas.microsoft.com/office/drawing/2014/main" id="{893F6B05-90EB-4C75-A0F0-C7247553B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>
              <a:extLst>
                <a:ext uri="{FF2B5EF4-FFF2-40B4-BE49-F238E27FC236}">
                  <a16:creationId xmlns:a16="http://schemas.microsoft.com/office/drawing/2014/main" id="{227B563B-E0C0-4D81-966D-B5E2DBAAE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>
              <a:extLst>
                <a:ext uri="{FF2B5EF4-FFF2-40B4-BE49-F238E27FC236}">
                  <a16:creationId xmlns:a16="http://schemas.microsoft.com/office/drawing/2014/main" id="{130DF93D-D1FF-477A-BDCE-C8B01C3B4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>
              <a:extLst>
                <a:ext uri="{FF2B5EF4-FFF2-40B4-BE49-F238E27FC236}">
                  <a16:creationId xmlns:a16="http://schemas.microsoft.com/office/drawing/2014/main" id="{44ED67A1-C6FE-4AC8-8473-11DAC03DC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>
              <a:extLst>
                <a:ext uri="{FF2B5EF4-FFF2-40B4-BE49-F238E27FC236}">
                  <a16:creationId xmlns:a16="http://schemas.microsoft.com/office/drawing/2014/main" id="{213A54F3-15FA-4C8F-8ABF-CE77E7219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F8A7F7F-DD1A-4F41-98AC-B9CE2A620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CEF47228-EB7C-4EBA-BE01-DA6CB24102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9" name="Isosceles Triangle 22">
              <a:extLst>
                <a:ext uri="{FF2B5EF4-FFF2-40B4-BE49-F238E27FC236}">
                  <a16:creationId xmlns:a16="http://schemas.microsoft.com/office/drawing/2014/main" id="{3D2FD25A-EFFD-4F5C-9258-981F5907DE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CF573BC-A06F-4036-A3A8-9D07DDE622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" name="Subtítulo 2"/>
          <p:cNvSpPr txBox="1">
            <a:spLocks/>
          </p:cNvSpPr>
          <p:nvPr/>
        </p:nvSpPr>
        <p:spPr>
          <a:xfrm>
            <a:off x="904877" y="2415322"/>
            <a:ext cx="3451730" cy="23998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Transmisión de Códigos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5120640" y="804672"/>
            <a:ext cx="6281928" cy="524865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/>
              <a:t>Un </a:t>
            </a:r>
            <a:r>
              <a:rPr lang="en-US" altLang="es-AR" dirty="0" err="1"/>
              <a:t>código</a:t>
            </a:r>
            <a:r>
              <a:rPr lang="en-US" altLang="es-AR" dirty="0"/>
              <a:t> de </a:t>
            </a:r>
            <a:r>
              <a:rPr lang="en-US" altLang="es-AR" dirty="0" err="1"/>
              <a:t>caracteres</a:t>
            </a:r>
            <a:r>
              <a:rPr lang="en-US" altLang="es-AR" dirty="0"/>
              <a:t> </a:t>
            </a:r>
            <a:r>
              <a:rPr lang="en-US" altLang="es-AR" dirty="0" err="1"/>
              <a:t>determina</a:t>
            </a:r>
            <a:r>
              <a:rPr lang="en-US" altLang="es-AR" dirty="0"/>
              <a:t> que bits se </a:t>
            </a:r>
            <a:r>
              <a:rPr lang="en-US" altLang="es-AR" dirty="0" err="1"/>
              <a:t>enviarán</a:t>
            </a:r>
            <a:r>
              <a:rPr lang="en-US" altLang="es-AR" dirty="0"/>
              <a:t> entre la terminal y el host. 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dirty="0"/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/>
              <a:t>Pero </a:t>
            </a:r>
            <a:r>
              <a:rPr lang="en-US" altLang="es-AR" dirty="0" err="1"/>
              <a:t>como</a:t>
            </a:r>
            <a:r>
              <a:rPr lang="en-US" altLang="es-AR" dirty="0"/>
              <a:t> </a:t>
            </a:r>
            <a:r>
              <a:rPr lang="en-US" altLang="es-AR" dirty="0" err="1"/>
              <a:t>serán</a:t>
            </a:r>
            <a:r>
              <a:rPr lang="en-US" altLang="es-AR" dirty="0"/>
              <a:t> </a:t>
            </a:r>
            <a:r>
              <a:rPr lang="en-US" altLang="es-AR" dirty="0" err="1"/>
              <a:t>enviados</a:t>
            </a:r>
            <a:r>
              <a:rPr lang="en-US" altLang="es-AR" dirty="0"/>
              <a:t> </a:t>
            </a:r>
            <a:r>
              <a:rPr lang="en-US" altLang="es-AR" dirty="0" err="1"/>
              <a:t>esos</a:t>
            </a:r>
            <a:r>
              <a:rPr lang="en-US" altLang="es-AR" dirty="0"/>
              <a:t> bits?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 dirty="0" err="1"/>
              <a:t>Transmisión</a:t>
            </a:r>
            <a:r>
              <a:rPr lang="en-US" altLang="es-AR" sz="2400" dirty="0"/>
              <a:t> </a:t>
            </a:r>
            <a:r>
              <a:rPr lang="en-US" altLang="es-AR" sz="2400" dirty="0" err="1"/>
              <a:t>Paralelo</a:t>
            </a:r>
            <a:r>
              <a:rPr lang="en-US" altLang="es-AR" sz="2400" dirty="0"/>
              <a:t> o Serie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 dirty="0" err="1"/>
              <a:t>Sincronización</a:t>
            </a:r>
            <a:endParaRPr lang="en-US" altLang="es-AR" sz="2400" dirty="0"/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 dirty="0" err="1"/>
              <a:t>Otras</a:t>
            </a:r>
            <a:r>
              <a:rPr lang="en-US" altLang="es-AR" sz="2400" dirty="0"/>
              <a:t> </a:t>
            </a:r>
            <a:r>
              <a:rPr lang="en-US" altLang="es-AR" sz="2400" dirty="0" err="1"/>
              <a:t>consideraciones</a:t>
            </a:r>
            <a:r>
              <a:rPr lang="en-US" altLang="es-AR" sz="2400" dirty="0"/>
              <a:t>: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400" dirty="0" err="1"/>
              <a:t>Velocidad</a:t>
            </a:r>
            <a:endParaRPr lang="en-US" altLang="es-AR" sz="2400" dirty="0"/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400" dirty="0" err="1"/>
              <a:t>Organización</a:t>
            </a:r>
            <a:r>
              <a:rPr lang="en-US" altLang="es-AR" sz="2400" dirty="0"/>
              <a:t> de los </a:t>
            </a:r>
            <a:r>
              <a:rPr lang="en-US" altLang="es-AR" sz="2400" dirty="0" err="1"/>
              <a:t>datos</a:t>
            </a:r>
            <a:r>
              <a:rPr lang="en-US" altLang="es-AR" sz="2400" dirty="0"/>
              <a:t> (</a:t>
            </a:r>
            <a:r>
              <a:rPr lang="en-US" altLang="es-AR" sz="2400" dirty="0" err="1"/>
              <a:t>protocolo</a:t>
            </a:r>
            <a:r>
              <a:rPr lang="en-US" altLang="es-AR" sz="2400" dirty="0"/>
              <a:t>)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400" dirty="0"/>
              <a:t>Medio de </a:t>
            </a:r>
            <a:r>
              <a:rPr lang="en-US" altLang="es-AR" sz="2400" dirty="0" err="1"/>
              <a:t>transmisión</a:t>
            </a:r>
            <a:endParaRPr lang="en-US" altLang="es-AR" sz="2400" dirty="0"/>
          </a:p>
        </p:txBody>
      </p:sp>
    </p:spTree>
    <p:extLst>
      <p:ext uri="{BB962C8B-B14F-4D97-AF65-F5344CB8AC3E}">
        <p14:creationId xmlns:p14="http://schemas.microsoft.com/office/powerpoint/2010/main" val="2869626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34348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>
            <a:off x="526073" y="466578"/>
            <a:ext cx="11139854" cy="9304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 acuerdan transmisión en paralelo?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1524000" y="1525638"/>
            <a:ext cx="9144000" cy="42000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altLang="es-AR" sz="2000" kern="1200">
                <a:solidFill>
                  <a:srgbClr val="E7E6E6"/>
                </a:solidFill>
                <a:latin typeface="+mn-lt"/>
                <a:ea typeface="+mn-ea"/>
                <a:cs typeface="+mn-cs"/>
              </a:rPr>
              <a:t>Se usa por ejemplo en la comunicación con dispositivos locales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144863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0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0" y="2554270"/>
            <a:ext cx="11496821" cy="390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99653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34348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>
            <a:off x="526073" y="466578"/>
            <a:ext cx="11139854" cy="9304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Y la transmisión serie?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144863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62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80861" y="2509911"/>
            <a:ext cx="9575179" cy="399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05115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6F9EB9F2-07E2-4D64-BBD8-BB5B217F1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2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1109686" y="965198"/>
            <a:ext cx="3340262" cy="4927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000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Asincrónico</a:t>
            </a:r>
            <a:r>
              <a:rPr lang="en-US" sz="40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4000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Sincrónico</a:t>
            </a:r>
            <a:endParaRPr lang="en-US" sz="400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449948" y="798944"/>
            <a:ext cx="6407438" cy="49276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1" indent="0">
              <a:spcBef>
                <a:spcPts val="1000"/>
              </a:spcBef>
              <a:buClr>
                <a:srgbClr val="000000"/>
              </a:buClr>
              <a:buNone/>
            </a:pPr>
            <a:r>
              <a:rPr lang="en-US" altLang="es-AR" sz="2000" b="1" kern="1200" dirty="0" err="1">
                <a:latin typeface="+mn-lt"/>
                <a:ea typeface="+mn-ea"/>
                <a:cs typeface="+mn-cs"/>
              </a:rPr>
              <a:t>Transmisión</a:t>
            </a:r>
            <a:r>
              <a:rPr lang="en-US" altLang="es-AR" sz="2000" b="1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s-AR" sz="2000" b="1" kern="1200" dirty="0" err="1">
                <a:latin typeface="+mn-lt"/>
                <a:ea typeface="+mn-ea"/>
                <a:cs typeface="+mn-cs"/>
              </a:rPr>
              <a:t>asincrónica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: la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sincronización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de la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transmisión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se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puede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producir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carácter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por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carácter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. (bit de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arranque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/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parada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)</a:t>
            </a:r>
          </a:p>
          <a:p>
            <a:pPr marL="0" indent="0">
              <a:buNone/>
            </a:pPr>
            <a:endParaRPr lang="en-US" altLang="es-AR" sz="2000" kern="1200" dirty="0">
              <a:latin typeface="+mn-lt"/>
              <a:ea typeface="+mn-ea"/>
              <a:cs typeface="+mn-cs"/>
            </a:endParaRPr>
          </a:p>
          <a:p>
            <a:pPr marL="0" lvl="1" indent="0">
              <a:spcBef>
                <a:spcPts val="1000"/>
              </a:spcBef>
              <a:buClr>
                <a:srgbClr val="000000"/>
              </a:buClr>
              <a:buNone/>
            </a:pPr>
            <a:r>
              <a:rPr lang="en-US" altLang="es-AR" sz="2000" b="1" kern="1200" dirty="0" err="1">
                <a:latin typeface="+mn-lt"/>
                <a:ea typeface="+mn-ea"/>
                <a:cs typeface="+mn-cs"/>
              </a:rPr>
              <a:t>Transmisión</a:t>
            </a:r>
            <a:r>
              <a:rPr lang="en-US" altLang="es-AR" sz="2000" b="1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s-AR" sz="2000" b="1" kern="1200" dirty="0" err="1">
                <a:latin typeface="+mn-lt"/>
                <a:ea typeface="+mn-ea"/>
                <a:cs typeface="+mn-cs"/>
              </a:rPr>
              <a:t>sincrónica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: la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sincronización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es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en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gerenal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por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bloques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, y los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caracteres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se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transmiten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s-AR" sz="2000" kern="1200" dirty="0" err="1">
                <a:latin typeface="+mn-lt"/>
                <a:ea typeface="+mn-ea"/>
                <a:cs typeface="+mn-cs"/>
              </a:rPr>
              <a:t>en</a:t>
            </a:r>
            <a:r>
              <a:rPr lang="en-US" altLang="es-AR" sz="2000" kern="1200" dirty="0">
                <a:latin typeface="+mn-lt"/>
                <a:ea typeface="+mn-ea"/>
                <a:cs typeface="+mn-cs"/>
              </a:rPr>
              <a:t> forma continua.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0C57C7C-DFE9-4A1E-B7A9-DF40E633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7599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B25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524256" y="4767072"/>
            <a:ext cx="6594189" cy="1625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en-US" sz="44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Ejemplo transmisión Asincrónica</a:t>
            </a:r>
          </a:p>
        </p:txBody>
      </p:sp>
      <p:pic>
        <p:nvPicPr>
          <p:cNvPr id="7" name="Picture 2" descr="Image result for transmision sincrona">
            <a:extLst>
              <a:ext uri="{FF2B5EF4-FFF2-40B4-BE49-F238E27FC236}">
                <a16:creationId xmlns:a16="http://schemas.microsoft.com/office/drawing/2014/main" id="{5FD67820-446A-4BFC-90E9-08EA5A9657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816"/>
          <a:stretch/>
        </p:blipFill>
        <p:spPr bwMode="auto">
          <a:xfrm>
            <a:off x="327547" y="321733"/>
            <a:ext cx="7058306" cy="410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7721600" y="572654"/>
            <a:ext cx="3946143" cy="58196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600" dirty="0">
                <a:solidFill>
                  <a:srgbClr val="FFFFFF"/>
                </a:solidFill>
              </a:rPr>
              <a:t>La </a:t>
            </a:r>
            <a:r>
              <a:rPr lang="en-US" altLang="es-AR" sz="1600" dirty="0" err="1">
                <a:solidFill>
                  <a:srgbClr val="FFFFFF"/>
                </a:solidFill>
              </a:rPr>
              <a:t>sincronización</a:t>
            </a:r>
            <a:r>
              <a:rPr lang="en-US" altLang="es-AR" sz="1600" dirty="0">
                <a:solidFill>
                  <a:srgbClr val="FFFFFF"/>
                </a:solidFill>
              </a:rPr>
              <a:t> se </a:t>
            </a:r>
            <a:r>
              <a:rPr lang="en-US" altLang="es-AR" sz="1600" dirty="0" err="1">
                <a:solidFill>
                  <a:srgbClr val="FFFFFF"/>
                </a:solidFill>
              </a:rPr>
              <a:t>puede</a:t>
            </a:r>
            <a:r>
              <a:rPr lang="en-US" altLang="es-AR" sz="1600" dirty="0">
                <a:solidFill>
                  <a:srgbClr val="FFFFFF"/>
                </a:solidFill>
              </a:rPr>
              <a:t> </a:t>
            </a:r>
            <a:r>
              <a:rPr lang="en-US" altLang="es-AR" sz="1600" dirty="0" err="1">
                <a:solidFill>
                  <a:srgbClr val="FFFFFF"/>
                </a:solidFill>
              </a:rPr>
              <a:t>realizar</a:t>
            </a:r>
            <a:r>
              <a:rPr lang="en-US" altLang="es-AR" sz="1600" dirty="0">
                <a:solidFill>
                  <a:srgbClr val="FFFFFF"/>
                </a:solidFill>
              </a:rPr>
              <a:t> </a:t>
            </a:r>
            <a:r>
              <a:rPr lang="en-US" altLang="es-AR" sz="1600" dirty="0" err="1">
                <a:solidFill>
                  <a:srgbClr val="FFFFFF"/>
                </a:solidFill>
              </a:rPr>
              <a:t>caracter</a:t>
            </a:r>
            <a:r>
              <a:rPr lang="en-US" altLang="es-AR" sz="1600" dirty="0">
                <a:solidFill>
                  <a:srgbClr val="FFFFFF"/>
                </a:solidFill>
              </a:rPr>
              <a:t> por </a:t>
            </a:r>
            <a:r>
              <a:rPr lang="en-US" altLang="es-AR" sz="1600" dirty="0" err="1">
                <a:solidFill>
                  <a:srgbClr val="FFFFFF"/>
                </a:solidFill>
              </a:rPr>
              <a:t>caracter</a:t>
            </a:r>
            <a:r>
              <a:rPr lang="en-US" altLang="es-AR" sz="1600" dirty="0">
                <a:solidFill>
                  <a:srgbClr val="FFFFFF"/>
                </a:solidFill>
              </a:rPr>
              <a:t>.</a:t>
            </a:r>
          </a:p>
          <a:p>
            <a:pPr marL="0">
              <a:spcBef>
                <a:spcPct val="0"/>
              </a:spcBef>
              <a:spcAft>
                <a:spcPts val="600"/>
              </a:spcAft>
            </a:pPr>
            <a:endParaRPr lang="en-US" altLang="es-AR" sz="1600" dirty="0">
              <a:solidFill>
                <a:srgbClr val="FFFFFF"/>
              </a:solidFill>
            </a:endParaRP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600" dirty="0">
                <a:solidFill>
                  <a:srgbClr val="FFFFFF"/>
                </a:solidFill>
              </a:rPr>
              <a:t>Los </a:t>
            </a:r>
            <a:r>
              <a:rPr lang="en-US" altLang="es-AR" sz="1600" dirty="0" err="1">
                <a:solidFill>
                  <a:srgbClr val="FFFFFF"/>
                </a:solidFill>
              </a:rPr>
              <a:t>caracteres</a:t>
            </a:r>
            <a:r>
              <a:rPr lang="en-US" altLang="es-AR" sz="1600" dirty="0">
                <a:solidFill>
                  <a:srgbClr val="FFFFFF"/>
                </a:solidFill>
              </a:rPr>
              <a:t> </a:t>
            </a:r>
            <a:r>
              <a:rPr lang="en-US" altLang="es-AR" sz="1600" dirty="0" err="1">
                <a:solidFill>
                  <a:srgbClr val="FFFFFF"/>
                </a:solidFill>
              </a:rPr>
              <a:t>en</a:t>
            </a:r>
            <a:r>
              <a:rPr lang="en-US" altLang="es-AR" sz="1600" dirty="0">
                <a:solidFill>
                  <a:srgbClr val="FFFFFF"/>
                </a:solidFill>
              </a:rPr>
              <a:t> la </a:t>
            </a:r>
            <a:r>
              <a:rPr lang="en-US" altLang="es-AR" sz="1600" dirty="0" err="1">
                <a:solidFill>
                  <a:srgbClr val="FFFFFF"/>
                </a:solidFill>
              </a:rPr>
              <a:t>comunicaciones</a:t>
            </a:r>
            <a:r>
              <a:rPr lang="en-US" altLang="es-AR" sz="1600" dirty="0">
                <a:solidFill>
                  <a:srgbClr val="FFFFFF"/>
                </a:solidFill>
              </a:rPr>
              <a:t> </a:t>
            </a:r>
            <a:r>
              <a:rPr lang="en-US" altLang="es-AR" sz="1600" dirty="0" err="1">
                <a:solidFill>
                  <a:srgbClr val="FFFFFF"/>
                </a:solidFill>
              </a:rPr>
              <a:t>asincrónica</a:t>
            </a:r>
            <a:r>
              <a:rPr lang="en-US" altLang="es-AR" sz="1600" dirty="0">
                <a:solidFill>
                  <a:srgbClr val="FFFFFF"/>
                </a:solidFill>
              </a:rPr>
              <a:t> </a:t>
            </a:r>
            <a:r>
              <a:rPr lang="en-US" altLang="es-AR" sz="1600" dirty="0" err="1">
                <a:solidFill>
                  <a:srgbClr val="FFFFFF"/>
                </a:solidFill>
              </a:rPr>
              <a:t>estan</a:t>
            </a:r>
            <a:r>
              <a:rPr lang="en-US" altLang="es-AR" sz="1600" dirty="0">
                <a:solidFill>
                  <a:srgbClr val="FFFFFF"/>
                </a:solidFill>
              </a:rPr>
              <a:t> </a:t>
            </a:r>
            <a:r>
              <a:rPr lang="en-US" altLang="es-AR" sz="1600" dirty="0" err="1">
                <a:solidFill>
                  <a:srgbClr val="FFFFFF"/>
                </a:solidFill>
              </a:rPr>
              <a:t>delimitados</a:t>
            </a:r>
            <a:r>
              <a:rPr lang="en-US" altLang="es-AR" sz="1600" dirty="0">
                <a:solidFill>
                  <a:srgbClr val="FFFFFF"/>
                </a:solidFill>
              </a:rPr>
              <a:t> por un bit de </a:t>
            </a:r>
            <a:r>
              <a:rPr lang="en-US" altLang="es-AR" sz="1600" dirty="0" err="1">
                <a:solidFill>
                  <a:srgbClr val="FFFFFF"/>
                </a:solidFill>
              </a:rPr>
              <a:t>arranque</a:t>
            </a:r>
            <a:r>
              <a:rPr lang="en-US" altLang="es-AR" sz="1600" dirty="0">
                <a:solidFill>
                  <a:srgbClr val="FFFFFF"/>
                </a:solidFill>
              </a:rPr>
              <a:t> (</a:t>
            </a:r>
            <a:r>
              <a:rPr lang="en-US" altLang="es-AR" sz="1600" dirty="0" err="1">
                <a:solidFill>
                  <a:srgbClr val="FFFFFF"/>
                </a:solidFill>
              </a:rPr>
              <a:t>utilizado</a:t>
            </a:r>
            <a:r>
              <a:rPr lang="en-US" altLang="es-AR" sz="1600" dirty="0">
                <a:solidFill>
                  <a:srgbClr val="FFFFFF"/>
                </a:solidFill>
              </a:rPr>
              <a:t> </a:t>
            </a:r>
            <a:r>
              <a:rPr lang="en-US" altLang="es-AR" sz="1600" dirty="0" err="1">
                <a:solidFill>
                  <a:srgbClr val="FFFFFF"/>
                </a:solidFill>
              </a:rPr>
              <a:t>ademas</a:t>
            </a:r>
            <a:r>
              <a:rPr lang="en-US" altLang="es-AR" sz="1600" dirty="0">
                <a:solidFill>
                  <a:srgbClr val="FFFFFF"/>
                </a:solidFill>
              </a:rPr>
              <a:t> para </a:t>
            </a:r>
            <a:r>
              <a:rPr lang="en-US" altLang="es-AR" sz="1600" dirty="0" err="1">
                <a:solidFill>
                  <a:srgbClr val="FFFFFF"/>
                </a:solidFill>
              </a:rPr>
              <a:t>sincronizar</a:t>
            </a:r>
            <a:r>
              <a:rPr lang="en-US" altLang="es-AR" sz="1600" dirty="0">
                <a:solidFill>
                  <a:srgbClr val="FFFFFF"/>
                </a:solidFill>
              </a:rPr>
              <a:t> o </a:t>
            </a:r>
            <a:r>
              <a:rPr lang="en-US" altLang="es-AR" sz="1600" dirty="0" err="1">
                <a:solidFill>
                  <a:srgbClr val="FFFFFF"/>
                </a:solidFill>
              </a:rPr>
              <a:t>comenzar</a:t>
            </a:r>
            <a:r>
              <a:rPr lang="en-US" altLang="es-AR" sz="1600" dirty="0">
                <a:solidFill>
                  <a:srgbClr val="FFFFFF"/>
                </a:solidFill>
              </a:rPr>
              <a:t> el </a:t>
            </a:r>
            <a:r>
              <a:rPr lang="en-US" altLang="es-AR" sz="1600" dirty="0" err="1">
                <a:solidFill>
                  <a:srgbClr val="FFFFFF"/>
                </a:solidFill>
              </a:rPr>
              <a:t>reloj</a:t>
            </a:r>
            <a:r>
              <a:rPr lang="en-US" altLang="es-AR" sz="1600" dirty="0">
                <a:solidFill>
                  <a:srgbClr val="FFFFFF"/>
                </a:solidFill>
              </a:rPr>
              <a:t>) y </a:t>
            </a:r>
            <a:r>
              <a:rPr lang="en-US" altLang="es-AR" sz="1600" dirty="0" err="1">
                <a:solidFill>
                  <a:srgbClr val="FFFFFF"/>
                </a:solidFill>
              </a:rPr>
              <a:t>otro</a:t>
            </a:r>
            <a:r>
              <a:rPr lang="en-US" altLang="es-AR" sz="1600" dirty="0">
                <a:solidFill>
                  <a:srgbClr val="FFFFFF"/>
                </a:solidFill>
              </a:rPr>
              <a:t> de </a:t>
            </a:r>
            <a:r>
              <a:rPr lang="en-US" altLang="es-AR" sz="1600" dirty="0" err="1">
                <a:solidFill>
                  <a:srgbClr val="FFFFFF"/>
                </a:solidFill>
              </a:rPr>
              <a:t>parada</a:t>
            </a:r>
            <a:r>
              <a:rPr lang="en-US" altLang="es-AR" sz="1600" dirty="0">
                <a:solidFill>
                  <a:srgbClr val="FFFFFF"/>
                </a:solidFill>
              </a:rPr>
              <a:t>. 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1600" dirty="0">
                <a:solidFill>
                  <a:srgbClr val="FFFFFF"/>
                </a:solidFill>
              </a:rPr>
              <a:t>El bit de </a:t>
            </a:r>
            <a:r>
              <a:rPr lang="en-US" altLang="es-AR" sz="1600" dirty="0" err="1">
                <a:solidFill>
                  <a:srgbClr val="FFFFFF"/>
                </a:solidFill>
              </a:rPr>
              <a:t>arranque</a:t>
            </a:r>
            <a:r>
              <a:rPr lang="en-US" altLang="es-AR" sz="1600" dirty="0">
                <a:solidFill>
                  <a:srgbClr val="FFFFFF"/>
                </a:solidFill>
              </a:rPr>
              <a:t> es </a:t>
            </a:r>
            <a:r>
              <a:rPr lang="en-US" altLang="es-AR" sz="1600" dirty="0" err="1">
                <a:solidFill>
                  <a:srgbClr val="FFFFFF"/>
                </a:solidFill>
              </a:rPr>
              <a:t>siempre</a:t>
            </a:r>
            <a:r>
              <a:rPr lang="en-US" altLang="es-AR" sz="1600" dirty="0">
                <a:solidFill>
                  <a:srgbClr val="FFFFFF"/>
                </a:solidFill>
              </a:rPr>
              <a:t> un 0 (space) – se </a:t>
            </a:r>
            <a:r>
              <a:rPr lang="en-US" altLang="es-AR" sz="1600" dirty="0" err="1">
                <a:solidFill>
                  <a:srgbClr val="FFFFFF"/>
                </a:solidFill>
              </a:rPr>
              <a:t>podria</a:t>
            </a:r>
            <a:r>
              <a:rPr lang="en-US" altLang="es-AR" sz="1600" dirty="0">
                <a:solidFill>
                  <a:srgbClr val="FFFFFF"/>
                </a:solidFill>
              </a:rPr>
              <a:t> </a:t>
            </a:r>
            <a:r>
              <a:rPr lang="en-US" altLang="es-AR" sz="1600" dirty="0" err="1">
                <a:solidFill>
                  <a:srgbClr val="FFFFFF"/>
                </a:solidFill>
              </a:rPr>
              <a:t>definir</a:t>
            </a:r>
            <a:r>
              <a:rPr lang="en-US" altLang="es-AR" sz="1600" dirty="0">
                <a:solidFill>
                  <a:srgbClr val="FFFFFF"/>
                </a:solidFill>
              </a:rPr>
              <a:t> lo </a:t>
            </a:r>
            <a:r>
              <a:rPr lang="en-US" altLang="es-AR" sz="1600" dirty="0" err="1">
                <a:solidFill>
                  <a:srgbClr val="FFFFFF"/>
                </a:solidFill>
              </a:rPr>
              <a:t>contrario</a:t>
            </a:r>
            <a:r>
              <a:rPr lang="en-US" altLang="es-AR" sz="1600" dirty="0">
                <a:solidFill>
                  <a:srgbClr val="FFFFFF"/>
                </a:solidFill>
              </a:rPr>
              <a:t>-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1600" dirty="0">
                <a:solidFill>
                  <a:srgbClr val="FFFFFF"/>
                </a:solidFill>
              </a:rPr>
              <a:t>El bit de </a:t>
            </a:r>
            <a:r>
              <a:rPr lang="en-US" altLang="es-AR" sz="1600" dirty="0" err="1">
                <a:solidFill>
                  <a:srgbClr val="FFFFFF"/>
                </a:solidFill>
              </a:rPr>
              <a:t>parada</a:t>
            </a:r>
            <a:r>
              <a:rPr lang="en-US" altLang="es-AR" sz="1600" dirty="0">
                <a:solidFill>
                  <a:srgbClr val="FFFFFF"/>
                </a:solidFill>
              </a:rPr>
              <a:t> es </a:t>
            </a:r>
            <a:r>
              <a:rPr lang="en-US" altLang="es-AR" sz="1600" dirty="0" err="1">
                <a:solidFill>
                  <a:srgbClr val="FFFFFF"/>
                </a:solidFill>
              </a:rPr>
              <a:t>siempre</a:t>
            </a:r>
            <a:r>
              <a:rPr lang="en-US" altLang="es-AR" sz="1600" dirty="0">
                <a:solidFill>
                  <a:srgbClr val="FFFFFF"/>
                </a:solidFill>
              </a:rPr>
              <a:t> un 1 (mark)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sz="1600" dirty="0">
              <a:solidFill>
                <a:srgbClr val="FFFFFF"/>
              </a:solidFill>
            </a:endParaRP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600" dirty="0">
                <a:solidFill>
                  <a:srgbClr val="FFFFFF"/>
                </a:solidFill>
              </a:rPr>
              <a:t>Los bits de </a:t>
            </a:r>
            <a:r>
              <a:rPr lang="en-US" altLang="es-AR" sz="1600" dirty="0" err="1">
                <a:solidFill>
                  <a:srgbClr val="FFFFFF"/>
                </a:solidFill>
              </a:rPr>
              <a:t>arranque</a:t>
            </a:r>
            <a:r>
              <a:rPr lang="en-US" altLang="es-AR" sz="1600" dirty="0">
                <a:solidFill>
                  <a:srgbClr val="FFFFFF"/>
                </a:solidFill>
              </a:rPr>
              <a:t> y </a:t>
            </a:r>
            <a:r>
              <a:rPr lang="en-US" altLang="es-AR" sz="1600" dirty="0" err="1">
                <a:solidFill>
                  <a:srgbClr val="FFFFFF"/>
                </a:solidFill>
              </a:rPr>
              <a:t>parada</a:t>
            </a:r>
            <a:r>
              <a:rPr lang="en-US" altLang="es-AR" sz="1600" dirty="0">
                <a:solidFill>
                  <a:srgbClr val="FFFFFF"/>
                </a:solidFill>
              </a:rPr>
              <a:t> </a:t>
            </a:r>
            <a:r>
              <a:rPr lang="en-US" altLang="es-AR" sz="1600" dirty="0" err="1">
                <a:solidFill>
                  <a:srgbClr val="FFFFFF"/>
                </a:solidFill>
              </a:rPr>
              <a:t>sumados</a:t>
            </a:r>
            <a:r>
              <a:rPr lang="en-US" altLang="es-AR" sz="1600" dirty="0">
                <a:solidFill>
                  <a:srgbClr val="FFFFFF"/>
                </a:solidFill>
              </a:rPr>
              <a:t> al bit de </a:t>
            </a:r>
            <a:r>
              <a:rPr lang="en-US" altLang="es-AR" sz="1600" dirty="0" err="1">
                <a:solidFill>
                  <a:srgbClr val="FFFFFF"/>
                </a:solidFill>
              </a:rPr>
              <a:t>paridad</a:t>
            </a:r>
            <a:r>
              <a:rPr lang="en-US" altLang="es-AR" sz="1600" dirty="0">
                <a:solidFill>
                  <a:srgbClr val="FFFFFF"/>
                </a:solidFill>
              </a:rPr>
              <a:t>, </a:t>
            </a:r>
            <a:r>
              <a:rPr lang="en-US" altLang="es-AR" sz="1600" dirty="0" err="1">
                <a:solidFill>
                  <a:srgbClr val="FFFFFF"/>
                </a:solidFill>
              </a:rPr>
              <a:t>resultan</a:t>
            </a:r>
            <a:r>
              <a:rPr lang="en-US" altLang="es-AR" sz="1600" dirty="0">
                <a:solidFill>
                  <a:srgbClr val="FFFFFF"/>
                </a:solidFill>
              </a:rPr>
              <a:t> </a:t>
            </a:r>
            <a:r>
              <a:rPr lang="en-US" altLang="es-AR" sz="1600" dirty="0" err="1">
                <a:solidFill>
                  <a:srgbClr val="FFFFFF"/>
                </a:solidFill>
              </a:rPr>
              <a:t>en</a:t>
            </a:r>
            <a:r>
              <a:rPr lang="en-US" altLang="es-AR" sz="1600" dirty="0">
                <a:solidFill>
                  <a:srgbClr val="FFFFFF"/>
                </a:solidFill>
              </a:rPr>
              <a:t> un overhead del 30 % </a:t>
            </a:r>
            <a:r>
              <a:rPr lang="en-US" altLang="es-AR" sz="1600" dirty="0" err="1">
                <a:solidFill>
                  <a:srgbClr val="FFFFFF"/>
                </a:solidFill>
              </a:rPr>
              <a:t>usando</a:t>
            </a:r>
            <a:r>
              <a:rPr lang="en-US" altLang="es-AR" sz="1600" dirty="0">
                <a:solidFill>
                  <a:srgbClr val="FFFFFF"/>
                </a:solidFill>
              </a:rPr>
              <a:t> </a:t>
            </a:r>
            <a:r>
              <a:rPr lang="en-US" altLang="es-AR" sz="1600" dirty="0" err="1">
                <a:solidFill>
                  <a:srgbClr val="FFFFFF"/>
                </a:solidFill>
              </a:rPr>
              <a:t>código</a:t>
            </a:r>
            <a:r>
              <a:rPr lang="en-US" altLang="es-AR" sz="1600" dirty="0">
                <a:solidFill>
                  <a:srgbClr val="FFFFFF"/>
                </a:solidFill>
              </a:rPr>
              <a:t> ASCII.</a:t>
            </a:r>
          </a:p>
          <a:p>
            <a:pPr marL="0">
              <a:spcBef>
                <a:spcPct val="0"/>
              </a:spcBef>
              <a:spcAft>
                <a:spcPts val="600"/>
              </a:spcAft>
            </a:pPr>
            <a:endParaRPr lang="en-US" altLang="es-AR" sz="1600" dirty="0">
              <a:solidFill>
                <a:srgbClr val="FFFFFF"/>
              </a:solidFill>
            </a:endParaRP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600" dirty="0" err="1">
                <a:solidFill>
                  <a:srgbClr val="FFFFFF"/>
                </a:solidFill>
              </a:rPr>
              <a:t>También</a:t>
            </a:r>
            <a:r>
              <a:rPr lang="en-US" altLang="es-AR" sz="1600" dirty="0">
                <a:solidFill>
                  <a:srgbClr val="FFFFFF"/>
                </a:solidFill>
              </a:rPr>
              <a:t> se la </a:t>
            </a:r>
            <a:r>
              <a:rPr lang="en-US" altLang="es-AR" sz="1600" dirty="0" err="1">
                <a:solidFill>
                  <a:srgbClr val="FFFFFF"/>
                </a:solidFill>
              </a:rPr>
              <a:t>conoce</a:t>
            </a:r>
            <a:r>
              <a:rPr lang="en-US" altLang="es-AR" sz="1600" dirty="0">
                <a:solidFill>
                  <a:srgbClr val="FFFFFF"/>
                </a:solidFill>
              </a:rPr>
              <a:t> </a:t>
            </a:r>
            <a:r>
              <a:rPr lang="en-US" altLang="es-AR" sz="1600" dirty="0" err="1">
                <a:solidFill>
                  <a:srgbClr val="FFFFFF"/>
                </a:solidFill>
              </a:rPr>
              <a:t>como</a:t>
            </a:r>
            <a:r>
              <a:rPr lang="en-US" altLang="es-AR" sz="1600" dirty="0">
                <a:solidFill>
                  <a:srgbClr val="FFFFFF"/>
                </a:solidFill>
              </a:rPr>
              <a:t> start-stop transmission</a:t>
            </a:r>
          </a:p>
          <a:p>
            <a:pPr marL="0">
              <a:spcBef>
                <a:spcPct val="0"/>
              </a:spcBef>
              <a:spcAft>
                <a:spcPts val="600"/>
              </a:spcAft>
            </a:pPr>
            <a:endParaRPr lang="en-US" altLang="es-AR" sz="1600" dirty="0">
              <a:solidFill>
                <a:srgbClr val="FFFFFF"/>
              </a:solidFill>
            </a:endParaRP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600" dirty="0">
                <a:solidFill>
                  <a:srgbClr val="FFFFFF"/>
                </a:solidFill>
              </a:rPr>
              <a:t>Se </a:t>
            </a:r>
            <a:r>
              <a:rPr lang="en-US" altLang="es-AR" sz="1600" dirty="0" err="1">
                <a:solidFill>
                  <a:srgbClr val="FFFFFF"/>
                </a:solidFill>
              </a:rPr>
              <a:t>usa</a:t>
            </a:r>
            <a:r>
              <a:rPr lang="en-US" altLang="es-AR" sz="1600" dirty="0">
                <a:solidFill>
                  <a:srgbClr val="FFFFFF"/>
                </a:solidFill>
              </a:rPr>
              <a:t> </a:t>
            </a:r>
            <a:r>
              <a:rPr lang="en-US" altLang="es-AR" sz="1600" dirty="0" err="1">
                <a:solidFill>
                  <a:srgbClr val="FFFFFF"/>
                </a:solidFill>
              </a:rPr>
              <a:t>en</a:t>
            </a:r>
            <a:r>
              <a:rPr lang="en-US" altLang="es-AR" sz="1600" dirty="0">
                <a:solidFill>
                  <a:srgbClr val="FFFFFF"/>
                </a:solidFill>
              </a:rPr>
              <a:t> </a:t>
            </a:r>
            <a:r>
              <a:rPr lang="en-US" altLang="es-AR" sz="1600" dirty="0" err="1">
                <a:solidFill>
                  <a:srgbClr val="FFFFFF"/>
                </a:solidFill>
              </a:rPr>
              <a:t>terminales</a:t>
            </a:r>
            <a:r>
              <a:rPr lang="en-US" altLang="es-AR" sz="1600" dirty="0">
                <a:solidFill>
                  <a:srgbClr val="FFFFFF"/>
                </a:solidFill>
              </a:rPr>
              <a:t> </a:t>
            </a:r>
            <a:r>
              <a:rPr lang="en-US" altLang="es-AR" sz="1600" dirty="0" err="1">
                <a:solidFill>
                  <a:srgbClr val="FFFFFF"/>
                </a:solidFill>
              </a:rPr>
              <a:t>tipo</a:t>
            </a:r>
            <a:r>
              <a:rPr lang="en-US" altLang="es-AR" sz="1600" dirty="0">
                <a:solidFill>
                  <a:srgbClr val="FFFFFF"/>
                </a:solidFill>
              </a:rPr>
              <a:t> dumb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sz="1600" dirty="0">
              <a:solidFill>
                <a:srgbClr val="FFFFFF"/>
              </a:solidFill>
            </a:endParaRP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600" dirty="0">
                <a:solidFill>
                  <a:srgbClr val="FFFFFF"/>
                </a:solidFill>
              </a:rPr>
              <a:t>Se le </a:t>
            </a:r>
            <a:r>
              <a:rPr lang="en-US" altLang="es-AR" sz="1600" dirty="0" err="1">
                <a:solidFill>
                  <a:srgbClr val="FFFFFF"/>
                </a:solidFill>
              </a:rPr>
              <a:t>puede</a:t>
            </a:r>
            <a:r>
              <a:rPr lang="en-US" altLang="es-AR" sz="1600" dirty="0">
                <a:solidFill>
                  <a:srgbClr val="FFFFFF"/>
                </a:solidFill>
              </a:rPr>
              <a:t> </a:t>
            </a:r>
            <a:r>
              <a:rPr lang="en-US" altLang="es-AR" sz="1600" dirty="0" err="1">
                <a:solidFill>
                  <a:srgbClr val="FFFFFF"/>
                </a:solidFill>
              </a:rPr>
              <a:t>sumar</a:t>
            </a:r>
            <a:r>
              <a:rPr lang="en-US" altLang="es-AR" sz="1600" dirty="0">
                <a:solidFill>
                  <a:srgbClr val="FFFFFF"/>
                </a:solidFill>
              </a:rPr>
              <a:t> un bit de </a:t>
            </a:r>
            <a:r>
              <a:rPr lang="en-US" altLang="es-AR" sz="1600" dirty="0" err="1">
                <a:solidFill>
                  <a:srgbClr val="FFFFFF"/>
                </a:solidFill>
              </a:rPr>
              <a:t>paridad</a:t>
            </a:r>
            <a:r>
              <a:rPr lang="en-US" altLang="es-AR" sz="16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6794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>
            <a:off x="838200" y="963877"/>
            <a:ext cx="3494362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en-US" sz="44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Transmisión sincrónica</a:t>
            </a:r>
          </a:p>
          <a:p>
            <a:pPr marL="0" indent="0" algn="r">
              <a:spcBef>
                <a:spcPct val="0"/>
              </a:spcBef>
              <a:buNone/>
            </a:pPr>
            <a:endParaRPr lang="en-US" sz="4400" kern="12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algn="r">
              <a:spcBef>
                <a:spcPct val="0"/>
              </a:spcBef>
              <a:buNone/>
            </a:pPr>
            <a:endParaRPr lang="en-US" sz="4400" kern="12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1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/>
              <a:t>Soporta la transmisión en modalidad bloque.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/>
              <a:t>No usa bit de arranque ni parade, pero si caracteres. 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/>
              <a:t>La sincronización entre el transmisor y el receptor se realiza mediante </a:t>
            </a:r>
            <a:r>
              <a:rPr lang="en-US" altLang="es-AR" b="1"/>
              <a:t>caracteres</a:t>
            </a:r>
            <a:r>
              <a:rPr lang="en-US" altLang="es-AR"/>
              <a:t> de sincronización. 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/>
              <a:t>Se usa en terminales “inteligentes” 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/>
              <a:t>Los datos que ingresa el usuario se almacenan en la terminal 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/>
              <a:t>Cuando se completa la entrada, el usuario presiona enter o send y todos los datos se transmiten en un bloque.</a:t>
            </a:r>
          </a:p>
        </p:txBody>
      </p:sp>
    </p:spTree>
    <p:extLst>
      <p:ext uri="{BB962C8B-B14F-4D97-AF65-F5344CB8AC3E}">
        <p14:creationId xmlns:p14="http://schemas.microsoft.com/office/powerpoint/2010/main" val="14602634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ACBE1851-2230-47A9-B000-CE9046EA6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ítulo 2"/>
          <p:cNvSpPr txBox="1">
            <a:spLocks/>
          </p:cNvSpPr>
          <p:nvPr/>
        </p:nvSpPr>
        <p:spPr>
          <a:xfrm>
            <a:off x="634276" y="803705"/>
            <a:ext cx="4208656" cy="30348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Carácter inicio y fin</a:t>
            </a:r>
          </a:p>
          <a:p>
            <a:pPr marL="0" indent="0" algn="r">
              <a:spcBef>
                <a:spcPct val="0"/>
              </a:spcBef>
              <a:buNone/>
            </a:pPr>
            <a:endParaRPr lang="en-US" sz="5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>
              <a:spcBef>
                <a:spcPct val="0"/>
              </a:spcBef>
              <a:buNone/>
            </a:pPr>
            <a:endParaRPr lang="en-US" sz="5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638921" y="4013165"/>
            <a:ext cx="4204012" cy="22057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1" indent="0" algn="r">
              <a:spcBef>
                <a:spcPts val="1000"/>
              </a:spcBef>
              <a:buClr>
                <a:srgbClr val="000000"/>
              </a:buClr>
              <a:buNone/>
            </a:pPr>
            <a:r>
              <a:rPr lang="en-US" altLang="es-AR" sz="15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Supera el problema de resincronización al hacer que cada bloque comience con una secuencia de caracteres ASCII, DLE, STX y termine con una secuencia DLE ETX</a:t>
            </a:r>
          </a:p>
          <a:p>
            <a:pPr marL="0" lvl="1" indent="0" algn="r">
              <a:spcBef>
                <a:spcPts val="1000"/>
              </a:spcBef>
              <a:buClr>
                <a:srgbClr val="000000"/>
              </a:buClr>
              <a:buNone/>
            </a:pPr>
            <a:endParaRPr lang="en-US" altLang="es-AR" sz="15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lvl="1" indent="0" algn="r">
              <a:spcBef>
                <a:spcPts val="1000"/>
              </a:spcBef>
              <a:buClr>
                <a:srgbClr val="000000"/>
              </a:buClr>
              <a:buNone/>
            </a:pPr>
            <a:r>
              <a:rPr lang="en-US" altLang="es-AR" sz="15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Cuando se transmiten datos binarios, como programas objeto o números de punto flotante, puede ocurrir que los caracteres correspondientes a DLE STX o a DLE ETX ocurran en los datos.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3B93832-6514-44F4-849B-5EE2C8A23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6679" y="3928939"/>
            <a:ext cx="3931920" cy="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D4FD6DA3-7A06-4994-A921-0DA4D7DA2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800" y="1428302"/>
            <a:ext cx="6351655" cy="393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9672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838200" y="963877"/>
            <a:ext cx="3494362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en-US" sz="44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Protocolo orientados a caracter</a:t>
            </a:r>
          </a:p>
          <a:p>
            <a:pPr marL="0" indent="0" algn="r">
              <a:spcBef>
                <a:spcPct val="0"/>
              </a:spcBef>
              <a:buNone/>
            </a:pPr>
            <a:endParaRPr lang="en-US" sz="4400" kern="12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algn="r">
              <a:spcBef>
                <a:spcPct val="0"/>
              </a:spcBef>
              <a:buNone/>
            </a:pPr>
            <a:endParaRPr lang="en-US" sz="4400" kern="12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40965" name="Straight Connector 73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3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 err="1"/>
              <a:t>Basados</a:t>
            </a:r>
            <a:r>
              <a:rPr lang="en-US" altLang="es-AR" dirty="0"/>
              <a:t> </a:t>
            </a:r>
            <a:r>
              <a:rPr lang="en-US" altLang="es-AR" dirty="0" err="1"/>
              <a:t>en</a:t>
            </a:r>
            <a:r>
              <a:rPr lang="en-US" altLang="es-AR" dirty="0"/>
              <a:t> </a:t>
            </a:r>
            <a:r>
              <a:rPr lang="en-US" altLang="es-AR" dirty="0" err="1"/>
              <a:t>juegos</a:t>
            </a:r>
            <a:r>
              <a:rPr lang="en-US" altLang="es-AR" dirty="0"/>
              <a:t> de </a:t>
            </a:r>
            <a:r>
              <a:rPr lang="en-US" altLang="es-AR" dirty="0" err="1"/>
              <a:t>caracteres</a:t>
            </a:r>
            <a:r>
              <a:rPr lang="en-US" altLang="es-AR" dirty="0"/>
              <a:t> (</a:t>
            </a:r>
            <a:r>
              <a:rPr lang="en-US" altLang="es-AR" dirty="0" err="1"/>
              <a:t>alfabetos</a:t>
            </a:r>
            <a:r>
              <a:rPr lang="en-US" altLang="es-AR" dirty="0"/>
              <a:t>)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 err="1"/>
              <a:t>Anteriores</a:t>
            </a:r>
            <a:r>
              <a:rPr lang="en-US" altLang="es-AR" dirty="0"/>
              <a:t> a las </a:t>
            </a:r>
            <a:r>
              <a:rPr lang="en-US" altLang="es-AR" dirty="0" err="1"/>
              <a:t>arquitecturas</a:t>
            </a:r>
            <a:r>
              <a:rPr lang="en-US" altLang="es-AR" dirty="0"/>
              <a:t> de </a:t>
            </a:r>
            <a:r>
              <a:rPr lang="en-US" altLang="es-AR" dirty="0" err="1"/>
              <a:t>Comunicación</a:t>
            </a:r>
            <a:r>
              <a:rPr lang="en-US" altLang="es-AR" dirty="0"/>
              <a:t> </a:t>
            </a:r>
            <a:r>
              <a:rPr lang="en-US" altLang="es-AR" dirty="0" err="1"/>
              <a:t>Generales</a:t>
            </a:r>
            <a:endParaRPr lang="en-US" altLang="es-AR" dirty="0"/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800" b="1" dirty="0" err="1"/>
              <a:t>Limitaciones</a:t>
            </a:r>
            <a:endParaRPr lang="en-US" altLang="es-AR" sz="2800" b="1" dirty="0"/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 dirty="0" err="1"/>
              <a:t>Limitados</a:t>
            </a:r>
            <a:r>
              <a:rPr lang="en-US" altLang="es-AR" sz="2400" dirty="0"/>
              <a:t> a un </a:t>
            </a:r>
            <a:r>
              <a:rPr lang="en-US" altLang="es-AR" sz="2400" dirty="0" err="1"/>
              <a:t>alfabeto</a:t>
            </a:r>
            <a:r>
              <a:rPr lang="en-US" altLang="es-AR" sz="2400" dirty="0"/>
              <a:t> (ASCII, EBCDIC...)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 dirty="0" err="1"/>
              <a:t>Detección</a:t>
            </a:r>
            <a:r>
              <a:rPr lang="en-US" altLang="es-AR" sz="2400" dirty="0"/>
              <a:t> de </a:t>
            </a:r>
            <a:r>
              <a:rPr lang="en-US" altLang="es-AR" sz="2400" dirty="0" err="1"/>
              <a:t>errores</a:t>
            </a:r>
            <a:r>
              <a:rPr lang="en-US" altLang="es-AR" sz="2400" dirty="0"/>
              <a:t> </a:t>
            </a:r>
            <a:r>
              <a:rPr lang="en-US" altLang="es-AR" sz="2400" dirty="0" err="1"/>
              <a:t>rudimentarios</a:t>
            </a:r>
            <a:r>
              <a:rPr lang="en-US" altLang="es-AR" sz="2400" dirty="0"/>
              <a:t> (</a:t>
            </a:r>
            <a:r>
              <a:rPr lang="en-US" altLang="es-AR" sz="2400" dirty="0" err="1"/>
              <a:t>paridades</a:t>
            </a:r>
            <a:r>
              <a:rPr lang="en-US" altLang="es-AR" sz="2400" dirty="0"/>
              <a:t>)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 dirty="0" err="1"/>
              <a:t>Poco</a:t>
            </a:r>
            <a:r>
              <a:rPr lang="en-US" altLang="es-AR" sz="2400" dirty="0"/>
              <a:t> flexibles </a:t>
            </a:r>
          </a:p>
        </p:txBody>
      </p:sp>
    </p:spTree>
    <p:extLst>
      <p:ext uri="{BB962C8B-B14F-4D97-AF65-F5344CB8AC3E}">
        <p14:creationId xmlns:p14="http://schemas.microsoft.com/office/powerpoint/2010/main" val="14688700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838200" y="963877"/>
            <a:ext cx="3494362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en-US" sz="44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Protocolos orientados a bit</a:t>
            </a:r>
          </a:p>
          <a:p>
            <a:pPr algn="r">
              <a:spcBef>
                <a:spcPct val="0"/>
              </a:spcBef>
              <a:buNone/>
            </a:pPr>
            <a:endParaRPr lang="en-US" sz="4400" kern="12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87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/>
              <a:t>Respuesta a las </a:t>
            </a:r>
            <a:r>
              <a:rPr lang="en-US" altLang="es-AR" dirty="0" err="1"/>
              <a:t>limitaciones</a:t>
            </a:r>
            <a:r>
              <a:rPr lang="en-US" altLang="es-AR" dirty="0"/>
              <a:t> de los </a:t>
            </a:r>
            <a:r>
              <a:rPr lang="en-US" altLang="es-AR" dirty="0" err="1"/>
              <a:t>protocolos</a:t>
            </a:r>
            <a:r>
              <a:rPr lang="en-US" altLang="es-AR" dirty="0"/>
              <a:t> </a:t>
            </a:r>
            <a:r>
              <a:rPr lang="en-US" altLang="es-AR" dirty="0" err="1"/>
              <a:t>orientados</a:t>
            </a:r>
            <a:r>
              <a:rPr lang="en-US" altLang="es-AR" dirty="0"/>
              <a:t> a </a:t>
            </a:r>
            <a:r>
              <a:rPr lang="en-US" altLang="es-AR" dirty="0" err="1"/>
              <a:t>caracter</a:t>
            </a:r>
            <a:endParaRPr lang="en-US" altLang="es-AR" dirty="0"/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800" b="1" dirty="0" err="1"/>
              <a:t>Objetivos</a:t>
            </a:r>
            <a:endParaRPr lang="en-US" altLang="es-AR" sz="2800" b="1" dirty="0"/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 dirty="0" err="1"/>
              <a:t>Independencia</a:t>
            </a:r>
            <a:r>
              <a:rPr lang="en-US" altLang="es-AR" sz="2400" dirty="0"/>
              <a:t> del </a:t>
            </a:r>
            <a:r>
              <a:rPr lang="en-US" altLang="es-AR" sz="2400" dirty="0" err="1"/>
              <a:t>alfabeto</a:t>
            </a:r>
            <a:endParaRPr lang="en-US" altLang="es-AR" sz="2400" dirty="0"/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 dirty="0" err="1"/>
              <a:t>Flexibilidad</a:t>
            </a:r>
            <a:r>
              <a:rPr lang="en-US" altLang="es-AR" sz="2400" dirty="0"/>
              <a:t> </a:t>
            </a:r>
            <a:r>
              <a:rPr lang="en-US" altLang="es-AR" sz="2400" dirty="0" err="1"/>
              <a:t>en</a:t>
            </a:r>
            <a:r>
              <a:rPr lang="en-US" altLang="es-AR" sz="2400" dirty="0"/>
              <a:t> </a:t>
            </a:r>
            <a:r>
              <a:rPr lang="en-US" altLang="es-AR" sz="2400" dirty="0" err="1"/>
              <a:t>configuraciones</a:t>
            </a:r>
            <a:r>
              <a:rPr lang="en-US" altLang="es-AR" sz="2400" dirty="0"/>
              <a:t>, </a:t>
            </a:r>
            <a:r>
              <a:rPr lang="en-US" altLang="es-AR" sz="2400" dirty="0" err="1"/>
              <a:t>aplicaciones</a:t>
            </a:r>
            <a:r>
              <a:rPr lang="en-US" altLang="es-AR" sz="2400" dirty="0"/>
              <a:t> y </a:t>
            </a:r>
            <a:r>
              <a:rPr lang="en-US" altLang="es-AR" sz="2400" dirty="0" err="1"/>
              <a:t>grado</a:t>
            </a:r>
            <a:r>
              <a:rPr lang="en-US" altLang="es-AR" sz="2400" dirty="0"/>
              <a:t> de </a:t>
            </a:r>
            <a:r>
              <a:rPr lang="en-US" altLang="es-AR" sz="2400" dirty="0" err="1"/>
              <a:t>sofisticación</a:t>
            </a:r>
            <a:endParaRPr lang="en-US" altLang="es-AR" sz="2400" dirty="0"/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 dirty="0" err="1"/>
              <a:t>Detección</a:t>
            </a:r>
            <a:r>
              <a:rPr lang="en-US" altLang="es-AR" sz="2400" dirty="0"/>
              <a:t> de </a:t>
            </a:r>
            <a:r>
              <a:rPr lang="en-US" altLang="es-AR" sz="2400" dirty="0" err="1"/>
              <a:t>errores</a:t>
            </a:r>
            <a:r>
              <a:rPr lang="en-US" altLang="es-AR" sz="2400" dirty="0"/>
              <a:t> </a:t>
            </a:r>
            <a:r>
              <a:rPr lang="en-US" altLang="es-AR" sz="2400" dirty="0" err="1"/>
              <a:t>sofisticada</a:t>
            </a:r>
            <a:r>
              <a:rPr lang="en-US" altLang="es-AR" sz="2400" dirty="0"/>
              <a:t> (</a:t>
            </a:r>
            <a:r>
              <a:rPr lang="en-US" altLang="es-AR" sz="2400" dirty="0" err="1"/>
              <a:t>códigos</a:t>
            </a:r>
            <a:r>
              <a:rPr lang="en-US" altLang="es-AR" sz="2400" dirty="0"/>
              <a:t> </a:t>
            </a:r>
            <a:r>
              <a:rPr lang="en-US" altLang="es-AR" sz="2400" dirty="0" err="1"/>
              <a:t>cíclicos</a:t>
            </a:r>
            <a:r>
              <a:rPr lang="en-US" altLang="es-AR" sz="2400" dirty="0"/>
              <a:t> - CRC)</a:t>
            </a:r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 dirty="0"/>
              <a:t>Alto </a:t>
            </a:r>
            <a:r>
              <a:rPr lang="en-US" altLang="es-AR" sz="2400" dirty="0" err="1"/>
              <a:t>rendimiento</a:t>
            </a:r>
            <a:endParaRPr lang="en-US" altLang="es-AR" sz="2400" dirty="0"/>
          </a:p>
          <a:p>
            <a:pPr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endParaRPr lang="en-US" altLang="es-AR" sz="2400" dirty="0"/>
          </a:p>
        </p:txBody>
      </p:sp>
    </p:spTree>
    <p:extLst>
      <p:ext uri="{BB962C8B-B14F-4D97-AF65-F5344CB8AC3E}">
        <p14:creationId xmlns:p14="http://schemas.microsoft.com/office/powerpoint/2010/main" val="29107827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654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524256" y="4767072"/>
            <a:ext cx="6594189" cy="1625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en-US" sz="44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Inicio y fin, y bits de relleno</a:t>
            </a:r>
          </a:p>
          <a:p>
            <a:pPr marL="0" indent="0" algn="r">
              <a:spcBef>
                <a:spcPct val="0"/>
              </a:spcBef>
              <a:buNone/>
            </a:pPr>
            <a:endParaRPr lang="en-US" sz="44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>
              <a:spcBef>
                <a:spcPct val="0"/>
              </a:spcBef>
              <a:buNone/>
            </a:pPr>
            <a:endParaRPr lang="en-US" sz="44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B4EC1D1-D432-4499-83A9-637C85F1F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3086" r="-3086" b="349"/>
          <a:stretch/>
        </p:blipFill>
        <p:spPr>
          <a:xfrm>
            <a:off x="327547" y="321733"/>
            <a:ext cx="7058306" cy="4107392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8029319" y="917725"/>
            <a:ext cx="3424739" cy="48523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400">
                <a:solidFill>
                  <a:srgbClr val="FFFFFF"/>
                </a:solidFill>
              </a:rPr>
              <a:t>Los datos tienen un número arbitrario de bits y admite códigos de caracteres con un número arbitrario de bits por carácter.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sz="1400">
              <a:solidFill>
                <a:srgbClr val="FFFFFF"/>
              </a:solidFill>
            </a:endParaRP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400">
                <a:solidFill>
                  <a:srgbClr val="FFFFFF"/>
                </a:solidFill>
              </a:rPr>
              <a:t>Una trama comienza con un número especial de Bits 01111110 llamado bandera (Código 7E)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sz="1400">
              <a:solidFill>
                <a:srgbClr val="FFFFFF"/>
              </a:solidFill>
            </a:endParaRP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400">
                <a:solidFill>
                  <a:srgbClr val="FFFFFF"/>
                </a:solidFill>
              </a:rPr>
              <a:t>Cada vez que la capa de enlace de datos del transmisor encuentra 5 unos consecutivos en los datos, automáticamente inserta un bit 0 en la cadena de bits, llamados bits de relleno (Bit Stuffing)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sz="1400">
              <a:solidFill>
                <a:srgbClr val="FFFFFF"/>
              </a:solidFill>
            </a:endParaRP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400">
                <a:solidFill>
                  <a:srgbClr val="FFFFFF"/>
                </a:solidFill>
              </a:rPr>
              <a:t>Cuando el receptor ve cinco bits 1 de entrada consecutivos seguidos de un bit 0, automáticamente borra el bit 0 de relleno</a:t>
            </a:r>
          </a:p>
        </p:txBody>
      </p:sp>
    </p:spTree>
    <p:extLst>
      <p:ext uri="{BB962C8B-B14F-4D97-AF65-F5344CB8AC3E}">
        <p14:creationId xmlns:p14="http://schemas.microsoft.com/office/powerpoint/2010/main" val="27419160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838200" y="963877"/>
            <a:ext cx="3494362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en-US" sz="44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Inicio y fin, y bits de relleno</a:t>
            </a:r>
          </a:p>
          <a:p>
            <a:pPr marL="0" indent="0" algn="r">
              <a:spcBef>
                <a:spcPct val="0"/>
              </a:spcBef>
              <a:buNone/>
            </a:pPr>
            <a:endParaRPr lang="en-US" sz="4400" kern="12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algn="r">
              <a:spcBef>
                <a:spcPct val="0"/>
              </a:spcBef>
              <a:buNone/>
            </a:pPr>
            <a:endParaRPr lang="en-US" sz="4400" kern="12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58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/>
              <a:t>Con el relleno de bits , el límite entre las tramas puede reconocerse sin ambigüedad mediante la bandera.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/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/>
              <a:t>Si el receptor pierde la pista de donde está debe explorar la entrada en busca de banderas pues estas están presentes en los límites de las tramas no en los datos.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/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/>
              <a:t>Si lo datos de usuario contienen el patrón indicador 01111110 se transmite como 011111010 pero se almacena en la memoria del receptor como: 01111110</a:t>
            </a:r>
          </a:p>
        </p:txBody>
      </p:sp>
    </p:spTree>
    <p:extLst>
      <p:ext uri="{BB962C8B-B14F-4D97-AF65-F5344CB8AC3E}">
        <p14:creationId xmlns:p14="http://schemas.microsoft.com/office/powerpoint/2010/main" val="370367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D2C4BFA1-2075-4901-9E24-E41D1FDD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73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sp>
        <p:nvSpPr>
          <p:cNvPr id="46083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1524000" y="4495800"/>
            <a:ext cx="9144000" cy="762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altLang="es-AR" sz="1800" dirty="0" err="1"/>
              <a:t>D</a:t>
            </a:r>
            <a:r>
              <a:rPr lang="en-US" altLang="es-AR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efiniciones</a:t>
            </a:r>
            <a:r>
              <a:rPr lang="en-US" altLang="es-A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</a:t>
            </a:r>
            <a:r>
              <a:rPr lang="en-US" altLang="es-AR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Características</a:t>
            </a:r>
            <a:endParaRPr lang="en-US" altLang="es-AR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53FB2EE-284F-4C87-AB3D-BBF87A9F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082" name="Rectangle 1"/>
          <p:cNvSpPr>
            <a:spLocks noGrp="1" noChangeArrowheads="1"/>
          </p:cNvSpPr>
          <p:nvPr>
            <p:ph type="ctrTitle" idx="4294967295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s-AR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Códigos detección errores</a:t>
            </a:r>
          </a:p>
        </p:txBody>
      </p:sp>
    </p:spTree>
    <p:extLst>
      <p:ext uri="{BB962C8B-B14F-4D97-AF65-F5344CB8AC3E}">
        <p14:creationId xmlns:p14="http://schemas.microsoft.com/office/powerpoint/2010/main" val="13396298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/>
        </p:nvSpPr>
        <p:spPr>
          <a:xfrm>
            <a:off x="6094105" y="802955"/>
            <a:ext cx="4977976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400" kern="120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Que hacer con los errores</a:t>
            </a:r>
          </a:p>
          <a:p>
            <a:pPr marL="0" indent="0">
              <a:spcBef>
                <a:spcPct val="0"/>
              </a:spcBef>
              <a:buNone/>
            </a:pPr>
            <a:endParaRPr lang="en-US" sz="4400" kern="1200">
              <a:solidFill>
                <a:srgbClr val="000000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buNone/>
            </a:pPr>
            <a:endParaRPr lang="en-US" sz="4400" kern="1200">
              <a:solidFill>
                <a:srgbClr val="0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8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B9851197-3EC2-4786-9D7B-5AF456211D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254" y="1629089"/>
            <a:ext cx="3620021" cy="3620021"/>
          </a:xfrm>
          <a:prstGeom prst="rect">
            <a:avLst/>
          </a:prstGeom>
        </p:spPr>
      </p:pic>
      <p:sp>
        <p:nvSpPr>
          <p:cNvPr id="47107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6090573" y="1764146"/>
            <a:ext cx="5759681" cy="42968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 err="1">
                <a:solidFill>
                  <a:srgbClr val="000000"/>
                </a:solidFill>
              </a:rPr>
              <a:t>Códigos</a:t>
            </a:r>
            <a:r>
              <a:rPr lang="en-US" altLang="es-AR" dirty="0">
                <a:solidFill>
                  <a:srgbClr val="000000"/>
                </a:solidFill>
              </a:rPr>
              <a:t> de </a:t>
            </a:r>
            <a:r>
              <a:rPr lang="en-US" altLang="es-AR" dirty="0" err="1">
                <a:solidFill>
                  <a:srgbClr val="000000"/>
                </a:solidFill>
              </a:rPr>
              <a:t>detección</a:t>
            </a:r>
            <a:r>
              <a:rPr lang="en-US" altLang="es-AR" dirty="0">
                <a:solidFill>
                  <a:srgbClr val="000000"/>
                </a:solidFill>
              </a:rPr>
              <a:t> de </a:t>
            </a:r>
            <a:r>
              <a:rPr lang="en-US" altLang="es-AR" dirty="0" err="1">
                <a:solidFill>
                  <a:srgbClr val="000000"/>
                </a:solidFill>
              </a:rPr>
              <a:t>errores</a:t>
            </a:r>
            <a:endParaRPr lang="en-US" altLang="es-AR" dirty="0">
              <a:solidFill>
                <a:srgbClr val="000000"/>
              </a:solidFill>
            </a:endParaRP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400" dirty="0" err="1">
                <a:solidFill>
                  <a:srgbClr val="000000"/>
                </a:solidFill>
              </a:rPr>
              <a:t>Envían</a:t>
            </a:r>
            <a:r>
              <a:rPr lang="en-US" altLang="es-AR" sz="2400" dirty="0">
                <a:solidFill>
                  <a:srgbClr val="000000"/>
                </a:solidFill>
              </a:rPr>
              <a:t> </a:t>
            </a:r>
            <a:r>
              <a:rPr lang="en-US" altLang="es-AR" sz="2400" dirty="0" err="1">
                <a:solidFill>
                  <a:srgbClr val="000000"/>
                </a:solidFill>
              </a:rPr>
              <a:t>información</a:t>
            </a:r>
            <a:r>
              <a:rPr lang="en-US" altLang="es-AR" sz="2400" dirty="0">
                <a:solidFill>
                  <a:srgbClr val="000000"/>
                </a:solidFill>
              </a:rPr>
              <a:t> junto con los </a:t>
            </a:r>
            <a:r>
              <a:rPr lang="en-US" altLang="es-AR" sz="2400" dirty="0" err="1">
                <a:solidFill>
                  <a:srgbClr val="000000"/>
                </a:solidFill>
              </a:rPr>
              <a:t>datos</a:t>
            </a:r>
            <a:r>
              <a:rPr lang="en-US" altLang="es-AR" sz="2400" dirty="0">
                <a:solidFill>
                  <a:srgbClr val="000000"/>
                </a:solidFill>
              </a:rPr>
              <a:t> que </a:t>
            </a:r>
            <a:r>
              <a:rPr lang="en-US" altLang="es-AR" sz="2400" dirty="0" err="1">
                <a:solidFill>
                  <a:srgbClr val="000000"/>
                </a:solidFill>
              </a:rPr>
              <a:t>permite</a:t>
            </a:r>
            <a:r>
              <a:rPr lang="en-US" altLang="es-AR" sz="2400" dirty="0">
                <a:solidFill>
                  <a:srgbClr val="000000"/>
                </a:solidFill>
              </a:rPr>
              <a:t> </a:t>
            </a:r>
            <a:r>
              <a:rPr lang="en-US" altLang="es-AR" sz="2400" dirty="0" err="1">
                <a:solidFill>
                  <a:srgbClr val="000000"/>
                </a:solidFill>
              </a:rPr>
              <a:t>deducir</a:t>
            </a:r>
            <a:r>
              <a:rPr lang="en-US" altLang="es-AR" sz="2400" dirty="0">
                <a:solidFill>
                  <a:srgbClr val="000000"/>
                </a:solidFill>
              </a:rPr>
              <a:t> que </a:t>
            </a:r>
            <a:r>
              <a:rPr lang="en-US" altLang="es-AR" sz="2400" dirty="0" err="1">
                <a:solidFill>
                  <a:srgbClr val="000000"/>
                </a:solidFill>
              </a:rPr>
              <a:t>ocurrió</a:t>
            </a:r>
            <a:r>
              <a:rPr lang="en-US" altLang="es-AR" sz="2400" dirty="0">
                <a:solidFill>
                  <a:srgbClr val="000000"/>
                </a:solidFill>
              </a:rPr>
              <a:t> un error, </a:t>
            </a:r>
            <a:r>
              <a:rPr lang="en-US" altLang="es-AR" sz="2400" dirty="0" err="1">
                <a:solidFill>
                  <a:srgbClr val="000000"/>
                </a:solidFill>
              </a:rPr>
              <a:t>pero</a:t>
            </a:r>
            <a:r>
              <a:rPr lang="en-US" altLang="es-AR" sz="2400" dirty="0">
                <a:solidFill>
                  <a:srgbClr val="000000"/>
                </a:solidFill>
              </a:rPr>
              <a:t> no </a:t>
            </a:r>
            <a:r>
              <a:rPr lang="en-US" altLang="es-AR" sz="2400" dirty="0" err="1">
                <a:solidFill>
                  <a:srgbClr val="000000"/>
                </a:solidFill>
              </a:rPr>
              <a:t>cual</a:t>
            </a:r>
            <a:r>
              <a:rPr lang="en-US" altLang="es-AR" sz="2400" dirty="0">
                <a:solidFill>
                  <a:srgbClr val="000000"/>
                </a:solidFill>
              </a:rPr>
              <a:t>, y </a:t>
            </a:r>
            <a:r>
              <a:rPr lang="en-US" altLang="es-AR" sz="2400" dirty="0" err="1">
                <a:solidFill>
                  <a:srgbClr val="000000"/>
                </a:solidFill>
              </a:rPr>
              <a:t>pida</a:t>
            </a:r>
            <a:r>
              <a:rPr lang="en-US" altLang="es-AR" sz="2400" dirty="0">
                <a:solidFill>
                  <a:srgbClr val="000000"/>
                </a:solidFill>
              </a:rPr>
              <a:t> una </a:t>
            </a:r>
            <a:r>
              <a:rPr lang="en-US" altLang="es-AR" sz="2400" dirty="0" err="1">
                <a:solidFill>
                  <a:srgbClr val="000000"/>
                </a:solidFill>
              </a:rPr>
              <a:t>retransmisión</a:t>
            </a:r>
            <a:endParaRPr lang="en-US" altLang="es-AR" sz="2400" dirty="0">
              <a:solidFill>
                <a:srgbClr val="000000"/>
              </a:solidFill>
            </a:endParaRPr>
          </a:p>
          <a:p>
            <a:pPr marL="0">
              <a:spcBef>
                <a:spcPct val="0"/>
              </a:spcBef>
              <a:spcAft>
                <a:spcPts val="600"/>
              </a:spcAft>
            </a:pPr>
            <a:endParaRPr lang="en-US" altLang="es-AR" sz="2400" dirty="0">
              <a:solidFill>
                <a:srgbClr val="000000"/>
              </a:solidFill>
            </a:endParaRP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 err="1">
                <a:solidFill>
                  <a:srgbClr val="000000"/>
                </a:solidFill>
              </a:rPr>
              <a:t>Códigos</a:t>
            </a:r>
            <a:r>
              <a:rPr lang="en-US" altLang="es-AR" dirty="0">
                <a:solidFill>
                  <a:srgbClr val="000000"/>
                </a:solidFill>
              </a:rPr>
              <a:t> de </a:t>
            </a:r>
            <a:r>
              <a:rPr lang="en-US" altLang="es-AR" dirty="0" err="1">
                <a:solidFill>
                  <a:srgbClr val="000000"/>
                </a:solidFill>
              </a:rPr>
              <a:t>corrección</a:t>
            </a:r>
            <a:r>
              <a:rPr lang="en-US" altLang="es-AR" dirty="0">
                <a:solidFill>
                  <a:srgbClr val="000000"/>
                </a:solidFill>
              </a:rPr>
              <a:t> de </a:t>
            </a:r>
            <a:r>
              <a:rPr lang="en-US" altLang="es-AR" dirty="0" err="1">
                <a:solidFill>
                  <a:srgbClr val="000000"/>
                </a:solidFill>
              </a:rPr>
              <a:t>errores</a:t>
            </a:r>
            <a:endParaRPr lang="en-US" altLang="es-AR" dirty="0">
              <a:solidFill>
                <a:srgbClr val="000000"/>
              </a:solidFill>
            </a:endParaRP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400" dirty="0" err="1">
                <a:solidFill>
                  <a:srgbClr val="000000"/>
                </a:solidFill>
              </a:rPr>
              <a:t>Envían</a:t>
            </a:r>
            <a:r>
              <a:rPr lang="en-US" altLang="es-AR" sz="2400" dirty="0">
                <a:solidFill>
                  <a:srgbClr val="000000"/>
                </a:solidFill>
              </a:rPr>
              <a:t> </a:t>
            </a:r>
            <a:r>
              <a:rPr lang="en-US" altLang="es-AR" sz="2400" dirty="0" err="1">
                <a:solidFill>
                  <a:srgbClr val="000000"/>
                </a:solidFill>
              </a:rPr>
              <a:t>información</a:t>
            </a:r>
            <a:r>
              <a:rPr lang="en-US" altLang="es-AR" sz="2400" dirty="0">
                <a:solidFill>
                  <a:srgbClr val="000000"/>
                </a:solidFill>
              </a:rPr>
              <a:t> </a:t>
            </a:r>
            <a:r>
              <a:rPr lang="en-US" altLang="es-AR" sz="2400" dirty="0" err="1">
                <a:solidFill>
                  <a:srgbClr val="000000"/>
                </a:solidFill>
              </a:rPr>
              <a:t>redundante</a:t>
            </a:r>
            <a:r>
              <a:rPr lang="en-US" altLang="es-AR" sz="2400" dirty="0">
                <a:solidFill>
                  <a:srgbClr val="000000"/>
                </a:solidFill>
              </a:rPr>
              <a:t> junto con </a:t>
            </a:r>
            <a:r>
              <a:rPr lang="en-US" altLang="es-AR" sz="2400" dirty="0" err="1">
                <a:solidFill>
                  <a:srgbClr val="000000"/>
                </a:solidFill>
              </a:rPr>
              <a:t>cada</a:t>
            </a:r>
            <a:r>
              <a:rPr lang="en-US" altLang="es-AR" sz="2400" dirty="0">
                <a:solidFill>
                  <a:srgbClr val="000000"/>
                </a:solidFill>
              </a:rPr>
              <a:t> </a:t>
            </a:r>
            <a:r>
              <a:rPr lang="en-US" altLang="es-AR" sz="2400" dirty="0" err="1">
                <a:solidFill>
                  <a:srgbClr val="000000"/>
                </a:solidFill>
              </a:rPr>
              <a:t>bloque</a:t>
            </a:r>
            <a:r>
              <a:rPr lang="en-US" altLang="es-AR" sz="2400" dirty="0">
                <a:solidFill>
                  <a:srgbClr val="000000"/>
                </a:solidFill>
              </a:rPr>
              <a:t> de </a:t>
            </a:r>
            <a:r>
              <a:rPr lang="en-US" altLang="es-AR" sz="2400" dirty="0" err="1">
                <a:solidFill>
                  <a:srgbClr val="000000"/>
                </a:solidFill>
              </a:rPr>
              <a:t>datos</a:t>
            </a:r>
            <a:r>
              <a:rPr lang="en-US" altLang="es-AR" sz="2400" dirty="0">
                <a:solidFill>
                  <a:srgbClr val="000000"/>
                </a:solidFill>
              </a:rPr>
              <a:t> a </a:t>
            </a:r>
            <a:r>
              <a:rPr lang="en-US" altLang="es-AR" sz="2400" dirty="0" err="1">
                <a:solidFill>
                  <a:srgbClr val="000000"/>
                </a:solidFill>
              </a:rPr>
              <a:t>enviar</a:t>
            </a:r>
            <a:r>
              <a:rPr lang="en-US" altLang="es-AR" sz="2400" dirty="0">
                <a:solidFill>
                  <a:srgbClr val="000000"/>
                </a:solidFill>
              </a:rPr>
              <a:t> al receptor para </a:t>
            </a:r>
            <a:r>
              <a:rPr lang="en-US" altLang="es-AR" sz="2400" dirty="0" err="1">
                <a:solidFill>
                  <a:srgbClr val="000000"/>
                </a:solidFill>
              </a:rPr>
              <a:t>deducir</a:t>
            </a:r>
            <a:r>
              <a:rPr lang="en-US" altLang="es-AR" sz="2400" dirty="0">
                <a:solidFill>
                  <a:srgbClr val="000000"/>
                </a:solidFill>
              </a:rPr>
              <a:t> que </a:t>
            </a:r>
            <a:r>
              <a:rPr lang="en-US" altLang="es-AR" sz="2400" dirty="0" err="1">
                <a:solidFill>
                  <a:srgbClr val="000000"/>
                </a:solidFill>
              </a:rPr>
              <a:t>carácter</a:t>
            </a:r>
            <a:r>
              <a:rPr lang="en-US" altLang="es-AR" sz="2400" dirty="0">
                <a:solidFill>
                  <a:srgbClr val="000000"/>
                </a:solidFill>
              </a:rPr>
              <a:t> se </a:t>
            </a:r>
            <a:r>
              <a:rPr lang="en-US" altLang="es-AR" sz="2400" dirty="0" err="1">
                <a:solidFill>
                  <a:srgbClr val="000000"/>
                </a:solidFill>
              </a:rPr>
              <a:t>envío</a:t>
            </a:r>
            <a:endParaRPr lang="en-US" altLang="es-AR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6835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838200" y="963877"/>
            <a:ext cx="3494362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en-US" sz="44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Definiciones</a:t>
            </a:r>
          </a:p>
          <a:p>
            <a:pPr marL="0" indent="0" algn="r">
              <a:spcBef>
                <a:spcPct val="0"/>
              </a:spcBef>
              <a:buNone/>
            </a:pPr>
            <a:endParaRPr lang="en-US" sz="4400" kern="12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algn="r">
              <a:spcBef>
                <a:spcPct val="0"/>
              </a:spcBef>
              <a:buNone/>
            </a:pPr>
            <a:endParaRPr lang="en-US" sz="4400" kern="12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31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b="1"/>
              <a:t>Error: </a:t>
            </a:r>
            <a:r>
              <a:rPr lang="en-US" altLang="es-AR"/>
              <a:t>un error en datos binarios es definido como un valor incorrecto en uno o más bits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b="1"/>
              <a:t>Single error</a:t>
            </a:r>
            <a:r>
              <a:rPr lang="en-US" altLang="es-AR"/>
              <a:t>: valor incorrecto en un solo bit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b="1"/>
              <a:t>Multiple error</a:t>
            </a:r>
            <a:r>
              <a:rPr lang="en-US" altLang="es-AR"/>
              <a:t>: uno o más bits incorrectos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b="1"/>
              <a:t>Distancia entre códigos</a:t>
            </a:r>
            <a:r>
              <a:rPr lang="en-US" altLang="es-AR"/>
              <a:t>: número de posiciones de bits en que difieren dos códigos.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b="1"/>
              <a:t>Peso de la palabra</a:t>
            </a:r>
            <a:r>
              <a:rPr lang="en-US" altLang="es-AR"/>
              <a:t>: numero de bits dentro de la palabra iguales a 1.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400"/>
              <a:t>Si la cantidad de unos es par se denomina paridad par o even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400"/>
              <a:t>Si la cantidad de unos es impar, es paridad impar u odd</a:t>
            </a:r>
          </a:p>
          <a:p>
            <a:pPr marL="0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sz="2400"/>
          </a:p>
        </p:txBody>
      </p:sp>
    </p:spTree>
    <p:extLst>
      <p:ext uri="{BB962C8B-B14F-4D97-AF65-F5344CB8AC3E}">
        <p14:creationId xmlns:p14="http://schemas.microsoft.com/office/powerpoint/2010/main" val="33355739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77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8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79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80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81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82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7" name="Subtítulo 2"/>
          <p:cNvSpPr txBox="1">
            <a:spLocks/>
          </p:cNvSpPr>
          <p:nvPr/>
        </p:nvSpPr>
        <p:spPr>
          <a:xfrm>
            <a:off x="535020" y="685800"/>
            <a:ext cx="2780271" cy="510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0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Detección</a:t>
            </a:r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40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corrección</a:t>
            </a:r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0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errores</a:t>
            </a:r>
            <a:endParaRPr lang="en-US" sz="4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endParaRPr lang="en-US" sz="4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buNone/>
            </a:pPr>
            <a:endParaRPr lang="en-US" sz="4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9157" name="2 Marcador de contenido">
            <a:extLst>
              <a:ext uri="{FF2B5EF4-FFF2-40B4-BE49-F238E27FC236}">
                <a16:creationId xmlns:a16="http://schemas.microsoft.com/office/drawing/2014/main" id="{08F02CF5-9BAC-43B3-905A-4563F82CE12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627380898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770329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400" kern="12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Deteccion de errores</a:t>
            </a:r>
          </a:p>
          <a:p>
            <a:pPr marL="0" indent="0">
              <a:spcBef>
                <a:spcPct val="0"/>
              </a:spcBef>
              <a:buNone/>
            </a:pPr>
            <a:endParaRPr lang="en-US" sz="4400" kern="1200">
              <a:solidFill>
                <a:schemeClr val="bg1">
                  <a:lumMod val="95000"/>
                  <a:lumOff val="5000"/>
                </a:schemeClr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buNone/>
            </a:pPr>
            <a:endParaRPr lang="en-US" sz="4400" kern="1200">
              <a:solidFill>
                <a:schemeClr val="bg1">
                  <a:lumMod val="95000"/>
                  <a:lumOff val="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015406"/>
            <a:ext cx="10515600" cy="406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altLang="es-AR" sz="2000"/>
              <a:t>Diferentes métodos (ejemplos):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endParaRPr lang="en-US" altLang="es-AR" sz="2000"/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000" b="1"/>
              <a:t>Check Digits</a:t>
            </a:r>
            <a:r>
              <a:rPr lang="en-US" altLang="es-AR" sz="2000"/>
              <a:t>: se agregan a los datos </a:t>
            </a:r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000" b="1"/>
              <a:t>Hash Totals</a:t>
            </a:r>
            <a:r>
              <a:rPr lang="en-US" altLang="es-AR" sz="2000"/>
              <a:t>: suma de grupos de ítems</a:t>
            </a:r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000" b="1"/>
              <a:t>Byte Counts</a:t>
            </a:r>
            <a:r>
              <a:rPr lang="en-US" altLang="es-AR" sz="2000"/>
              <a:t>: Se transmite un número que indica la cantidad de caracteres del mensaje </a:t>
            </a:r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000" b="1"/>
              <a:t>Character Echoing</a:t>
            </a:r>
            <a:r>
              <a:rPr lang="en-US" altLang="es-AR" sz="2000"/>
              <a:t>: los caracteres transmitidos son re-enviados al usuario como chequeo. </a:t>
            </a:r>
          </a:p>
        </p:txBody>
      </p:sp>
    </p:spTree>
    <p:extLst>
      <p:ext uri="{BB962C8B-B14F-4D97-AF65-F5344CB8AC3E}">
        <p14:creationId xmlns:p14="http://schemas.microsoft.com/office/powerpoint/2010/main" val="6991629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ítulo 2"/>
          <p:cNvSpPr txBox="1">
            <a:spLocks/>
          </p:cNvSpPr>
          <p:nvPr/>
        </p:nvSpPr>
        <p:spPr>
          <a:xfrm>
            <a:off x="1136428" y="627564"/>
            <a:ext cx="74741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Detección de errores</a:t>
            </a:r>
          </a:p>
          <a:p>
            <a:pPr marL="0" indent="0">
              <a:spcBef>
                <a:spcPct val="0"/>
              </a:spcBef>
              <a:buNone/>
            </a:pP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buNone/>
            </a:pP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1136429" y="2278173"/>
            <a:ext cx="6467867" cy="34506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altLang="es-AR" sz="2400"/>
              <a:t>Métodos de detección de errores usados en las comunicaciones: </a:t>
            </a:r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/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/>
              <a:t>Vertical redundancy check (VRC) o Paridad</a:t>
            </a:r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/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/>
              <a:t>Longitudinal Redundancy Check (LRC)</a:t>
            </a:r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/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/>
              <a:t>Cyclic Redundancy Check (CRC)</a:t>
            </a:r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/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/>
          </a:p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BC50DC11-26ED-45CC-8ED7-DC80DB9F1B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3987" y="2857501"/>
            <a:ext cx="1142998" cy="114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298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6F9EB9F2-07E2-4D64-BBD8-BB5B217F1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2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ubtítulo 2"/>
          <p:cNvSpPr txBox="1">
            <a:spLocks/>
          </p:cNvSpPr>
          <p:nvPr/>
        </p:nvSpPr>
        <p:spPr>
          <a:xfrm>
            <a:off x="819446" y="1178263"/>
            <a:ext cx="3236445" cy="4927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Vertical Redundancy Check (VRC) o </a:t>
            </a:r>
            <a:r>
              <a:rPr lang="en-US" sz="44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paridad</a:t>
            </a:r>
            <a:endParaRPr lang="en-US" sz="5400" kern="12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buNone/>
            </a:pPr>
            <a:endParaRPr lang="en-US" sz="5400" kern="12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328269" y="1098363"/>
            <a:ext cx="6253914" cy="49276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2" indent="0">
              <a:spcBef>
                <a:spcPts val="1000"/>
              </a:spcBef>
              <a:buClr>
                <a:srgbClr val="000000"/>
              </a:buClr>
              <a:buSzPct val="80000"/>
              <a:buNone/>
            </a:pPr>
            <a:r>
              <a:rPr lang="en-US" altLang="es-AR" kern="1200" dirty="0" err="1">
                <a:latin typeface="+mn-lt"/>
                <a:ea typeface="+mn-ea"/>
                <a:cs typeface="+mn-cs"/>
              </a:rPr>
              <a:t>También</a:t>
            </a:r>
            <a:r>
              <a:rPr lang="en-US" altLang="es-AR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s-AR" kern="1200" dirty="0" err="1">
                <a:latin typeface="+mn-lt"/>
                <a:ea typeface="+mn-ea"/>
                <a:cs typeface="+mn-cs"/>
              </a:rPr>
              <a:t>conocida</a:t>
            </a:r>
            <a:r>
              <a:rPr lang="en-US" altLang="es-AR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s-AR" kern="1200" dirty="0" err="1">
                <a:latin typeface="+mn-lt"/>
                <a:ea typeface="+mn-ea"/>
                <a:cs typeface="+mn-cs"/>
              </a:rPr>
              <a:t>como</a:t>
            </a:r>
            <a:r>
              <a:rPr lang="en-US" altLang="es-AR" kern="1200" dirty="0">
                <a:latin typeface="+mn-lt"/>
                <a:ea typeface="+mn-ea"/>
                <a:cs typeface="+mn-cs"/>
              </a:rPr>
              <a:t> VRC - Vertical redundancy check (test de </a:t>
            </a:r>
            <a:r>
              <a:rPr lang="en-US" altLang="es-AR" kern="1200" dirty="0" err="1">
                <a:latin typeface="+mn-lt"/>
                <a:ea typeface="+mn-ea"/>
                <a:cs typeface="+mn-cs"/>
              </a:rPr>
              <a:t>redundancia</a:t>
            </a:r>
            <a:r>
              <a:rPr lang="en-US" altLang="es-AR" kern="1200" dirty="0">
                <a:latin typeface="+mn-lt"/>
                <a:ea typeface="+mn-ea"/>
                <a:cs typeface="+mn-cs"/>
              </a:rPr>
              <a:t> vertical)</a:t>
            </a:r>
          </a:p>
          <a:p>
            <a:pPr marL="0" lvl="2" indent="0">
              <a:spcBef>
                <a:spcPts val="1000"/>
              </a:spcBef>
              <a:buClr>
                <a:srgbClr val="000000"/>
              </a:buClr>
              <a:buSzPct val="80000"/>
              <a:buNone/>
            </a:pPr>
            <a:r>
              <a:rPr lang="en-US" altLang="es-AR" kern="1200" dirty="0">
                <a:latin typeface="+mn-lt"/>
                <a:ea typeface="+mn-ea"/>
                <a:cs typeface="+mn-cs"/>
              </a:rPr>
              <a:t>Se suman los bits y se </a:t>
            </a:r>
            <a:r>
              <a:rPr lang="en-US" altLang="es-AR" kern="1200" dirty="0" err="1">
                <a:latin typeface="+mn-lt"/>
                <a:ea typeface="+mn-ea"/>
                <a:cs typeface="+mn-cs"/>
              </a:rPr>
              <a:t>agrega</a:t>
            </a:r>
            <a:r>
              <a:rPr lang="en-US" altLang="es-AR" kern="1200" dirty="0">
                <a:latin typeface="+mn-lt"/>
                <a:ea typeface="+mn-ea"/>
                <a:cs typeface="+mn-cs"/>
              </a:rPr>
              <a:t> un cero o un </a:t>
            </a:r>
            <a:r>
              <a:rPr lang="en-US" altLang="es-AR" kern="1200" dirty="0" err="1">
                <a:latin typeface="+mn-lt"/>
                <a:ea typeface="+mn-ea"/>
                <a:cs typeface="+mn-cs"/>
              </a:rPr>
              <a:t>uno</a:t>
            </a:r>
            <a:r>
              <a:rPr lang="en-US" altLang="es-AR" kern="1200" dirty="0">
                <a:latin typeface="+mn-lt"/>
                <a:ea typeface="+mn-ea"/>
                <a:cs typeface="+mn-cs"/>
              </a:rPr>
              <a:t> para </a:t>
            </a:r>
            <a:r>
              <a:rPr lang="en-US" altLang="es-AR" kern="1200" dirty="0" err="1">
                <a:latin typeface="+mn-lt"/>
                <a:ea typeface="+mn-ea"/>
                <a:cs typeface="+mn-cs"/>
              </a:rPr>
              <a:t>obtener</a:t>
            </a:r>
            <a:r>
              <a:rPr lang="en-US" altLang="es-AR" kern="1200" dirty="0">
                <a:latin typeface="+mn-lt"/>
                <a:ea typeface="+mn-ea"/>
                <a:cs typeface="+mn-cs"/>
              </a:rPr>
              <a:t> una </a:t>
            </a:r>
            <a:r>
              <a:rPr lang="en-US" altLang="es-AR" kern="1200" dirty="0" err="1">
                <a:latin typeface="+mn-lt"/>
                <a:ea typeface="+mn-ea"/>
                <a:cs typeface="+mn-cs"/>
              </a:rPr>
              <a:t>cantidad</a:t>
            </a:r>
            <a:r>
              <a:rPr lang="en-US" altLang="es-AR" kern="1200" dirty="0">
                <a:latin typeface="+mn-lt"/>
                <a:ea typeface="+mn-ea"/>
                <a:cs typeface="+mn-cs"/>
              </a:rPr>
              <a:t> par o impar de </a:t>
            </a:r>
            <a:r>
              <a:rPr lang="en-US" altLang="es-AR" kern="1200" dirty="0" err="1">
                <a:latin typeface="+mn-lt"/>
                <a:ea typeface="+mn-ea"/>
                <a:cs typeface="+mn-cs"/>
              </a:rPr>
              <a:t>unos</a:t>
            </a:r>
            <a:r>
              <a:rPr lang="en-US" altLang="es-AR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s-AR" kern="1200" dirty="0" err="1">
                <a:latin typeface="+mn-lt"/>
                <a:ea typeface="+mn-ea"/>
                <a:cs typeface="+mn-cs"/>
              </a:rPr>
              <a:t>según</a:t>
            </a:r>
            <a:r>
              <a:rPr lang="en-US" altLang="es-AR" kern="1200" dirty="0">
                <a:latin typeface="+mn-lt"/>
                <a:ea typeface="+mn-ea"/>
                <a:cs typeface="+mn-cs"/>
              </a:rPr>
              <a:t> la </a:t>
            </a:r>
            <a:r>
              <a:rPr lang="en-US" altLang="es-AR" kern="1200" dirty="0" err="1">
                <a:latin typeface="+mn-lt"/>
                <a:ea typeface="+mn-ea"/>
                <a:cs typeface="+mn-cs"/>
              </a:rPr>
              <a:t>paridad</a:t>
            </a:r>
            <a:r>
              <a:rPr lang="en-US" altLang="es-AR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s-AR" kern="1200" dirty="0" err="1">
                <a:latin typeface="+mn-lt"/>
                <a:ea typeface="+mn-ea"/>
                <a:cs typeface="+mn-cs"/>
              </a:rPr>
              <a:t>elegida</a:t>
            </a:r>
            <a:endParaRPr lang="en-US" altLang="es-AR" kern="1200" dirty="0">
              <a:latin typeface="+mn-lt"/>
              <a:ea typeface="+mn-ea"/>
              <a:cs typeface="+mn-cs"/>
            </a:endParaRPr>
          </a:p>
          <a:p>
            <a:pPr marL="0" lvl="2" indent="0">
              <a:spcBef>
                <a:spcPts val="1000"/>
              </a:spcBef>
              <a:buClr>
                <a:srgbClr val="000000"/>
              </a:buClr>
              <a:buSzPct val="80000"/>
              <a:buNone/>
            </a:pPr>
            <a:r>
              <a:rPr lang="en-US" altLang="es-AR" kern="1200" dirty="0">
                <a:latin typeface="+mn-lt"/>
                <a:ea typeface="+mn-ea"/>
                <a:cs typeface="+mn-cs"/>
              </a:rPr>
              <a:t>Se </a:t>
            </a:r>
            <a:r>
              <a:rPr lang="en-US" altLang="es-AR" kern="1200" dirty="0" err="1">
                <a:latin typeface="+mn-lt"/>
                <a:ea typeface="+mn-ea"/>
                <a:cs typeface="+mn-cs"/>
              </a:rPr>
              <a:t>agrega</a:t>
            </a:r>
            <a:r>
              <a:rPr lang="en-US" altLang="es-AR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es-AR" kern="1200" dirty="0" err="1">
                <a:latin typeface="+mn-lt"/>
                <a:ea typeface="+mn-ea"/>
                <a:cs typeface="+mn-cs"/>
              </a:rPr>
              <a:t>este</a:t>
            </a:r>
            <a:r>
              <a:rPr lang="en-US" altLang="es-AR" kern="1200" dirty="0">
                <a:latin typeface="+mn-lt"/>
                <a:ea typeface="+mn-ea"/>
                <a:cs typeface="+mn-cs"/>
              </a:rPr>
              <a:t> bit, </a:t>
            </a:r>
            <a:r>
              <a:rPr lang="en-US" altLang="es-AR" kern="1200" dirty="0" err="1">
                <a:latin typeface="+mn-lt"/>
                <a:ea typeface="+mn-ea"/>
                <a:cs typeface="+mn-cs"/>
              </a:rPr>
              <a:t>llamado</a:t>
            </a:r>
            <a:r>
              <a:rPr lang="en-US" altLang="es-AR" kern="1200" dirty="0">
                <a:latin typeface="+mn-lt"/>
                <a:ea typeface="+mn-ea"/>
                <a:cs typeface="+mn-cs"/>
              </a:rPr>
              <a:t> de </a:t>
            </a:r>
            <a:r>
              <a:rPr lang="en-US" altLang="es-AR" kern="1200" dirty="0" err="1">
                <a:latin typeface="+mn-lt"/>
                <a:ea typeface="+mn-ea"/>
                <a:cs typeface="+mn-cs"/>
              </a:rPr>
              <a:t>paridad</a:t>
            </a:r>
            <a:r>
              <a:rPr lang="en-US" altLang="es-AR" kern="1200" dirty="0">
                <a:latin typeface="+mn-lt"/>
                <a:ea typeface="+mn-ea"/>
                <a:cs typeface="+mn-cs"/>
              </a:rPr>
              <a:t>, al final del </a:t>
            </a:r>
            <a:r>
              <a:rPr lang="en-US" altLang="es-AR" kern="1200" dirty="0" err="1">
                <a:latin typeface="+mn-lt"/>
                <a:ea typeface="+mn-ea"/>
                <a:cs typeface="+mn-cs"/>
              </a:rPr>
              <a:t>código</a:t>
            </a:r>
            <a:r>
              <a:rPr lang="en-US" altLang="es-AR" kern="1200" dirty="0">
                <a:latin typeface="+mn-lt"/>
                <a:ea typeface="+mn-ea"/>
                <a:cs typeface="+mn-cs"/>
              </a:rPr>
              <a:t>.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0C57C7C-DFE9-4A1E-B7A9-DF40E633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1163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838200" y="963877"/>
            <a:ext cx="3494362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Longitudinal Redundancy Check (LRC)</a:t>
            </a:r>
          </a:p>
          <a:p>
            <a:pPr marL="0" indent="0" algn="r">
              <a:spcBef>
                <a:spcPct val="0"/>
              </a:spcBef>
              <a:buNone/>
            </a:pPr>
            <a:endParaRPr lang="en-US" sz="440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algn="r">
              <a:spcBef>
                <a:spcPct val="0"/>
              </a:spcBef>
              <a:buNone/>
            </a:pPr>
            <a:endParaRPr lang="en-US" sz="440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51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/>
              <a:t>Se agrega un caracter de chequeo de bloque (BCC - Block Check Character) al final de cada bloque de caracteres transmitidos.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/>
              <a:t>El primer bit del BCC sirve como paridad de todos los primeros bits de los caracteres en el block. 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/>
              <a:t>El segundo bit sirve como paridad de todos los segundos bits en el block, etc, etc.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400"/>
              <a:t>Si se combinan LRC con VRC se puede tener un mecanismo de corrección de errores.</a:t>
            </a:r>
          </a:p>
        </p:txBody>
      </p:sp>
    </p:spTree>
    <p:extLst>
      <p:ext uri="{BB962C8B-B14F-4D97-AF65-F5344CB8AC3E}">
        <p14:creationId xmlns:p14="http://schemas.microsoft.com/office/powerpoint/2010/main" val="35458600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643467" y="643467"/>
            <a:ext cx="3363974" cy="159731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Cyclic Redundancy Check (CRC)</a:t>
            </a: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258619" y="2638043"/>
            <a:ext cx="4036290" cy="3827411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600" dirty="0" err="1">
                <a:solidFill>
                  <a:schemeClr val="bg1"/>
                </a:solidFill>
              </a:rPr>
              <a:t>Detecta</a:t>
            </a:r>
            <a:r>
              <a:rPr lang="en-US" altLang="es-AR" sz="1600" dirty="0">
                <a:solidFill>
                  <a:schemeClr val="bg1"/>
                </a:solidFill>
              </a:rPr>
              <a:t> bits con error </a:t>
            </a:r>
            <a:r>
              <a:rPr lang="en-US" altLang="es-AR" sz="1600" dirty="0" err="1">
                <a:solidFill>
                  <a:schemeClr val="bg1"/>
                </a:solidFill>
              </a:rPr>
              <a:t>mejor</a:t>
            </a:r>
            <a:r>
              <a:rPr lang="en-US" altLang="es-AR" sz="1600" dirty="0">
                <a:solidFill>
                  <a:schemeClr val="bg1"/>
                </a:solidFill>
              </a:rPr>
              <a:t> que VRC o LRC o ambos.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sz="1600" dirty="0">
              <a:solidFill>
                <a:schemeClr val="bg1"/>
              </a:solidFill>
            </a:endParaRP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600" dirty="0">
                <a:solidFill>
                  <a:schemeClr val="bg1"/>
                </a:solidFill>
              </a:rPr>
              <a:t>Se </a:t>
            </a:r>
            <a:r>
              <a:rPr lang="en-US" altLang="es-AR" sz="1600" dirty="0" err="1">
                <a:solidFill>
                  <a:schemeClr val="bg1"/>
                </a:solidFill>
              </a:rPr>
              <a:t>calcula</a:t>
            </a:r>
            <a:r>
              <a:rPr lang="en-US" altLang="es-AR" sz="1600" dirty="0">
                <a:solidFill>
                  <a:schemeClr val="bg1"/>
                </a:solidFill>
              </a:rPr>
              <a:t> para </a:t>
            </a:r>
            <a:r>
              <a:rPr lang="en-US" altLang="es-AR" sz="1600" dirty="0" err="1">
                <a:solidFill>
                  <a:schemeClr val="bg1"/>
                </a:solidFill>
              </a:rPr>
              <a:t>cada</a:t>
            </a:r>
            <a:r>
              <a:rPr lang="en-US" altLang="es-AR" sz="1600" dirty="0">
                <a:solidFill>
                  <a:schemeClr val="bg1"/>
                </a:solidFill>
              </a:rPr>
              <a:t> </a:t>
            </a:r>
            <a:r>
              <a:rPr lang="en-US" altLang="es-AR" sz="1600" dirty="0" err="1">
                <a:solidFill>
                  <a:schemeClr val="bg1"/>
                </a:solidFill>
              </a:rPr>
              <a:t>bloque</a:t>
            </a:r>
            <a:r>
              <a:rPr lang="en-US" altLang="es-AR" sz="1600" dirty="0">
                <a:solidFill>
                  <a:schemeClr val="bg1"/>
                </a:solidFill>
              </a:rPr>
              <a:t> de </a:t>
            </a:r>
            <a:r>
              <a:rPr lang="en-US" altLang="es-AR" sz="1600" dirty="0" err="1">
                <a:solidFill>
                  <a:schemeClr val="bg1"/>
                </a:solidFill>
              </a:rPr>
              <a:t>datos</a:t>
            </a:r>
            <a:r>
              <a:rPr lang="en-US" altLang="es-AR" sz="1600" dirty="0">
                <a:solidFill>
                  <a:schemeClr val="bg1"/>
                </a:solidFill>
              </a:rPr>
              <a:t> </a:t>
            </a:r>
            <a:r>
              <a:rPr lang="en-US" altLang="es-AR" sz="1600" dirty="0" err="1">
                <a:solidFill>
                  <a:schemeClr val="bg1"/>
                </a:solidFill>
              </a:rPr>
              <a:t>transmitidos</a:t>
            </a:r>
            <a:r>
              <a:rPr lang="en-US" altLang="es-AR" sz="1600" dirty="0">
                <a:solidFill>
                  <a:schemeClr val="bg1"/>
                </a:solidFill>
              </a:rPr>
              <a:t>.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sz="1600" dirty="0">
              <a:solidFill>
                <a:schemeClr val="bg1"/>
              </a:solidFill>
            </a:endParaRP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600" dirty="0" err="1">
                <a:solidFill>
                  <a:schemeClr val="bg1"/>
                </a:solidFill>
              </a:rPr>
              <a:t>Usa</a:t>
            </a:r>
            <a:r>
              <a:rPr lang="en-US" altLang="es-AR" sz="1600" dirty="0">
                <a:solidFill>
                  <a:schemeClr val="bg1"/>
                </a:solidFill>
              </a:rPr>
              <a:t> una </a:t>
            </a:r>
            <a:r>
              <a:rPr lang="en-US" altLang="es-AR" sz="1600" dirty="0" err="1">
                <a:solidFill>
                  <a:schemeClr val="bg1"/>
                </a:solidFill>
              </a:rPr>
              <a:t>función</a:t>
            </a:r>
            <a:r>
              <a:rPr lang="en-US" altLang="es-AR" sz="1600" dirty="0">
                <a:solidFill>
                  <a:schemeClr val="bg1"/>
                </a:solidFill>
              </a:rPr>
              <a:t> </a:t>
            </a:r>
            <a:r>
              <a:rPr lang="en-US" altLang="es-AR" sz="1600" dirty="0" err="1">
                <a:solidFill>
                  <a:schemeClr val="bg1"/>
                </a:solidFill>
              </a:rPr>
              <a:t>polinómica</a:t>
            </a:r>
            <a:r>
              <a:rPr lang="en-US" altLang="es-AR" sz="1600" dirty="0">
                <a:solidFill>
                  <a:schemeClr val="bg1"/>
                </a:solidFill>
              </a:rPr>
              <a:t> para </a:t>
            </a:r>
            <a:r>
              <a:rPr lang="en-US" altLang="es-AR" sz="1600" dirty="0" err="1">
                <a:solidFill>
                  <a:schemeClr val="bg1"/>
                </a:solidFill>
              </a:rPr>
              <a:t>generar</a:t>
            </a:r>
            <a:r>
              <a:rPr lang="en-US" altLang="es-AR" sz="1600" dirty="0">
                <a:solidFill>
                  <a:schemeClr val="bg1"/>
                </a:solidFill>
              </a:rPr>
              <a:t> los </a:t>
            </a:r>
            <a:r>
              <a:rPr lang="en-US" altLang="es-AR" sz="1600" dirty="0" err="1">
                <a:solidFill>
                  <a:schemeClr val="bg1"/>
                </a:solidFill>
              </a:rPr>
              <a:t>caracteres</a:t>
            </a:r>
            <a:r>
              <a:rPr lang="en-US" altLang="es-AR" sz="1600" dirty="0">
                <a:solidFill>
                  <a:schemeClr val="bg1"/>
                </a:solidFill>
              </a:rPr>
              <a:t> de </a:t>
            </a:r>
            <a:r>
              <a:rPr lang="en-US" altLang="es-AR" sz="1600" dirty="0" err="1">
                <a:solidFill>
                  <a:schemeClr val="bg1"/>
                </a:solidFill>
              </a:rPr>
              <a:t>chequeo</a:t>
            </a:r>
            <a:r>
              <a:rPr lang="en-US" altLang="es-AR" sz="1600" dirty="0">
                <a:solidFill>
                  <a:schemeClr val="bg1"/>
                </a:solidFill>
              </a:rPr>
              <a:t> de </a:t>
            </a:r>
            <a:r>
              <a:rPr lang="en-US" altLang="es-AR" sz="1600" dirty="0" err="1">
                <a:solidFill>
                  <a:schemeClr val="bg1"/>
                </a:solidFill>
              </a:rPr>
              <a:t>bloque</a:t>
            </a:r>
            <a:r>
              <a:rPr lang="en-US" altLang="es-AR" sz="1600" dirty="0">
                <a:solidFill>
                  <a:schemeClr val="bg1"/>
                </a:solidFill>
              </a:rPr>
              <a:t>. 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sz="1600" dirty="0">
              <a:solidFill>
                <a:schemeClr val="bg1"/>
              </a:solidFill>
            </a:endParaRP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600" dirty="0">
                <a:solidFill>
                  <a:schemeClr val="bg1"/>
                </a:solidFill>
              </a:rPr>
              <a:t>Se </a:t>
            </a:r>
            <a:r>
              <a:rPr lang="en-US" altLang="es-AR" sz="1600" dirty="0" err="1">
                <a:solidFill>
                  <a:schemeClr val="bg1"/>
                </a:solidFill>
              </a:rPr>
              <a:t>puede</a:t>
            </a:r>
            <a:r>
              <a:rPr lang="en-US" altLang="es-AR" sz="1600" dirty="0">
                <a:solidFill>
                  <a:schemeClr val="bg1"/>
                </a:solidFill>
              </a:rPr>
              <a:t> </a:t>
            </a:r>
            <a:r>
              <a:rPr lang="en-US" altLang="es-AR" sz="1600" dirty="0" err="1">
                <a:solidFill>
                  <a:schemeClr val="bg1"/>
                </a:solidFill>
              </a:rPr>
              <a:t>calcular</a:t>
            </a:r>
            <a:r>
              <a:rPr lang="en-US" altLang="es-AR" sz="1600" dirty="0">
                <a:solidFill>
                  <a:schemeClr val="bg1"/>
                </a:solidFill>
              </a:rPr>
              <a:t> a </a:t>
            </a:r>
            <a:r>
              <a:rPr lang="en-US" altLang="es-AR" sz="1600" dirty="0" err="1">
                <a:solidFill>
                  <a:schemeClr val="bg1"/>
                </a:solidFill>
              </a:rPr>
              <a:t>medida</a:t>
            </a:r>
            <a:r>
              <a:rPr lang="en-US" altLang="es-AR" sz="1600" dirty="0">
                <a:solidFill>
                  <a:schemeClr val="bg1"/>
                </a:solidFill>
              </a:rPr>
              <a:t> que se </a:t>
            </a:r>
            <a:r>
              <a:rPr lang="en-US" altLang="es-AR" sz="1600" dirty="0" err="1">
                <a:solidFill>
                  <a:schemeClr val="bg1"/>
                </a:solidFill>
              </a:rPr>
              <a:t>reciben</a:t>
            </a:r>
            <a:r>
              <a:rPr lang="en-US" altLang="es-AR" sz="1600" dirty="0">
                <a:solidFill>
                  <a:schemeClr val="bg1"/>
                </a:solidFill>
              </a:rPr>
              <a:t> los </a:t>
            </a:r>
            <a:r>
              <a:rPr lang="en-US" altLang="es-AR" sz="1600" dirty="0" err="1">
                <a:solidFill>
                  <a:schemeClr val="bg1"/>
                </a:solidFill>
              </a:rPr>
              <a:t>caracteres</a:t>
            </a:r>
            <a:r>
              <a:rPr lang="en-US" altLang="es-AR" sz="1600" dirty="0">
                <a:solidFill>
                  <a:schemeClr val="bg1"/>
                </a:solidFill>
              </a:rPr>
              <a:t> de un </a:t>
            </a:r>
            <a:r>
              <a:rPr lang="en-US" altLang="es-AR" sz="1600" dirty="0" err="1">
                <a:solidFill>
                  <a:schemeClr val="bg1"/>
                </a:solidFill>
              </a:rPr>
              <a:t>bloque</a:t>
            </a:r>
            <a:r>
              <a:rPr lang="en-US" altLang="es-AR" sz="1600" dirty="0">
                <a:solidFill>
                  <a:schemeClr val="bg1"/>
                </a:solidFill>
              </a:rPr>
              <a:t>, lo que le da </a:t>
            </a:r>
            <a:r>
              <a:rPr lang="en-US" altLang="es-AR" sz="1600" dirty="0" err="1">
                <a:solidFill>
                  <a:schemeClr val="bg1"/>
                </a:solidFill>
              </a:rPr>
              <a:t>velocidad</a:t>
            </a:r>
            <a:r>
              <a:rPr lang="en-US" altLang="es-AR" sz="1600" dirty="0">
                <a:solidFill>
                  <a:schemeClr val="bg1"/>
                </a:solidFill>
              </a:rPr>
              <a:t>.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sz="1600" dirty="0">
              <a:solidFill>
                <a:schemeClr val="bg1"/>
              </a:solidFill>
            </a:endParaRP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600" dirty="0">
                <a:solidFill>
                  <a:schemeClr val="bg1"/>
                </a:solidFill>
              </a:rPr>
              <a:t>Gracias a </a:t>
            </a:r>
            <a:r>
              <a:rPr lang="en-US" altLang="es-AR" sz="1600" dirty="0" err="1">
                <a:solidFill>
                  <a:schemeClr val="bg1"/>
                </a:solidFill>
              </a:rPr>
              <a:t>su</a:t>
            </a:r>
            <a:r>
              <a:rPr lang="en-US" altLang="es-AR" sz="1600" dirty="0">
                <a:solidFill>
                  <a:schemeClr val="bg1"/>
                </a:solidFill>
              </a:rPr>
              <a:t> </a:t>
            </a:r>
            <a:r>
              <a:rPr lang="en-US" altLang="es-AR" sz="1600" dirty="0" err="1">
                <a:solidFill>
                  <a:schemeClr val="bg1"/>
                </a:solidFill>
              </a:rPr>
              <a:t>confiabilidad</a:t>
            </a:r>
            <a:r>
              <a:rPr lang="en-US" altLang="es-AR" sz="1600" dirty="0">
                <a:solidFill>
                  <a:schemeClr val="bg1"/>
                </a:solidFill>
              </a:rPr>
              <a:t>, CRC se </a:t>
            </a:r>
            <a:r>
              <a:rPr lang="en-US" altLang="es-AR" sz="1600" dirty="0" err="1">
                <a:solidFill>
                  <a:schemeClr val="bg1"/>
                </a:solidFill>
              </a:rPr>
              <a:t>volvió</a:t>
            </a:r>
            <a:r>
              <a:rPr lang="en-US" altLang="es-AR" sz="1600" dirty="0">
                <a:solidFill>
                  <a:schemeClr val="bg1"/>
                </a:solidFill>
              </a:rPr>
              <a:t> un </a:t>
            </a:r>
            <a:r>
              <a:rPr lang="en-US" altLang="es-AR" sz="1600" dirty="0" err="1">
                <a:solidFill>
                  <a:schemeClr val="bg1"/>
                </a:solidFill>
              </a:rPr>
              <a:t>método</a:t>
            </a:r>
            <a:r>
              <a:rPr lang="en-US" altLang="es-AR" sz="1600" dirty="0">
                <a:solidFill>
                  <a:schemeClr val="bg1"/>
                </a:solidFill>
              </a:rPr>
              <a:t> </a:t>
            </a:r>
            <a:r>
              <a:rPr lang="en-US" altLang="es-AR" sz="1600" dirty="0" err="1">
                <a:solidFill>
                  <a:schemeClr val="bg1"/>
                </a:solidFill>
              </a:rPr>
              <a:t>estándar</a:t>
            </a:r>
            <a:r>
              <a:rPr lang="en-US" altLang="es-AR" sz="1600" dirty="0">
                <a:solidFill>
                  <a:schemeClr val="bg1"/>
                </a:solidFill>
              </a:rPr>
              <a:t> de </a:t>
            </a:r>
            <a:r>
              <a:rPr lang="en-US" altLang="es-AR" sz="1600" dirty="0" err="1">
                <a:solidFill>
                  <a:schemeClr val="bg1"/>
                </a:solidFill>
              </a:rPr>
              <a:t>detección</a:t>
            </a:r>
            <a:r>
              <a:rPr lang="en-US" altLang="es-AR" sz="1600" dirty="0">
                <a:solidFill>
                  <a:schemeClr val="bg1"/>
                </a:solidFill>
              </a:rPr>
              <a:t> de </a:t>
            </a:r>
            <a:r>
              <a:rPr lang="en-US" altLang="es-AR" sz="1600" dirty="0" err="1">
                <a:solidFill>
                  <a:schemeClr val="bg1"/>
                </a:solidFill>
              </a:rPr>
              <a:t>errores</a:t>
            </a:r>
            <a:r>
              <a:rPr lang="en-US" altLang="es-AR" sz="1600" dirty="0">
                <a:solidFill>
                  <a:schemeClr val="bg1"/>
                </a:solidFill>
              </a:rPr>
              <a:t> para la </a:t>
            </a:r>
            <a:r>
              <a:rPr lang="en-US" altLang="es-AR" sz="1600" dirty="0" err="1">
                <a:solidFill>
                  <a:schemeClr val="bg1"/>
                </a:solidFill>
              </a:rPr>
              <a:t>transmisión</a:t>
            </a:r>
            <a:r>
              <a:rPr lang="en-US" altLang="es-AR" sz="1600" dirty="0">
                <a:solidFill>
                  <a:schemeClr val="bg1"/>
                </a:solidFill>
              </a:rPr>
              <a:t> de </a:t>
            </a:r>
            <a:r>
              <a:rPr lang="en-US" altLang="es-AR" sz="1600" dirty="0" err="1">
                <a:solidFill>
                  <a:schemeClr val="bg1"/>
                </a:solidFill>
              </a:rPr>
              <a:t>bloques</a:t>
            </a:r>
            <a:r>
              <a:rPr lang="en-US" altLang="es-AR" sz="1600" dirty="0">
                <a:solidFill>
                  <a:schemeClr val="bg1"/>
                </a:solidFill>
              </a:rPr>
              <a:t> de </a:t>
            </a:r>
            <a:r>
              <a:rPr lang="en-US" altLang="es-AR" sz="1600" dirty="0" err="1">
                <a:solidFill>
                  <a:schemeClr val="bg1"/>
                </a:solidFill>
              </a:rPr>
              <a:t>datos</a:t>
            </a:r>
            <a:r>
              <a:rPr lang="en-US" altLang="es-AR" sz="1600" dirty="0">
                <a:solidFill>
                  <a:schemeClr val="bg1"/>
                </a:solidFill>
              </a:rPr>
              <a:t>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9F6F88-4EDF-497C-A6DC-7343AD949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97763" y="1442082"/>
            <a:ext cx="6250769" cy="381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87828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838200" y="963877"/>
            <a:ext cx="3494362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Cyclic Redundancy Check (CRC)</a:t>
            </a:r>
          </a:p>
          <a:p>
            <a:pPr marL="0" indent="0" algn="r">
              <a:spcBef>
                <a:spcPct val="0"/>
              </a:spcBef>
              <a:buNone/>
            </a:pPr>
            <a:endParaRPr lang="en-US" sz="440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algn="r">
              <a:spcBef>
                <a:spcPct val="0"/>
              </a:spcBef>
              <a:buNone/>
            </a:pPr>
            <a:endParaRPr lang="en-US" sz="440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23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500" dirty="0"/>
              <a:t>CRC </a:t>
            </a:r>
            <a:r>
              <a:rPr lang="en-US" altLang="es-AR" sz="1500" dirty="0" err="1"/>
              <a:t>permite</a:t>
            </a:r>
            <a:r>
              <a:rPr lang="en-US" altLang="es-AR" sz="1500" dirty="0"/>
              <a:t> </a:t>
            </a:r>
            <a:r>
              <a:rPr lang="en-US" altLang="es-AR" sz="1500" dirty="0" err="1"/>
              <a:t>detectar</a:t>
            </a:r>
            <a:r>
              <a:rPr lang="en-US" altLang="es-AR" sz="1500" dirty="0"/>
              <a:t> el 100% de los </a:t>
            </a:r>
            <a:r>
              <a:rPr lang="en-US" altLang="es-AR" sz="1500" dirty="0" err="1"/>
              <a:t>errores</a:t>
            </a:r>
            <a:r>
              <a:rPr lang="en-US" altLang="es-AR" sz="1500" dirty="0"/>
              <a:t> de </a:t>
            </a:r>
            <a:r>
              <a:rPr lang="en-US" altLang="es-AR" sz="1500" dirty="0" err="1"/>
              <a:t>igual</a:t>
            </a:r>
            <a:r>
              <a:rPr lang="en-US" altLang="es-AR" sz="1500" dirty="0"/>
              <a:t> o </a:t>
            </a:r>
            <a:r>
              <a:rPr lang="en-US" altLang="es-AR" sz="1500" dirty="0" err="1"/>
              <a:t>menor</a:t>
            </a:r>
            <a:r>
              <a:rPr lang="en-US" altLang="es-AR" sz="1500" dirty="0"/>
              <a:t> </a:t>
            </a:r>
            <a:r>
              <a:rPr lang="en-US" altLang="es-AR" sz="1500" dirty="0" err="1"/>
              <a:t>longitud</a:t>
            </a:r>
            <a:r>
              <a:rPr lang="en-US" altLang="es-AR" sz="1500" dirty="0"/>
              <a:t> del </a:t>
            </a:r>
            <a:r>
              <a:rPr lang="en-US" altLang="es-AR" sz="1500" dirty="0" err="1"/>
              <a:t>polinomio</a:t>
            </a:r>
            <a:r>
              <a:rPr lang="en-US" altLang="es-AR" sz="1500" dirty="0"/>
              <a:t> CRC. </a:t>
            </a:r>
          </a:p>
          <a:p>
            <a:pPr marL="0">
              <a:spcBef>
                <a:spcPct val="0"/>
              </a:spcBef>
              <a:spcAft>
                <a:spcPts val="600"/>
              </a:spcAft>
            </a:pPr>
            <a:endParaRPr lang="en-US" altLang="es-AR" sz="1500" dirty="0"/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500" dirty="0" err="1"/>
              <a:t>Cuando</a:t>
            </a:r>
            <a:r>
              <a:rPr lang="en-US" altLang="es-AR" sz="1500" dirty="0"/>
              <a:t> el error es mas largo que el CR , CRC-16 </a:t>
            </a:r>
            <a:r>
              <a:rPr lang="en-US" altLang="es-AR" sz="1500" dirty="0" err="1"/>
              <a:t>detecta</a:t>
            </a:r>
            <a:r>
              <a:rPr lang="en-US" altLang="es-AR" sz="1500" dirty="0"/>
              <a:t> el 99.998% y el CRC-32 </a:t>
            </a:r>
            <a:r>
              <a:rPr lang="en-US" altLang="es-AR" sz="1500" dirty="0" err="1"/>
              <a:t>detecta</a:t>
            </a:r>
            <a:r>
              <a:rPr lang="en-US" altLang="es-AR" sz="1500" dirty="0"/>
              <a:t> 99.99999998% de </a:t>
            </a:r>
            <a:r>
              <a:rPr lang="en-US" altLang="es-AR" sz="1500" dirty="0" err="1"/>
              <a:t>ellos</a:t>
            </a:r>
            <a:r>
              <a:rPr lang="en-US" altLang="es-AR" sz="1500" dirty="0"/>
              <a:t>. 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sz="1500" dirty="0"/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800" b="1" dirty="0"/>
              <a:t>CRC-16 es P(x) = X</a:t>
            </a:r>
            <a:r>
              <a:rPr lang="en-US" altLang="es-AR" sz="1800" b="1" baseline="30000" dirty="0"/>
              <a:t>16</a:t>
            </a:r>
            <a:r>
              <a:rPr lang="en-US" altLang="es-AR" sz="1800" b="1" dirty="0"/>
              <a:t>+X</a:t>
            </a:r>
            <a:r>
              <a:rPr lang="en-US" altLang="es-AR" sz="1800" b="1" baseline="30000" dirty="0"/>
              <a:t>12</a:t>
            </a:r>
            <a:r>
              <a:rPr lang="en-US" altLang="es-AR" sz="1800" b="1" dirty="0"/>
              <a:t>+X</a:t>
            </a:r>
            <a:r>
              <a:rPr lang="en-US" altLang="es-AR" sz="1800" b="1" baseline="30000" dirty="0"/>
              <a:t>5</a:t>
            </a:r>
            <a:r>
              <a:rPr lang="en-US" altLang="es-AR" sz="1800" b="1" dirty="0"/>
              <a:t>+1 </a:t>
            </a:r>
            <a:r>
              <a:rPr lang="en-US" altLang="es-AR" sz="1800" b="1" dirty="0">
                <a:sym typeface="Wingdings" panose="05000000000000000000" pitchFamily="2" charset="2"/>
              </a:rPr>
              <a:t> </a:t>
            </a:r>
            <a:r>
              <a:rPr lang="en-US" altLang="es-AR" sz="1800" b="1" dirty="0" err="1">
                <a:sym typeface="Wingdings" panose="05000000000000000000" pitchFamily="2" charset="2"/>
              </a:rPr>
              <a:t>Polinomio</a:t>
            </a:r>
            <a:r>
              <a:rPr lang="en-US" altLang="es-AR" sz="1800" b="1" dirty="0">
                <a:sym typeface="Wingdings" panose="05000000000000000000" pitchFamily="2" charset="2"/>
              </a:rPr>
              <a:t> </a:t>
            </a:r>
            <a:r>
              <a:rPr lang="en-US" altLang="es-AR" sz="1800" b="1" dirty="0" err="1">
                <a:sym typeface="Wingdings" panose="05000000000000000000" pitchFamily="2" charset="2"/>
              </a:rPr>
              <a:t>Generador</a:t>
            </a:r>
            <a:endParaRPr lang="en-US" altLang="es-AR" sz="1800" b="1" dirty="0"/>
          </a:p>
          <a:p>
            <a:pPr marL="258318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500" dirty="0" err="1"/>
              <a:t>Errores</a:t>
            </a:r>
            <a:r>
              <a:rPr lang="en-US" altLang="es-AR" sz="1500" dirty="0"/>
              <a:t> simples = 100%</a:t>
            </a:r>
          </a:p>
          <a:p>
            <a:pPr marL="258318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500" dirty="0" err="1"/>
              <a:t>Errores</a:t>
            </a:r>
            <a:r>
              <a:rPr lang="en-US" altLang="es-AR" sz="1500" dirty="0"/>
              <a:t> </a:t>
            </a:r>
            <a:r>
              <a:rPr lang="en-US" altLang="es-AR" sz="1500" dirty="0" err="1"/>
              <a:t>dobles</a:t>
            </a:r>
            <a:r>
              <a:rPr lang="en-US" altLang="es-AR" sz="1500" dirty="0"/>
              <a:t> = 100%</a:t>
            </a:r>
          </a:p>
          <a:p>
            <a:pPr marL="258318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500" dirty="0" err="1"/>
              <a:t>Errores</a:t>
            </a:r>
            <a:r>
              <a:rPr lang="en-US" altLang="es-AR" sz="1500" dirty="0"/>
              <a:t> </a:t>
            </a:r>
            <a:r>
              <a:rPr lang="en-US" altLang="es-AR" sz="1500" dirty="0" err="1"/>
              <a:t>impares</a:t>
            </a:r>
            <a:r>
              <a:rPr lang="en-US" altLang="es-AR" sz="1500" dirty="0"/>
              <a:t> = 100%</a:t>
            </a:r>
          </a:p>
          <a:p>
            <a:pPr marL="258318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500" dirty="0" err="1"/>
              <a:t>Errores</a:t>
            </a:r>
            <a:r>
              <a:rPr lang="en-US" altLang="es-AR" sz="1500" dirty="0"/>
              <a:t> </a:t>
            </a:r>
            <a:r>
              <a:rPr lang="en-US" altLang="es-AR" sz="1500" dirty="0" err="1"/>
              <a:t>en</a:t>
            </a:r>
            <a:r>
              <a:rPr lang="en-US" altLang="es-AR" sz="1500" dirty="0"/>
              <a:t> </a:t>
            </a:r>
            <a:r>
              <a:rPr lang="en-US" altLang="es-AR" sz="1500" dirty="0" err="1"/>
              <a:t>ráfagas</a:t>
            </a:r>
            <a:endParaRPr lang="en-US" altLang="es-AR" sz="1500" dirty="0"/>
          </a:p>
          <a:p>
            <a:pPr marL="441198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500" dirty="0" err="1"/>
              <a:t>Menores</a:t>
            </a:r>
            <a:r>
              <a:rPr lang="en-US" altLang="es-AR" sz="1500" dirty="0"/>
              <a:t> que 17 bits = 100%</a:t>
            </a:r>
          </a:p>
          <a:p>
            <a:pPr marL="441198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500" dirty="0"/>
              <a:t>Hasta 17 bits = 99.997%</a:t>
            </a:r>
          </a:p>
          <a:p>
            <a:pPr marL="441198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500" dirty="0" err="1"/>
              <a:t>Mayores</a:t>
            </a:r>
            <a:r>
              <a:rPr lang="en-US" altLang="es-AR" sz="1500" dirty="0"/>
              <a:t> a 17 bits = 99.998% </a:t>
            </a:r>
          </a:p>
          <a:p>
            <a:pPr marL="0">
              <a:spcBef>
                <a:spcPct val="0"/>
              </a:spcBef>
              <a:spcAft>
                <a:spcPts val="600"/>
              </a:spcAft>
            </a:pPr>
            <a:endParaRPr lang="en-US" altLang="es-AR" sz="1500" dirty="0"/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500" dirty="0"/>
              <a:t>CRC-12 es P(x) = X</a:t>
            </a:r>
            <a:r>
              <a:rPr lang="en-US" altLang="es-AR" sz="1500" baseline="30000" dirty="0"/>
              <a:t>12</a:t>
            </a:r>
            <a:r>
              <a:rPr lang="en-US" altLang="es-AR" sz="1500" dirty="0"/>
              <a:t>+X</a:t>
            </a:r>
            <a:r>
              <a:rPr lang="en-US" altLang="es-AR" sz="1500" baseline="30000" dirty="0"/>
              <a:t>11</a:t>
            </a:r>
            <a:r>
              <a:rPr lang="en-US" altLang="es-AR" sz="1500" dirty="0"/>
              <a:t>+X</a:t>
            </a:r>
            <a:r>
              <a:rPr lang="en-US" altLang="es-AR" sz="1500" baseline="30000" dirty="0"/>
              <a:t>3</a:t>
            </a:r>
            <a:r>
              <a:rPr lang="en-US" altLang="es-AR" sz="1500" dirty="0"/>
              <a:t>+X</a:t>
            </a:r>
            <a:r>
              <a:rPr lang="en-US" altLang="es-AR" sz="1500" baseline="30000" dirty="0"/>
              <a:t>2</a:t>
            </a:r>
            <a:r>
              <a:rPr lang="en-US" altLang="es-AR" sz="1500" dirty="0"/>
              <a:t>+X</a:t>
            </a:r>
            <a:r>
              <a:rPr lang="en-US" altLang="es-AR" sz="1500" baseline="30000" dirty="0"/>
              <a:t>1</a:t>
            </a:r>
            <a:r>
              <a:rPr lang="en-US" altLang="es-AR" sz="1500" dirty="0"/>
              <a:t>+1</a:t>
            </a:r>
          </a:p>
          <a:p>
            <a:pPr marL="258318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1500" dirty="0" err="1"/>
              <a:t>Igual</a:t>
            </a:r>
            <a:r>
              <a:rPr lang="en-US" altLang="es-AR" sz="1500" dirty="0"/>
              <a:t> </a:t>
            </a:r>
            <a:r>
              <a:rPr lang="en-US" altLang="es-AR" sz="1500" dirty="0" err="1"/>
              <a:t>pero</a:t>
            </a:r>
            <a:r>
              <a:rPr lang="en-US" altLang="es-AR" sz="1500" dirty="0"/>
              <a:t> para 6 bits 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sz="1500" dirty="0"/>
          </a:p>
          <a:p>
            <a:pPr marL="0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sz="1500" dirty="0"/>
          </a:p>
        </p:txBody>
      </p:sp>
    </p:spTree>
    <p:extLst>
      <p:ext uri="{BB962C8B-B14F-4D97-AF65-F5344CB8AC3E}">
        <p14:creationId xmlns:p14="http://schemas.microsoft.com/office/powerpoint/2010/main" val="32183120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ubtítulo 2"/>
          <p:cNvSpPr txBox="1">
            <a:spLocks/>
          </p:cNvSpPr>
          <p:nvPr/>
        </p:nvSpPr>
        <p:spPr>
          <a:xfrm>
            <a:off x="6094105" y="802955"/>
            <a:ext cx="4977976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400" kern="120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Distancia mínima</a:t>
            </a:r>
          </a:p>
          <a:p>
            <a:pPr marL="0" indent="0">
              <a:spcBef>
                <a:spcPct val="0"/>
              </a:spcBef>
              <a:buNone/>
            </a:pPr>
            <a:endParaRPr lang="en-US" sz="4400" kern="1200">
              <a:solidFill>
                <a:srgbClr val="000000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buNone/>
            </a:pPr>
            <a:endParaRPr lang="en-US" sz="4400" kern="1200">
              <a:solidFill>
                <a:srgbClr val="0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6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5D0EE8F-DA51-42C9-A4D6-97D755718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49" y="1740475"/>
            <a:ext cx="3661831" cy="3397248"/>
          </a:xfrm>
          <a:prstGeom prst="rect">
            <a:avLst/>
          </a:prstGeom>
        </p:spPr>
      </p:pic>
      <p:sp>
        <p:nvSpPr>
          <p:cNvPr id="58371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6094503" y="1619454"/>
            <a:ext cx="4977578" cy="45201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>
                <a:solidFill>
                  <a:srgbClr val="000000"/>
                </a:solidFill>
              </a:rPr>
              <a:t>Sea un </a:t>
            </a:r>
            <a:r>
              <a:rPr lang="en-US" altLang="es-AR" dirty="0" err="1">
                <a:solidFill>
                  <a:srgbClr val="000000"/>
                </a:solidFill>
              </a:rPr>
              <a:t>código</a:t>
            </a:r>
            <a:r>
              <a:rPr lang="en-US" altLang="es-AR" dirty="0">
                <a:solidFill>
                  <a:srgbClr val="000000"/>
                </a:solidFill>
              </a:rPr>
              <a:t> con palabra de n bits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>
                <a:solidFill>
                  <a:srgbClr val="000000"/>
                </a:solidFill>
              </a:rPr>
              <a:t>La </a:t>
            </a:r>
            <a:r>
              <a:rPr lang="en-US" altLang="es-AR" dirty="0" err="1">
                <a:solidFill>
                  <a:srgbClr val="000000"/>
                </a:solidFill>
              </a:rPr>
              <a:t>distancia</a:t>
            </a:r>
            <a:r>
              <a:rPr lang="en-US" altLang="es-AR" dirty="0">
                <a:solidFill>
                  <a:srgbClr val="000000"/>
                </a:solidFill>
              </a:rPr>
              <a:t> </a:t>
            </a:r>
            <a:r>
              <a:rPr lang="en-US" altLang="es-AR" dirty="0" err="1">
                <a:solidFill>
                  <a:srgbClr val="000000"/>
                </a:solidFill>
              </a:rPr>
              <a:t>mínima</a:t>
            </a:r>
            <a:r>
              <a:rPr lang="en-US" altLang="es-AR" dirty="0">
                <a:solidFill>
                  <a:srgbClr val="000000"/>
                </a:solidFill>
              </a:rPr>
              <a:t> (</a:t>
            </a:r>
            <a:r>
              <a:rPr lang="en-US" altLang="es-AR" dirty="0" err="1">
                <a:solidFill>
                  <a:srgbClr val="000000"/>
                </a:solidFill>
              </a:rPr>
              <a:t>distancia</a:t>
            </a:r>
            <a:r>
              <a:rPr lang="en-US" altLang="es-AR" dirty="0">
                <a:solidFill>
                  <a:srgbClr val="000000"/>
                </a:solidFill>
              </a:rPr>
              <a:t> Hamming) de un </a:t>
            </a:r>
            <a:r>
              <a:rPr lang="en-US" altLang="es-AR" dirty="0" err="1">
                <a:solidFill>
                  <a:srgbClr val="000000"/>
                </a:solidFill>
              </a:rPr>
              <a:t>código</a:t>
            </a:r>
            <a:r>
              <a:rPr lang="en-US" altLang="es-AR" dirty="0">
                <a:solidFill>
                  <a:srgbClr val="000000"/>
                </a:solidFill>
              </a:rPr>
              <a:t> es el </a:t>
            </a:r>
            <a:r>
              <a:rPr lang="en-US" altLang="es-AR" dirty="0" err="1">
                <a:solidFill>
                  <a:srgbClr val="000000"/>
                </a:solidFill>
              </a:rPr>
              <a:t>número</a:t>
            </a:r>
            <a:r>
              <a:rPr lang="en-US" altLang="es-AR" dirty="0">
                <a:solidFill>
                  <a:srgbClr val="000000"/>
                </a:solidFill>
              </a:rPr>
              <a:t> de bits </a:t>
            </a:r>
            <a:r>
              <a:rPr lang="en-US" altLang="es-AR" dirty="0" err="1">
                <a:solidFill>
                  <a:srgbClr val="000000"/>
                </a:solidFill>
              </a:rPr>
              <a:t>en</a:t>
            </a:r>
            <a:r>
              <a:rPr lang="en-US" altLang="es-AR" dirty="0">
                <a:solidFill>
                  <a:srgbClr val="000000"/>
                </a:solidFill>
              </a:rPr>
              <a:t> los </a:t>
            </a:r>
            <a:r>
              <a:rPr lang="en-US" altLang="es-AR" dirty="0" err="1">
                <a:solidFill>
                  <a:srgbClr val="000000"/>
                </a:solidFill>
              </a:rPr>
              <a:t>cuales</a:t>
            </a:r>
            <a:r>
              <a:rPr lang="en-US" altLang="es-AR" dirty="0">
                <a:solidFill>
                  <a:srgbClr val="000000"/>
                </a:solidFill>
              </a:rPr>
              <a:t> dos </a:t>
            </a:r>
            <a:r>
              <a:rPr lang="en-US" altLang="es-AR" dirty="0" err="1">
                <a:solidFill>
                  <a:srgbClr val="000000"/>
                </a:solidFill>
              </a:rPr>
              <a:t>caracteres</a:t>
            </a:r>
            <a:r>
              <a:rPr lang="en-US" altLang="es-AR" dirty="0">
                <a:solidFill>
                  <a:srgbClr val="000000"/>
                </a:solidFill>
              </a:rPr>
              <a:t> de un </a:t>
            </a:r>
            <a:r>
              <a:rPr lang="en-US" altLang="es-AR" dirty="0" err="1">
                <a:solidFill>
                  <a:srgbClr val="000000"/>
                </a:solidFill>
              </a:rPr>
              <a:t>código</a:t>
            </a:r>
            <a:r>
              <a:rPr lang="en-US" altLang="es-AR" dirty="0">
                <a:solidFill>
                  <a:srgbClr val="000000"/>
                </a:solidFill>
              </a:rPr>
              <a:t> </a:t>
            </a:r>
            <a:r>
              <a:rPr lang="en-US" altLang="es-AR" dirty="0" err="1">
                <a:solidFill>
                  <a:srgbClr val="000000"/>
                </a:solidFill>
              </a:rPr>
              <a:t>difieren</a:t>
            </a:r>
            <a:endParaRPr lang="en-US" altLang="es-AR" dirty="0">
              <a:solidFill>
                <a:srgbClr val="000000"/>
              </a:solidFill>
            </a:endParaRP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>
                <a:solidFill>
                  <a:srgbClr val="000000"/>
                </a:solidFill>
              </a:rPr>
              <a:t>Para </a:t>
            </a:r>
            <a:r>
              <a:rPr lang="en-US" altLang="es-AR" dirty="0" err="1">
                <a:solidFill>
                  <a:srgbClr val="000000"/>
                </a:solidFill>
              </a:rPr>
              <a:t>poder</a:t>
            </a:r>
            <a:r>
              <a:rPr lang="en-US" altLang="es-AR" dirty="0">
                <a:solidFill>
                  <a:srgbClr val="000000"/>
                </a:solidFill>
              </a:rPr>
              <a:t> </a:t>
            </a:r>
            <a:r>
              <a:rPr lang="en-US" altLang="es-AR" dirty="0" err="1">
                <a:solidFill>
                  <a:srgbClr val="000000"/>
                </a:solidFill>
              </a:rPr>
              <a:t>corregir</a:t>
            </a:r>
            <a:r>
              <a:rPr lang="en-US" altLang="es-AR" dirty="0">
                <a:solidFill>
                  <a:srgbClr val="000000"/>
                </a:solidFill>
              </a:rPr>
              <a:t> 1 bit </a:t>
            </a:r>
            <a:r>
              <a:rPr lang="en-US" altLang="es-AR" dirty="0" err="1">
                <a:solidFill>
                  <a:srgbClr val="000000"/>
                </a:solidFill>
              </a:rPr>
              <a:t>debo</a:t>
            </a:r>
            <a:r>
              <a:rPr lang="en-US" altLang="es-AR" dirty="0">
                <a:solidFill>
                  <a:srgbClr val="000000"/>
                </a:solidFill>
              </a:rPr>
              <a:t> </a:t>
            </a:r>
            <a:r>
              <a:rPr lang="en-US" altLang="es-AR" dirty="0" err="1">
                <a:solidFill>
                  <a:srgbClr val="000000"/>
                </a:solidFill>
              </a:rPr>
              <a:t>tener</a:t>
            </a:r>
            <a:r>
              <a:rPr lang="en-US" altLang="es-AR" dirty="0">
                <a:solidFill>
                  <a:srgbClr val="000000"/>
                </a:solidFill>
              </a:rPr>
              <a:t> por lo </a:t>
            </a:r>
            <a:r>
              <a:rPr lang="en-US" altLang="es-AR" dirty="0" err="1">
                <a:solidFill>
                  <a:srgbClr val="000000"/>
                </a:solidFill>
              </a:rPr>
              <a:t>menos</a:t>
            </a:r>
            <a:r>
              <a:rPr lang="en-US" altLang="es-AR" dirty="0">
                <a:solidFill>
                  <a:srgbClr val="000000"/>
                </a:solidFill>
              </a:rPr>
              <a:t> una dist. de 3 (d=2n-1)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 err="1">
                <a:solidFill>
                  <a:srgbClr val="000000"/>
                </a:solidFill>
              </a:rPr>
              <a:t>Ejemplo</a:t>
            </a:r>
            <a:r>
              <a:rPr lang="en-US" altLang="es-AR" dirty="0">
                <a:solidFill>
                  <a:srgbClr val="000000"/>
                </a:solidFill>
              </a:rPr>
              <a:t>: </a:t>
            </a:r>
            <a:r>
              <a:rPr lang="en-US" altLang="es-AR" dirty="0" err="1">
                <a:solidFill>
                  <a:srgbClr val="000000"/>
                </a:solidFill>
              </a:rPr>
              <a:t>código</a:t>
            </a:r>
            <a:r>
              <a:rPr lang="en-US" altLang="es-AR" dirty="0">
                <a:solidFill>
                  <a:srgbClr val="000000"/>
                </a:solidFill>
              </a:rPr>
              <a:t> de 4 </a:t>
            </a:r>
            <a:r>
              <a:rPr lang="en-US" altLang="es-AR" dirty="0" err="1">
                <a:solidFill>
                  <a:srgbClr val="000000"/>
                </a:solidFill>
              </a:rPr>
              <a:t>caracteres</a:t>
            </a:r>
            <a:r>
              <a:rPr lang="en-US" altLang="es-AR" dirty="0">
                <a:solidFill>
                  <a:srgbClr val="000000"/>
                </a:solidFill>
              </a:rPr>
              <a:t> y 5 bits</a:t>
            </a:r>
          </a:p>
        </p:txBody>
      </p:sp>
    </p:spTree>
    <p:extLst>
      <p:ext uri="{BB962C8B-B14F-4D97-AF65-F5344CB8AC3E}">
        <p14:creationId xmlns:p14="http://schemas.microsoft.com/office/powerpoint/2010/main" val="40992006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/>
        </p:nvSpPr>
        <p:spPr>
          <a:xfrm>
            <a:off x="6094105" y="802955"/>
            <a:ext cx="4977976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400" kern="1200" dirty="0" err="1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Concluyendo</a:t>
            </a:r>
            <a:endParaRPr lang="en-US" sz="4400" kern="1200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endParaRPr lang="en-US" sz="4400" kern="1200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buNone/>
            </a:pPr>
            <a:endParaRPr lang="en-US" sz="4400" kern="1200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8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6584F8A7-AAD6-41EF-9BF4-0698507E03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254" y="1629089"/>
            <a:ext cx="3620021" cy="3620021"/>
          </a:xfrm>
          <a:prstGeom prst="rect">
            <a:avLst/>
          </a:prstGeom>
        </p:spPr>
      </p:pic>
      <p:sp>
        <p:nvSpPr>
          <p:cNvPr id="61443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000">
                <a:solidFill>
                  <a:srgbClr val="000000"/>
                </a:solidFill>
              </a:rPr>
              <a:t>En un código con distancia mínima de 3 bits:</a:t>
            </a:r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>
                <a:solidFill>
                  <a:srgbClr val="000000"/>
                </a:solidFill>
              </a:rPr>
              <a:t>Errores de 1 bit se pueden </a:t>
            </a:r>
            <a:r>
              <a:rPr lang="en-US" altLang="es-AR" u="sng">
                <a:solidFill>
                  <a:srgbClr val="000000"/>
                </a:solidFill>
              </a:rPr>
              <a:t>detectar y corregir</a:t>
            </a:r>
            <a:r>
              <a:rPr lang="en-US" altLang="es-AR">
                <a:solidFill>
                  <a:srgbClr val="000000"/>
                </a:solidFill>
              </a:rPr>
              <a:t> </a:t>
            </a:r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>
                <a:solidFill>
                  <a:srgbClr val="000000"/>
                </a:solidFill>
              </a:rPr>
              <a:t>Errores de 2 bits se pueden </a:t>
            </a:r>
            <a:r>
              <a:rPr lang="en-US" altLang="es-AR" u="sng">
                <a:solidFill>
                  <a:srgbClr val="000000"/>
                </a:solidFill>
              </a:rPr>
              <a:t>detectar</a:t>
            </a:r>
            <a:r>
              <a:rPr lang="en-US" altLang="es-AR">
                <a:solidFill>
                  <a:srgbClr val="000000"/>
                </a:solidFill>
              </a:rPr>
              <a:t> pero no corregir.</a:t>
            </a:r>
          </a:p>
          <a:p>
            <a:pPr marL="771525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>
                <a:solidFill>
                  <a:srgbClr val="000000"/>
                </a:solidFill>
              </a:rPr>
              <a:t>Errores de 3 o mas bits no siempre pueden detectarse </a:t>
            </a:r>
          </a:p>
        </p:txBody>
      </p:sp>
    </p:spTree>
    <p:extLst>
      <p:ext uri="{BB962C8B-B14F-4D97-AF65-F5344CB8AC3E}">
        <p14:creationId xmlns:p14="http://schemas.microsoft.com/office/powerpoint/2010/main" val="20121996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838200" y="963877"/>
            <a:ext cx="3494362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en-US" sz="44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Código Hamming</a:t>
            </a:r>
          </a:p>
          <a:p>
            <a:pPr marL="0" indent="0" algn="r">
              <a:spcBef>
                <a:spcPct val="0"/>
              </a:spcBef>
              <a:buNone/>
            </a:pPr>
            <a:endParaRPr lang="en-US" sz="4400" kern="12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algn="r">
              <a:spcBef>
                <a:spcPct val="0"/>
              </a:spcBef>
              <a:buNone/>
            </a:pPr>
            <a:endParaRPr lang="en-US" sz="4400" kern="12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467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200" dirty="0" err="1"/>
              <a:t>Inventado</a:t>
            </a:r>
            <a:r>
              <a:rPr lang="en-US" altLang="es-AR" sz="2200" dirty="0"/>
              <a:t> por Richard Hamming </a:t>
            </a:r>
            <a:r>
              <a:rPr lang="en-US" altLang="es-AR" sz="2200" dirty="0" err="1"/>
              <a:t>en</a:t>
            </a:r>
            <a:r>
              <a:rPr lang="en-US" altLang="es-AR" sz="2200" dirty="0"/>
              <a:t> 1950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200" dirty="0" err="1"/>
              <a:t>Basado</a:t>
            </a:r>
            <a:r>
              <a:rPr lang="en-US" altLang="es-AR" sz="2200" dirty="0"/>
              <a:t> </a:t>
            </a:r>
            <a:r>
              <a:rPr lang="en-US" altLang="es-AR" sz="2200" dirty="0" err="1"/>
              <a:t>en</a:t>
            </a:r>
            <a:r>
              <a:rPr lang="en-US" altLang="es-AR" sz="2200" dirty="0"/>
              <a:t> dos </a:t>
            </a:r>
            <a:r>
              <a:rPr lang="en-US" altLang="es-AR" sz="2200" dirty="0" err="1"/>
              <a:t>conceptos</a:t>
            </a:r>
            <a:r>
              <a:rPr lang="en-US" altLang="es-AR" sz="2200" dirty="0"/>
              <a:t>: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200" dirty="0" err="1"/>
              <a:t>Redundancia</a:t>
            </a:r>
            <a:r>
              <a:rPr lang="en-US" altLang="es-AR" sz="2200" dirty="0"/>
              <a:t>: </a:t>
            </a:r>
            <a:r>
              <a:rPr lang="en-US" altLang="es-AR" sz="2200" dirty="0" err="1"/>
              <a:t>mensaje</a:t>
            </a:r>
            <a:r>
              <a:rPr lang="en-US" altLang="es-AR" sz="2200" dirty="0"/>
              <a:t> es </a:t>
            </a:r>
            <a:r>
              <a:rPr lang="en-US" altLang="es-AR" sz="2200" dirty="0" err="1"/>
              <a:t>dividido</a:t>
            </a:r>
            <a:r>
              <a:rPr lang="en-US" altLang="es-AR" sz="2200" dirty="0"/>
              <a:t> </a:t>
            </a:r>
            <a:r>
              <a:rPr lang="en-US" altLang="es-AR" sz="2200" dirty="0" err="1"/>
              <a:t>en</a:t>
            </a:r>
            <a:r>
              <a:rPr lang="en-US" altLang="es-AR" sz="2200" dirty="0"/>
              <a:t> dos </a:t>
            </a:r>
            <a:r>
              <a:rPr lang="en-US" altLang="es-AR" sz="2200" dirty="0" err="1"/>
              <a:t>partes</a:t>
            </a:r>
            <a:r>
              <a:rPr lang="en-US" altLang="es-AR" sz="2200" dirty="0"/>
              <a:t> 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200" dirty="0"/>
              <a:t>los bits de </a:t>
            </a:r>
            <a:r>
              <a:rPr lang="en-US" altLang="es-AR" sz="2200" dirty="0" err="1"/>
              <a:t>datos</a:t>
            </a:r>
            <a:r>
              <a:rPr lang="en-US" altLang="es-AR" sz="2200" dirty="0"/>
              <a:t> del </a:t>
            </a:r>
            <a:r>
              <a:rPr lang="en-US" altLang="es-AR" sz="2200" dirty="0" err="1"/>
              <a:t>mensaje</a:t>
            </a:r>
            <a:endParaRPr lang="en-US" altLang="es-AR" sz="2200" dirty="0"/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200" dirty="0"/>
              <a:t>los bits de </a:t>
            </a:r>
            <a:r>
              <a:rPr lang="en-US" altLang="es-AR" sz="2200" dirty="0" err="1"/>
              <a:t>redundancia</a:t>
            </a:r>
            <a:r>
              <a:rPr lang="en-US" altLang="es-AR" sz="2200" dirty="0"/>
              <a:t> para </a:t>
            </a:r>
            <a:r>
              <a:rPr lang="en-US" altLang="es-AR" sz="2200" dirty="0" err="1"/>
              <a:t>verificar</a:t>
            </a:r>
            <a:r>
              <a:rPr lang="en-US" altLang="es-AR" sz="2200" dirty="0"/>
              <a:t> el </a:t>
            </a:r>
            <a:r>
              <a:rPr lang="en-US" altLang="es-AR" sz="2200" dirty="0" err="1"/>
              <a:t>mensaje</a:t>
            </a:r>
            <a:endParaRPr lang="en-US" altLang="es-AR" sz="2200" dirty="0"/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200" dirty="0"/>
              <a:t>El </a:t>
            </a:r>
            <a:r>
              <a:rPr lang="en-US" altLang="es-AR" sz="2200" dirty="0" err="1"/>
              <a:t>concepto</a:t>
            </a:r>
            <a:r>
              <a:rPr lang="en-US" altLang="es-AR" sz="2200" dirty="0"/>
              <a:t> de </a:t>
            </a:r>
            <a:r>
              <a:rPr lang="en-US" altLang="es-AR" sz="2200" dirty="0" err="1"/>
              <a:t>paridad</a:t>
            </a:r>
            <a:endParaRPr lang="en-US" altLang="es-AR" sz="2200" dirty="0"/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200" dirty="0"/>
              <a:t>valor de los bits de </a:t>
            </a:r>
            <a:r>
              <a:rPr lang="en-US" altLang="es-AR" sz="2200" dirty="0" err="1"/>
              <a:t>redundancia</a:t>
            </a:r>
            <a:endParaRPr lang="en-US" altLang="es-AR" sz="2200" dirty="0"/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200" dirty="0"/>
              <a:t>bit </a:t>
            </a:r>
            <a:r>
              <a:rPr lang="en-US" altLang="es-AR" sz="2200" dirty="0" err="1"/>
              <a:t>paridad</a:t>
            </a:r>
            <a:r>
              <a:rPr lang="en-US" altLang="es-AR" sz="2200" dirty="0"/>
              <a:t> par: el bit </a:t>
            </a:r>
            <a:r>
              <a:rPr lang="en-US" altLang="es-AR" sz="2200" dirty="0" err="1"/>
              <a:t>tiene</a:t>
            </a:r>
            <a:r>
              <a:rPr lang="en-US" altLang="es-AR" sz="2200" dirty="0"/>
              <a:t> el valor de </a:t>
            </a:r>
            <a:r>
              <a:rPr lang="en-US" altLang="es-AR" sz="2200" dirty="0" err="1"/>
              <a:t>tal</a:t>
            </a:r>
            <a:r>
              <a:rPr lang="en-US" altLang="es-AR" sz="2200" dirty="0"/>
              <a:t> forma que el peso de la palabra sea par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200" dirty="0"/>
              <a:t>bit </a:t>
            </a:r>
            <a:r>
              <a:rPr lang="en-US" altLang="es-AR" sz="2200" dirty="0" err="1"/>
              <a:t>paridad</a:t>
            </a:r>
            <a:r>
              <a:rPr lang="en-US" altLang="es-AR" sz="2200" dirty="0"/>
              <a:t> impar: el bit </a:t>
            </a:r>
            <a:r>
              <a:rPr lang="en-US" altLang="es-AR" sz="2200" dirty="0" err="1"/>
              <a:t>tiene</a:t>
            </a:r>
            <a:r>
              <a:rPr lang="en-US" altLang="es-AR" sz="2200" dirty="0"/>
              <a:t> el valor de </a:t>
            </a:r>
            <a:r>
              <a:rPr lang="en-US" altLang="es-AR" sz="2200" dirty="0" err="1"/>
              <a:t>tal</a:t>
            </a:r>
            <a:r>
              <a:rPr lang="en-US" altLang="es-AR" sz="2200" dirty="0"/>
              <a:t> forma que el peso de la palabra sea impar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</a:pPr>
            <a:r>
              <a:rPr lang="en-US" altLang="es-AR" sz="2200" dirty="0"/>
              <a:t>2p &gt; n+p+1 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sz="2200" dirty="0"/>
          </a:p>
        </p:txBody>
      </p:sp>
    </p:spTree>
    <p:extLst>
      <p:ext uri="{BB962C8B-B14F-4D97-AF65-F5344CB8AC3E}">
        <p14:creationId xmlns:p14="http://schemas.microsoft.com/office/powerpoint/2010/main" val="31480917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ubtítulo 2"/>
          <p:cNvSpPr txBox="1">
            <a:spLocks/>
          </p:cNvSpPr>
          <p:nvPr/>
        </p:nvSpPr>
        <p:spPr>
          <a:xfrm>
            <a:off x="506246" y="1022688"/>
            <a:ext cx="3993582" cy="2887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Características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buNone/>
            </a:pP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674237" y="4170501"/>
            <a:ext cx="3657600" cy="22396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Clr>
                <a:srgbClr val="000000"/>
              </a:buClr>
              <a:buNone/>
            </a:pPr>
            <a:r>
              <a:rPr lang="en-US" altLang="es-AR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Es un </a:t>
            </a:r>
            <a:r>
              <a:rPr lang="en-US" altLang="es-AR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código</a:t>
            </a:r>
            <a:r>
              <a:rPr lang="en-US" altLang="es-AR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es-AR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autocorrector</a:t>
            </a:r>
            <a:r>
              <a:rPr lang="en-US" altLang="es-AR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que </a:t>
            </a:r>
            <a:r>
              <a:rPr lang="en-US" altLang="es-AR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permite</a:t>
            </a:r>
            <a:r>
              <a:rPr lang="en-US" altLang="es-AR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es-AR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detectar</a:t>
            </a:r>
            <a:r>
              <a:rPr lang="en-US" altLang="es-AR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y </a:t>
            </a:r>
            <a:r>
              <a:rPr lang="en-US" altLang="es-AR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corregir</a:t>
            </a:r>
            <a:r>
              <a:rPr lang="en-US" altLang="es-AR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es-AR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errores</a:t>
            </a:r>
            <a:r>
              <a:rPr lang="en-US" altLang="es-AR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es-AR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mediante</a:t>
            </a:r>
            <a:r>
              <a:rPr lang="en-US" altLang="es-AR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el </a:t>
            </a:r>
            <a:r>
              <a:rPr lang="en-US" altLang="es-AR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empleo</a:t>
            </a:r>
            <a:r>
              <a:rPr lang="en-US" altLang="es-AR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bits de </a:t>
            </a:r>
            <a:r>
              <a:rPr lang="en-US" altLang="es-AR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paridad</a:t>
            </a:r>
            <a:r>
              <a:rPr lang="en-US" altLang="es-AR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con </a:t>
            </a:r>
            <a:r>
              <a:rPr lang="en-US" altLang="es-AR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determinadas</a:t>
            </a:r>
            <a:r>
              <a:rPr lang="en-US" altLang="es-AR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es-AR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combinaciones</a:t>
            </a:r>
            <a:r>
              <a:rPr lang="en-US" altLang="es-AR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es-AR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únicas</a:t>
            </a:r>
            <a:r>
              <a:rPr lang="en-US" altLang="es-AR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bit de </a:t>
            </a:r>
            <a:r>
              <a:rPr lang="en-US" altLang="es-AR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información</a:t>
            </a:r>
            <a:endParaRPr lang="en-US" altLang="es-AR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 algn="ctr">
              <a:buClr>
                <a:srgbClr val="000000"/>
              </a:buClr>
              <a:buNone/>
            </a:pPr>
            <a:r>
              <a:rPr lang="en-US" altLang="es-AR" sz="17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Los bits de </a:t>
            </a:r>
            <a:r>
              <a:rPr lang="en-US" altLang="es-AR" sz="1700" b="1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paridad</a:t>
            </a:r>
            <a:r>
              <a:rPr lang="en-US" altLang="es-AR" sz="17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se </a:t>
            </a:r>
            <a:r>
              <a:rPr lang="en-US" altLang="es-AR" sz="1700" b="1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ubican</a:t>
            </a:r>
            <a:r>
              <a:rPr lang="en-US" altLang="es-AR" sz="17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SIEMPRE </a:t>
            </a:r>
            <a:r>
              <a:rPr lang="en-US" altLang="es-AR" sz="1700" b="1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altLang="es-AR" sz="17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las </a:t>
            </a:r>
            <a:r>
              <a:rPr lang="en-US" altLang="es-AR" sz="1700" b="1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posiciones</a:t>
            </a:r>
            <a:r>
              <a:rPr lang="en-US" altLang="es-AR" sz="17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que son </a:t>
            </a:r>
            <a:r>
              <a:rPr lang="en-US" altLang="es-AR" sz="1700" b="1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potencias</a:t>
            </a:r>
            <a:r>
              <a:rPr lang="en-US" altLang="es-AR" sz="17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2 (por </a:t>
            </a:r>
            <a:r>
              <a:rPr lang="en-US" altLang="es-AR" sz="1700" b="1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ej</a:t>
            </a:r>
            <a:r>
              <a:rPr lang="en-US" altLang="es-AR" sz="17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: 2</a:t>
            </a:r>
            <a:r>
              <a:rPr lang="en-US" altLang="es-AR" sz="1700" b="1" kern="1200" baseline="300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altLang="es-AR" sz="17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= 1).</a:t>
            </a:r>
            <a:r>
              <a:rPr lang="en-US" altLang="es-AR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marL="0" lvl="2" indent="0" algn="ctr">
              <a:spcBef>
                <a:spcPts val="1000"/>
              </a:spcBef>
              <a:buClr>
                <a:srgbClr val="000000"/>
              </a:buClr>
              <a:buNone/>
            </a:pPr>
            <a:endParaRPr lang="en-US" altLang="es-AR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77637065-0472-41FE-9647-5ABC979AD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822" y="1524251"/>
            <a:ext cx="6553545" cy="381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2358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BA43B6FA-63CE-4A88-BC87-60BA6F4C1E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842283"/>
              </p:ext>
            </p:extLst>
          </p:nvPr>
        </p:nvGraphicFramePr>
        <p:xfrm>
          <a:off x="823963" y="2658285"/>
          <a:ext cx="1076752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70">
                  <a:extLst>
                    <a:ext uri="{9D8B030D-6E8A-4147-A177-3AD203B41FA5}">
                      <a16:colId xmlns:a16="http://schemas.microsoft.com/office/drawing/2014/main" val="2129052307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232454559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529173381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4019503642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250451641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4015598981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319526078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347454826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172988076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25795488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88384638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57382972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4039917049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778815496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22548947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785559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902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6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529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87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885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974999"/>
                  </a:ext>
                </a:extLst>
              </a:tr>
            </a:tbl>
          </a:graphicData>
        </a:graphic>
      </p:graphicFrame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BDEE2B48-ED0A-4371-A4D8-1C52AA325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609046"/>
              </p:ext>
            </p:extLst>
          </p:nvPr>
        </p:nvGraphicFramePr>
        <p:xfrm>
          <a:off x="823963" y="4512485"/>
          <a:ext cx="1076752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72970">
                  <a:extLst>
                    <a:ext uri="{9D8B030D-6E8A-4147-A177-3AD203B41FA5}">
                      <a16:colId xmlns:a16="http://schemas.microsoft.com/office/drawing/2014/main" val="209293420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252043114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9374533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055875285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356726457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50611294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265519039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201804551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82566748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39751531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748577512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4205300311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87812975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79839282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88812815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177727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p</a:t>
                      </a:r>
                      <a:r>
                        <a:rPr lang="es-AR" baseline="-25000" dirty="0"/>
                        <a:t>1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p</a:t>
                      </a:r>
                      <a:r>
                        <a:rPr lang="es-AR" baseline="-25000" dirty="0"/>
                        <a:t>2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p</a:t>
                      </a:r>
                      <a:r>
                        <a:rPr lang="es-AR" baseline="-25000" dirty="0"/>
                        <a:t>4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p</a:t>
                      </a:r>
                      <a:r>
                        <a:rPr lang="es-AR" baseline="-25000" dirty="0"/>
                        <a:t>8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p</a:t>
                      </a:r>
                      <a:r>
                        <a:rPr lang="es-AR" baseline="-25000" dirty="0"/>
                        <a:t>16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094623"/>
                  </a:ext>
                </a:extLst>
              </a:tr>
            </a:tbl>
          </a:graphicData>
        </a:graphic>
      </p:graphicFrame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4AFD7410-FC2D-423E-86BC-01ADA806A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466262"/>
              </p:ext>
            </p:extLst>
          </p:nvPr>
        </p:nvGraphicFramePr>
        <p:xfrm>
          <a:off x="823963" y="4141645"/>
          <a:ext cx="1076752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2970">
                  <a:extLst>
                    <a:ext uri="{9D8B030D-6E8A-4147-A177-3AD203B41FA5}">
                      <a16:colId xmlns:a16="http://schemas.microsoft.com/office/drawing/2014/main" val="209293420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252043114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9374533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055875285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356726457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50611294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265519039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201804551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82566748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39751531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748577512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4205300311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87812975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79839282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88812815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177727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FF0000"/>
                          </a:solidFill>
                        </a:rPr>
                        <a:t>p</a:t>
                      </a:r>
                      <a:r>
                        <a:rPr lang="es-AR" baseline="-250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s-A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FF000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s-A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FF000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s-A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FF000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s-A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FF000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s-A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FF000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es-A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FF000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es-A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FF000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s-A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094623"/>
                  </a:ext>
                </a:extLst>
              </a:tr>
            </a:tbl>
          </a:graphicData>
        </a:graphic>
      </p:graphicFrame>
      <p:graphicFrame>
        <p:nvGraphicFramePr>
          <p:cNvPr id="7" name="Tabla 4">
            <a:extLst>
              <a:ext uri="{FF2B5EF4-FFF2-40B4-BE49-F238E27FC236}">
                <a16:creationId xmlns:a16="http://schemas.microsoft.com/office/drawing/2014/main" id="{B542BFEE-E627-4133-BFCF-2D91EFFB5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540146"/>
              </p:ext>
            </p:extLst>
          </p:nvPr>
        </p:nvGraphicFramePr>
        <p:xfrm>
          <a:off x="823963" y="3399965"/>
          <a:ext cx="1076752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2970">
                  <a:extLst>
                    <a:ext uri="{9D8B030D-6E8A-4147-A177-3AD203B41FA5}">
                      <a16:colId xmlns:a16="http://schemas.microsoft.com/office/drawing/2014/main" val="209293420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252043114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9374533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055875285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356726457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50611294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265519039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201804551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82566748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39751531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748577512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4205300311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87812975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79839282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88812815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177727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70C0"/>
                          </a:solidFill>
                        </a:rPr>
                        <a:t>p</a:t>
                      </a:r>
                      <a:r>
                        <a:rPr lang="es-AR" baseline="-25000" dirty="0">
                          <a:solidFill>
                            <a:srgbClr val="0070C0"/>
                          </a:solidFill>
                        </a:rPr>
                        <a:t>4</a:t>
                      </a:r>
                      <a:endParaRPr lang="es-AR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70C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70C0"/>
                          </a:solidFill>
                        </a:rPr>
                        <a:t>5</a:t>
                      </a:r>
                      <a:endParaRPr lang="es-AR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70C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70C0"/>
                          </a:solidFill>
                        </a:rPr>
                        <a:t>6</a:t>
                      </a:r>
                      <a:endParaRPr lang="es-AR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70C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70C0"/>
                          </a:solidFill>
                        </a:rPr>
                        <a:t>7</a:t>
                      </a:r>
                      <a:endParaRPr lang="es-AR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70C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70C0"/>
                          </a:solidFill>
                        </a:rPr>
                        <a:t>12</a:t>
                      </a:r>
                      <a:endParaRPr lang="es-AR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70C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70C0"/>
                          </a:solidFill>
                        </a:rPr>
                        <a:t>13</a:t>
                      </a:r>
                      <a:endParaRPr lang="es-AR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70C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70C0"/>
                          </a:solidFill>
                        </a:rPr>
                        <a:t>14</a:t>
                      </a:r>
                      <a:endParaRPr lang="es-AR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70C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70C0"/>
                          </a:solidFill>
                        </a:rPr>
                        <a:t>15</a:t>
                      </a:r>
                      <a:endParaRPr lang="es-AR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094623"/>
                  </a:ext>
                </a:extLst>
              </a:tr>
            </a:tbl>
          </a:graphicData>
        </a:graphic>
      </p:graphicFrame>
      <p:graphicFrame>
        <p:nvGraphicFramePr>
          <p:cNvPr id="8" name="Tabla 4">
            <a:extLst>
              <a:ext uri="{FF2B5EF4-FFF2-40B4-BE49-F238E27FC236}">
                <a16:creationId xmlns:a16="http://schemas.microsoft.com/office/drawing/2014/main" id="{02B234A6-AAD0-466A-B6F0-4BBF1225F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046712"/>
              </p:ext>
            </p:extLst>
          </p:nvPr>
        </p:nvGraphicFramePr>
        <p:xfrm>
          <a:off x="823963" y="3770805"/>
          <a:ext cx="1076752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72970">
                  <a:extLst>
                    <a:ext uri="{9D8B030D-6E8A-4147-A177-3AD203B41FA5}">
                      <a16:colId xmlns:a16="http://schemas.microsoft.com/office/drawing/2014/main" val="209293420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252043114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9374533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055875285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356726457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50611294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265519039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201804551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82566748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39751531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748577512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4205300311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87812975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79839282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88812815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177727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B050"/>
                          </a:solidFill>
                        </a:rPr>
                        <a:t>p</a:t>
                      </a:r>
                      <a:r>
                        <a:rPr lang="es-AR" baseline="-25000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es-AR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B05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B050"/>
                          </a:solidFill>
                        </a:rPr>
                        <a:t>3</a:t>
                      </a:r>
                      <a:endParaRPr lang="es-AR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B05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B050"/>
                          </a:solidFill>
                        </a:rPr>
                        <a:t>6</a:t>
                      </a:r>
                      <a:endParaRPr lang="es-AR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B05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B050"/>
                          </a:solidFill>
                        </a:rPr>
                        <a:t>7</a:t>
                      </a:r>
                      <a:endParaRPr lang="es-AR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B05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B050"/>
                          </a:solidFill>
                        </a:rPr>
                        <a:t>10</a:t>
                      </a:r>
                      <a:endParaRPr lang="es-AR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B05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B050"/>
                          </a:solidFill>
                        </a:rPr>
                        <a:t>11</a:t>
                      </a:r>
                      <a:endParaRPr lang="es-AR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B05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B050"/>
                          </a:solidFill>
                        </a:rPr>
                        <a:t>14</a:t>
                      </a:r>
                      <a:endParaRPr lang="es-AR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B05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B050"/>
                          </a:solidFill>
                        </a:rPr>
                        <a:t>15</a:t>
                      </a:r>
                      <a:endParaRPr lang="es-AR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094623"/>
                  </a:ext>
                </a:extLst>
              </a:tr>
            </a:tbl>
          </a:graphicData>
        </a:graphic>
      </p:graphicFrame>
      <p:graphicFrame>
        <p:nvGraphicFramePr>
          <p:cNvPr id="9" name="Tabla 4">
            <a:extLst>
              <a:ext uri="{FF2B5EF4-FFF2-40B4-BE49-F238E27FC236}">
                <a16:creationId xmlns:a16="http://schemas.microsoft.com/office/drawing/2014/main" id="{0110DD9F-999A-4183-B2CF-2E7498C8C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250638"/>
              </p:ext>
            </p:extLst>
          </p:nvPr>
        </p:nvGraphicFramePr>
        <p:xfrm>
          <a:off x="823963" y="3029125"/>
          <a:ext cx="1076752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72970">
                  <a:extLst>
                    <a:ext uri="{9D8B030D-6E8A-4147-A177-3AD203B41FA5}">
                      <a16:colId xmlns:a16="http://schemas.microsoft.com/office/drawing/2014/main" val="209293420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252043114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9374533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055875285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356726457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50611294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265519039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201804551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82566748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39751531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748577512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4205300311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87812975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79839282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88812815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177727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2060"/>
                          </a:solidFill>
                        </a:rPr>
                        <a:t>p</a:t>
                      </a:r>
                      <a:r>
                        <a:rPr lang="es-AR" baseline="-25000" dirty="0">
                          <a:solidFill>
                            <a:srgbClr val="002060"/>
                          </a:solidFill>
                        </a:rPr>
                        <a:t>8</a:t>
                      </a:r>
                      <a:endParaRPr lang="es-A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206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2060"/>
                          </a:solidFill>
                        </a:rPr>
                        <a:t>9</a:t>
                      </a:r>
                      <a:endParaRPr lang="es-A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206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2060"/>
                          </a:solidFill>
                        </a:rPr>
                        <a:t>10</a:t>
                      </a:r>
                      <a:endParaRPr lang="es-A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206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2060"/>
                          </a:solidFill>
                        </a:rPr>
                        <a:t>11</a:t>
                      </a:r>
                      <a:endParaRPr lang="es-A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206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2060"/>
                          </a:solidFill>
                        </a:rPr>
                        <a:t>12</a:t>
                      </a:r>
                      <a:endParaRPr lang="es-A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206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2060"/>
                          </a:solidFill>
                        </a:rPr>
                        <a:t>13</a:t>
                      </a:r>
                      <a:endParaRPr lang="es-A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206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2060"/>
                          </a:solidFill>
                        </a:rPr>
                        <a:t>14</a:t>
                      </a:r>
                      <a:endParaRPr lang="es-A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>
                          <a:solidFill>
                            <a:srgbClr val="002060"/>
                          </a:solidFill>
                        </a:rPr>
                        <a:t>i</a:t>
                      </a:r>
                      <a:r>
                        <a:rPr lang="es-AR" baseline="-25000" dirty="0">
                          <a:solidFill>
                            <a:srgbClr val="002060"/>
                          </a:solidFill>
                        </a:rPr>
                        <a:t>15</a:t>
                      </a:r>
                      <a:endParaRPr lang="es-A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094623"/>
                  </a:ext>
                </a:extLst>
              </a:tr>
            </a:tbl>
          </a:graphicData>
        </a:graphic>
      </p:graphicFrame>
      <p:grpSp>
        <p:nvGrpSpPr>
          <p:cNvPr id="21" name="Grupo 20">
            <a:extLst>
              <a:ext uri="{FF2B5EF4-FFF2-40B4-BE49-F238E27FC236}">
                <a16:creationId xmlns:a16="http://schemas.microsoft.com/office/drawing/2014/main" id="{FA90DB1D-81CA-43A9-9A53-38EDCE6E7F2F}"/>
              </a:ext>
            </a:extLst>
          </p:cNvPr>
          <p:cNvGrpSpPr/>
          <p:nvPr/>
        </p:nvGrpSpPr>
        <p:grpSpPr>
          <a:xfrm>
            <a:off x="944543" y="1818757"/>
            <a:ext cx="9813165" cy="839528"/>
            <a:chOff x="904351" y="1979525"/>
            <a:chExt cx="9813165" cy="839528"/>
          </a:xfrm>
          <a:solidFill>
            <a:srgbClr val="FF0000"/>
          </a:solidFill>
        </p:grpSpPr>
        <p:sp>
          <p:nvSpPr>
            <p:cNvPr id="12" name="Flecha: hacia abajo 11">
              <a:extLst>
                <a:ext uri="{FF2B5EF4-FFF2-40B4-BE49-F238E27FC236}">
                  <a16:creationId xmlns:a16="http://schemas.microsoft.com/office/drawing/2014/main" id="{0819B9CD-EE37-47B1-B820-83E68779BB65}"/>
                </a:ext>
              </a:extLst>
            </p:cNvPr>
            <p:cNvSpPr/>
            <p:nvPr/>
          </p:nvSpPr>
          <p:spPr>
            <a:xfrm>
              <a:off x="904351" y="2055377"/>
              <a:ext cx="391886" cy="763675"/>
            </a:xfrm>
            <a:prstGeom prst="downArrow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3" name="Flecha: hacia abajo 12">
              <a:extLst>
                <a:ext uri="{FF2B5EF4-FFF2-40B4-BE49-F238E27FC236}">
                  <a16:creationId xmlns:a16="http://schemas.microsoft.com/office/drawing/2014/main" id="{8E461112-3793-4C22-812B-474F51927CFC}"/>
                </a:ext>
              </a:extLst>
            </p:cNvPr>
            <p:cNvSpPr/>
            <p:nvPr/>
          </p:nvSpPr>
          <p:spPr>
            <a:xfrm>
              <a:off x="2272599" y="2055378"/>
              <a:ext cx="391886" cy="763675"/>
            </a:xfrm>
            <a:prstGeom prst="downArrow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4" name="Flecha: hacia abajo 13">
              <a:extLst>
                <a:ext uri="{FF2B5EF4-FFF2-40B4-BE49-F238E27FC236}">
                  <a16:creationId xmlns:a16="http://schemas.microsoft.com/office/drawing/2014/main" id="{192106AE-20DB-499C-8D34-35558218B974}"/>
                </a:ext>
              </a:extLst>
            </p:cNvPr>
            <p:cNvSpPr/>
            <p:nvPr/>
          </p:nvSpPr>
          <p:spPr>
            <a:xfrm>
              <a:off x="3640847" y="2055378"/>
              <a:ext cx="391886" cy="763675"/>
            </a:xfrm>
            <a:prstGeom prst="downArrow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5" name="Flecha: hacia abajo 14">
              <a:extLst>
                <a:ext uri="{FF2B5EF4-FFF2-40B4-BE49-F238E27FC236}">
                  <a16:creationId xmlns:a16="http://schemas.microsoft.com/office/drawing/2014/main" id="{1F190B9F-A227-4572-9FE7-0F159FBF40AC}"/>
                </a:ext>
              </a:extLst>
            </p:cNvPr>
            <p:cNvSpPr/>
            <p:nvPr/>
          </p:nvSpPr>
          <p:spPr>
            <a:xfrm>
              <a:off x="4994800" y="2055376"/>
              <a:ext cx="391886" cy="763675"/>
            </a:xfrm>
            <a:prstGeom prst="downArrow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6" name="Flecha: hacia abajo 15">
              <a:extLst>
                <a:ext uri="{FF2B5EF4-FFF2-40B4-BE49-F238E27FC236}">
                  <a16:creationId xmlns:a16="http://schemas.microsoft.com/office/drawing/2014/main" id="{C066DA0B-2229-4DCD-AAA7-1CDF8AD63208}"/>
                </a:ext>
              </a:extLst>
            </p:cNvPr>
            <p:cNvSpPr/>
            <p:nvPr/>
          </p:nvSpPr>
          <p:spPr>
            <a:xfrm>
              <a:off x="6348754" y="2055376"/>
              <a:ext cx="391886" cy="763675"/>
            </a:xfrm>
            <a:prstGeom prst="downArrow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7" name="Flecha: hacia abajo 16">
              <a:extLst>
                <a:ext uri="{FF2B5EF4-FFF2-40B4-BE49-F238E27FC236}">
                  <a16:creationId xmlns:a16="http://schemas.microsoft.com/office/drawing/2014/main" id="{4B78D669-9CCD-4171-B0A9-A742D7FDB4C7}"/>
                </a:ext>
              </a:extLst>
            </p:cNvPr>
            <p:cNvSpPr/>
            <p:nvPr/>
          </p:nvSpPr>
          <p:spPr>
            <a:xfrm>
              <a:off x="7688414" y="2055376"/>
              <a:ext cx="391886" cy="763675"/>
            </a:xfrm>
            <a:prstGeom prst="downArrow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8" name="Flecha: hacia abajo 17">
              <a:extLst>
                <a:ext uri="{FF2B5EF4-FFF2-40B4-BE49-F238E27FC236}">
                  <a16:creationId xmlns:a16="http://schemas.microsoft.com/office/drawing/2014/main" id="{31BE1A3F-777A-408D-9E9D-3ECFF996D4B3}"/>
                </a:ext>
              </a:extLst>
            </p:cNvPr>
            <p:cNvSpPr/>
            <p:nvPr/>
          </p:nvSpPr>
          <p:spPr>
            <a:xfrm>
              <a:off x="8999486" y="2055376"/>
              <a:ext cx="391886" cy="763675"/>
            </a:xfrm>
            <a:prstGeom prst="downArrow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9" name="Flecha: hacia abajo 18">
              <a:extLst>
                <a:ext uri="{FF2B5EF4-FFF2-40B4-BE49-F238E27FC236}">
                  <a16:creationId xmlns:a16="http://schemas.microsoft.com/office/drawing/2014/main" id="{C79F7416-44E9-44C4-B788-56FFED53D32F}"/>
                </a:ext>
              </a:extLst>
            </p:cNvPr>
            <p:cNvSpPr/>
            <p:nvPr/>
          </p:nvSpPr>
          <p:spPr>
            <a:xfrm>
              <a:off x="10325630" y="2055375"/>
              <a:ext cx="391886" cy="763675"/>
            </a:xfrm>
            <a:prstGeom prst="downArrow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C9AAF3A-50F1-48D8-98C7-5B3F9F66CA1E}"/>
                </a:ext>
              </a:extLst>
            </p:cNvPr>
            <p:cNvSpPr/>
            <p:nvPr/>
          </p:nvSpPr>
          <p:spPr>
            <a:xfrm>
              <a:off x="1002797" y="1979525"/>
              <a:ext cx="9628359" cy="160774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8F665145-2800-48FF-A043-407AF25BE7E8}"/>
              </a:ext>
            </a:extLst>
          </p:cNvPr>
          <p:cNvGrpSpPr/>
          <p:nvPr/>
        </p:nvGrpSpPr>
        <p:grpSpPr>
          <a:xfrm>
            <a:off x="1666220" y="1507258"/>
            <a:ext cx="9091488" cy="1158971"/>
            <a:chOff x="904351" y="2028514"/>
            <a:chExt cx="9091488" cy="807081"/>
          </a:xfrm>
          <a:solidFill>
            <a:srgbClr val="00B050"/>
          </a:solidFill>
        </p:grpSpPr>
        <p:sp>
          <p:nvSpPr>
            <p:cNvPr id="24" name="Flecha: hacia abajo 23">
              <a:extLst>
                <a:ext uri="{FF2B5EF4-FFF2-40B4-BE49-F238E27FC236}">
                  <a16:creationId xmlns:a16="http://schemas.microsoft.com/office/drawing/2014/main" id="{994590A5-3FDB-4BBF-AC4E-10437B753CC3}"/>
                </a:ext>
              </a:extLst>
            </p:cNvPr>
            <p:cNvSpPr/>
            <p:nvPr/>
          </p:nvSpPr>
          <p:spPr>
            <a:xfrm>
              <a:off x="904351" y="2055377"/>
              <a:ext cx="391886" cy="763675"/>
            </a:xfrm>
            <a:prstGeom prst="downArrow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5" name="Flecha: hacia abajo 24">
              <a:extLst>
                <a:ext uri="{FF2B5EF4-FFF2-40B4-BE49-F238E27FC236}">
                  <a16:creationId xmlns:a16="http://schemas.microsoft.com/office/drawing/2014/main" id="{C08AFE08-102B-4FB3-927F-ED9DA05F731C}"/>
                </a:ext>
              </a:extLst>
            </p:cNvPr>
            <p:cNvSpPr/>
            <p:nvPr/>
          </p:nvSpPr>
          <p:spPr>
            <a:xfrm>
              <a:off x="1555337" y="2065419"/>
              <a:ext cx="391886" cy="763675"/>
            </a:xfrm>
            <a:prstGeom prst="downArrow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6" name="Flecha: hacia abajo 25">
              <a:extLst>
                <a:ext uri="{FF2B5EF4-FFF2-40B4-BE49-F238E27FC236}">
                  <a16:creationId xmlns:a16="http://schemas.microsoft.com/office/drawing/2014/main" id="{20E27364-00FF-4C12-9B4F-1680B703468E}"/>
                </a:ext>
              </a:extLst>
            </p:cNvPr>
            <p:cNvSpPr/>
            <p:nvPr/>
          </p:nvSpPr>
          <p:spPr>
            <a:xfrm>
              <a:off x="3570156" y="2066389"/>
              <a:ext cx="391886" cy="763675"/>
            </a:xfrm>
            <a:prstGeom prst="downArrow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7" name="Flecha: hacia abajo 26">
              <a:extLst>
                <a:ext uri="{FF2B5EF4-FFF2-40B4-BE49-F238E27FC236}">
                  <a16:creationId xmlns:a16="http://schemas.microsoft.com/office/drawing/2014/main" id="{F41B23BC-B030-4647-82F5-46E18BB72861}"/>
                </a:ext>
              </a:extLst>
            </p:cNvPr>
            <p:cNvSpPr/>
            <p:nvPr/>
          </p:nvSpPr>
          <p:spPr>
            <a:xfrm>
              <a:off x="4269343" y="2066387"/>
              <a:ext cx="391886" cy="763675"/>
            </a:xfrm>
            <a:prstGeom prst="downArrow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8" name="Flecha: hacia abajo 27">
              <a:extLst>
                <a:ext uri="{FF2B5EF4-FFF2-40B4-BE49-F238E27FC236}">
                  <a16:creationId xmlns:a16="http://schemas.microsoft.com/office/drawing/2014/main" id="{1C4589A3-627C-433B-980E-21D99C07B4A8}"/>
                </a:ext>
              </a:extLst>
            </p:cNvPr>
            <p:cNvSpPr/>
            <p:nvPr/>
          </p:nvSpPr>
          <p:spPr>
            <a:xfrm>
              <a:off x="6348754" y="2055376"/>
              <a:ext cx="391886" cy="763675"/>
            </a:xfrm>
            <a:prstGeom prst="downArrow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9" name="Flecha: hacia abajo 28">
              <a:extLst>
                <a:ext uri="{FF2B5EF4-FFF2-40B4-BE49-F238E27FC236}">
                  <a16:creationId xmlns:a16="http://schemas.microsoft.com/office/drawing/2014/main" id="{3B7B6663-098D-43BE-BADA-3B2F9BE56446}"/>
                </a:ext>
              </a:extLst>
            </p:cNvPr>
            <p:cNvSpPr/>
            <p:nvPr/>
          </p:nvSpPr>
          <p:spPr>
            <a:xfrm>
              <a:off x="6961584" y="2066387"/>
              <a:ext cx="391886" cy="763675"/>
            </a:xfrm>
            <a:prstGeom prst="downArrow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0" name="Flecha: hacia abajo 29">
              <a:extLst>
                <a:ext uri="{FF2B5EF4-FFF2-40B4-BE49-F238E27FC236}">
                  <a16:creationId xmlns:a16="http://schemas.microsoft.com/office/drawing/2014/main" id="{4FC79D7F-51BB-43F2-B555-38FBE7601DCF}"/>
                </a:ext>
              </a:extLst>
            </p:cNvPr>
            <p:cNvSpPr/>
            <p:nvPr/>
          </p:nvSpPr>
          <p:spPr>
            <a:xfrm>
              <a:off x="8999486" y="2055376"/>
              <a:ext cx="391886" cy="763675"/>
            </a:xfrm>
            <a:prstGeom prst="downArrow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1" name="Flecha: hacia abajo 30">
              <a:extLst>
                <a:ext uri="{FF2B5EF4-FFF2-40B4-BE49-F238E27FC236}">
                  <a16:creationId xmlns:a16="http://schemas.microsoft.com/office/drawing/2014/main" id="{EF3E87D9-990D-4F00-A416-D0570B2F8F38}"/>
                </a:ext>
              </a:extLst>
            </p:cNvPr>
            <p:cNvSpPr/>
            <p:nvPr/>
          </p:nvSpPr>
          <p:spPr>
            <a:xfrm>
              <a:off x="9603953" y="2071920"/>
              <a:ext cx="391886" cy="763675"/>
            </a:xfrm>
            <a:prstGeom prst="downArrow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C2F0AA9C-9E17-4070-B09B-61B55F69CBFE}"/>
                </a:ext>
              </a:extLst>
            </p:cNvPr>
            <p:cNvSpPr/>
            <p:nvPr/>
          </p:nvSpPr>
          <p:spPr>
            <a:xfrm>
              <a:off x="1002798" y="2028514"/>
              <a:ext cx="8894596" cy="111959"/>
            </a:xfrm>
            <a:prstGeom prst="rect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87B847B0-5C03-41E7-9AB6-6511258A719E}"/>
              </a:ext>
            </a:extLst>
          </p:cNvPr>
          <p:cNvGrpSpPr/>
          <p:nvPr/>
        </p:nvGrpSpPr>
        <p:grpSpPr>
          <a:xfrm>
            <a:off x="3024413" y="1187376"/>
            <a:ext cx="7734969" cy="1479553"/>
            <a:chOff x="904351" y="2028514"/>
            <a:chExt cx="7734969" cy="802023"/>
          </a:xfrm>
          <a:solidFill>
            <a:srgbClr val="0070C0"/>
          </a:solidFill>
        </p:grpSpPr>
        <p:sp>
          <p:nvSpPr>
            <p:cNvPr id="34" name="Flecha: hacia abajo 33">
              <a:extLst>
                <a:ext uri="{FF2B5EF4-FFF2-40B4-BE49-F238E27FC236}">
                  <a16:creationId xmlns:a16="http://schemas.microsoft.com/office/drawing/2014/main" id="{058AF3D7-BEDB-4C83-BF27-1B5933BA8308}"/>
                </a:ext>
              </a:extLst>
            </p:cNvPr>
            <p:cNvSpPr/>
            <p:nvPr/>
          </p:nvSpPr>
          <p:spPr>
            <a:xfrm>
              <a:off x="904351" y="2055377"/>
              <a:ext cx="391886" cy="763675"/>
            </a:xfrm>
            <a:prstGeom prst="downArrow">
              <a:avLst/>
            </a:prstGeom>
            <a:grp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5" name="Flecha: hacia abajo 34">
              <a:extLst>
                <a:ext uri="{FF2B5EF4-FFF2-40B4-BE49-F238E27FC236}">
                  <a16:creationId xmlns:a16="http://schemas.microsoft.com/office/drawing/2014/main" id="{D4F88DFC-D44E-451A-9EFC-FDB843756C7A}"/>
                </a:ext>
              </a:extLst>
            </p:cNvPr>
            <p:cNvSpPr/>
            <p:nvPr/>
          </p:nvSpPr>
          <p:spPr>
            <a:xfrm>
              <a:off x="1564668" y="2061801"/>
              <a:ext cx="391886" cy="763675"/>
            </a:xfrm>
            <a:prstGeom prst="downArrow">
              <a:avLst/>
            </a:prstGeom>
            <a:grp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6" name="Flecha: hacia abajo 35">
              <a:extLst>
                <a:ext uri="{FF2B5EF4-FFF2-40B4-BE49-F238E27FC236}">
                  <a16:creationId xmlns:a16="http://schemas.microsoft.com/office/drawing/2014/main" id="{728F2492-D4CE-4AB4-A2A7-B19B57049AE6}"/>
                </a:ext>
              </a:extLst>
            </p:cNvPr>
            <p:cNvSpPr/>
            <p:nvPr/>
          </p:nvSpPr>
          <p:spPr>
            <a:xfrm>
              <a:off x="2213634" y="2066389"/>
              <a:ext cx="391886" cy="763675"/>
            </a:xfrm>
            <a:prstGeom prst="downArrow">
              <a:avLst/>
            </a:prstGeom>
            <a:grp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7" name="Flecha: hacia abajo 36">
              <a:extLst>
                <a:ext uri="{FF2B5EF4-FFF2-40B4-BE49-F238E27FC236}">
                  <a16:creationId xmlns:a16="http://schemas.microsoft.com/office/drawing/2014/main" id="{A1E0E576-8C05-4B1A-ABE1-1BD99E7B0184}"/>
                </a:ext>
              </a:extLst>
            </p:cNvPr>
            <p:cNvSpPr/>
            <p:nvPr/>
          </p:nvSpPr>
          <p:spPr>
            <a:xfrm>
              <a:off x="2922161" y="2066387"/>
              <a:ext cx="391886" cy="763675"/>
            </a:xfrm>
            <a:prstGeom prst="downArrow">
              <a:avLst/>
            </a:prstGeom>
            <a:grp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8" name="Flecha: hacia abajo 37">
              <a:extLst>
                <a:ext uri="{FF2B5EF4-FFF2-40B4-BE49-F238E27FC236}">
                  <a16:creationId xmlns:a16="http://schemas.microsoft.com/office/drawing/2014/main" id="{F271B0BE-052C-41E2-86DA-DAFF4D63A12F}"/>
                </a:ext>
              </a:extLst>
            </p:cNvPr>
            <p:cNvSpPr/>
            <p:nvPr/>
          </p:nvSpPr>
          <p:spPr>
            <a:xfrm>
              <a:off x="6348754" y="2055376"/>
              <a:ext cx="391886" cy="763675"/>
            </a:xfrm>
            <a:prstGeom prst="downArrow">
              <a:avLst/>
            </a:prstGeom>
            <a:grp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9" name="Flecha: hacia abajo 38">
              <a:extLst>
                <a:ext uri="{FF2B5EF4-FFF2-40B4-BE49-F238E27FC236}">
                  <a16:creationId xmlns:a16="http://schemas.microsoft.com/office/drawing/2014/main" id="{84202689-D45E-41CE-AD7C-B9D003C179AB}"/>
                </a:ext>
              </a:extLst>
            </p:cNvPr>
            <p:cNvSpPr/>
            <p:nvPr/>
          </p:nvSpPr>
          <p:spPr>
            <a:xfrm>
              <a:off x="6921392" y="2066387"/>
              <a:ext cx="391886" cy="763675"/>
            </a:xfrm>
            <a:prstGeom prst="downArrow">
              <a:avLst/>
            </a:prstGeom>
            <a:grp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0" name="Flecha: hacia abajo 39">
              <a:extLst>
                <a:ext uri="{FF2B5EF4-FFF2-40B4-BE49-F238E27FC236}">
                  <a16:creationId xmlns:a16="http://schemas.microsoft.com/office/drawing/2014/main" id="{7A8C63C0-46DF-4DB3-875F-E6B2062A1E12}"/>
                </a:ext>
              </a:extLst>
            </p:cNvPr>
            <p:cNvSpPr/>
            <p:nvPr/>
          </p:nvSpPr>
          <p:spPr>
            <a:xfrm>
              <a:off x="7642967" y="2055376"/>
              <a:ext cx="391886" cy="763675"/>
            </a:xfrm>
            <a:prstGeom prst="downArrow">
              <a:avLst/>
            </a:prstGeom>
            <a:grp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1" name="Flecha: hacia abajo 40">
              <a:extLst>
                <a:ext uri="{FF2B5EF4-FFF2-40B4-BE49-F238E27FC236}">
                  <a16:creationId xmlns:a16="http://schemas.microsoft.com/office/drawing/2014/main" id="{049B889E-C9AE-43D0-A648-664DDAF893CC}"/>
                </a:ext>
              </a:extLst>
            </p:cNvPr>
            <p:cNvSpPr/>
            <p:nvPr/>
          </p:nvSpPr>
          <p:spPr>
            <a:xfrm>
              <a:off x="8247434" y="2066862"/>
              <a:ext cx="391886" cy="763675"/>
            </a:xfrm>
            <a:prstGeom prst="downArrow">
              <a:avLst/>
            </a:prstGeom>
            <a:grp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0A48A6F0-FA0E-40E2-9D35-7AE55BD4EC0C}"/>
                </a:ext>
              </a:extLst>
            </p:cNvPr>
            <p:cNvSpPr/>
            <p:nvPr/>
          </p:nvSpPr>
          <p:spPr>
            <a:xfrm>
              <a:off x="1002798" y="2028514"/>
              <a:ext cx="7548488" cy="971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383A6026-55D0-4FFB-9473-516955DFA0F5}"/>
              </a:ext>
            </a:extLst>
          </p:cNvPr>
          <p:cNvGrpSpPr/>
          <p:nvPr/>
        </p:nvGrpSpPr>
        <p:grpSpPr>
          <a:xfrm>
            <a:off x="5719050" y="807199"/>
            <a:ext cx="5042012" cy="1855441"/>
            <a:chOff x="3597308" y="2028514"/>
            <a:chExt cx="5042012" cy="805599"/>
          </a:xfrm>
          <a:solidFill>
            <a:srgbClr val="002060"/>
          </a:solidFill>
        </p:grpSpPr>
        <p:sp>
          <p:nvSpPr>
            <p:cNvPr id="44" name="Flecha: hacia abajo 43">
              <a:extLst>
                <a:ext uri="{FF2B5EF4-FFF2-40B4-BE49-F238E27FC236}">
                  <a16:creationId xmlns:a16="http://schemas.microsoft.com/office/drawing/2014/main" id="{F3C6EE16-5556-460E-B94A-61E68157CC48}"/>
                </a:ext>
              </a:extLst>
            </p:cNvPr>
            <p:cNvSpPr/>
            <p:nvPr/>
          </p:nvSpPr>
          <p:spPr>
            <a:xfrm>
              <a:off x="3597308" y="2055377"/>
              <a:ext cx="391886" cy="763675"/>
            </a:xfrm>
            <a:prstGeom prst="downArrow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5" name="Flecha: hacia abajo 44">
              <a:extLst>
                <a:ext uri="{FF2B5EF4-FFF2-40B4-BE49-F238E27FC236}">
                  <a16:creationId xmlns:a16="http://schemas.microsoft.com/office/drawing/2014/main" id="{EF441165-CFDD-4609-9528-C67B6BBCE23A}"/>
                </a:ext>
              </a:extLst>
            </p:cNvPr>
            <p:cNvSpPr/>
            <p:nvPr/>
          </p:nvSpPr>
          <p:spPr>
            <a:xfrm>
              <a:off x="4268390" y="2067866"/>
              <a:ext cx="391886" cy="763675"/>
            </a:xfrm>
            <a:prstGeom prst="downArrow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6" name="Flecha: hacia abajo 45">
              <a:extLst>
                <a:ext uri="{FF2B5EF4-FFF2-40B4-BE49-F238E27FC236}">
                  <a16:creationId xmlns:a16="http://schemas.microsoft.com/office/drawing/2014/main" id="{6F2D6E40-4EBD-4A67-BF04-40EBF81B2248}"/>
                </a:ext>
              </a:extLst>
            </p:cNvPr>
            <p:cNvSpPr/>
            <p:nvPr/>
          </p:nvSpPr>
          <p:spPr>
            <a:xfrm>
              <a:off x="4997023" y="2066389"/>
              <a:ext cx="391886" cy="763675"/>
            </a:xfrm>
            <a:prstGeom prst="downArrow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7" name="Flecha: hacia abajo 46">
              <a:extLst>
                <a:ext uri="{FF2B5EF4-FFF2-40B4-BE49-F238E27FC236}">
                  <a16:creationId xmlns:a16="http://schemas.microsoft.com/office/drawing/2014/main" id="{3ED000D6-888D-4B73-8165-6B4D59A0C3F1}"/>
                </a:ext>
              </a:extLst>
            </p:cNvPr>
            <p:cNvSpPr/>
            <p:nvPr/>
          </p:nvSpPr>
          <p:spPr>
            <a:xfrm>
              <a:off x="5605787" y="2066387"/>
              <a:ext cx="391886" cy="763675"/>
            </a:xfrm>
            <a:prstGeom prst="downArrow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8" name="Flecha: hacia abajo 47">
              <a:extLst>
                <a:ext uri="{FF2B5EF4-FFF2-40B4-BE49-F238E27FC236}">
                  <a16:creationId xmlns:a16="http://schemas.microsoft.com/office/drawing/2014/main" id="{09D876C8-6397-45C2-9522-0A4583DF92E4}"/>
                </a:ext>
              </a:extLst>
            </p:cNvPr>
            <p:cNvSpPr/>
            <p:nvPr/>
          </p:nvSpPr>
          <p:spPr>
            <a:xfrm>
              <a:off x="6348754" y="2059427"/>
              <a:ext cx="391886" cy="763675"/>
            </a:xfrm>
            <a:prstGeom prst="downArrow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9" name="Flecha: hacia abajo 48">
              <a:extLst>
                <a:ext uri="{FF2B5EF4-FFF2-40B4-BE49-F238E27FC236}">
                  <a16:creationId xmlns:a16="http://schemas.microsoft.com/office/drawing/2014/main" id="{0A53A122-F1E7-4916-A8D8-1F5A4FDCBFD5}"/>
                </a:ext>
              </a:extLst>
            </p:cNvPr>
            <p:cNvSpPr/>
            <p:nvPr/>
          </p:nvSpPr>
          <p:spPr>
            <a:xfrm>
              <a:off x="6921392" y="2070438"/>
              <a:ext cx="391886" cy="763675"/>
            </a:xfrm>
            <a:prstGeom prst="downArrow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0" name="Flecha: hacia abajo 49">
              <a:extLst>
                <a:ext uri="{FF2B5EF4-FFF2-40B4-BE49-F238E27FC236}">
                  <a16:creationId xmlns:a16="http://schemas.microsoft.com/office/drawing/2014/main" id="{40292D2F-71BA-4084-ADD3-3FA4C11FB358}"/>
                </a:ext>
              </a:extLst>
            </p:cNvPr>
            <p:cNvSpPr/>
            <p:nvPr/>
          </p:nvSpPr>
          <p:spPr>
            <a:xfrm>
              <a:off x="7633636" y="2059427"/>
              <a:ext cx="391886" cy="763675"/>
            </a:xfrm>
            <a:prstGeom prst="downArrow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1" name="Flecha: hacia abajo 50">
              <a:extLst>
                <a:ext uri="{FF2B5EF4-FFF2-40B4-BE49-F238E27FC236}">
                  <a16:creationId xmlns:a16="http://schemas.microsoft.com/office/drawing/2014/main" id="{A62E713E-C027-4332-8388-F2FA7D086671}"/>
                </a:ext>
              </a:extLst>
            </p:cNvPr>
            <p:cNvSpPr/>
            <p:nvPr/>
          </p:nvSpPr>
          <p:spPr>
            <a:xfrm>
              <a:off x="8247434" y="2067870"/>
              <a:ext cx="391886" cy="763675"/>
            </a:xfrm>
            <a:prstGeom prst="downArrow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1A4AF0CD-17A3-4F08-8426-BF5760B8CA22}"/>
                </a:ext>
              </a:extLst>
            </p:cNvPr>
            <p:cNvSpPr/>
            <p:nvPr/>
          </p:nvSpPr>
          <p:spPr>
            <a:xfrm>
              <a:off x="3696252" y="2028514"/>
              <a:ext cx="4855034" cy="7691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aphicFrame>
        <p:nvGraphicFramePr>
          <p:cNvPr id="53" name="Tabla 4">
            <a:extLst>
              <a:ext uri="{FF2B5EF4-FFF2-40B4-BE49-F238E27FC236}">
                <a16:creationId xmlns:a16="http://schemas.microsoft.com/office/drawing/2014/main" id="{894A54E7-158F-4176-97EF-6084B88B4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329314"/>
              </p:ext>
            </p:extLst>
          </p:nvPr>
        </p:nvGraphicFramePr>
        <p:xfrm>
          <a:off x="815595" y="5046717"/>
          <a:ext cx="107675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70">
                  <a:extLst>
                    <a:ext uri="{9D8B030D-6E8A-4147-A177-3AD203B41FA5}">
                      <a16:colId xmlns:a16="http://schemas.microsoft.com/office/drawing/2014/main" val="209293420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252043114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9374533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055875285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356726457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50611294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3265519039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201804551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82566748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39751531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748577512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4205300311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1878129750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79839282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888128153"/>
                    </a:ext>
                  </a:extLst>
                </a:gridCol>
                <a:gridCol w="672970">
                  <a:extLst>
                    <a:ext uri="{9D8B030D-6E8A-4147-A177-3AD203B41FA5}">
                      <a16:colId xmlns:a16="http://schemas.microsoft.com/office/drawing/2014/main" val="2177727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p</a:t>
                      </a:r>
                      <a:r>
                        <a:rPr lang="es-AR" baseline="-25000" dirty="0"/>
                        <a:t>1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p</a:t>
                      </a:r>
                      <a:r>
                        <a:rPr lang="es-AR" baseline="-25000" dirty="0"/>
                        <a:t>2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i</a:t>
                      </a:r>
                      <a:r>
                        <a:rPr lang="es-AR" baseline="-25000" dirty="0"/>
                        <a:t>3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p</a:t>
                      </a:r>
                      <a:r>
                        <a:rPr lang="es-AR" baseline="-25000" dirty="0"/>
                        <a:t>4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i</a:t>
                      </a:r>
                      <a:r>
                        <a:rPr lang="es-AR" baseline="-25000" dirty="0"/>
                        <a:t>5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i</a:t>
                      </a:r>
                      <a:r>
                        <a:rPr lang="es-AR" baseline="-25000" dirty="0"/>
                        <a:t>6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i</a:t>
                      </a:r>
                      <a:r>
                        <a:rPr lang="es-AR" baseline="-25000" dirty="0"/>
                        <a:t>7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p</a:t>
                      </a:r>
                      <a:r>
                        <a:rPr lang="es-AR" baseline="-25000" dirty="0"/>
                        <a:t>8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i</a:t>
                      </a:r>
                      <a:r>
                        <a:rPr lang="es-AR" baseline="-25000" dirty="0"/>
                        <a:t>9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i</a:t>
                      </a:r>
                      <a:r>
                        <a:rPr lang="es-AR" baseline="-25000" dirty="0"/>
                        <a:t>10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i</a:t>
                      </a:r>
                      <a:r>
                        <a:rPr lang="es-AR" baseline="-25000" dirty="0"/>
                        <a:t>11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i</a:t>
                      </a:r>
                      <a:r>
                        <a:rPr lang="es-AR" baseline="-25000" dirty="0"/>
                        <a:t>12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i</a:t>
                      </a:r>
                      <a:r>
                        <a:rPr lang="es-AR" baseline="-25000" dirty="0"/>
                        <a:t>13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i</a:t>
                      </a:r>
                      <a:r>
                        <a:rPr lang="es-AR" baseline="-25000" dirty="0"/>
                        <a:t>14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i</a:t>
                      </a:r>
                      <a:r>
                        <a:rPr lang="es-AR" baseline="-25000" dirty="0"/>
                        <a:t>15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p</a:t>
                      </a:r>
                      <a:r>
                        <a:rPr lang="es-AR" baseline="-25000" dirty="0"/>
                        <a:t>16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09462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AC68E9B4-F0B4-43D2-8384-94CEBF9282F1}"/>
                  </a:ext>
                </a:extLst>
              </p:cNvPr>
              <p:cNvSpPr txBox="1"/>
              <p:nvPr/>
            </p:nvSpPr>
            <p:spPr>
              <a:xfrm>
                <a:off x="815595" y="5485958"/>
                <a:ext cx="36351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AC68E9B4-F0B4-43D2-8384-94CEBF928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595" y="5485958"/>
                <a:ext cx="3635107" cy="369332"/>
              </a:xfrm>
              <a:prstGeom prst="rect">
                <a:avLst/>
              </a:prstGeom>
              <a:blipFill>
                <a:blip r:embed="rId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BEE69A74-DE55-41F7-9E78-F2117B64007A}"/>
                  </a:ext>
                </a:extLst>
              </p:cNvPr>
              <p:cNvSpPr txBox="1"/>
              <p:nvPr/>
            </p:nvSpPr>
            <p:spPr>
              <a:xfrm>
                <a:off x="865356" y="5918278"/>
                <a:ext cx="36351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BEE69A74-DE55-41F7-9E78-F2117B640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356" y="5918278"/>
                <a:ext cx="3635107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4D281D34-9503-4D0E-9500-6C0691EF6025}"/>
                  </a:ext>
                </a:extLst>
              </p:cNvPr>
              <p:cNvSpPr txBox="1"/>
              <p:nvPr/>
            </p:nvSpPr>
            <p:spPr>
              <a:xfrm>
                <a:off x="7919390" y="5484733"/>
                <a:ext cx="36351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4D281D34-9503-4D0E-9500-6C0691EF6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390" y="5484733"/>
                <a:ext cx="3635107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F69338F3-15FB-41CB-B872-2E02466C3083}"/>
                  </a:ext>
                </a:extLst>
              </p:cNvPr>
              <p:cNvSpPr txBox="1"/>
              <p:nvPr/>
            </p:nvSpPr>
            <p:spPr>
              <a:xfrm>
                <a:off x="7738194" y="5918278"/>
                <a:ext cx="38317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F69338F3-15FB-41CB-B872-2E02466C3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8194" y="5918278"/>
                <a:ext cx="3831757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Subtítulo 2">
            <a:extLst>
              <a:ext uri="{FF2B5EF4-FFF2-40B4-BE49-F238E27FC236}">
                <a16:creationId xmlns:a16="http://schemas.microsoft.com/office/drawing/2014/main" id="{91F0E75A-4E38-4ED9-A91D-3E5A0190DDEC}"/>
              </a:ext>
            </a:extLst>
          </p:cNvPr>
          <p:cNvSpPr txBox="1">
            <a:spLocks/>
          </p:cNvSpPr>
          <p:nvPr/>
        </p:nvSpPr>
        <p:spPr>
          <a:xfrm>
            <a:off x="618106" y="480222"/>
            <a:ext cx="4977976" cy="5294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400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¿</a:t>
            </a:r>
            <a:r>
              <a:rPr lang="en-US" sz="4400" kern="1200" dirty="0" err="1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Cómo</a:t>
            </a:r>
            <a:r>
              <a:rPr lang="en-US" sz="4400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 se </a:t>
            </a:r>
            <a:r>
              <a:rPr lang="en-US" sz="4400" kern="1200" dirty="0" err="1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construye</a:t>
            </a:r>
            <a:r>
              <a:rPr lang="en-US" sz="4400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0921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6" grpId="0"/>
      <p:bldP spid="5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371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ubtítulo 2"/>
          <p:cNvSpPr txBox="1">
            <a:spLocks/>
          </p:cNvSpPr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Ejemplo</a:t>
            </a:r>
          </a:p>
          <a:p>
            <a:pPr marL="0" indent="0" algn="ctr">
              <a:spcBef>
                <a:spcPct val="0"/>
              </a:spcBef>
              <a:buNone/>
            </a:pPr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buNone/>
            </a:pPr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A69324E-1AB2-4CF6-BAE6-0F29D1343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558373"/>
            <a:ext cx="7188199" cy="373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704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643467" y="640080"/>
            <a:ext cx="3096427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Ejemplo código hamming: Emision</a:t>
            </a:r>
          </a:p>
          <a:p>
            <a:pPr marL="0" indent="0">
              <a:spcBef>
                <a:spcPct val="0"/>
              </a:spcBef>
              <a:buNone/>
            </a:pP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buNone/>
            </a:pP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699818" y="640081"/>
            <a:ext cx="6848715" cy="39436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dirty="0" err="1"/>
              <a:t>Tamaño</a:t>
            </a:r>
            <a:r>
              <a:rPr lang="en-US" dirty="0"/>
              <a:t> palabra de </a:t>
            </a:r>
            <a:r>
              <a:rPr lang="en-US" dirty="0" err="1"/>
              <a:t>datos</a:t>
            </a:r>
            <a:r>
              <a:rPr lang="en-US" dirty="0"/>
              <a:t>: 4 bits (i3 i5 i6 i7) = </a:t>
            </a:r>
            <a:r>
              <a:rPr lang="en-US" dirty="0">
                <a:solidFill>
                  <a:srgbClr val="FF0000"/>
                </a:solidFill>
              </a:rPr>
              <a:t>1001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dirty="0" err="1"/>
              <a:t>Número</a:t>
            </a:r>
            <a:r>
              <a:rPr lang="en-US" dirty="0"/>
              <a:t> bits </a:t>
            </a:r>
            <a:r>
              <a:rPr lang="en-US" dirty="0" err="1"/>
              <a:t>paridad</a:t>
            </a:r>
            <a:r>
              <a:rPr lang="en-US" dirty="0"/>
              <a:t>/</a:t>
            </a:r>
            <a:r>
              <a:rPr lang="en-US" dirty="0" err="1"/>
              <a:t>redundancia</a:t>
            </a:r>
            <a:r>
              <a:rPr lang="en-US" dirty="0"/>
              <a:t>: 3 (p1 p2 p4)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dirty="0" err="1"/>
              <a:t>Formato</a:t>
            </a:r>
            <a:r>
              <a:rPr lang="en-US" dirty="0"/>
              <a:t> palabra </a:t>
            </a:r>
            <a:r>
              <a:rPr lang="en-US" dirty="0" err="1"/>
              <a:t>codificada</a:t>
            </a:r>
            <a:r>
              <a:rPr lang="en-US" dirty="0"/>
              <a:t> a </a:t>
            </a:r>
            <a:r>
              <a:rPr lang="en-US" dirty="0" err="1"/>
              <a:t>enviar</a:t>
            </a:r>
            <a:r>
              <a:rPr lang="en-US" dirty="0"/>
              <a:t>: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  <a:defRPr/>
            </a:pPr>
            <a:endParaRPr lang="en-US" sz="2400" dirty="0"/>
          </a:p>
          <a:p>
            <a:pPr marL="102870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  <a:defRPr/>
            </a:pPr>
            <a:r>
              <a:rPr lang="en-US" dirty="0" err="1"/>
              <a:t>Cálculo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bits de </a:t>
            </a:r>
            <a:r>
              <a:rPr lang="en-US" dirty="0" err="1"/>
              <a:t>paridad</a:t>
            </a:r>
            <a:r>
              <a:rPr lang="en-US" dirty="0"/>
              <a:t>:</a:t>
            </a:r>
          </a:p>
          <a:p>
            <a:pPr marL="1337310" lvl="4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sz="2400" dirty="0"/>
              <a:t>p</a:t>
            </a:r>
            <a:r>
              <a:rPr lang="en-US" sz="2400" baseline="-25000" dirty="0"/>
              <a:t>1</a:t>
            </a:r>
            <a:r>
              <a:rPr lang="en-US" sz="2400" dirty="0"/>
              <a:t> = i</a:t>
            </a:r>
            <a:r>
              <a:rPr lang="en-US" sz="2400" baseline="-25000" dirty="0"/>
              <a:t>3</a:t>
            </a:r>
            <a:r>
              <a:rPr lang="en-US" sz="2400" dirty="0"/>
              <a:t> + i</a:t>
            </a:r>
            <a:r>
              <a:rPr lang="en-US" sz="2400" baseline="-25000" dirty="0"/>
              <a:t>5</a:t>
            </a:r>
            <a:r>
              <a:rPr lang="en-US" sz="2400" dirty="0"/>
              <a:t> + i</a:t>
            </a:r>
            <a:r>
              <a:rPr lang="en-US" sz="2400" baseline="-25000" dirty="0"/>
              <a:t>7</a:t>
            </a:r>
          </a:p>
          <a:p>
            <a:pPr marL="1337310" lvl="4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sz="2400" dirty="0"/>
              <a:t>p</a:t>
            </a:r>
            <a:r>
              <a:rPr lang="en-US" sz="2400" baseline="-25000" dirty="0"/>
              <a:t>2</a:t>
            </a:r>
            <a:r>
              <a:rPr lang="en-US" sz="2400" dirty="0"/>
              <a:t> = i</a:t>
            </a:r>
            <a:r>
              <a:rPr lang="en-US" sz="2400" baseline="-25000" dirty="0"/>
              <a:t>3</a:t>
            </a:r>
            <a:r>
              <a:rPr lang="en-US" sz="2400" dirty="0"/>
              <a:t> + i</a:t>
            </a:r>
            <a:r>
              <a:rPr lang="en-US" sz="2400" baseline="-25000" dirty="0"/>
              <a:t>6</a:t>
            </a:r>
            <a:r>
              <a:rPr lang="en-US" sz="2400" dirty="0"/>
              <a:t> + i</a:t>
            </a:r>
            <a:r>
              <a:rPr lang="en-US" sz="2400" baseline="-25000" dirty="0"/>
              <a:t>7</a:t>
            </a:r>
          </a:p>
          <a:p>
            <a:pPr marL="1337310" lvl="4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sz="2400" dirty="0"/>
              <a:t>p</a:t>
            </a:r>
            <a:r>
              <a:rPr lang="en-US" sz="2400" baseline="-25000" dirty="0"/>
              <a:t>4</a:t>
            </a:r>
            <a:r>
              <a:rPr lang="en-US" sz="2400" dirty="0"/>
              <a:t> = i</a:t>
            </a:r>
            <a:r>
              <a:rPr lang="en-US" sz="2400" baseline="-25000" dirty="0"/>
              <a:t>5</a:t>
            </a:r>
            <a:r>
              <a:rPr lang="en-US" sz="2400" dirty="0"/>
              <a:t> + i</a:t>
            </a:r>
            <a:r>
              <a:rPr lang="en-US" sz="2400" baseline="-25000" dirty="0"/>
              <a:t>6</a:t>
            </a:r>
            <a:r>
              <a:rPr lang="en-US" sz="2400" dirty="0"/>
              <a:t> + i</a:t>
            </a:r>
            <a:r>
              <a:rPr lang="en-US" sz="2400" baseline="-25000" dirty="0"/>
              <a:t>7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6690CEC-5461-4208-A22F-2466C9F91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002" y="4855698"/>
            <a:ext cx="5147733" cy="99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688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643467" y="640080"/>
            <a:ext cx="3096427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Ejemplo código hamming: Emision</a:t>
            </a:r>
          </a:p>
          <a:p>
            <a:pPr marL="0" indent="0">
              <a:spcBef>
                <a:spcPct val="0"/>
              </a:spcBef>
              <a:buNone/>
            </a:pP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buNone/>
            </a:pP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699818" y="640081"/>
            <a:ext cx="6848715" cy="39436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dirty="0"/>
              <a:t>Palabra de </a:t>
            </a:r>
            <a:r>
              <a:rPr lang="en-US" dirty="0" err="1"/>
              <a:t>datos</a:t>
            </a:r>
            <a:r>
              <a:rPr lang="en-US" dirty="0"/>
              <a:t>: 1001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dirty="0"/>
              <a:t>Bits </a:t>
            </a:r>
            <a:r>
              <a:rPr lang="en-US" dirty="0" err="1"/>
              <a:t>paridad</a:t>
            </a:r>
            <a:r>
              <a:rPr lang="en-US" dirty="0"/>
              <a:t>/</a:t>
            </a:r>
            <a:r>
              <a:rPr lang="en-US" dirty="0" err="1"/>
              <a:t>redundancia</a:t>
            </a:r>
            <a:r>
              <a:rPr lang="en-US" dirty="0"/>
              <a:t>: 3 (p1 p2 p4)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dirty="0" err="1"/>
              <a:t>Formato</a:t>
            </a:r>
            <a:r>
              <a:rPr lang="en-US" dirty="0"/>
              <a:t> palabra </a:t>
            </a:r>
            <a:r>
              <a:rPr lang="en-US" dirty="0" err="1"/>
              <a:t>codificada</a:t>
            </a:r>
            <a:r>
              <a:rPr lang="en-US" dirty="0"/>
              <a:t> a </a:t>
            </a:r>
            <a:r>
              <a:rPr lang="en-US" dirty="0" err="1"/>
              <a:t>enviar</a:t>
            </a:r>
            <a:r>
              <a:rPr lang="en-US" dirty="0"/>
              <a:t>: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  <a:defRPr/>
            </a:pPr>
            <a:endParaRPr lang="en-US" sz="2400" dirty="0"/>
          </a:p>
          <a:p>
            <a:pPr marL="102870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80000"/>
              <a:defRPr/>
            </a:pPr>
            <a:r>
              <a:rPr lang="en-US" dirty="0" err="1"/>
              <a:t>Cálculo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bits de </a:t>
            </a:r>
            <a:r>
              <a:rPr lang="en-US" dirty="0" err="1"/>
              <a:t>paridad</a:t>
            </a:r>
            <a:r>
              <a:rPr lang="en-US" dirty="0"/>
              <a:t>:</a:t>
            </a:r>
          </a:p>
          <a:p>
            <a:pPr marL="1337310" lvl="4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sz="2400" dirty="0"/>
              <a:t>p</a:t>
            </a:r>
            <a:r>
              <a:rPr lang="en-US" sz="2400" baseline="-25000" dirty="0"/>
              <a:t>1 </a:t>
            </a:r>
            <a:r>
              <a:rPr lang="en-US" sz="2400" dirty="0"/>
              <a:t>= i</a:t>
            </a:r>
            <a:r>
              <a:rPr lang="en-US" sz="2400" baseline="-25000" dirty="0"/>
              <a:t>3</a:t>
            </a:r>
            <a:r>
              <a:rPr lang="en-US" sz="2400" dirty="0"/>
              <a:t> + i</a:t>
            </a:r>
            <a:r>
              <a:rPr lang="en-US" sz="2400" baseline="-25000" dirty="0"/>
              <a:t>5</a:t>
            </a:r>
            <a:r>
              <a:rPr lang="en-US" sz="2400" dirty="0"/>
              <a:t> + i</a:t>
            </a:r>
            <a:r>
              <a:rPr lang="en-US" sz="2400" baseline="-25000" dirty="0"/>
              <a:t>7</a:t>
            </a:r>
            <a:r>
              <a:rPr lang="en-US" sz="2400" dirty="0"/>
              <a:t> </a:t>
            </a:r>
            <a:r>
              <a:rPr lang="en-US" sz="2400"/>
              <a:t>= 0</a:t>
            </a:r>
            <a:endParaRPr lang="en-US" sz="2400" baseline="-25000" dirty="0"/>
          </a:p>
          <a:p>
            <a:pPr marL="1337310" lvl="4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sz="2400" dirty="0"/>
              <a:t>p</a:t>
            </a:r>
            <a:r>
              <a:rPr lang="en-US" sz="2400" baseline="-25000" dirty="0"/>
              <a:t>2</a:t>
            </a:r>
            <a:r>
              <a:rPr lang="en-US" sz="2400" dirty="0"/>
              <a:t> = i</a:t>
            </a:r>
            <a:r>
              <a:rPr lang="en-US" sz="2400" baseline="-25000" dirty="0"/>
              <a:t>3</a:t>
            </a:r>
            <a:r>
              <a:rPr lang="en-US" sz="2400" dirty="0"/>
              <a:t> + i</a:t>
            </a:r>
            <a:r>
              <a:rPr lang="en-US" sz="2400" baseline="-25000" dirty="0"/>
              <a:t>6</a:t>
            </a:r>
            <a:r>
              <a:rPr lang="en-US" sz="2400" dirty="0"/>
              <a:t> + i</a:t>
            </a:r>
            <a:r>
              <a:rPr lang="en-US" sz="2400" baseline="-25000" dirty="0"/>
              <a:t>7</a:t>
            </a:r>
            <a:r>
              <a:rPr lang="en-US" sz="2400" dirty="0"/>
              <a:t> = 0</a:t>
            </a:r>
            <a:endParaRPr lang="en-US" sz="2400" baseline="-25000" dirty="0"/>
          </a:p>
          <a:p>
            <a:pPr marL="1337310" lvl="4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sz="2400" dirty="0"/>
              <a:t>p</a:t>
            </a:r>
            <a:r>
              <a:rPr lang="en-US" sz="2400" baseline="-25000" dirty="0"/>
              <a:t>4</a:t>
            </a:r>
            <a:r>
              <a:rPr lang="en-US" sz="2400" dirty="0"/>
              <a:t> = i</a:t>
            </a:r>
            <a:r>
              <a:rPr lang="en-US" sz="2400" baseline="-25000" dirty="0"/>
              <a:t>5</a:t>
            </a:r>
            <a:r>
              <a:rPr lang="en-US" sz="2400" dirty="0"/>
              <a:t> + i</a:t>
            </a:r>
            <a:r>
              <a:rPr lang="en-US" sz="2400" baseline="-25000" dirty="0"/>
              <a:t>6</a:t>
            </a:r>
            <a:r>
              <a:rPr lang="en-US" sz="2400" dirty="0"/>
              <a:t> + i</a:t>
            </a:r>
            <a:r>
              <a:rPr lang="en-US" sz="2400" baseline="-25000" dirty="0"/>
              <a:t>7</a:t>
            </a:r>
            <a:r>
              <a:rPr lang="en-US" sz="2400" dirty="0"/>
              <a:t> = 1</a:t>
            </a:r>
            <a:endParaRPr lang="en-US" sz="2400" baseline="-25000"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898FF411-737B-494F-9E86-A71F7DAE0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628987"/>
              </p:ext>
            </p:extLst>
          </p:nvPr>
        </p:nvGraphicFramePr>
        <p:xfrm>
          <a:off x="4898571" y="4946432"/>
          <a:ext cx="6428793" cy="78256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8399">
                  <a:extLst>
                    <a:ext uri="{9D8B030D-6E8A-4147-A177-3AD203B41FA5}">
                      <a16:colId xmlns:a16="http://schemas.microsoft.com/office/drawing/2014/main" val="574599279"/>
                    </a:ext>
                  </a:extLst>
                </a:gridCol>
                <a:gridCol w="918399">
                  <a:extLst>
                    <a:ext uri="{9D8B030D-6E8A-4147-A177-3AD203B41FA5}">
                      <a16:colId xmlns:a16="http://schemas.microsoft.com/office/drawing/2014/main" val="4054239712"/>
                    </a:ext>
                  </a:extLst>
                </a:gridCol>
                <a:gridCol w="918399">
                  <a:extLst>
                    <a:ext uri="{9D8B030D-6E8A-4147-A177-3AD203B41FA5}">
                      <a16:colId xmlns:a16="http://schemas.microsoft.com/office/drawing/2014/main" val="2024053314"/>
                    </a:ext>
                  </a:extLst>
                </a:gridCol>
                <a:gridCol w="918399">
                  <a:extLst>
                    <a:ext uri="{9D8B030D-6E8A-4147-A177-3AD203B41FA5}">
                      <a16:colId xmlns:a16="http://schemas.microsoft.com/office/drawing/2014/main" val="1640132193"/>
                    </a:ext>
                  </a:extLst>
                </a:gridCol>
                <a:gridCol w="918399">
                  <a:extLst>
                    <a:ext uri="{9D8B030D-6E8A-4147-A177-3AD203B41FA5}">
                      <a16:colId xmlns:a16="http://schemas.microsoft.com/office/drawing/2014/main" val="1047322690"/>
                    </a:ext>
                  </a:extLst>
                </a:gridCol>
                <a:gridCol w="918399">
                  <a:extLst>
                    <a:ext uri="{9D8B030D-6E8A-4147-A177-3AD203B41FA5}">
                      <a16:colId xmlns:a16="http://schemas.microsoft.com/office/drawing/2014/main" val="3414706451"/>
                    </a:ext>
                  </a:extLst>
                </a:gridCol>
                <a:gridCol w="918399">
                  <a:extLst>
                    <a:ext uri="{9D8B030D-6E8A-4147-A177-3AD203B41FA5}">
                      <a16:colId xmlns:a16="http://schemas.microsoft.com/office/drawing/2014/main" val="2691832237"/>
                    </a:ext>
                  </a:extLst>
                </a:gridCol>
              </a:tblGrid>
              <a:tr h="782563">
                <a:tc>
                  <a:txBody>
                    <a:bodyPr/>
                    <a:lstStyle/>
                    <a:p>
                      <a:pPr lvl="0" algn="ctr"/>
                      <a:r>
                        <a:rPr lang="es-AR" sz="28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s-AR" sz="28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s-AR" sz="2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s-AR" sz="28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s-AR" sz="2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s-AR" sz="2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s-AR" sz="28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9793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0869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643467" y="640080"/>
            <a:ext cx="3096427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Ejemplo código hamming: Recepción</a:t>
            </a:r>
          </a:p>
          <a:p>
            <a:pPr marL="0" indent="0">
              <a:spcBef>
                <a:spcPct val="0"/>
              </a:spcBef>
              <a:buNone/>
            </a:pP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buNone/>
            </a:pP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699818" y="640081"/>
            <a:ext cx="6848715" cy="463171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/>
              <a:t>Palabra </a:t>
            </a:r>
            <a:r>
              <a:rPr lang="en-US" altLang="es-AR" dirty="0" err="1"/>
              <a:t>codificada</a:t>
            </a:r>
            <a:r>
              <a:rPr lang="en-US" altLang="es-AR" dirty="0"/>
              <a:t> que </a:t>
            </a:r>
            <a:r>
              <a:rPr lang="en-US" altLang="es-AR" dirty="0" err="1"/>
              <a:t>llega</a:t>
            </a:r>
            <a:r>
              <a:rPr lang="en-US" altLang="es-AR" dirty="0"/>
              <a:t> = 0001001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dirty="0"/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/>
              <a:t>Es </a:t>
            </a:r>
            <a:r>
              <a:rPr lang="en-US" altLang="es-AR" dirty="0" err="1"/>
              <a:t>necesario</a:t>
            </a:r>
            <a:r>
              <a:rPr lang="en-US" altLang="es-AR" dirty="0"/>
              <a:t> </a:t>
            </a:r>
            <a:r>
              <a:rPr lang="en-US" altLang="es-AR" dirty="0" err="1"/>
              <a:t>decodificar</a:t>
            </a:r>
            <a:r>
              <a:rPr lang="en-US" altLang="es-AR" dirty="0"/>
              <a:t> la palabra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dirty="0"/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/>
              <a:t>Las </a:t>
            </a:r>
            <a:r>
              <a:rPr lang="en-US" altLang="es-AR" dirty="0" err="1"/>
              <a:t>fórmulas</a:t>
            </a:r>
            <a:r>
              <a:rPr lang="en-US" altLang="es-AR" dirty="0"/>
              <a:t> para </a:t>
            </a:r>
            <a:r>
              <a:rPr lang="en-US" altLang="es-AR" dirty="0" err="1"/>
              <a:t>verificar</a:t>
            </a:r>
            <a:r>
              <a:rPr lang="en-US" altLang="es-AR" dirty="0"/>
              <a:t> los bits </a:t>
            </a:r>
            <a:r>
              <a:rPr lang="en-US" altLang="es-AR" dirty="0" err="1"/>
              <a:t>recibidos</a:t>
            </a:r>
            <a:r>
              <a:rPr lang="en-US" altLang="es-AR" dirty="0"/>
              <a:t> son: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800" dirty="0"/>
              <a:t>e1 = p1 + i3 + i5 + i7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800" dirty="0"/>
              <a:t>e2 = p2 + i3 + i6 + i7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800" dirty="0"/>
              <a:t>e3 = p4 + i5 + i6 + i7</a:t>
            </a:r>
          </a:p>
          <a:p>
            <a:pPr marL="11430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dirty="0"/>
          </a:p>
          <a:p>
            <a:pPr marL="11430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/>
              <a:t>La “palabra” para </a:t>
            </a:r>
            <a:r>
              <a:rPr lang="en-US" altLang="es-AR" dirty="0" err="1"/>
              <a:t>determinar</a:t>
            </a:r>
            <a:r>
              <a:rPr lang="en-US" altLang="es-AR" dirty="0"/>
              <a:t> el bit </a:t>
            </a:r>
            <a:r>
              <a:rPr lang="en-US" altLang="es-AR" dirty="0" err="1"/>
              <a:t>errado</a:t>
            </a:r>
            <a:r>
              <a:rPr lang="en-US" altLang="es-AR" dirty="0"/>
              <a:t> se forma: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800" dirty="0"/>
              <a:t>e3 e2 e1 = 011 = 3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AE64DE8-F6F3-4083-ADCB-C1895D0A4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580" y="5390200"/>
            <a:ext cx="5452533" cy="110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9787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643467" y="640080"/>
            <a:ext cx="3096427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Ejemplo código hamming: Recepción</a:t>
            </a:r>
          </a:p>
          <a:p>
            <a:pPr marL="0" indent="0">
              <a:spcBef>
                <a:spcPct val="0"/>
              </a:spcBef>
              <a:buNone/>
            </a:pP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buNone/>
            </a:pP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699818" y="640081"/>
            <a:ext cx="6848715" cy="4641046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/>
              <a:t>Palabra </a:t>
            </a:r>
            <a:r>
              <a:rPr lang="en-US" altLang="es-AR" dirty="0" err="1"/>
              <a:t>codificada</a:t>
            </a:r>
            <a:r>
              <a:rPr lang="en-US" altLang="es-AR" dirty="0"/>
              <a:t> que </a:t>
            </a:r>
            <a:r>
              <a:rPr lang="en-US" altLang="es-AR" dirty="0" err="1"/>
              <a:t>llega</a:t>
            </a:r>
            <a:r>
              <a:rPr lang="en-US" altLang="es-AR" dirty="0"/>
              <a:t> = 0001001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dirty="0"/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/>
              <a:t>Es </a:t>
            </a:r>
            <a:r>
              <a:rPr lang="en-US" altLang="es-AR" dirty="0" err="1"/>
              <a:t>necesario</a:t>
            </a:r>
            <a:r>
              <a:rPr lang="en-US" altLang="es-AR" dirty="0"/>
              <a:t> </a:t>
            </a:r>
            <a:r>
              <a:rPr lang="en-US" altLang="es-AR" dirty="0" err="1"/>
              <a:t>decodificar</a:t>
            </a:r>
            <a:r>
              <a:rPr lang="en-US" altLang="es-AR" dirty="0"/>
              <a:t> la palabra</a:t>
            </a:r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dirty="0"/>
          </a:p>
          <a:p>
            <a:pPr marL="75438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/>
              <a:t>Las </a:t>
            </a:r>
            <a:r>
              <a:rPr lang="en-US" altLang="es-AR" dirty="0" err="1"/>
              <a:t>fórmulas</a:t>
            </a:r>
            <a:r>
              <a:rPr lang="en-US" altLang="es-AR" dirty="0"/>
              <a:t> para </a:t>
            </a:r>
            <a:r>
              <a:rPr lang="en-US" altLang="es-AR" dirty="0" err="1"/>
              <a:t>verificar</a:t>
            </a:r>
            <a:r>
              <a:rPr lang="en-US" altLang="es-AR" dirty="0"/>
              <a:t> los bits </a:t>
            </a:r>
            <a:r>
              <a:rPr lang="en-US" altLang="es-AR" dirty="0" err="1"/>
              <a:t>recibidos</a:t>
            </a:r>
            <a:r>
              <a:rPr lang="en-US" altLang="es-AR" dirty="0"/>
              <a:t> son: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800" dirty="0"/>
              <a:t>e1 = p1 + i3 + i5 + i7 = 1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800" dirty="0"/>
              <a:t>e2 = p2 + i3 + i6 + i7 = 1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800" dirty="0"/>
              <a:t>e3 = p4 + i5 + i6 + i7 = 0</a:t>
            </a:r>
          </a:p>
          <a:p>
            <a:pPr marL="11430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endParaRPr lang="en-US" altLang="es-AR" dirty="0"/>
          </a:p>
          <a:p>
            <a:pPr marL="11430" lvl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dirty="0"/>
              <a:t>La “palabra” para </a:t>
            </a:r>
            <a:r>
              <a:rPr lang="en-US" altLang="es-AR" dirty="0" err="1"/>
              <a:t>determinar</a:t>
            </a:r>
            <a:r>
              <a:rPr lang="en-US" altLang="es-AR" dirty="0"/>
              <a:t> el bit </a:t>
            </a:r>
            <a:r>
              <a:rPr lang="en-US" altLang="es-AR" dirty="0" err="1"/>
              <a:t>errado</a:t>
            </a:r>
            <a:r>
              <a:rPr lang="en-US" altLang="es-AR" dirty="0"/>
              <a:t> se forma:</a:t>
            </a:r>
          </a:p>
          <a:p>
            <a:pPr marL="925830" lvl="3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800" dirty="0"/>
              <a:t>e3 e2 e1 = 011 = 3</a:t>
            </a:r>
          </a:p>
        </p:txBody>
      </p:sp>
      <p:graphicFrame>
        <p:nvGraphicFramePr>
          <p:cNvPr id="6" name="Tabla 3">
            <a:extLst>
              <a:ext uri="{FF2B5EF4-FFF2-40B4-BE49-F238E27FC236}">
                <a16:creationId xmlns:a16="http://schemas.microsoft.com/office/drawing/2014/main" id="{A6C42A25-2987-40BA-B4E8-D1F09A6E1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847406"/>
              </p:ext>
            </p:extLst>
          </p:nvPr>
        </p:nvGraphicFramePr>
        <p:xfrm>
          <a:off x="4898571" y="5674223"/>
          <a:ext cx="6428793" cy="78256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8399">
                  <a:extLst>
                    <a:ext uri="{9D8B030D-6E8A-4147-A177-3AD203B41FA5}">
                      <a16:colId xmlns:a16="http://schemas.microsoft.com/office/drawing/2014/main" val="574599279"/>
                    </a:ext>
                  </a:extLst>
                </a:gridCol>
                <a:gridCol w="918399">
                  <a:extLst>
                    <a:ext uri="{9D8B030D-6E8A-4147-A177-3AD203B41FA5}">
                      <a16:colId xmlns:a16="http://schemas.microsoft.com/office/drawing/2014/main" val="4054239712"/>
                    </a:ext>
                  </a:extLst>
                </a:gridCol>
                <a:gridCol w="918399">
                  <a:extLst>
                    <a:ext uri="{9D8B030D-6E8A-4147-A177-3AD203B41FA5}">
                      <a16:colId xmlns:a16="http://schemas.microsoft.com/office/drawing/2014/main" val="2024053314"/>
                    </a:ext>
                  </a:extLst>
                </a:gridCol>
                <a:gridCol w="918399">
                  <a:extLst>
                    <a:ext uri="{9D8B030D-6E8A-4147-A177-3AD203B41FA5}">
                      <a16:colId xmlns:a16="http://schemas.microsoft.com/office/drawing/2014/main" val="1640132193"/>
                    </a:ext>
                  </a:extLst>
                </a:gridCol>
                <a:gridCol w="918399">
                  <a:extLst>
                    <a:ext uri="{9D8B030D-6E8A-4147-A177-3AD203B41FA5}">
                      <a16:colId xmlns:a16="http://schemas.microsoft.com/office/drawing/2014/main" val="1047322690"/>
                    </a:ext>
                  </a:extLst>
                </a:gridCol>
                <a:gridCol w="918399">
                  <a:extLst>
                    <a:ext uri="{9D8B030D-6E8A-4147-A177-3AD203B41FA5}">
                      <a16:colId xmlns:a16="http://schemas.microsoft.com/office/drawing/2014/main" val="3414706451"/>
                    </a:ext>
                  </a:extLst>
                </a:gridCol>
                <a:gridCol w="918399">
                  <a:extLst>
                    <a:ext uri="{9D8B030D-6E8A-4147-A177-3AD203B41FA5}">
                      <a16:colId xmlns:a16="http://schemas.microsoft.com/office/drawing/2014/main" val="2691832237"/>
                    </a:ext>
                  </a:extLst>
                </a:gridCol>
              </a:tblGrid>
              <a:tr h="782563">
                <a:tc>
                  <a:txBody>
                    <a:bodyPr/>
                    <a:lstStyle/>
                    <a:p>
                      <a:pPr lvl="0" algn="ctr"/>
                      <a:r>
                        <a:rPr lang="es-AR" sz="2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s-AR" sz="2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s-AR" sz="2800" strike="sngStrike" dirty="0">
                          <a:solidFill>
                            <a:schemeClr val="tx1"/>
                          </a:solidFill>
                          <a:effectLst/>
                        </a:rPr>
                        <a:t>0 </a:t>
                      </a:r>
                      <a:r>
                        <a:rPr lang="es-AR" sz="2800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s-AR" sz="2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s-AR" sz="2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s-AR" sz="2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s-AR" sz="28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9793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3749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838200" y="963877"/>
            <a:ext cx="3494362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en-US" sz="44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Verificacion si hubo error</a:t>
            </a:r>
          </a:p>
          <a:p>
            <a:pPr marL="0" indent="0" algn="r">
              <a:spcBef>
                <a:spcPct val="0"/>
              </a:spcBef>
              <a:buNone/>
            </a:pPr>
            <a:endParaRPr lang="en-US" sz="4400" kern="12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algn="r">
              <a:spcBef>
                <a:spcPct val="0"/>
              </a:spcBef>
              <a:buNone/>
            </a:pPr>
            <a:endParaRPr lang="en-US" sz="4400" kern="12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587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>
              <a:spcBef>
                <a:spcPct val="0"/>
              </a:spcBef>
              <a:spcAft>
                <a:spcPts val="600"/>
              </a:spcAft>
            </a:pPr>
            <a:r>
              <a:rPr lang="en-US" altLang="es-AR" sz="2400" dirty="0"/>
              <a:t>Si (e</a:t>
            </a:r>
            <a:r>
              <a:rPr lang="en-US" altLang="es-AR" sz="2400" baseline="-25000" dirty="0"/>
              <a:t>1</a:t>
            </a:r>
            <a:r>
              <a:rPr lang="en-US" altLang="es-AR" sz="2400" dirty="0"/>
              <a:t> = e</a:t>
            </a:r>
            <a:r>
              <a:rPr lang="en-US" altLang="es-AR" sz="2400" baseline="-25000" dirty="0"/>
              <a:t>2</a:t>
            </a:r>
            <a:r>
              <a:rPr lang="en-US" altLang="es-AR" sz="2400" dirty="0"/>
              <a:t> = e</a:t>
            </a:r>
            <a:r>
              <a:rPr lang="en-US" altLang="es-AR" sz="2400" baseline="-25000" dirty="0"/>
              <a:t>3</a:t>
            </a:r>
            <a:r>
              <a:rPr lang="en-US" altLang="es-AR" sz="2400" dirty="0"/>
              <a:t> = 0) </a:t>
            </a:r>
            <a:r>
              <a:rPr lang="en-US" altLang="es-AR" sz="2400" dirty="0" err="1"/>
              <a:t>entonces</a:t>
            </a:r>
            <a:r>
              <a:rPr lang="en-US" altLang="es-AR" sz="2400" dirty="0"/>
              <a:t> no </a:t>
            </a:r>
            <a:r>
              <a:rPr lang="en-US" altLang="es-AR" sz="2400" dirty="0" err="1"/>
              <a:t>hubo</a:t>
            </a:r>
            <a:r>
              <a:rPr lang="en-US" altLang="es-AR" sz="2400" dirty="0"/>
              <a:t> error </a:t>
            </a:r>
            <a:r>
              <a:rPr lang="en-US" altLang="es-AR" sz="2400" dirty="0" err="1"/>
              <a:t>en</a:t>
            </a:r>
            <a:r>
              <a:rPr lang="en-US" altLang="es-AR" sz="2400" dirty="0"/>
              <a:t> la </a:t>
            </a:r>
            <a:r>
              <a:rPr lang="en-US" altLang="es-AR" sz="2400" dirty="0" err="1"/>
              <a:t>transmisión</a:t>
            </a:r>
            <a:r>
              <a:rPr lang="en-US" altLang="es-AR" sz="2400" dirty="0"/>
              <a:t> </a:t>
            </a:r>
            <a:r>
              <a:rPr lang="en-US" altLang="es-AR" sz="2400" dirty="0" err="1"/>
              <a:t>sino</a:t>
            </a:r>
            <a:r>
              <a:rPr lang="en-US" altLang="es-AR" sz="2400" dirty="0"/>
              <a:t> error, el bit </a:t>
            </a:r>
            <a:r>
              <a:rPr lang="en-US" altLang="es-AR" sz="2400" dirty="0" err="1"/>
              <a:t>erróneo</a:t>
            </a:r>
            <a:r>
              <a:rPr lang="en-US" altLang="es-AR" sz="2400" dirty="0"/>
              <a:t> </a:t>
            </a:r>
            <a:r>
              <a:rPr lang="en-US" altLang="es-AR" sz="2400" dirty="0" err="1"/>
              <a:t>corresponde</a:t>
            </a:r>
            <a:r>
              <a:rPr lang="en-US" altLang="es-AR" sz="2400" dirty="0"/>
              <a:t> al </a:t>
            </a:r>
            <a:r>
              <a:rPr lang="en-US" altLang="es-AR" sz="2400" dirty="0" err="1"/>
              <a:t>equivalente</a:t>
            </a:r>
            <a:r>
              <a:rPr lang="en-US" altLang="es-AR" sz="2400" dirty="0"/>
              <a:t> decimal de (e</a:t>
            </a:r>
            <a:r>
              <a:rPr lang="en-US" altLang="es-AR" sz="2400" baseline="-25000" dirty="0"/>
              <a:t>3</a:t>
            </a:r>
            <a:r>
              <a:rPr lang="en-US" altLang="es-AR" sz="2400" dirty="0"/>
              <a:t>e</a:t>
            </a:r>
            <a:r>
              <a:rPr lang="en-US" altLang="es-AR" sz="2400" baseline="-25000" dirty="0"/>
              <a:t>2</a:t>
            </a:r>
            <a:r>
              <a:rPr lang="en-US" altLang="es-AR" sz="2400" dirty="0"/>
              <a:t>e</a:t>
            </a:r>
            <a:r>
              <a:rPr lang="en-US" altLang="es-AR" sz="2400" baseline="-25000" dirty="0"/>
              <a:t>1</a:t>
            </a:r>
            <a:r>
              <a:rPr lang="en-US" altLang="es-AR" sz="2400" dirty="0"/>
              <a:t>)</a:t>
            </a:r>
            <a:r>
              <a:rPr lang="en-US" altLang="es-AR" sz="2400" baseline="-25000" dirty="0"/>
              <a:t>2</a:t>
            </a:r>
            <a:r>
              <a:rPr lang="en-US" altLang="es-AR" sz="2400" dirty="0"/>
              <a:t>:</a:t>
            </a:r>
          </a:p>
          <a:p>
            <a:pPr marL="0">
              <a:spcBef>
                <a:spcPct val="0"/>
              </a:spcBef>
              <a:spcAft>
                <a:spcPts val="600"/>
              </a:spcAft>
            </a:pPr>
            <a:endParaRPr lang="en-US" altLang="es-AR" sz="2400" dirty="0"/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400" dirty="0"/>
              <a:t>001: 1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400" dirty="0"/>
              <a:t>010: 2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400" dirty="0"/>
              <a:t>011: 3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400" dirty="0"/>
              <a:t>100: 4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400" dirty="0"/>
              <a:t>101: 5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400" dirty="0"/>
              <a:t>110: 6</a:t>
            </a:r>
          </a:p>
          <a:p>
            <a:pPr marL="514350" lvl="2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s-AR" sz="2400" dirty="0"/>
              <a:t>111: 7</a:t>
            </a:r>
          </a:p>
        </p:txBody>
      </p:sp>
    </p:spTree>
    <p:extLst>
      <p:ext uri="{BB962C8B-B14F-4D97-AF65-F5344CB8AC3E}">
        <p14:creationId xmlns:p14="http://schemas.microsoft.com/office/powerpoint/2010/main" val="28532837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9">
            <a:extLst>
              <a:ext uri="{FF2B5EF4-FFF2-40B4-BE49-F238E27FC236}">
                <a16:creationId xmlns:a16="http://schemas.microsoft.com/office/drawing/2014/main" id="{56C20283-73E0-40EC-8AD8-057F581F6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reeform 28">
            <a:extLst>
              <a:ext uri="{FF2B5EF4-FFF2-40B4-BE49-F238E27FC236}">
                <a16:creationId xmlns:a16="http://schemas.microsoft.com/office/drawing/2014/main" id="{3FCC729B-E528-40C3-82D3-BA4375575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960120" y="0"/>
            <a:ext cx="11218661" cy="6858000"/>
          </a:xfrm>
          <a:custGeom>
            <a:avLst/>
            <a:gdLst>
              <a:gd name="connsiteX0" fmla="*/ 0 w 11218661"/>
              <a:gd name="connsiteY0" fmla="*/ 0 h 6858000"/>
              <a:gd name="connsiteX1" fmla="*/ 8042507 w 11218661"/>
              <a:gd name="connsiteY1" fmla="*/ 0 h 6858000"/>
              <a:gd name="connsiteX2" fmla="*/ 11218661 w 11218661"/>
              <a:gd name="connsiteY2" fmla="*/ 6858000 h 6858000"/>
              <a:gd name="connsiteX3" fmla="*/ 0 w 1121866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18661" h="6858000">
                <a:moveTo>
                  <a:pt x="0" y="0"/>
                </a:moveTo>
                <a:lnTo>
                  <a:pt x="8042507" y="0"/>
                </a:lnTo>
                <a:lnTo>
                  <a:pt x="1121866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4" name="Freeform 26">
            <a:extLst>
              <a:ext uri="{FF2B5EF4-FFF2-40B4-BE49-F238E27FC236}">
                <a16:creationId xmlns:a16="http://schemas.microsoft.com/office/drawing/2014/main" id="{58F1FB8D-1842-4A04-998D-6CF047AB2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420248" y="0"/>
            <a:ext cx="10771752" cy="6858000"/>
          </a:xfrm>
          <a:custGeom>
            <a:avLst/>
            <a:gdLst>
              <a:gd name="connsiteX0" fmla="*/ 0 w 10771752"/>
              <a:gd name="connsiteY0" fmla="*/ 0 h 6858000"/>
              <a:gd name="connsiteX1" fmla="*/ 7595598 w 10771752"/>
              <a:gd name="connsiteY1" fmla="*/ 0 h 6858000"/>
              <a:gd name="connsiteX2" fmla="*/ 10771752 w 10771752"/>
              <a:gd name="connsiteY2" fmla="*/ 6858000 h 6858000"/>
              <a:gd name="connsiteX3" fmla="*/ 0 w 107717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71752" h="6858000">
                <a:moveTo>
                  <a:pt x="0" y="0"/>
                </a:moveTo>
                <a:lnTo>
                  <a:pt x="7595598" y="0"/>
                </a:lnTo>
                <a:lnTo>
                  <a:pt x="107717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Subtítulo 2"/>
          <p:cNvSpPr txBox="1">
            <a:spLocks/>
          </p:cNvSpPr>
          <p:nvPr/>
        </p:nvSpPr>
        <p:spPr>
          <a:xfrm>
            <a:off x="4384039" y="365125"/>
            <a:ext cx="716449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Verificacion si hubo error</a:t>
            </a:r>
          </a:p>
          <a:p>
            <a:pPr marL="0" indent="0">
              <a:spcBef>
                <a:spcPct val="0"/>
              </a:spcBef>
              <a:buNone/>
            </a:pP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buNone/>
            </a:pP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0" name="Graphic 69">
            <a:extLst>
              <a:ext uri="{FF2B5EF4-FFF2-40B4-BE49-F238E27FC236}">
                <a16:creationId xmlns:a16="http://schemas.microsoft.com/office/drawing/2014/main" id="{E4DE6DF5-F704-4B24-B976-9A9FB9F3F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060" y="1715781"/>
            <a:ext cx="3425957" cy="3425957"/>
          </a:xfrm>
          <a:prstGeom prst="rect">
            <a:avLst/>
          </a:prstGeom>
        </p:spPr>
      </p:pic>
      <p:sp>
        <p:nvSpPr>
          <p:cNvPr id="68610" name="2 Marcador de contenido"/>
          <p:cNvSpPr>
            <a:spLocks noGrp="1"/>
          </p:cNvSpPr>
          <p:nvPr>
            <p:ph idx="4294967295"/>
          </p:nvPr>
        </p:nvSpPr>
        <p:spPr>
          <a:xfrm>
            <a:off x="4387515" y="1301263"/>
            <a:ext cx="7464516" cy="487570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altLang="es-AR" dirty="0"/>
              <a:t>Se </a:t>
            </a:r>
            <a:r>
              <a:rPr lang="en-US" altLang="es-AR" dirty="0" err="1"/>
              <a:t>recibe</a:t>
            </a:r>
            <a:r>
              <a:rPr lang="en-US" altLang="es-AR" dirty="0"/>
              <a:t> 0111010, con </a:t>
            </a:r>
            <a:r>
              <a:rPr lang="en-US" altLang="es-AR" dirty="0" err="1"/>
              <a:t>paridad</a:t>
            </a:r>
            <a:r>
              <a:rPr lang="en-US" altLang="es-AR" dirty="0"/>
              <a:t> par</a:t>
            </a:r>
          </a:p>
          <a:p>
            <a:r>
              <a:rPr lang="en-US" altLang="es-AR" dirty="0" err="1"/>
              <a:t>Cuáles</a:t>
            </a:r>
            <a:r>
              <a:rPr lang="en-US" altLang="es-AR" dirty="0"/>
              <a:t> son los </a:t>
            </a:r>
            <a:r>
              <a:rPr lang="en-US" altLang="es-AR" dirty="0" err="1"/>
              <a:t>datos</a:t>
            </a:r>
            <a:r>
              <a:rPr lang="en-US" altLang="es-AR" dirty="0"/>
              <a:t> </a:t>
            </a:r>
            <a:r>
              <a:rPr lang="en-US" altLang="es-AR" dirty="0" err="1"/>
              <a:t>recuperados</a:t>
            </a:r>
            <a:r>
              <a:rPr lang="en-US" altLang="es-AR" dirty="0"/>
              <a:t> con</a:t>
            </a:r>
          </a:p>
          <a:p>
            <a:r>
              <a:rPr lang="en-US" altLang="es-AR" dirty="0"/>
              <a:t>x1  x2  a3  x4  a5  a6  a7</a:t>
            </a:r>
            <a:br>
              <a:rPr lang="en-US" altLang="es-AR" dirty="0"/>
            </a:br>
            <a:r>
              <a:rPr lang="en-US" altLang="es-AR" b="1" dirty="0"/>
              <a:t> 0   1    1    1    0    1    0 </a:t>
            </a:r>
            <a:br>
              <a:rPr lang="en-US" altLang="es-AR" dirty="0"/>
            </a:br>
            <a:endParaRPr lang="en-US" altLang="es-AR" dirty="0"/>
          </a:p>
          <a:p>
            <a:r>
              <a:rPr lang="en-US" altLang="es-AR" dirty="0"/>
              <a:t>e1 : x1 a3 a5 a7 : 0 1 0 0 // e1: 1</a:t>
            </a:r>
            <a:br>
              <a:rPr lang="en-US" altLang="es-AR" dirty="0"/>
            </a:br>
            <a:r>
              <a:rPr lang="en-US" altLang="es-AR" dirty="0"/>
              <a:t>e2 : x2 a3 a6 a7 : 1 1 1 0 // e2: 1</a:t>
            </a:r>
            <a:br>
              <a:rPr lang="en-US" altLang="es-AR" dirty="0"/>
            </a:br>
            <a:r>
              <a:rPr lang="en-US" altLang="es-AR" dirty="0"/>
              <a:t>e3 : x4 a5 a6 a7 : 1 0 1 0 // e3: 0</a:t>
            </a:r>
            <a:br>
              <a:rPr lang="en-US" altLang="es-AR" dirty="0"/>
            </a:br>
            <a:endParaRPr lang="en-US" altLang="es-AR" dirty="0"/>
          </a:p>
          <a:p>
            <a:r>
              <a:rPr lang="en-US" altLang="es-AR" dirty="0"/>
              <a:t>bit </a:t>
            </a:r>
            <a:r>
              <a:rPr lang="en-US" altLang="es-AR" dirty="0" err="1"/>
              <a:t>errado</a:t>
            </a:r>
            <a:r>
              <a:rPr lang="en-US" altLang="es-AR" dirty="0"/>
              <a:t>: 0 1 1 = bit </a:t>
            </a:r>
            <a:r>
              <a:rPr lang="en-US" altLang="es-AR" dirty="0" err="1"/>
              <a:t>nro</a:t>
            </a:r>
            <a:r>
              <a:rPr lang="en-US" altLang="es-AR" dirty="0"/>
              <a:t> 3, a3. </a:t>
            </a:r>
          </a:p>
          <a:p>
            <a:r>
              <a:rPr lang="en-US" altLang="es-AR" dirty="0" err="1"/>
              <a:t>corregido</a:t>
            </a:r>
            <a:r>
              <a:rPr lang="en-US" altLang="es-AR" dirty="0"/>
              <a:t> </a:t>
            </a:r>
            <a:r>
              <a:rPr lang="en-US" altLang="es-AR" dirty="0" err="1"/>
              <a:t>resulta</a:t>
            </a:r>
            <a:r>
              <a:rPr lang="en-US" altLang="es-AR" dirty="0"/>
              <a:t>  </a:t>
            </a:r>
            <a:r>
              <a:rPr lang="en-US" altLang="es-AR" b="1" dirty="0"/>
              <a:t>0  1  0  1  0  1  0 </a:t>
            </a:r>
          </a:p>
        </p:txBody>
      </p:sp>
    </p:spTree>
    <p:extLst>
      <p:ext uri="{BB962C8B-B14F-4D97-AF65-F5344CB8AC3E}">
        <p14:creationId xmlns:p14="http://schemas.microsoft.com/office/powerpoint/2010/main" val="2894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DA547244-BCDD-48B4-8EEC-3CD7BAF43B6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7" name="Picture 4" descr="Resultado de imagen para gracias hd">
            <a:extLst>
              <a:ext uri="{FF2B5EF4-FFF2-40B4-BE49-F238E27FC236}">
                <a16:creationId xmlns:a16="http://schemas.microsoft.com/office/drawing/2014/main" id="{78035170-9340-458B-8B3C-2F5E4ECCA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021" y="855099"/>
            <a:ext cx="8010525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6943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2D8A10E60FDE24488A946424282188D" ma:contentTypeVersion="3" ma:contentTypeDescription="Crear nuevo documento." ma:contentTypeScope="" ma:versionID="134d33a27799b921f758163cdfea0faf">
  <xsd:schema xmlns:xsd="http://www.w3.org/2001/XMLSchema" xmlns:xs="http://www.w3.org/2001/XMLSchema" xmlns:p="http://schemas.microsoft.com/office/2006/metadata/properties" xmlns:ns2="45b48c38-7013-4664-b520-22f2af2dcfb5" targetNamespace="http://schemas.microsoft.com/office/2006/metadata/properties" ma:root="true" ma:fieldsID="44f8dc01e09dba9ce0f7a122f1320a0b" ns2:_="">
    <xsd:import namespace="45b48c38-7013-4664-b520-22f2af2dcf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b48c38-7013-4664-b520-22f2af2dcf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F0F4814-8EC9-4929-888B-1E0260094523}"/>
</file>

<file path=customXml/itemProps2.xml><?xml version="1.0" encoding="utf-8"?>
<ds:datastoreItem xmlns:ds="http://schemas.openxmlformats.org/officeDocument/2006/customXml" ds:itemID="{DFD36ED7-3C1F-4230-BB24-633CA2DAABE7}"/>
</file>

<file path=customXml/itemProps3.xml><?xml version="1.0" encoding="utf-8"?>
<ds:datastoreItem xmlns:ds="http://schemas.openxmlformats.org/officeDocument/2006/customXml" ds:itemID="{8F250332-F195-4ED1-97AA-D180376F108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3819</Words>
  <Application>Microsoft Office PowerPoint</Application>
  <PresentationFormat>Widescreen</PresentationFormat>
  <Paragraphs>810</Paragraphs>
  <Slides>68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7" baseType="lpstr">
      <vt:lpstr>Arial</vt:lpstr>
      <vt:lpstr>Britannic Bold</vt:lpstr>
      <vt:lpstr>Calibri</vt:lpstr>
      <vt:lpstr>Calibri Light</vt:lpstr>
      <vt:lpstr>Cambria Math</vt:lpstr>
      <vt:lpstr>Noto Serif</vt:lpstr>
      <vt:lpstr>Times New Roman</vt:lpstr>
      <vt:lpstr>Wingdings</vt:lpstr>
      <vt:lpstr>Tema de Office</vt:lpstr>
      <vt:lpstr>PowerPoint Presentation</vt:lpstr>
      <vt:lpstr>PowerPoint Presentation</vt:lpstr>
      <vt:lpstr>La piedra de Rosetta  Menfis 196A.C  Actualmente en el Museo Británico</vt:lpstr>
      <vt:lpstr>Atbash</vt:lpstr>
      <vt:lpstr>Alberti-Vigenere Cipher</vt:lpstr>
      <vt:lpstr>PowerPoint Presentation</vt:lpstr>
      <vt:lpstr>Maquina Enigma</vt:lpstr>
      <vt:lpstr>Alan Turing Responsable de descifrar el Código Enigma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Código Baudot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Códigos detección errores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DIEGO ARIEL WIERNIK</dc:creator>
  <cp:lastModifiedBy>WIERNIK Diego</cp:lastModifiedBy>
  <cp:revision>23</cp:revision>
  <dcterms:created xsi:type="dcterms:W3CDTF">2020-04-22T19:53:28Z</dcterms:created>
  <dcterms:modified xsi:type="dcterms:W3CDTF">2023-08-07T21:25:08Z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0x01010012D8A10E60FDE24488A946424282188D</vt:lpwstr>
  </property>
</Properties>
</file>