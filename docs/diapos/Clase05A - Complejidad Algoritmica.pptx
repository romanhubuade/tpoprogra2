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embeddedFontLst>
    <p:embeddedFont>
      <p:font typeface="Oxygen"/>
      <p:regular r:id="rId31"/>
      <p:bold r:id="rId32"/>
    </p:embeddedFont>
    <p:embeddedFont>
      <p:font typeface="Century Gothic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hM620DPL73mxQNLGs5UDpBcdZO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55C38E-ADAB-4EC6-A72B-152FE61AAE49}">
  <a:tblStyle styleId="{3A55C38E-ADAB-4EC6-A72B-152FE61AAE4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customXml" Target="../customXml/item2.xml"/><Relationship Id="rId21" Type="http://schemas.openxmlformats.org/officeDocument/2006/relationships/slide" Target="slides/slide15.xml"/><Relationship Id="rId34" Type="http://schemas.openxmlformats.org/officeDocument/2006/relationships/font" Target="fonts/CenturyGothic-bold.fntdata"/><Relationship Id="rId25" Type="http://schemas.openxmlformats.org/officeDocument/2006/relationships/slide" Target="slides/slide19.xml"/><Relationship Id="rId7" Type="http://schemas.openxmlformats.org/officeDocument/2006/relationships/slide" Target="slides/slide1.xml"/><Relationship Id="rId33" Type="http://schemas.openxmlformats.org/officeDocument/2006/relationships/font" Target="fonts/CenturyGothic-regular.fntdata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8" Type="http://schemas.openxmlformats.org/officeDocument/2006/relationships/customXml" Target="../customXml/item1.xml"/><Relationship Id="rId20" Type="http://schemas.openxmlformats.org/officeDocument/2006/relationships/slide" Target="slides/slide14.xml"/><Relationship Id="rId2" Type="http://schemas.openxmlformats.org/officeDocument/2006/relationships/viewProps" Target="viewProps.xml"/><Relationship Id="rId29" Type="http://schemas.openxmlformats.org/officeDocument/2006/relationships/slide" Target="slides/slide23.xml"/><Relationship Id="rId16" Type="http://schemas.openxmlformats.org/officeDocument/2006/relationships/slide" Target="slides/slide10.xml"/><Relationship Id="rId24" Type="http://schemas.openxmlformats.org/officeDocument/2006/relationships/slide" Target="slides/slide18.xml"/><Relationship Id="rId1" Type="http://schemas.openxmlformats.org/officeDocument/2006/relationships/theme" Target="theme/theme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5.xml"/><Relationship Id="rId32" Type="http://schemas.openxmlformats.org/officeDocument/2006/relationships/font" Target="fonts/Oxygen-bold.fntdata"/><Relationship Id="rId37" Type="http://customschemas.google.com/relationships/presentationmetadata" Target="metadata"/><Relationship Id="rId40" Type="http://schemas.openxmlformats.org/officeDocument/2006/relationships/customXml" Target="../customXml/item3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36" Type="http://schemas.openxmlformats.org/officeDocument/2006/relationships/font" Target="fonts/CenturyGothic-boldItalic.fntdata"/><Relationship Id="rId31" Type="http://schemas.openxmlformats.org/officeDocument/2006/relationships/font" Target="fonts/Oxygen-regular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22" Type="http://schemas.openxmlformats.org/officeDocument/2006/relationships/slide" Target="slides/slide16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font" Target="fonts/CenturyGothic-italic.fntdata"/><Relationship Id="rId14" Type="http://schemas.openxmlformats.org/officeDocument/2006/relationships/slide" Target="slides/slide8.xml"/><Relationship Id="rId8" Type="http://schemas.openxmlformats.org/officeDocument/2006/relationships/slide" Target="slides/slide2.xml"/><Relationship Id="rId3" Type="http://schemas.openxmlformats.org/officeDocument/2006/relationships/presProps" Target="presProps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70b3c5c6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970b3c5c6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70b3c5c6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970b3c5c6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70b3c5c61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970b3c5c61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70b3c5c61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970b3c5c61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70b3c5c61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970b3c5c61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70b3c5c61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970b3c5c61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70b3c5c61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970b3c5c61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70b3c5c61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g3970b3c5c61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70b3c5c61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970b3c5c61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70b3c5c61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970b3c5c61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70b3c5c61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970b3c5c61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70b3c5c61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3970b3c5c61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b6eac2f92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8b6eac2f92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8b6eac2f92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8b6eac2f92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b6eac2f92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g38b6eac2f92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8b6eac2f92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g38b6eac2f92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b6eac2f92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8b6eac2f92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b6eac2f92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g38b6eac2f92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8b6eac2f92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g38b6eac2f92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b6eac2f92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8b6eac2f92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b6eac2f92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8b6eac2f92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8b6eac2f92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g38b6eac2f92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8b6eac2f92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g38b6eac2f92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40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4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3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5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5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7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7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48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8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49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4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0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50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5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1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1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2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3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3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s-AR"/>
              <a:t>Complejidad Algor</a:t>
            </a:r>
            <a:r>
              <a:rPr lang="es-AR"/>
              <a:t>ítmica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0" y="5408853"/>
            <a:ext cx="6672979" cy="9500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s-AR" sz="4000">
                <a:solidFill>
                  <a:srgbClr val="A5A5A5"/>
                </a:solidFill>
              </a:rPr>
              <a:t>Programación II</a:t>
            </a:r>
            <a:endParaRPr/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0" y="9541"/>
            <a:ext cx="2701797" cy="11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0b3c5c61_0_0"/>
          <p:cNvSpPr txBox="1"/>
          <p:nvPr>
            <p:ph idx="4294967295" type="ctrTitle"/>
          </p:nvPr>
        </p:nvSpPr>
        <p:spPr>
          <a:xfrm>
            <a:off x="332509" y="1872886"/>
            <a:ext cx="115269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ALGORÍTMICA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70b3c5c61_0_4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La </a:t>
            </a:r>
            <a:r>
              <a:rPr b="1" lang="es-AR" sz="2600">
                <a:solidFill>
                  <a:srgbClr val="FF7B61"/>
                </a:solidFill>
              </a:rPr>
              <a:t>Complejidad Algorítmica</a:t>
            </a:r>
            <a:r>
              <a:rPr lang="es-AR" sz="2600">
                <a:solidFill>
                  <a:srgbClr val="FFFFFF"/>
                </a:solidFill>
              </a:rPr>
              <a:t> describe los costos de un algoritmo.</a:t>
            </a:r>
            <a:endParaRPr sz="2600">
              <a:solidFill>
                <a:srgbClr val="FFFFFF"/>
              </a:solidFill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Complejidad Temporal:</a:t>
            </a:r>
            <a:r>
              <a:rPr lang="es-AR" sz="2600"/>
              <a:t> el tiempo que tarda.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b="1" lang="es-AR" sz="2600">
                <a:solidFill>
                  <a:srgbClr val="FF7B61"/>
                </a:solidFill>
              </a:rPr>
              <a:t>Complejidad Espacial:</a:t>
            </a:r>
            <a:r>
              <a:rPr lang="es-AR" sz="2600"/>
              <a:t> la cantidad de memoria que requiere.</a:t>
            </a:r>
            <a:endParaRPr sz="2600"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Las usamos para estimar la </a:t>
            </a:r>
            <a:r>
              <a:rPr lang="es-AR" sz="2600">
                <a:solidFill>
                  <a:srgbClr val="FF7B61"/>
                </a:solidFill>
              </a:rPr>
              <a:t>eficiencia</a:t>
            </a:r>
            <a:r>
              <a:rPr lang="es-AR" sz="2600">
                <a:solidFill>
                  <a:srgbClr val="FFFFFF"/>
                </a:solidFill>
              </a:rPr>
              <a:t> de una determinada solución.</a:t>
            </a:r>
            <a:endParaRPr/>
          </a:p>
        </p:txBody>
      </p:sp>
      <p:sp>
        <p:nvSpPr>
          <p:cNvPr id="132" name="Google Shape;132;g3970b3c5c61_0_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ALGORÍTMICA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70b3c5c61_0_9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No medimos los costos en unidades como segundos o bytes.</a:t>
            </a:r>
            <a:endParaRPr sz="2600">
              <a:solidFill>
                <a:srgbClr val="FFFFFF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Lo que nos importa es </a:t>
            </a:r>
            <a:r>
              <a:rPr lang="es-AR" sz="2600">
                <a:solidFill>
                  <a:srgbClr val="FF7B61"/>
                </a:solidFill>
              </a:rPr>
              <a:t>cómo</a:t>
            </a:r>
            <a:r>
              <a:rPr lang="es-AR" sz="2600">
                <a:solidFill>
                  <a:srgbClr val="FFFFFF"/>
                </a:solidFill>
              </a:rPr>
              <a:t> </a:t>
            </a:r>
            <a:r>
              <a:rPr lang="es-AR" sz="2600">
                <a:solidFill>
                  <a:srgbClr val="FF7B61"/>
                </a:solidFill>
              </a:rPr>
              <a:t>escalan</a:t>
            </a:r>
            <a:r>
              <a:rPr lang="es-AR" sz="2600">
                <a:solidFill>
                  <a:srgbClr val="FFFFFF"/>
                </a:solidFill>
              </a:rPr>
              <a:t> esos costos </a:t>
            </a:r>
            <a:r>
              <a:rPr lang="es-AR" sz="2600">
                <a:solidFill>
                  <a:srgbClr val="FF7B61"/>
                </a:solidFill>
              </a:rPr>
              <a:t>relativo al input</a:t>
            </a:r>
            <a:r>
              <a:rPr lang="es-AR" sz="2600">
                <a:solidFill>
                  <a:srgbClr val="FFFFFF"/>
                </a:solidFill>
              </a:rPr>
              <a:t>.</a:t>
            </a:r>
            <a:endParaRPr sz="2600">
              <a:solidFill>
                <a:srgbClr val="FFFFFF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Ej: sortear una lista de 10 elementos vs. 10.000 elementos.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138" name="Google Shape;138;g3970b3c5c61_0_9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ALGORÍTMICA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70b3c5c61_0_14"/>
          <p:cNvSpPr txBox="1"/>
          <p:nvPr>
            <p:ph idx="1" type="body"/>
          </p:nvPr>
        </p:nvSpPr>
        <p:spPr>
          <a:xfrm>
            <a:off x="290946" y="2286000"/>
            <a:ext cx="118038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Usamos la notación </a:t>
            </a:r>
            <a:r>
              <a:rPr b="1" lang="es-AR" sz="2600">
                <a:solidFill>
                  <a:srgbClr val="FF7B61"/>
                </a:solidFill>
              </a:rPr>
              <a:t>Big O</a:t>
            </a:r>
            <a:r>
              <a:rPr lang="es-AR" sz="2600">
                <a:solidFill>
                  <a:srgbClr val="FFFFFF"/>
                </a:solidFill>
              </a:rPr>
              <a:t> para expresar la Complejidad Algorítmica:</a:t>
            </a:r>
            <a:endParaRPr sz="2600">
              <a:solidFill>
                <a:srgbClr val="FFFFFF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b="1" lang="es-AR" sz="2600">
                <a:solidFill>
                  <a:srgbClr val="FF7B61"/>
                </a:solidFill>
              </a:rPr>
              <a:t>O(n)</a:t>
            </a:r>
            <a:r>
              <a:rPr lang="es-AR" sz="2600">
                <a:solidFill>
                  <a:srgbClr val="FFFFFF"/>
                </a:solidFill>
              </a:rPr>
              <a:t> donde O es el </a:t>
            </a:r>
            <a:r>
              <a:rPr lang="es-AR" sz="2600">
                <a:solidFill>
                  <a:srgbClr val="FF7B61"/>
                </a:solidFill>
              </a:rPr>
              <a:t>orden de crecimiento</a:t>
            </a:r>
            <a:r>
              <a:rPr lang="es-AR" sz="2600">
                <a:solidFill>
                  <a:srgbClr val="FFFFFF"/>
                </a:solidFill>
              </a:rPr>
              <a:t> en base a un input n.</a:t>
            </a:r>
            <a:endParaRPr sz="2600">
              <a:solidFill>
                <a:srgbClr val="FFFFFF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Se puede usar cualquier polinomio, pero vemos los m</a:t>
            </a:r>
            <a:r>
              <a:rPr lang="es-AR" sz="2600">
                <a:solidFill>
                  <a:srgbClr val="FFFFFF"/>
                </a:solidFill>
              </a:rPr>
              <a:t>ás comunes</a:t>
            </a:r>
            <a:r>
              <a:rPr lang="es-AR" sz="2600">
                <a:solidFill>
                  <a:srgbClr val="FFFFFF"/>
                </a:solidFill>
              </a:rPr>
              <a:t>: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144" name="Google Shape;144;g3970b3c5c61_0_1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ALGORÍTMICA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70b3c5c61_0_19"/>
          <p:cNvSpPr txBox="1"/>
          <p:nvPr>
            <p:ph idx="1" type="body"/>
          </p:nvPr>
        </p:nvSpPr>
        <p:spPr>
          <a:xfrm>
            <a:off x="290950" y="2286000"/>
            <a:ext cx="11568600" cy="1143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b="1" lang="es-AR" sz="2600">
                <a:solidFill>
                  <a:srgbClr val="FF7B61"/>
                </a:solidFill>
              </a:rPr>
              <a:t>O(1)</a:t>
            </a:r>
            <a:r>
              <a:rPr lang="es-AR" sz="2600">
                <a:solidFill>
                  <a:srgbClr val="FFFFFF"/>
                </a:solidFill>
              </a:rPr>
              <a:t>: complejidad constante, siempre cuesta lo mismo.</a:t>
            </a:r>
            <a:endParaRPr sz="2600">
              <a:solidFill>
                <a:srgbClr val="00C6BB"/>
              </a:solidFill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600"/>
              <a:buChar char="❖"/>
            </a:pPr>
            <a:r>
              <a:rPr lang="es-AR" sz="2600"/>
              <a:t>Ej: acceder a un índice de un array.</a:t>
            </a:r>
            <a:endParaRPr sz="2600"/>
          </a:p>
        </p:txBody>
      </p:sp>
      <p:sp>
        <p:nvSpPr>
          <p:cNvPr id="150" name="Google Shape;150;g3970b3c5c61_0_19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ALGORÍTMICA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1" name="Google Shape;151;g3970b3c5c61_0_19" title="O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0112" y="3625400"/>
            <a:ext cx="4031776" cy="27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970b3c5c61_0_19" title="Incredible 0.png"/>
          <p:cNvPicPr preferRelativeResize="0"/>
          <p:nvPr/>
        </p:nvPicPr>
        <p:blipFill rotWithShape="1">
          <a:blip r:embed="rId4">
            <a:alphaModFix/>
          </a:blip>
          <a:srcRect b="0" l="209" r="219" t="0"/>
          <a:stretch/>
        </p:blipFill>
        <p:spPr>
          <a:xfrm>
            <a:off x="760250" y="3897838"/>
            <a:ext cx="22288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970b3c5c61_0_19" title="Index Acces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01125" y="4106762"/>
            <a:ext cx="1202450" cy="182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970b3c5c61_0_19"/>
          <p:cNvSpPr/>
          <p:nvPr/>
        </p:nvSpPr>
        <p:spPr>
          <a:xfrm>
            <a:off x="10642675" y="4106750"/>
            <a:ext cx="159300" cy="1820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5" name="Google Shape;155;g3970b3c5c61_0_19"/>
          <p:cNvSpPr txBox="1"/>
          <p:nvPr/>
        </p:nvSpPr>
        <p:spPr>
          <a:xfrm>
            <a:off x="10848825" y="4900863"/>
            <a:ext cx="2304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 b="1" i="1"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g3970b3c5c61_0_19"/>
          <p:cNvSpPr txBox="1"/>
          <p:nvPr/>
        </p:nvSpPr>
        <p:spPr>
          <a:xfrm>
            <a:off x="9391850" y="4569575"/>
            <a:ext cx="2304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20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endParaRPr b="1" i="1" sz="2000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70b3c5c61_0_26"/>
          <p:cNvSpPr txBox="1"/>
          <p:nvPr>
            <p:ph idx="1" type="body"/>
          </p:nvPr>
        </p:nvSpPr>
        <p:spPr>
          <a:xfrm>
            <a:off x="290950" y="2286000"/>
            <a:ext cx="11666400" cy="1215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b="1" lang="es-AR" sz="2600">
                <a:solidFill>
                  <a:srgbClr val="FF7B61"/>
                </a:solidFill>
              </a:rPr>
              <a:t>O(log n)</a:t>
            </a:r>
            <a:r>
              <a:rPr lang="es-AR" sz="2600">
                <a:solidFill>
                  <a:srgbClr val="FFFFFF"/>
                </a:solidFill>
              </a:rPr>
              <a:t>: complejidad logarítmica, el problema se divide cada paso.</a:t>
            </a:r>
            <a:endParaRPr sz="2600">
              <a:solidFill>
                <a:srgbClr val="00C6BB"/>
              </a:solidFill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600"/>
              <a:buChar char="❖"/>
            </a:pPr>
            <a:r>
              <a:rPr lang="es-AR" sz="2600"/>
              <a:t>Ej: búsqueda binaria (a cada paso elige uno de dos caminos).</a:t>
            </a:r>
            <a:endParaRPr sz="2600"/>
          </a:p>
        </p:txBody>
      </p:sp>
      <p:sp>
        <p:nvSpPr>
          <p:cNvPr id="162" name="Google Shape;162;g3970b3c5c61_0_26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ALGORÍTMICA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3" name="Google Shape;163;g3970b3c5c61_0_26" title="O(log n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0112" y="3625400"/>
            <a:ext cx="4031776" cy="27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3970b3c5c61_0_26" title="Incredible 1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600" y="3897838"/>
            <a:ext cx="22288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g3970b3c5c61_0_26" title="Tournament Bracke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12300" y="3598702"/>
            <a:ext cx="1380825" cy="24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970b3c5c61_0_26"/>
          <p:cNvSpPr/>
          <p:nvPr/>
        </p:nvSpPr>
        <p:spPr>
          <a:xfrm rot="5400000">
            <a:off x="10123075" y="5451350"/>
            <a:ext cx="159300" cy="1334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g3970b3c5c61_0_26"/>
          <p:cNvSpPr txBox="1"/>
          <p:nvPr/>
        </p:nvSpPr>
        <p:spPr>
          <a:xfrm>
            <a:off x="10087500" y="6222325"/>
            <a:ext cx="2304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 b="1" i="1"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8" name="Google Shape;168;g3970b3c5c61_0_26"/>
          <p:cNvSpPr/>
          <p:nvPr/>
        </p:nvSpPr>
        <p:spPr>
          <a:xfrm>
            <a:off x="9279525" y="3641000"/>
            <a:ext cx="176700" cy="2397900"/>
          </a:xfrm>
          <a:prstGeom prst="downArrow">
            <a:avLst>
              <a:gd fmla="val 31154" name="adj1"/>
              <a:gd fmla="val 50000" name="adj2"/>
            </a:avLst>
          </a:prstGeom>
          <a:solidFill>
            <a:srgbClr val="FA6400"/>
          </a:solidFill>
          <a:ln>
            <a:noFill/>
          </a:ln>
          <a:effectLst>
            <a:outerShdw blurRad="114300" rotWithShape="0" algn="bl">
              <a:srgbClr val="FA64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3970b3c5c61_0_26"/>
          <p:cNvSpPr txBox="1"/>
          <p:nvPr/>
        </p:nvSpPr>
        <p:spPr>
          <a:xfrm>
            <a:off x="8542425" y="4724300"/>
            <a:ext cx="7620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20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log </a:t>
            </a:r>
            <a:r>
              <a:rPr b="1" i="1" lang="es-AR" sz="20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 b="1" i="1" sz="2000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3970b3c5c61_0_33" title="List Iter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3075" y="4106775"/>
            <a:ext cx="1202450" cy="182053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970b3c5c61_0_33"/>
          <p:cNvSpPr txBox="1"/>
          <p:nvPr>
            <p:ph idx="1" type="body"/>
          </p:nvPr>
        </p:nvSpPr>
        <p:spPr>
          <a:xfrm>
            <a:off x="290950" y="2286000"/>
            <a:ext cx="11568600" cy="1143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b="1" lang="es-AR" sz="2600">
                <a:solidFill>
                  <a:srgbClr val="FF7B61"/>
                </a:solidFill>
              </a:rPr>
              <a:t>O(n)</a:t>
            </a:r>
            <a:r>
              <a:rPr lang="es-AR" sz="2600">
                <a:solidFill>
                  <a:srgbClr val="FFFFFF"/>
                </a:solidFill>
              </a:rPr>
              <a:t>: tiempo/ espacio lineal, crece igual que el tamaño del input.</a:t>
            </a:r>
            <a:endParaRPr sz="2600">
              <a:solidFill>
                <a:srgbClr val="00C6BB"/>
              </a:solidFill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600"/>
              <a:buChar char="❖"/>
            </a:pPr>
            <a:r>
              <a:rPr lang="es-AR" sz="2600"/>
              <a:t>Ej: b</a:t>
            </a:r>
            <a:r>
              <a:rPr lang="es-AR" sz="2600"/>
              <a:t>úsqueda lineal (</a:t>
            </a:r>
            <a:r>
              <a:rPr lang="es-AR" sz="2600"/>
              <a:t>recorrer una lista hasta encontrar lo buscado).</a:t>
            </a:r>
            <a:endParaRPr sz="2600"/>
          </a:p>
        </p:txBody>
      </p:sp>
      <p:sp>
        <p:nvSpPr>
          <p:cNvPr id="176" name="Google Shape;176;g3970b3c5c61_0_33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ALGORÍTMICA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7" name="Google Shape;177;g3970b3c5c61_0_33" title="O(n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80112" y="3625400"/>
            <a:ext cx="4031776" cy="27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970b3c5c61_0_33" title="Incredible 2.png"/>
          <p:cNvPicPr preferRelativeResize="0"/>
          <p:nvPr/>
        </p:nvPicPr>
        <p:blipFill rotWithShape="1">
          <a:blip r:embed="rId5">
            <a:alphaModFix/>
          </a:blip>
          <a:srcRect b="1709" l="0" r="0" t="1709"/>
          <a:stretch/>
        </p:blipFill>
        <p:spPr>
          <a:xfrm>
            <a:off x="759600" y="3897838"/>
            <a:ext cx="2228850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970b3c5c61_0_33"/>
          <p:cNvSpPr/>
          <p:nvPr/>
        </p:nvSpPr>
        <p:spPr>
          <a:xfrm>
            <a:off x="9469125" y="4134050"/>
            <a:ext cx="176700" cy="1410900"/>
          </a:xfrm>
          <a:prstGeom prst="downArrow">
            <a:avLst>
              <a:gd fmla="val 30985" name="adj1"/>
              <a:gd fmla="val 50000" name="adj2"/>
            </a:avLst>
          </a:prstGeom>
          <a:solidFill>
            <a:srgbClr val="FA6400"/>
          </a:solidFill>
          <a:ln>
            <a:noFill/>
          </a:ln>
          <a:effectLst>
            <a:outerShdw blurRad="114300" rotWithShape="0" algn="bl">
              <a:srgbClr val="FA64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g3970b3c5c61_0_33"/>
          <p:cNvSpPr txBox="1"/>
          <p:nvPr/>
        </p:nvSpPr>
        <p:spPr>
          <a:xfrm>
            <a:off x="9203550" y="4701625"/>
            <a:ext cx="249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20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 b="1" i="1" sz="2000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70b3c5c61_0_40"/>
          <p:cNvSpPr txBox="1"/>
          <p:nvPr>
            <p:ph idx="1" type="body"/>
          </p:nvPr>
        </p:nvSpPr>
        <p:spPr>
          <a:xfrm>
            <a:off x="290950" y="2286000"/>
            <a:ext cx="11568600" cy="1229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b="1" lang="es-AR" sz="2600">
                <a:solidFill>
                  <a:srgbClr val="FF7B61"/>
                </a:solidFill>
              </a:rPr>
              <a:t>O(n log n)</a:t>
            </a:r>
            <a:r>
              <a:rPr lang="es-AR" sz="2600">
                <a:solidFill>
                  <a:srgbClr val="FFFFFF"/>
                </a:solidFill>
              </a:rPr>
              <a:t>: complejidad log-lineal. Multiplicaci</a:t>
            </a:r>
            <a:r>
              <a:rPr lang="es-AR" sz="2600">
                <a:solidFill>
                  <a:srgbClr val="FFFFFF"/>
                </a:solidFill>
              </a:rPr>
              <a:t>ón de n * log n.</a:t>
            </a:r>
            <a:endParaRPr sz="2600">
              <a:solidFill>
                <a:srgbClr val="00C6BB"/>
              </a:solidFill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600"/>
              <a:buChar char="❖"/>
            </a:pPr>
            <a:r>
              <a:rPr lang="es-AR" sz="2600"/>
              <a:t>Ej: repetir un proceso de complejidad log n, n veces, y viceversa.</a:t>
            </a:r>
            <a:endParaRPr sz="2600"/>
          </a:p>
        </p:txBody>
      </p:sp>
      <p:sp>
        <p:nvSpPr>
          <p:cNvPr id="186" name="Google Shape;186;g3970b3c5c61_0_40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ALGORÍTMICA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7" name="Google Shape;187;g3970b3c5c61_0_40" title="O(n log n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9362" y="3625400"/>
            <a:ext cx="4031776" cy="27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970b3c5c61_0_40" title="Incredible 3.png"/>
          <p:cNvPicPr preferRelativeResize="0"/>
          <p:nvPr/>
        </p:nvPicPr>
        <p:blipFill rotWithShape="1">
          <a:blip r:embed="rId4">
            <a:alphaModFix/>
          </a:blip>
          <a:srcRect b="1709" l="0" r="0" t="1709"/>
          <a:stretch/>
        </p:blipFill>
        <p:spPr>
          <a:xfrm>
            <a:off x="759600" y="3897838"/>
            <a:ext cx="22288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970b3c5c61_0_40" title="Tournament Bracke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9830113" y="3417237"/>
            <a:ext cx="847175" cy="14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g3970b3c5c61_0_40" title="Tournament Bracke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9835663" y="4246038"/>
            <a:ext cx="836075" cy="147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970b3c5c61_0_40" title="Tournament Bracke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9832500" y="5079662"/>
            <a:ext cx="842400" cy="1488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970b3c5c61_0_40"/>
          <p:cNvSpPr/>
          <p:nvPr/>
        </p:nvSpPr>
        <p:spPr>
          <a:xfrm>
            <a:off x="9224425" y="3784925"/>
            <a:ext cx="176700" cy="2460300"/>
          </a:xfrm>
          <a:prstGeom prst="downArrow">
            <a:avLst>
              <a:gd fmla="val 30872" name="adj1"/>
              <a:gd fmla="val 50000" name="adj2"/>
            </a:avLst>
          </a:prstGeom>
          <a:solidFill>
            <a:srgbClr val="FA6400"/>
          </a:solidFill>
          <a:ln>
            <a:noFill/>
          </a:ln>
          <a:effectLst>
            <a:outerShdw blurRad="114300" rotWithShape="0" algn="bl">
              <a:srgbClr val="FA64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3" name="Google Shape;193;g3970b3c5c61_0_40"/>
          <p:cNvSpPr txBox="1"/>
          <p:nvPr/>
        </p:nvSpPr>
        <p:spPr>
          <a:xfrm>
            <a:off x="8941450" y="4869163"/>
            <a:ext cx="2304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20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 b="1" i="1" sz="2000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70b3c5c61_0_47"/>
          <p:cNvSpPr txBox="1"/>
          <p:nvPr>
            <p:ph idx="1" type="body"/>
          </p:nvPr>
        </p:nvSpPr>
        <p:spPr>
          <a:xfrm>
            <a:off x="290946" y="2286000"/>
            <a:ext cx="11568600" cy="134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921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703"/>
              <a:buFont typeface="Century Gothic"/>
              <a:buChar char="❖"/>
            </a:pPr>
            <a:r>
              <a:rPr b="1" lang="es-AR" sz="2600">
                <a:solidFill>
                  <a:srgbClr val="FF7B61"/>
                </a:solidFill>
              </a:rPr>
              <a:t>O(n</a:t>
            </a:r>
            <a:r>
              <a:rPr b="1" baseline="30000" lang="es-AR" sz="2600">
                <a:solidFill>
                  <a:srgbClr val="FF7B61"/>
                </a:solidFill>
              </a:rPr>
              <a:t>2</a:t>
            </a:r>
            <a:r>
              <a:rPr b="1" lang="es-AR" sz="2600">
                <a:solidFill>
                  <a:srgbClr val="FF7B61"/>
                </a:solidFill>
              </a:rPr>
              <a:t>)</a:t>
            </a:r>
            <a:r>
              <a:rPr lang="es-AR" sz="2600">
                <a:solidFill>
                  <a:srgbClr val="FFFFFF"/>
                </a:solidFill>
              </a:rPr>
              <a:t>: tiempo/ espacio cuadrático, crece rápidamente con el input.</a:t>
            </a:r>
            <a:endParaRPr sz="2600">
              <a:solidFill>
                <a:srgbClr val="00C6BB"/>
              </a:solidFill>
            </a:endParaRPr>
          </a:p>
          <a:p>
            <a:pPr indent="-292786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811"/>
              <a:buChar char="❖"/>
            </a:pPr>
            <a:r>
              <a:rPr lang="es-AR" sz="2600"/>
              <a:t>Ej: doble for (recorrer una matriz).</a:t>
            </a:r>
            <a:endParaRPr sz="2600"/>
          </a:p>
        </p:txBody>
      </p:sp>
      <p:sp>
        <p:nvSpPr>
          <p:cNvPr id="199" name="Google Shape;199;g3970b3c5c61_0_47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ALGORÍTMICA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0" name="Google Shape;200;g3970b3c5c61_0_47" title="O(n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9362" y="3625400"/>
            <a:ext cx="4031776" cy="27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970b3c5c61_0_47" title="Incredible 4.png"/>
          <p:cNvPicPr preferRelativeResize="0"/>
          <p:nvPr/>
        </p:nvPicPr>
        <p:blipFill rotWithShape="1">
          <a:blip r:embed="rId4">
            <a:alphaModFix/>
          </a:blip>
          <a:srcRect b="1709" l="0" r="0" t="1709"/>
          <a:stretch/>
        </p:blipFill>
        <p:spPr>
          <a:xfrm>
            <a:off x="759600" y="3897838"/>
            <a:ext cx="22288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g3970b3c5c61_0_47" title="Matrix Iterat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01900" y="3994518"/>
            <a:ext cx="1035600" cy="241415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970b3c5c61_0_47"/>
          <p:cNvSpPr/>
          <p:nvPr/>
        </p:nvSpPr>
        <p:spPr>
          <a:xfrm>
            <a:off x="9736275" y="4119850"/>
            <a:ext cx="176700" cy="1643700"/>
          </a:xfrm>
          <a:prstGeom prst="downArrow">
            <a:avLst>
              <a:gd fmla="val 31862" name="adj1"/>
              <a:gd fmla="val 50000" name="adj2"/>
            </a:avLst>
          </a:prstGeom>
          <a:solidFill>
            <a:srgbClr val="FA6400"/>
          </a:solidFill>
          <a:ln>
            <a:noFill/>
          </a:ln>
          <a:effectLst>
            <a:outerShdw blurRad="114300" rotWithShape="0" algn="bl">
              <a:srgbClr val="FA64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 </a:t>
            </a:r>
            <a:endParaRPr/>
          </a:p>
        </p:txBody>
      </p:sp>
      <p:sp>
        <p:nvSpPr>
          <p:cNvPr id="204" name="Google Shape;204;g3970b3c5c61_0_47"/>
          <p:cNvSpPr/>
          <p:nvPr/>
        </p:nvSpPr>
        <p:spPr>
          <a:xfrm rot="-5400000">
            <a:off x="10219050" y="3662050"/>
            <a:ext cx="176700" cy="648300"/>
          </a:xfrm>
          <a:prstGeom prst="downArrow">
            <a:avLst>
              <a:gd fmla="val 34437" name="adj1"/>
              <a:gd fmla="val 50000" name="adj2"/>
            </a:avLst>
          </a:prstGeom>
          <a:solidFill>
            <a:srgbClr val="FA6400"/>
          </a:solidFill>
          <a:ln>
            <a:noFill/>
          </a:ln>
          <a:effectLst>
            <a:outerShdw blurRad="114300" rotWithShape="0" algn="bl">
              <a:srgbClr val="FA64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/>
              <a:t> </a:t>
            </a:r>
            <a:endParaRPr/>
          </a:p>
        </p:txBody>
      </p:sp>
      <p:sp>
        <p:nvSpPr>
          <p:cNvPr id="205" name="Google Shape;205;g3970b3c5c61_0_47"/>
          <p:cNvSpPr txBox="1"/>
          <p:nvPr/>
        </p:nvSpPr>
        <p:spPr>
          <a:xfrm>
            <a:off x="10182000" y="3676275"/>
            <a:ext cx="2304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20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 b="1" i="1" sz="2000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g3970b3c5c61_0_47"/>
          <p:cNvSpPr txBox="1"/>
          <p:nvPr/>
        </p:nvSpPr>
        <p:spPr>
          <a:xfrm>
            <a:off x="9505875" y="4751800"/>
            <a:ext cx="2304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20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 b="1" i="1" sz="2000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70b3c5c61_0_54"/>
          <p:cNvSpPr txBox="1"/>
          <p:nvPr>
            <p:ph idx="1" type="body"/>
          </p:nvPr>
        </p:nvSpPr>
        <p:spPr>
          <a:xfrm>
            <a:off x="290950" y="2286000"/>
            <a:ext cx="11568600" cy="1143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b="1" lang="es-AR" sz="2600">
                <a:solidFill>
                  <a:srgbClr val="FF7B61"/>
                </a:solidFill>
              </a:rPr>
              <a:t>O(C</a:t>
            </a:r>
            <a:r>
              <a:rPr b="1" baseline="30000" lang="es-AR" sz="2600">
                <a:solidFill>
                  <a:srgbClr val="FF7B61"/>
                </a:solidFill>
              </a:rPr>
              <a:t>n</a:t>
            </a:r>
            <a:r>
              <a:rPr b="1" lang="es-AR" sz="2600">
                <a:solidFill>
                  <a:srgbClr val="FF7B61"/>
                </a:solidFill>
              </a:rPr>
              <a:t>)</a:t>
            </a:r>
            <a:r>
              <a:rPr lang="es-AR" sz="2600">
                <a:solidFill>
                  <a:srgbClr val="FFFFFF"/>
                </a:solidFill>
              </a:rPr>
              <a:t>: tiempo/ espacio exponencial, se vuelve inviable rápido.</a:t>
            </a:r>
            <a:endParaRPr sz="2600">
              <a:solidFill>
                <a:srgbClr val="00C6BB"/>
              </a:solidFill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600"/>
              <a:buChar char="❖"/>
            </a:pPr>
            <a:r>
              <a:rPr lang="es-AR" sz="2600"/>
              <a:t>Ej: “Fork Bomb”, cada llamado crea dos llamados.</a:t>
            </a:r>
            <a:endParaRPr sz="2600"/>
          </a:p>
        </p:txBody>
      </p:sp>
      <p:sp>
        <p:nvSpPr>
          <p:cNvPr id="212" name="Google Shape;212;g3970b3c5c61_0_5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ALGORÍTMICA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3" name="Google Shape;213;g3970b3c5c61_0_54" title="O(2n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9362" y="3625400"/>
            <a:ext cx="4031776" cy="27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970b3c5c61_0_54" title="Incredible 5.png"/>
          <p:cNvPicPr preferRelativeResize="0"/>
          <p:nvPr/>
        </p:nvPicPr>
        <p:blipFill rotWithShape="1">
          <a:blip r:embed="rId4">
            <a:alphaModFix/>
          </a:blip>
          <a:srcRect b="0" l="11891" r="11884" t="0"/>
          <a:stretch/>
        </p:blipFill>
        <p:spPr>
          <a:xfrm>
            <a:off x="759600" y="3897838"/>
            <a:ext cx="22288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970b3c5c61_0_54" title="Exponentia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2300" y="3598702"/>
            <a:ext cx="1380825" cy="24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g3970b3c5c61_0_54"/>
          <p:cNvSpPr/>
          <p:nvPr/>
        </p:nvSpPr>
        <p:spPr>
          <a:xfrm rot="5400000">
            <a:off x="10123075" y="5451350"/>
            <a:ext cx="159300" cy="1334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A640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>
              <a:srgbClr val="FA6400">
                <a:alpha val="7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g3970b3c5c61_0_54"/>
          <p:cNvSpPr txBox="1"/>
          <p:nvPr/>
        </p:nvSpPr>
        <p:spPr>
          <a:xfrm>
            <a:off x="10075450" y="6234050"/>
            <a:ext cx="3417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20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b="1" baseline="30000" lang="es-AR" sz="20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r>
              <a:rPr b="1" i="1" lang="es-AR" sz="20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1" i="1" sz="2000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8" name="Google Shape;218;g3970b3c5c61_0_54"/>
          <p:cNvSpPr/>
          <p:nvPr/>
        </p:nvSpPr>
        <p:spPr>
          <a:xfrm>
            <a:off x="9279525" y="3641000"/>
            <a:ext cx="176700" cy="2397900"/>
          </a:xfrm>
          <a:prstGeom prst="downArrow">
            <a:avLst>
              <a:gd fmla="val 31154" name="adj1"/>
              <a:gd fmla="val 5000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9" name="Google Shape;219;g3970b3c5c61_0_54"/>
          <p:cNvSpPr txBox="1"/>
          <p:nvPr/>
        </p:nvSpPr>
        <p:spPr>
          <a:xfrm>
            <a:off x="9104500" y="4724300"/>
            <a:ext cx="2001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AR" sz="2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</a:t>
            </a:r>
            <a:endParaRPr b="1" i="1" sz="2000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70b3c5c61_0_61"/>
          <p:cNvSpPr txBox="1"/>
          <p:nvPr>
            <p:ph idx="1" type="body"/>
          </p:nvPr>
        </p:nvSpPr>
        <p:spPr>
          <a:xfrm>
            <a:off x="290950" y="2286000"/>
            <a:ext cx="11568600" cy="12369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b="1" lang="es-AR" sz="2600">
                <a:solidFill>
                  <a:srgbClr val="FF7B61"/>
                </a:solidFill>
              </a:rPr>
              <a:t>O(n!)</a:t>
            </a:r>
            <a:r>
              <a:rPr lang="es-AR" sz="2600">
                <a:solidFill>
                  <a:srgbClr val="FFFFFF"/>
                </a:solidFill>
              </a:rPr>
              <a:t>: tiempo/ espacio factorial, es de los peores posibles.</a:t>
            </a:r>
            <a:endParaRPr sz="2600">
              <a:solidFill>
                <a:srgbClr val="00C6BB"/>
              </a:solidFill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600"/>
              <a:buChar char="❖"/>
            </a:pPr>
            <a:r>
              <a:rPr lang="es-AR" sz="2600"/>
              <a:t>Ej: probar todas las combinaciones del input por fuerza bruta.</a:t>
            </a:r>
            <a:endParaRPr sz="2600"/>
          </a:p>
        </p:txBody>
      </p:sp>
      <p:sp>
        <p:nvSpPr>
          <p:cNvPr id="225" name="Google Shape;225;g3970b3c5c61_0_61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ALGORÍTMICA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6" name="Google Shape;226;g3970b3c5c61_0_61" title="O(n!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9362" y="3625400"/>
            <a:ext cx="4031776" cy="278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970b3c5c61_0_61" title="Incredible 6.png"/>
          <p:cNvPicPr preferRelativeResize="0"/>
          <p:nvPr/>
        </p:nvPicPr>
        <p:blipFill rotWithShape="1">
          <a:blip r:embed="rId4">
            <a:alphaModFix/>
          </a:blip>
          <a:srcRect b="0" l="11614" r="11622" t="0"/>
          <a:stretch/>
        </p:blipFill>
        <p:spPr>
          <a:xfrm>
            <a:off x="759600" y="3897838"/>
            <a:ext cx="2228850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g3970b3c5c61_0_61"/>
          <p:cNvSpPr txBox="1"/>
          <p:nvPr/>
        </p:nvSpPr>
        <p:spPr>
          <a:xfrm>
            <a:off x="8404400" y="3340775"/>
            <a:ext cx="3277800" cy="8514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6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_ _ _</a:t>
            </a:r>
            <a:endParaRPr sz="6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9" name="Google Shape;229;g3970b3c5c61_0_61"/>
          <p:cNvSpPr txBox="1"/>
          <p:nvPr/>
        </p:nvSpPr>
        <p:spPr>
          <a:xfrm>
            <a:off x="8975300" y="4265225"/>
            <a:ext cx="2136000" cy="2115000"/>
          </a:xfrm>
          <a:prstGeom prst="rect">
            <a:avLst/>
          </a:prstGeom>
          <a:noFill/>
          <a:ln>
            <a:noFill/>
          </a:ln>
          <a:effectLst>
            <a:outerShdw blurRad="114300">
              <a:srgbClr val="FA6400">
                <a:alpha val="7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6400">
                <a:solidFill>
                  <a:srgbClr val="FA6400"/>
                </a:solidFill>
                <a:latin typeface="Oxygen"/>
                <a:ea typeface="Oxygen"/>
                <a:cs typeface="Oxygen"/>
                <a:sym typeface="Oxygen"/>
              </a:rPr>
              <a:t>a a a</a:t>
            </a:r>
            <a:endParaRPr b="1" sz="6400">
              <a:solidFill>
                <a:srgbClr val="FA6400"/>
              </a:solidFill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just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6400">
                <a:solidFill>
                  <a:srgbClr val="FA6400"/>
                </a:solidFill>
                <a:latin typeface="Oxygen"/>
                <a:ea typeface="Oxygen"/>
                <a:cs typeface="Oxygen"/>
                <a:sym typeface="Oxygen"/>
              </a:rPr>
              <a:t>b b b</a:t>
            </a:r>
            <a:endParaRPr b="1" sz="6400">
              <a:solidFill>
                <a:srgbClr val="FA6400"/>
              </a:solidFill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just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AR" sz="5500">
                <a:solidFill>
                  <a:srgbClr val="FA6400"/>
                </a:solidFill>
                <a:latin typeface="Oxygen"/>
                <a:ea typeface="Oxygen"/>
                <a:cs typeface="Oxygen"/>
                <a:sym typeface="Oxygen"/>
              </a:rPr>
              <a:t>... ... </a:t>
            </a:r>
            <a:r>
              <a:rPr b="1" lang="es-AR" sz="5500">
                <a:solidFill>
                  <a:srgbClr val="FA6400"/>
                </a:solidFill>
                <a:latin typeface="Oxygen"/>
                <a:ea typeface="Oxygen"/>
                <a:cs typeface="Oxygen"/>
                <a:sym typeface="Oxygen"/>
              </a:rPr>
              <a:t>...</a:t>
            </a:r>
            <a:endParaRPr b="1" sz="5500">
              <a:solidFill>
                <a:srgbClr val="FA6400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70b3c5c61_0_68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Muchas veces hablamos de </a:t>
            </a:r>
            <a:r>
              <a:rPr b="1" lang="es-AR" sz="2600">
                <a:solidFill>
                  <a:srgbClr val="FF7B61"/>
                </a:solidFill>
              </a:rPr>
              <a:t>mejor</a:t>
            </a:r>
            <a:r>
              <a:rPr lang="es-AR" sz="2600">
                <a:solidFill>
                  <a:srgbClr val="FFFFFF"/>
                </a:solidFill>
              </a:rPr>
              <a:t> y </a:t>
            </a:r>
            <a:r>
              <a:rPr b="1" lang="es-AR" sz="2600">
                <a:solidFill>
                  <a:srgbClr val="FF7B61"/>
                </a:solidFill>
              </a:rPr>
              <a:t>peor caso</a:t>
            </a:r>
            <a:r>
              <a:rPr lang="es-AR" sz="2600">
                <a:solidFill>
                  <a:srgbClr val="FFFFFF"/>
                </a:solidFill>
              </a:rPr>
              <a:t>, y </a:t>
            </a:r>
            <a:r>
              <a:rPr b="1" lang="es-AR" sz="2600">
                <a:solidFill>
                  <a:srgbClr val="FF7B61"/>
                </a:solidFill>
              </a:rPr>
              <a:t>caso promedio</a:t>
            </a:r>
            <a:r>
              <a:rPr lang="es-AR" sz="2600">
                <a:solidFill>
                  <a:srgbClr val="FFFFFF"/>
                </a:solidFill>
              </a:rPr>
              <a:t>.</a:t>
            </a:r>
            <a:endParaRPr sz="2600">
              <a:solidFill>
                <a:srgbClr val="FFFFFF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Ej: si el primer elemento es el que buscamos, el tiempo es O(1).</a:t>
            </a:r>
            <a:endParaRPr sz="2600">
              <a:solidFill>
                <a:srgbClr val="FFFFFF"/>
              </a:solidFill>
            </a:endParaRPr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Si es el último, búsqueda lineal es O(n) y binaria es O(log n).</a:t>
            </a:r>
            <a:endParaRPr sz="2600">
              <a:solidFill>
                <a:srgbClr val="FFFFFF"/>
              </a:solidFill>
            </a:endParaRPr>
          </a:p>
        </p:txBody>
      </p:sp>
      <p:sp>
        <p:nvSpPr>
          <p:cNvPr id="235" name="Google Shape;235;g3970b3c5c61_0_68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ALGORÍTMICA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b6eac2f92_0_29"/>
          <p:cNvSpPr txBox="1"/>
          <p:nvPr>
            <p:ph idx="4294967295" type="ctrTitle"/>
          </p:nvPr>
        </p:nvSpPr>
        <p:spPr>
          <a:xfrm>
            <a:off x="332509" y="1872886"/>
            <a:ext cx="115269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COMPLEJIDAD </a:t>
            </a:r>
            <a:endParaRPr sz="6600">
              <a:solidFill>
                <a:srgbClr val="43FFF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lang="es-AR" sz="6600">
                <a:solidFill>
                  <a:srgbClr val="43FFF5"/>
                </a:solidFill>
              </a:rPr>
              <a:t>DE TDAs</a:t>
            </a:r>
            <a:endParaRPr sz="6600">
              <a:solidFill>
                <a:srgbClr val="43FFF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b6eac2f92_0_33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Las operaciones de cada TDA tienen su costo.</a:t>
            </a:r>
            <a:endParaRPr sz="2600">
              <a:solidFill>
                <a:srgbClr val="FFFFFF"/>
              </a:solidFill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600"/>
              <a:buChar char="❖"/>
            </a:pPr>
            <a:r>
              <a:rPr lang="es-AR" sz="2600"/>
              <a:t>Esto varía en implementaciones estáticas y dinámicas.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Analizar costos nos permite </a:t>
            </a:r>
            <a:r>
              <a:rPr lang="es-AR" sz="2600">
                <a:solidFill>
                  <a:srgbClr val="FF7B61"/>
                </a:solidFill>
              </a:rPr>
              <a:t>elegir la implementación más eficiente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Esto depende de cada TDA y contexto.</a:t>
            </a:r>
            <a:endParaRPr sz="2600"/>
          </a:p>
        </p:txBody>
      </p:sp>
      <p:sp>
        <p:nvSpPr>
          <p:cNvPr id="246" name="Google Shape;246;g38b6eac2f92_0_33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</a:t>
            </a: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TDAs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b6eac2f92_0_38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Repasamos las operaciones de List:</a:t>
            </a:r>
            <a:endParaRPr sz="2600">
              <a:solidFill>
                <a:srgbClr val="FFFFFF"/>
              </a:solidFill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600"/>
              <a:buChar char="❖"/>
            </a:pPr>
            <a:r>
              <a:rPr lang="es-AR" sz="2600"/>
              <a:t>Insertar (al principio, final y en el medio).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Remover (al principio, final y en el medio).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Acceder (por </a:t>
            </a:r>
            <a:r>
              <a:rPr lang="es-AR" sz="2600"/>
              <a:t>índice, o búsqueda por referencia)</a:t>
            </a:r>
            <a:r>
              <a:rPr lang="es-AR" sz="2600"/>
              <a:t>.</a:t>
            </a:r>
            <a:endParaRPr sz="2600"/>
          </a:p>
        </p:txBody>
      </p:sp>
      <p:sp>
        <p:nvSpPr>
          <p:cNvPr id="252" name="Google Shape;252;g38b6eac2f92_0_38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</a:t>
            </a: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TDAs - LIST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b6eac2f92_0_43"/>
          <p:cNvSpPr txBox="1"/>
          <p:nvPr>
            <p:ph idx="1" type="body"/>
          </p:nvPr>
        </p:nvSpPr>
        <p:spPr>
          <a:xfrm>
            <a:off x="290950" y="2286000"/>
            <a:ext cx="5551200" cy="68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Inserción y remoción:</a:t>
            </a:r>
            <a:endParaRPr sz="2600"/>
          </a:p>
        </p:txBody>
      </p:sp>
      <p:sp>
        <p:nvSpPr>
          <p:cNvPr id="258" name="Google Shape;258;g38b6eac2f92_0_43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</a:t>
            </a: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TDAs - LIST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59" name="Google Shape;259;g38b6eac2f92_0_43"/>
          <p:cNvGraphicFramePr/>
          <p:nvPr/>
        </p:nvGraphicFramePr>
        <p:xfrm>
          <a:off x="290900" y="297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{3A55C38E-ADAB-4EC6-A72B-152FE61AAE49}</a:tableStyleId>
              </a:tblPr>
              <a:tblGrid>
                <a:gridCol w="2895900"/>
                <a:gridCol w="2895900"/>
                <a:gridCol w="2895900"/>
                <a:gridCol w="2895900"/>
              </a:tblGrid>
              <a:tr h="11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Al principio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En el medio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Al final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</a:tr>
              <a:tr h="11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Estática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F6161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O(n)</a:t>
                      </a:r>
                      <a:endParaRPr sz="2600">
                        <a:solidFill>
                          <a:srgbClr val="FF6161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O(n)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O(1)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</a:tr>
              <a:tr h="11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Dinámica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(Doble)</a:t>
                      </a:r>
                      <a:endParaRPr i="1"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61FF93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O(1)</a:t>
                      </a:r>
                      <a:endParaRPr sz="2600">
                        <a:solidFill>
                          <a:srgbClr val="61FF93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O(n)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O(1)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b6eac2f92_0_49"/>
          <p:cNvSpPr txBox="1"/>
          <p:nvPr>
            <p:ph idx="1" type="body"/>
          </p:nvPr>
        </p:nvSpPr>
        <p:spPr>
          <a:xfrm>
            <a:off x="290950" y="2286000"/>
            <a:ext cx="3125400" cy="68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Búsqueda</a:t>
            </a:r>
            <a:r>
              <a:rPr lang="es-AR" sz="2600">
                <a:solidFill>
                  <a:srgbClr val="FFFFFF"/>
                </a:solidFill>
              </a:rPr>
              <a:t>:</a:t>
            </a:r>
            <a:endParaRPr sz="2600"/>
          </a:p>
        </p:txBody>
      </p:sp>
      <p:sp>
        <p:nvSpPr>
          <p:cNvPr id="265" name="Google Shape;265;g38b6eac2f92_0_49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</a:t>
            </a: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TDAs - LIST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66" name="Google Shape;266;g38b6eac2f92_0_49"/>
          <p:cNvGraphicFramePr/>
          <p:nvPr/>
        </p:nvGraphicFramePr>
        <p:xfrm>
          <a:off x="290900" y="297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{3A55C38E-ADAB-4EC6-A72B-152FE61AAE49}</a:tableStyleId>
              </a:tblPr>
              <a:tblGrid>
                <a:gridCol w="3839950"/>
                <a:gridCol w="3839950"/>
                <a:gridCol w="3839950"/>
              </a:tblGrid>
              <a:tr h="11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Por índice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Por referencia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</a:tr>
              <a:tr h="11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Estática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61FF93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O(1)</a:t>
                      </a:r>
                      <a:endParaRPr sz="2600">
                        <a:solidFill>
                          <a:srgbClr val="61FF93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O(n)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</a:tr>
              <a:tr h="11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Dinámica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(Doble)</a:t>
                      </a:r>
                      <a:endParaRPr i="1"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F6161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O(n)</a:t>
                      </a:r>
                      <a:endParaRPr sz="2600">
                        <a:solidFill>
                          <a:srgbClr val="FF6161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O(n)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b6eac2f92_0_55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No hay una ganadora clara.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Est</a:t>
            </a:r>
            <a:r>
              <a:rPr lang="es-AR" sz="2600"/>
              <a:t>ática puede saltar al índice, dinámica tiene que iterar.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Dinámica puede insertar al principio sin mover todos los elementos.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</a:t>
            </a:r>
            <a:r>
              <a:rPr lang="es-AR" sz="2600"/>
              <a:t>i vamos a </a:t>
            </a:r>
            <a:r>
              <a:rPr lang="es-AR" sz="2600">
                <a:solidFill>
                  <a:srgbClr val="FF7B61"/>
                </a:solidFill>
              </a:rPr>
              <a:t>acceder aleatoriamente</a:t>
            </a:r>
            <a:r>
              <a:rPr lang="es-AR" sz="2600"/>
              <a:t> seguido, es </a:t>
            </a:r>
            <a:r>
              <a:rPr lang="es-AR" sz="2600">
                <a:solidFill>
                  <a:srgbClr val="FEFEFE"/>
                </a:solidFill>
              </a:rPr>
              <a:t>mejor</a:t>
            </a:r>
            <a:r>
              <a:rPr lang="es-AR" sz="2600">
                <a:solidFill>
                  <a:srgbClr val="FF7B61"/>
                </a:solidFill>
              </a:rPr>
              <a:t> estática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</a:t>
            </a:r>
            <a:r>
              <a:rPr lang="es-AR" sz="2600"/>
              <a:t>i </a:t>
            </a:r>
            <a:r>
              <a:rPr lang="es-AR" sz="2600">
                <a:solidFill>
                  <a:srgbClr val="FF7B61"/>
                </a:solidFill>
              </a:rPr>
              <a:t>modificamos el primer elemento</a:t>
            </a:r>
            <a:r>
              <a:rPr lang="es-AR" sz="2600"/>
              <a:t> seguido, es mejor </a:t>
            </a:r>
            <a:r>
              <a:rPr lang="es-AR" sz="2600">
                <a:solidFill>
                  <a:srgbClr val="FF7B61"/>
                </a:solidFill>
              </a:rPr>
              <a:t>dinámica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Arrays tienen espacios vacíos, los nodos pesan más por elemento.</a:t>
            </a:r>
            <a:endParaRPr sz="2600"/>
          </a:p>
        </p:txBody>
      </p:sp>
      <p:sp>
        <p:nvSpPr>
          <p:cNvPr id="272" name="Google Shape;272;g38b6eac2f92_0_55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</a:t>
            </a: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TDAs - LIST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8b6eac2f92_0_60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Repasamos las operaciones de Stack y Queue:</a:t>
            </a:r>
            <a:endParaRPr sz="2600">
              <a:solidFill>
                <a:srgbClr val="FFFFFF"/>
              </a:solidFill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600"/>
              <a:buChar char="❖"/>
            </a:pPr>
            <a:r>
              <a:rPr lang="es-AR" sz="2600"/>
              <a:t>Insertar (al final).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Acceder / Remover (al final en Stack, al principio en Queue).</a:t>
            </a:r>
            <a:endParaRPr sz="2600"/>
          </a:p>
        </p:txBody>
      </p:sp>
      <p:sp>
        <p:nvSpPr>
          <p:cNvPr id="278" name="Google Shape;278;g38b6eac2f92_0_60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</a:t>
            </a: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TDAs - STACK / QUEUE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8b6eac2f92_0_65"/>
          <p:cNvSpPr txBox="1"/>
          <p:nvPr>
            <p:ph idx="1" type="body"/>
          </p:nvPr>
        </p:nvSpPr>
        <p:spPr>
          <a:xfrm>
            <a:off x="290950" y="2286000"/>
            <a:ext cx="6147900" cy="68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Operaciones Stack</a:t>
            </a:r>
            <a:r>
              <a:rPr lang="es-AR" sz="2600">
                <a:solidFill>
                  <a:srgbClr val="FFFFFF"/>
                </a:solidFill>
              </a:rPr>
              <a:t>:</a:t>
            </a:r>
            <a:endParaRPr sz="2600"/>
          </a:p>
        </p:txBody>
      </p:sp>
      <p:sp>
        <p:nvSpPr>
          <p:cNvPr id="284" name="Google Shape;284;g38b6eac2f92_0_65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DE TDAs - STACK / QUEUE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85" name="Google Shape;285;g38b6eac2f92_0_65"/>
          <p:cNvGraphicFramePr/>
          <p:nvPr/>
        </p:nvGraphicFramePr>
        <p:xfrm>
          <a:off x="290900" y="297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{3A55C38E-ADAB-4EC6-A72B-152FE61AAE49}</a:tableStyleId>
              </a:tblPr>
              <a:tblGrid>
                <a:gridCol w="3839950"/>
                <a:gridCol w="3839950"/>
                <a:gridCol w="3839950"/>
              </a:tblGrid>
              <a:tr h="11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Inserción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Acceso/ Remoción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</a:tr>
              <a:tr h="11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Estática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O(1)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O(1)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</a:tr>
              <a:tr h="11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Dinámica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(Simple)</a:t>
                      </a:r>
                      <a:endParaRPr i="1"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O(1)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O(1)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8b6eac2f92_0_71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¡Empate! </a:t>
            </a:r>
            <a:endParaRPr sz="2600">
              <a:solidFill>
                <a:srgbClr val="FFFFFF"/>
              </a:solidFill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600"/>
              <a:buChar char="❖"/>
            </a:pPr>
            <a:r>
              <a:rPr lang="es-AR" sz="2600"/>
              <a:t>Estática salta por índice.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Din</a:t>
            </a:r>
            <a:r>
              <a:rPr lang="es-AR" sz="2600"/>
              <a:t>ámica tiene referencia al </a:t>
            </a:r>
            <a:r>
              <a:rPr lang="es-AR" sz="2600"/>
              <a:t>último</a:t>
            </a:r>
            <a:r>
              <a:rPr lang="es-AR" sz="2600"/>
              <a:t> elemento.</a:t>
            </a:r>
            <a:endParaRPr sz="2600"/>
          </a:p>
        </p:txBody>
      </p:sp>
      <p:sp>
        <p:nvSpPr>
          <p:cNvPr id="291" name="Google Shape;291;g38b6eac2f92_0_71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</a:t>
            </a: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TDAs - STACK / QUEUE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8b6eac2f92_0_87"/>
          <p:cNvSpPr txBox="1"/>
          <p:nvPr>
            <p:ph idx="1" type="body"/>
          </p:nvPr>
        </p:nvSpPr>
        <p:spPr>
          <a:xfrm>
            <a:off x="290950" y="2286000"/>
            <a:ext cx="5551200" cy="68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O</a:t>
            </a:r>
            <a:r>
              <a:rPr lang="es-AR" sz="2600"/>
              <a:t>peraciones Queue:</a:t>
            </a:r>
            <a:endParaRPr sz="2600"/>
          </a:p>
        </p:txBody>
      </p:sp>
      <p:sp>
        <p:nvSpPr>
          <p:cNvPr id="297" name="Google Shape;297;g38b6eac2f92_0_87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DE TDAs - STACK / QUEUE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98" name="Google Shape;298;g38b6eac2f92_0_87"/>
          <p:cNvGraphicFramePr/>
          <p:nvPr/>
        </p:nvGraphicFramePr>
        <p:xfrm>
          <a:off x="290900" y="297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{3A55C38E-ADAB-4EC6-A72B-152FE61AAE49}</a:tableStyleId>
              </a:tblPr>
              <a:tblGrid>
                <a:gridCol w="2895900"/>
                <a:gridCol w="2895900"/>
                <a:gridCol w="2895900"/>
                <a:gridCol w="2895900"/>
              </a:tblGrid>
              <a:tr h="11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Inserción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Acceso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Remoción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</a:tr>
              <a:tr h="11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Estática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O(1)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O(1)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F6161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O(n)</a:t>
                      </a:r>
                      <a:endParaRPr sz="2600">
                        <a:solidFill>
                          <a:srgbClr val="FF6161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</a:tr>
              <a:tr h="1121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Dinámica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(Doble)</a:t>
                      </a:r>
                      <a:endParaRPr i="1"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O(1)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FEFEFE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O(1)</a:t>
                      </a:r>
                      <a:endParaRPr sz="2600">
                        <a:solidFill>
                          <a:srgbClr val="FEFEFE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AR" sz="2600">
                          <a:solidFill>
                            <a:srgbClr val="61FF93"/>
                          </a:solidFill>
                          <a:latin typeface="Oxygen"/>
                          <a:ea typeface="Oxygen"/>
                          <a:cs typeface="Oxygen"/>
                          <a:sym typeface="Oxygen"/>
                        </a:rPr>
                        <a:t>O(1)</a:t>
                      </a:r>
                      <a:endParaRPr sz="2600">
                        <a:solidFill>
                          <a:srgbClr val="61FF93"/>
                        </a:solidFill>
                        <a:latin typeface="Oxygen"/>
                        <a:ea typeface="Oxygen"/>
                        <a:cs typeface="Oxygen"/>
                        <a:sym typeface="Oxygen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8b6eac2f92_0_82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500"/>
              <a:buFont typeface="Century Gothic"/>
              <a:buChar char="❖"/>
            </a:pPr>
            <a:r>
              <a:rPr lang="es-AR" sz="2600">
                <a:solidFill>
                  <a:srgbClr val="FFFFFF"/>
                </a:solidFill>
              </a:rPr>
              <a:t>En este caso la implementación dinámica es más eficiente.</a:t>
            </a:r>
            <a:endParaRPr sz="2600">
              <a:solidFill>
                <a:srgbClr val="FFFFFF"/>
              </a:solidFill>
            </a:endParaRPr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C6BB"/>
              </a:buClr>
              <a:buSzPts val="2600"/>
              <a:buChar char="❖"/>
            </a:pPr>
            <a:r>
              <a:rPr lang="es-AR" sz="2600"/>
              <a:t>Estática tiene que correr todos los elementos al sacar uno.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Dinámica tiene referencia al primer elemento.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Para est</a:t>
            </a:r>
            <a:r>
              <a:rPr lang="es-AR" sz="2600"/>
              <a:t>ática, existe el </a:t>
            </a:r>
            <a:r>
              <a:rPr lang="es-AR" sz="2600">
                <a:solidFill>
                  <a:srgbClr val="FF7B61"/>
                </a:solidFill>
              </a:rPr>
              <a:t>array circular</a:t>
            </a:r>
            <a:r>
              <a:rPr lang="es-AR" sz="2600"/>
              <a:t> (no lo vemos en esta materia).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Cambiando el índice del “primer” elemento, se evita correr todo.</a:t>
            </a:r>
            <a:endParaRPr sz="2600"/>
          </a:p>
        </p:txBody>
      </p:sp>
      <p:sp>
        <p:nvSpPr>
          <p:cNvPr id="304" name="Google Shape;304;g38b6eac2f92_0_82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COMPLEJIDAD </a:t>
            </a: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 TDAs - STACK / QUEUE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A0978C92AED346A5B2D7523A4F38C1" ma:contentTypeVersion="11" ma:contentTypeDescription="Create a new document." ma:contentTypeScope="" ma:versionID="9b7c089625d03db1c6ed6f35da32867c">
  <xsd:schema xmlns:xsd="http://www.w3.org/2001/XMLSchema" xmlns:xs="http://www.w3.org/2001/XMLSchema" xmlns:p="http://schemas.microsoft.com/office/2006/metadata/properties" xmlns:ns2="6817ed02-5f63-452f-a9ab-4e2e87cdde74" xmlns:ns3="d9712c82-8ca0-418e-ada4-f7c700f483f3" targetNamespace="http://schemas.microsoft.com/office/2006/metadata/properties" ma:root="true" ma:fieldsID="3a7b83f13e99b01aa6e51fa71a333831" ns2:_="" ns3:_="">
    <xsd:import namespace="6817ed02-5f63-452f-a9ab-4e2e87cdde74"/>
    <xsd:import namespace="d9712c82-8ca0-418e-ada4-f7c700f483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12c82-8ca0-418e-ada4-f7c700f483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faab1de-4294-47d5-a1a3-1b1d16ca90d5}" ma:internalName="TaxCatchAll" ma:showField="CatchAllData" ma:web="d9712c82-8ca0-418e-ada4-f7c700f483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17ed02-5f63-452f-a9ab-4e2e87cdde74">
      <Terms xmlns="http://schemas.microsoft.com/office/infopath/2007/PartnerControls"/>
    </lcf76f155ced4ddcb4097134ff3c332f>
    <TaxCatchAll xmlns="d9712c82-8ca0-418e-ada4-f7c700f483f3" xsi:nil="true"/>
  </documentManagement>
</p:properties>
</file>

<file path=customXml/itemProps1.xml><?xml version="1.0" encoding="utf-8"?>
<ds:datastoreItem xmlns:ds="http://schemas.openxmlformats.org/officeDocument/2006/customXml" ds:itemID="{AFFF736B-5FCC-430E-832D-58A29E21C5E5}"/>
</file>

<file path=customXml/itemProps2.xml><?xml version="1.0" encoding="utf-8"?>
<ds:datastoreItem xmlns:ds="http://schemas.openxmlformats.org/officeDocument/2006/customXml" ds:itemID="{DABFAEF9-16D6-4544-9BAB-722AD15551EA}"/>
</file>

<file path=customXml/itemProps3.xml><?xml version="1.0" encoding="utf-8"?>
<ds:datastoreItem xmlns:ds="http://schemas.openxmlformats.org/officeDocument/2006/customXml" ds:itemID="{B28C3A0A-423C-4958-8D7A-876DF481550D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Pardo</dc:creator>
  <dcterms:created xsi:type="dcterms:W3CDTF">2018-04-10T17:58:03Z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