
<file path=[Content_Types].xml><?xml version="1.0" encoding="utf-8"?>
<Types xmlns="http://schemas.openxmlformats.org/package/2006/content-types">
  <Default Extension="fntdata" ContentType="application/x-fontdata"/>
  <Default Extension="odttf" ContentType="application/vnd.openxmlformats-officedocument.obfuscatedFont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custom-properties" Target="docProps/custom.xml"/><Relationship Id="rId2" Type="http://schemas.openxmlformats.org/officeDocument/2006/relationships/officeDocument" Target="ppt/presentation.xml"/><Relationship Id="rId1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Roboto Mono"/>
      <p:regular r:id="rId18"/>
      <p:bold r:id="rId19"/>
      <p:italic r:id="rId20"/>
      <p:boldItalic r:id="rId21"/>
    </p:embeddedFont>
    <p:embeddedFont>
      <p:font typeface="Century Gothic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6" roundtripDataSignature="AMtx7mgpztveJweVRYe3D4DDpGT9Z3L7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26" Type="http://customschemas.google.com/relationships/presentationmetadata" Target="metadata"/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font" Target="fonts/RobotoMono-regular.fntdata"/><Relationship Id="rId21" Type="http://schemas.openxmlformats.org/officeDocument/2006/relationships/font" Target="fonts/RobotoMono-boldItalic.fntdata"/><Relationship Id="rId3" Type="http://schemas.openxmlformats.org/officeDocument/2006/relationships/presProps" Target="presProps.xml"/><Relationship Id="rId25" Type="http://schemas.openxmlformats.org/officeDocument/2006/relationships/font" Target="fonts/CenturyGothic-boldItalic.fntdata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0" Type="http://schemas.openxmlformats.org/officeDocument/2006/relationships/font" Target="fonts/RobotoMono-italic.fntdata"/><Relationship Id="rId2" Type="http://schemas.openxmlformats.org/officeDocument/2006/relationships/viewProps" Target="viewProps.xml"/><Relationship Id="rId16" Type="http://schemas.openxmlformats.org/officeDocument/2006/relationships/slide" Target="slides/slide11.xml"/><Relationship Id="rId29" Type="http://schemas.openxmlformats.org/officeDocument/2006/relationships/customXml" Target="../customXml/item3.xml"/><Relationship Id="rId24" Type="http://schemas.openxmlformats.org/officeDocument/2006/relationships/font" Target="fonts/CenturyGothic-italic.fntdata"/><Relationship Id="rId1" Type="http://schemas.openxmlformats.org/officeDocument/2006/relationships/theme" Target="theme/theme2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3" Type="http://schemas.openxmlformats.org/officeDocument/2006/relationships/font" Target="fonts/CenturyGothic-bold.fntdata"/><Relationship Id="rId5" Type="http://schemas.openxmlformats.org/officeDocument/2006/relationships/notesMaster" Target="notesMasters/notesMaster1.xml"/><Relationship Id="rId15" Type="http://schemas.openxmlformats.org/officeDocument/2006/relationships/slide" Target="slides/slide10.xml"/><Relationship Id="rId28" Type="http://schemas.openxmlformats.org/officeDocument/2006/relationships/customXml" Target="../customXml/item2.xml"/><Relationship Id="rId10" Type="http://schemas.openxmlformats.org/officeDocument/2006/relationships/slide" Target="slides/slide5.xml"/><Relationship Id="rId19" Type="http://schemas.openxmlformats.org/officeDocument/2006/relationships/font" Target="fonts/RobotoMono-bold.fntdata"/><Relationship Id="rId22" Type="http://schemas.openxmlformats.org/officeDocument/2006/relationships/font" Target="fonts/CenturyGothic-regular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7" Type="http://schemas.openxmlformats.org/officeDocument/2006/relationships/customXml" Target="../customXml/item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A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70b3c5c6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g3970b3c5c6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70b3c5c61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g3970b3c5c61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9712bde053_0_3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g39712bde053_0_3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7368fd73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g397368fd73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712bde053_0_3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g39712bde053_0_3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71c1e9b5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g3971c1e9b5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7368fd739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g397368fd739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7368fd739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g397368fd739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9712bde053_0_3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g39712bde053_0_3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9712bde053_0_1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g39712bde053_0_1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97368fd739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g397368fd739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0"/>
          <p:cNvSpPr/>
          <p:nvPr/>
        </p:nvSpPr>
        <p:spPr>
          <a:xfrm>
            <a:off x="0" y="-3175"/>
            <a:ext cx="12192000" cy="5203825"/>
          </a:xfrm>
          <a:custGeom>
            <a:rect b="b" l="l" r="r" t="t"/>
            <a:pathLst>
              <a:path extrusionOk="0" h="3278" w="5760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40"/>
          <p:cNvSpPr txBox="1"/>
          <p:nvPr>
            <p:ph type="ctrTitle"/>
          </p:nvPr>
        </p:nvSpPr>
        <p:spPr>
          <a:xfrm>
            <a:off x="810001" y="1449147"/>
            <a:ext cx="10572000" cy="297105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0"/>
          <p:cNvSpPr txBox="1"/>
          <p:nvPr>
            <p:ph idx="1" type="subTitle"/>
          </p:nvPr>
        </p:nvSpPr>
        <p:spPr>
          <a:xfrm>
            <a:off x="810001" y="5280847"/>
            <a:ext cx="10572000" cy="43497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40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0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0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1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1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1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2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42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2"/>
          <p:cNvSpPr txBox="1"/>
          <p:nvPr>
            <p:ph idx="1" type="body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30" name="Google Shape;30;p42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2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2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3"/>
          <p:cNvSpPr/>
          <p:nvPr/>
        </p:nvSpPr>
        <p:spPr>
          <a:xfrm>
            <a:off x="0" y="1"/>
            <a:ext cx="12192000" cy="5203825"/>
          </a:xfrm>
          <a:custGeom>
            <a:rect b="b" l="l" r="r" t="t"/>
            <a:pathLst>
              <a:path extrusionOk="0" h="3278" w="5760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43"/>
          <p:cNvSpPr txBox="1"/>
          <p:nvPr>
            <p:ph type="title"/>
          </p:nvPr>
        </p:nvSpPr>
        <p:spPr>
          <a:xfrm>
            <a:off x="810000" y="2951396"/>
            <a:ext cx="10561418" cy="1468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800"/>
              <a:buFont typeface="Century Gothic"/>
              <a:buNone/>
              <a:defRPr b="1" sz="48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3"/>
          <p:cNvSpPr txBox="1"/>
          <p:nvPr>
            <p:ph idx="1" type="body"/>
          </p:nvPr>
        </p:nvSpPr>
        <p:spPr>
          <a:xfrm>
            <a:off x="810000" y="5281201"/>
            <a:ext cx="10561418" cy="43395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" name="Google Shape;37;p43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3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3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4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44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4"/>
          <p:cNvSpPr txBox="1"/>
          <p:nvPr>
            <p:ph idx="1" type="body"/>
          </p:nvPr>
        </p:nvSpPr>
        <p:spPr>
          <a:xfrm>
            <a:off x="818712" y="2222287"/>
            <a:ext cx="5185873" cy="36387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44" name="Google Shape;44;p44"/>
          <p:cNvSpPr txBox="1"/>
          <p:nvPr>
            <p:ph idx="2" type="body"/>
          </p:nvPr>
        </p:nvSpPr>
        <p:spPr>
          <a:xfrm>
            <a:off x="6187415" y="2222287"/>
            <a:ext cx="5194583" cy="363876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45" name="Google Shape;45;p44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4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4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5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45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5"/>
          <p:cNvSpPr txBox="1"/>
          <p:nvPr>
            <p:ph idx="1" type="body"/>
          </p:nvPr>
        </p:nvSpPr>
        <p:spPr>
          <a:xfrm>
            <a:off x="814728" y="2174875"/>
            <a:ext cx="5189857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0" sz="20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45"/>
          <p:cNvSpPr txBox="1"/>
          <p:nvPr>
            <p:ph idx="2" type="body"/>
          </p:nvPr>
        </p:nvSpPr>
        <p:spPr>
          <a:xfrm>
            <a:off x="814729" y="2751138"/>
            <a:ext cx="5189856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53" name="Google Shape;53;p45"/>
          <p:cNvSpPr txBox="1"/>
          <p:nvPr>
            <p:ph idx="3" type="body"/>
          </p:nvPr>
        </p:nvSpPr>
        <p:spPr>
          <a:xfrm>
            <a:off x="6187415" y="2174875"/>
            <a:ext cx="5194583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0" sz="20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45"/>
          <p:cNvSpPr txBox="1"/>
          <p:nvPr>
            <p:ph idx="4" type="body"/>
          </p:nvPr>
        </p:nvSpPr>
        <p:spPr>
          <a:xfrm>
            <a:off x="6187415" y="2751138"/>
            <a:ext cx="5194583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55" name="Google Shape;55;p45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5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5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6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46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6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6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6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7"/>
          <p:cNvSpPr/>
          <p:nvPr/>
        </p:nvSpPr>
        <p:spPr>
          <a:xfrm>
            <a:off x="1073151" y="446087"/>
            <a:ext cx="3547533" cy="1814651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47"/>
          <p:cNvSpPr txBox="1"/>
          <p:nvPr>
            <p:ph type="title"/>
          </p:nvPr>
        </p:nvSpPr>
        <p:spPr>
          <a:xfrm>
            <a:off x="1073151" y="446088"/>
            <a:ext cx="3547533" cy="1618396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000"/>
              <a:buFont typeface="Century Gothic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7"/>
          <p:cNvSpPr txBox="1"/>
          <p:nvPr>
            <p:ph idx="1" type="body"/>
          </p:nvPr>
        </p:nvSpPr>
        <p:spPr>
          <a:xfrm>
            <a:off x="4855633" y="446088"/>
            <a:ext cx="6252633" cy="54149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68" name="Google Shape;68;p47"/>
          <p:cNvSpPr txBox="1"/>
          <p:nvPr>
            <p:ph idx="2" type="body"/>
          </p:nvPr>
        </p:nvSpPr>
        <p:spPr>
          <a:xfrm>
            <a:off x="1073151" y="2260738"/>
            <a:ext cx="3547533" cy="36003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47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7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7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8"/>
          <p:cNvSpPr txBox="1"/>
          <p:nvPr>
            <p:ph type="title"/>
          </p:nvPr>
        </p:nvSpPr>
        <p:spPr>
          <a:xfrm>
            <a:off x="814728" y="727522"/>
            <a:ext cx="4852988" cy="16171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8"/>
          <p:cNvSpPr/>
          <p:nvPr>
            <p:ph idx="2" type="pic"/>
          </p:nvPr>
        </p:nvSpPr>
        <p:spPr>
          <a:xfrm>
            <a:off x="6098117" y="0"/>
            <a:ext cx="6093883" cy="68580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75" name="Google Shape;75;p48"/>
          <p:cNvSpPr txBox="1"/>
          <p:nvPr>
            <p:ph idx="1" type="body"/>
          </p:nvPr>
        </p:nvSpPr>
        <p:spPr>
          <a:xfrm>
            <a:off x="814728" y="2344684"/>
            <a:ext cx="4852988" cy="35163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6" name="Google Shape;76;p48"/>
          <p:cNvSpPr txBox="1"/>
          <p:nvPr>
            <p:ph idx="10" type="dt"/>
          </p:nvPr>
        </p:nvSpPr>
        <p:spPr>
          <a:xfrm>
            <a:off x="3885810" y="6041362"/>
            <a:ext cx="9768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8"/>
          <p:cNvSpPr txBox="1"/>
          <p:nvPr>
            <p:ph idx="11" type="ftr"/>
          </p:nvPr>
        </p:nvSpPr>
        <p:spPr>
          <a:xfrm>
            <a:off x="590396" y="6041362"/>
            <a:ext cx="32954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8"/>
          <p:cNvSpPr txBox="1"/>
          <p:nvPr>
            <p:ph idx="12" type="sldNum"/>
          </p:nvPr>
        </p:nvSpPr>
        <p:spPr>
          <a:xfrm>
            <a:off x="4862689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9"/>
          <p:cNvSpPr txBox="1"/>
          <p:nvPr>
            <p:ph type="title"/>
          </p:nvPr>
        </p:nvSpPr>
        <p:spPr>
          <a:xfrm>
            <a:off x="810000" y="4800600"/>
            <a:ext cx="10561418" cy="566738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9"/>
          <p:cNvSpPr/>
          <p:nvPr>
            <p:ph idx="2" type="pic"/>
          </p:nvPr>
        </p:nvSpPr>
        <p:spPr>
          <a:xfrm>
            <a:off x="0" y="0"/>
            <a:ext cx="12192000" cy="4800600"/>
          </a:xfrm>
          <a:prstGeom prst="rect">
            <a:avLst/>
          </a:prstGeom>
          <a:noFill/>
          <a:ln cap="rnd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82" name="Google Shape;82;p49"/>
          <p:cNvSpPr txBox="1"/>
          <p:nvPr>
            <p:ph idx="1" type="body"/>
          </p:nvPr>
        </p:nvSpPr>
        <p:spPr>
          <a:xfrm>
            <a:off x="810000" y="5367338"/>
            <a:ext cx="10561418" cy="4937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3" name="Google Shape;83;p49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9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49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0"/>
          <p:cNvSpPr/>
          <p:nvPr/>
        </p:nvSpPr>
        <p:spPr>
          <a:xfrm>
            <a:off x="631697" y="1081456"/>
            <a:ext cx="6332416" cy="3239188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50"/>
          <p:cNvSpPr txBox="1"/>
          <p:nvPr>
            <p:ph type="title"/>
          </p:nvPr>
        </p:nvSpPr>
        <p:spPr>
          <a:xfrm>
            <a:off x="850985" y="1238502"/>
            <a:ext cx="5893840" cy="26459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200"/>
              <a:buFont typeface="Century Gothic"/>
              <a:buNone/>
              <a:defRPr b="1" sz="4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50"/>
          <p:cNvSpPr txBox="1"/>
          <p:nvPr>
            <p:ph idx="1" type="body"/>
          </p:nvPr>
        </p:nvSpPr>
        <p:spPr>
          <a:xfrm>
            <a:off x="853190" y="4443680"/>
            <a:ext cx="5891636" cy="71324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50"/>
          <p:cNvSpPr txBox="1"/>
          <p:nvPr>
            <p:ph idx="2" type="body"/>
          </p:nvPr>
        </p:nvSpPr>
        <p:spPr>
          <a:xfrm>
            <a:off x="7574642" y="1081456"/>
            <a:ext cx="3810001" cy="40754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91" name="Google Shape;91;p50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50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50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1"/>
          <p:cNvSpPr/>
          <p:nvPr/>
        </p:nvSpPr>
        <p:spPr>
          <a:xfrm>
            <a:off x="1140884" y="2286585"/>
            <a:ext cx="4895115" cy="2503972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51"/>
          <p:cNvSpPr txBox="1"/>
          <p:nvPr>
            <p:ph type="title"/>
          </p:nvPr>
        </p:nvSpPr>
        <p:spPr>
          <a:xfrm>
            <a:off x="1357089" y="2435957"/>
            <a:ext cx="4382521" cy="200778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51"/>
          <p:cNvSpPr txBox="1"/>
          <p:nvPr>
            <p:ph idx="1" type="body"/>
          </p:nvPr>
        </p:nvSpPr>
        <p:spPr>
          <a:xfrm>
            <a:off x="6156000" y="2286000"/>
            <a:ext cx="4880300" cy="229552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98" name="Google Shape;98;p51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51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51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2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52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52"/>
          <p:cNvSpPr txBox="1"/>
          <p:nvPr>
            <p:ph idx="1" type="body"/>
          </p:nvPr>
        </p:nvSpPr>
        <p:spPr>
          <a:xfrm rot="5400000">
            <a:off x="4254444" y="-1260043"/>
            <a:ext cx="3674397" cy="1056328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105" name="Google Shape;105;p52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52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52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3"/>
          <p:cNvSpPr/>
          <p:nvPr/>
        </p:nvSpPr>
        <p:spPr>
          <a:xfrm>
            <a:off x="7669651" y="446089"/>
            <a:ext cx="4522349" cy="5414962"/>
          </a:xfrm>
          <a:custGeom>
            <a:rect b="b" l="l" r="r" t="t"/>
            <a:pathLst>
              <a:path extrusionOk="0" h="4320" w="2879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53"/>
          <p:cNvSpPr txBox="1"/>
          <p:nvPr>
            <p:ph type="title"/>
          </p:nvPr>
        </p:nvSpPr>
        <p:spPr>
          <a:xfrm rot="5400000">
            <a:off x="6863536" y="1906175"/>
            <a:ext cx="5134798" cy="249479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53"/>
          <p:cNvSpPr txBox="1"/>
          <p:nvPr>
            <p:ph idx="1" type="body"/>
          </p:nvPr>
        </p:nvSpPr>
        <p:spPr>
          <a:xfrm rot="5400000">
            <a:off x="1408290" y="-152200"/>
            <a:ext cx="5414962" cy="661154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112" name="Google Shape;112;p53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53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53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9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 b="1" i="0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9"/>
          <p:cNvSpPr txBox="1"/>
          <p:nvPr>
            <p:ph idx="1" type="body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🞆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🞆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2" name="Google Shape;12;p39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3" name="Google Shape;13;p39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" name="Google Shape;14;p39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"/>
          <p:cNvSpPr txBox="1"/>
          <p:nvPr>
            <p:ph type="ctrTitle"/>
          </p:nvPr>
        </p:nvSpPr>
        <p:spPr>
          <a:xfrm>
            <a:off x="810001" y="1449147"/>
            <a:ext cx="10572000" cy="297105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</a:pPr>
            <a:r>
              <a:rPr lang="es-AR"/>
              <a:t>TDA PriorityQueue</a:t>
            </a:r>
            <a:endParaRPr/>
          </a:p>
        </p:txBody>
      </p:sp>
      <p:sp>
        <p:nvSpPr>
          <p:cNvPr id="120" name="Google Shape;120;p1"/>
          <p:cNvSpPr txBox="1"/>
          <p:nvPr>
            <p:ph idx="1" type="subTitle"/>
          </p:nvPr>
        </p:nvSpPr>
        <p:spPr>
          <a:xfrm>
            <a:off x="810000" y="5408853"/>
            <a:ext cx="6672979" cy="95000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i="1" lang="es-AR" sz="4000">
                <a:solidFill>
                  <a:srgbClr val="A5A5A5"/>
                </a:solidFill>
              </a:rPr>
              <a:t>Programación II</a:t>
            </a:r>
            <a:endParaRPr/>
          </a:p>
        </p:txBody>
      </p:sp>
      <p:pic>
        <p:nvPicPr>
          <p:cNvPr id="121" name="Google Shape;12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950" y="9541"/>
            <a:ext cx="2701797" cy="1157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70b3c5c61_0_0"/>
          <p:cNvSpPr txBox="1"/>
          <p:nvPr>
            <p:ph idx="4294967295" type="ctrTitle"/>
          </p:nvPr>
        </p:nvSpPr>
        <p:spPr>
          <a:xfrm>
            <a:off x="332509" y="1872886"/>
            <a:ext cx="11526900" cy="31122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FFF5"/>
              </a:buClr>
              <a:buSzPts val="6600"/>
              <a:buFont typeface="Century Gothic"/>
              <a:buNone/>
            </a:pPr>
            <a:r>
              <a:rPr b="1" i="0" lang="es-AR" sz="6600" u="none" cap="none" strike="noStrike">
                <a:solidFill>
                  <a:srgbClr val="43FFF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TDA </a:t>
            </a:r>
            <a:r>
              <a:rPr lang="es-AR" sz="6600">
                <a:solidFill>
                  <a:srgbClr val="43FFF5"/>
                </a:solidFill>
              </a:rPr>
              <a:t>PRIORITYQUEUE</a:t>
            </a:r>
            <a:endParaRPr b="1" i="0" sz="6600" u="none" cap="none" strike="noStrike">
              <a:solidFill>
                <a:srgbClr val="43FFF5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70b3c5c61_0_4"/>
          <p:cNvSpPr txBox="1"/>
          <p:nvPr>
            <p:ph idx="1" type="body"/>
          </p:nvPr>
        </p:nvSpPr>
        <p:spPr>
          <a:xfrm>
            <a:off x="290946" y="2286000"/>
            <a:ext cx="11568600" cy="4255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500"/>
              <a:buFont typeface="Century Gothic"/>
              <a:buChar char="❖"/>
            </a:pPr>
            <a:r>
              <a:rPr lang="es-AR" sz="2600"/>
              <a:t>Una </a:t>
            </a:r>
            <a:r>
              <a:rPr b="1" lang="es-AR" sz="2600">
                <a:solidFill>
                  <a:srgbClr val="FF7B61"/>
                </a:solidFill>
              </a:rPr>
              <a:t>PriorityQueue</a:t>
            </a:r>
            <a:r>
              <a:rPr lang="es-AR" sz="2600"/>
              <a:t> es una Queue ordenada por prioridad.</a:t>
            </a:r>
            <a:endParaRPr sz="2600"/>
          </a:p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500"/>
              <a:buFont typeface="Century Gothic"/>
              <a:buChar char="❖"/>
            </a:pPr>
            <a:r>
              <a:rPr lang="es-AR" sz="2600"/>
              <a:t>El </a:t>
            </a:r>
            <a:r>
              <a:rPr lang="es-AR" sz="2600">
                <a:solidFill>
                  <a:srgbClr val="FF7B61"/>
                </a:solidFill>
              </a:rPr>
              <a:t>primer elemento</a:t>
            </a:r>
            <a:r>
              <a:rPr lang="es-AR" sz="2600"/>
              <a:t> que sale es el que tiene </a:t>
            </a:r>
            <a:r>
              <a:rPr lang="es-AR" sz="2600">
                <a:solidFill>
                  <a:srgbClr val="FF7B61"/>
                </a:solidFill>
              </a:rPr>
              <a:t>mayor prioridad</a:t>
            </a:r>
            <a:r>
              <a:rPr lang="es-AR" sz="2600"/>
              <a:t>.</a:t>
            </a:r>
            <a:endParaRPr sz="2600"/>
          </a:p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500"/>
              <a:buFont typeface="Century Gothic"/>
              <a:buChar char="❖"/>
            </a:pPr>
            <a:r>
              <a:rPr lang="es-AR" sz="2600"/>
              <a:t>Al encolar un elemento, se guarda el valor y un valor de prioridad.</a:t>
            </a:r>
            <a:endParaRPr sz="2600"/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Generalmente la prioridad es </a:t>
            </a:r>
            <a:r>
              <a:rPr lang="es-AR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s-AR" sz="2600"/>
              <a:t>, puede ser de otros tipos.</a:t>
            </a:r>
            <a:endParaRPr sz="2600"/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No se garantiza el orden dentro de una misma prioridad.</a:t>
            </a:r>
            <a:endParaRPr sz="2600"/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Prioridad m</a:t>
            </a:r>
            <a:r>
              <a:rPr lang="es-AR" sz="2600"/>
              <a:t>ás alta = menor </a:t>
            </a:r>
            <a:r>
              <a:rPr lang="es-AR" sz="2600"/>
              <a:t>número</a:t>
            </a:r>
            <a:r>
              <a:rPr lang="es-AR" sz="2600"/>
              <a:t>. Ej: 1 tiene más prioridad que 2.</a:t>
            </a:r>
            <a:endParaRPr sz="2600"/>
          </a:p>
        </p:txBody>
      </p:sp>
      <p:sp>
        <p:nvSpPr>
          <p:cNvPr id="132" name="Google Shape;132;g3970b3c5c61_0_4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TDA </a:t>
            </a:r>
            <a:r>
              <a:rPr b="1" lang="es-AR" sz="4000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PRIORITYQUEUE</a:t>
            </a: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- CONCEPTO</a:t>
            </a:r>
            <a:endParaRPr b="1" i="0" sz="4000" u="none" cap="none" strike="noStrike">
              <a:solidFill>
                <a:srgbClr val="FEFEF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712bde053_0_301"/>
          <p:cNvSpPr txBox="1"/>
          <p:nvPr>
            <p:ph idx="4294967295" type="ctrTitle"/>
          </p:nvPr>
        </p:nvSpPr>
        <p:spPr>
          <a:xfrm>
            <a:off x="332509" y="1872886"/>
            <a:ext cx="11526900" cy="31122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FFF5"/>
              </a:buClr>
              <a:buSzPts val="6600"/>
              <a:buFont typeface="Century Gothic"/>
              <a:buNone/>
            </a:pPr>
            <a:r>
              <a:rPr b="1" i="0" lang="es-AR" sz="6600" u="none" cap="none" strike="noStrike">
                <a:solidFill>
                  <a:srgbClr val="43FFF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IMPLEMENTACIÓN</a:t>
            </a:r>
            <a:endParaRPr b="1" i="0" sz="6600" u="none" cap="none" strike="noStrike">
              <a:solidFill>
                <a:srgbClr val="43FFF5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7368fd739_0_0"/>
          <p:cNvSpPr txBox="1"/>
          <p:nvPr>
            <p:ph idx="1" type="body"/>
          </p:nvPr>
        </p:nvSpPr>
        <p:spPr>
          <a:xfrm>
            <a:off x="290946" y="2286000"/>
            <a:ext cx="11568600" cy="4255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500"/>
              <a:buFont typeface="Century Gothic"/>
              <a:buChar char="❖"/>
            </a:pPr>
            <a:r>
              <a:rPr lang="es-AR" sz="2600"/>
              <a:t>Prácticamente toda la interfaz queda igual que Queue.</a:t>
            </a:r>
            <a:endParaRPr sz="2600"/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Cambios:</a:t>
            </a:r>
            <a:endParaRPr sz="2600"/>
          </a:p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500"/>
              <a:buFont typeface="Century Gothic"/>
              <a:buChar char="❖"/>
            </a:pPr>
            <a:r>
              <a:rPr lang="es-AR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public boolean</a:t>
            </a:r>
            <a:r>
              <a:rPr lang="es-AR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 enqueue</a:t>
            </a:r>
            <a:r>
              <a:rPr lang="es-AR" sz="2600">
                <a:solidFill>
                  <a:srgbClr val="FEFEFE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-AR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AR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AR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element</a:t>
            </a:r>
            <a:r>
              <a:rPr lang="es-AR" sz="2600">
                <a:solidFill>
                  <a:srgbClr val="FEFEFE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-AR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s-AR" sz="2600">
                <a:solidFill>
                  <a:srgbClr val="FEFEFE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AR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priority</a:t>
            </a:r>
            <a:r>
              <a:rPr lang="es-AR" sz="2600">
                <a:solidFill>
                  <a:srgbClr val="FEFEFE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b="1" lang="es-AR" sz="2600">
                <a:solidFill>
                  <a:srgbClr val="FF7B61"/>
                </a:solidFill>
              </a:rPr>
              <a:t> </a:t>
            </a:r>
            <a:br>
              <a:rPr lang="es-AR" sz="2600"/>
            </a:br>
            <a:r>
              <a:rPr lang="es-AR" sz="2600"/>
              <a:t>Se agrega la prioridad.</a:t>
            </a:r>
            <a:endParaRPr sz="2600"/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public int</a:t>
            </a:r>
            <a:r>
              <a:rPr lang="es-AR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 getHighestPriority</a:t>
            </a:r>
            <a:r>
              <a:rPr lang="es-AR" sz="2600">
                <a:solidFill>
                  <a:srgbClr val="FEFEFE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r>
              <a:rPr b="1" lang="es-AR" sz="2600">
                <a:solidFill>
                  <a:srgbClr val="FF7B61"/>
                </a:solidFill>
              </a:rPr>
              <a:t> </a:t>
            </a:r>
            <a:endParaRPr sz="2600"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600"/>
              <a:t>Devuelve la prioridad del primer elemento.</a:t>
            </a:r>
            <a:endParaRPr sz="2600"/>
          </a:p>
        </p:txBody>
      </p:sp>
      <p:sp>
        <p:nvSpPr>
          <p:cNvPr id="143" name="Google Shape;143;g397368fd739_0_0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s-AR" sz="4000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IMPLEMENTACIÓN</a:t>
            </a:r>
            <a:endParaRPr b="1" i="0" sz="4000" u="none" cap="none" strike="noStrike">
              <a:solidFill>
                <a:srgbClr val="FEFEF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9712bde053_0_311"/>
          <p:cNvSpPr txBox="1"/>
          <p:nvPr>
            <p:ph idx="4294967295" type="ctrTitle"/>
          </p:nvPr>
        </p:nvSpPr>
        <p:spPr>
          <a:xfrm>
            <a:off x="332509" y="1872886"/>
            <a:ext cx="11526900" cy="31122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FFF5"/>
              </a:buClr>
              <a:buSzPts val="6600"/>
              <a:buFont typeface="Century Gothic"/>
              <a:buNone/>
            </a:pPr>
            <a:r>
              <a:rPr b="1" i="0" lang="es-AR" sz="6600" u="none" cap="none" strike="noStrike">
                <a:solidFill>
                  <a:srgbClr val="43FFF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IMPLEMENTACIÓN</a:t>
            </a:r>
            <a:endParaRPr b="1" i="0" sz="6600" u="none" cap="none" strike="noStrike">
              <a:solidFill>
                <a:srgbClr val="43FFF5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FFF5"/>
              </a:buClr>
              <a:buSzPts val="6600"/>
              <a:buFont typeface="Century Gothic"/>
              <a:buNone/>
            </a:pPr>
            <a:r>
              <a:rPr b="1" i="0" lang="es-AR" sz="6600" u="none" cap="none" strike="noStrike">
                <a:solidFill>
                  <a:srgbClr val="43FFF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ESTÁTICA</a:t>
            </a:r>
            <a:endParaRPr b="1" i="0" sz="6600" u="none" cap="none" strike="noStrike">
              <a:solidFill>
                <a:srgbClr val="43FFF5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971c1e9b51_0_0"/>
          <p:cNvSpPr txBox="1"/>
          <p:nvPr>
            <p:ph idx="1" type="body"/>
          </p:nvPr>
        </p:nvSpPr>
        <p:spPr>
          <a:xfrm>
            <a:off x="290946" y="2286000"/>
            <a:ext cx="11568600" cy="4255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Se mantiene prácticamente todo igual.</a:t>
            </a:r>
            <a:endParaRPr sz="2600"/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Agregamos un segundo array </a:t>
            </a:r>
            <a:r>
              <a:rPr lang="es-AR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s-AR" sz="2600">
                <a:solidFill>
                  <a:srgbClr val="FEFEFE"/>
                </a:solidFill>
                <a:latin typeface="Roboto Mono"/>
                <a:ea typeface="Roboto Mono"/>
                <a:cs typeface="Roboto Mono"/>
                <a:sym typeface="Roboto Mono"/>
              </a:rPr>
              <a:t>[]</a:t>
            </a:r>
            <a:r>
              <a:rPr lang="es-AR" sz="2600">
                <a:solidFill>
                  <a:srgbClr val="43F5FF"/>
                </a:solidFill>
                <a:latin typeface="Roboto Mono"/>
                <a:ea typeface="Roboto Mono"/>
                <a:cs typeface="Roboto Mono"/>
                <a:sym typeface="Roboto Mono"/>
              </a:rPr>
              <a:t> priorities</a:t>
            </a:r>
            <a:r>
              <a:rPr lang="es-AR" sz="2600"/>
              <a:t>.</a:t>
            </a:r>
            <a:endParaRPr sz="2600"/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Mantenemos </a:t>
            </a:r>
            <a:r>
              <a:rPr lang="es-AR" sz="2600">
                <a:solidFill>
                  <a:srgbClr val="43F5FF"/>
                </a:solidFill>
                <a:latin typeface="Roboto Mono"/>
                <a:ea typeface="Roboto Mono"/>
                <a:cs typeface="Roboto Mono"/>
                <a:sym typeface="Roboto Mono"/>
              </a:rPr>
              <a:t>elements</a:t>
            </a:r>
            <a:r>
              <a:rPr lang="es-AR" sz="2600"/>
              <a:t> y </a:t>
            </a:r>
            <a:r>
              <a:rPr lang="es-AR" sz="2600">
                <a:solidFill>
                  <a:srgbClr val="43F5FF"/>
                </a:solidFill>
                <a:latin typeface="Roboto Mono"/>
                <a:ea typeface="Roboto Mono"/>
                <a:cs typeface="Roboto Mono"/>
                <a:sym typeface="Roboto Mono"/>
              </a:rPr>
              <a:t>priorities</a:t>
            </a:r>
            <a:r>
              <a:rPr lang="es-AR" sz="2600"/>
              <a:t> sincronizados.</a:t>
            </a:r>
            <a:endParaRPr sz="2600"/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En el mismo índice se mantiene un elemento y su prioridad.</a:t>
            </a:r>
            <a:endParaRPr sz="2600"/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Cambian </a:t>
            </a:r>
            <a:r>
              <a:rPr lang="es-AR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enqueue</a:t>
            </a:r>
            <a:r>
              <a:rPr lang="es-AR" sz="2600"/>
              <a:t> y </a:t>
            </a:r>
            <a:r>
              <a:rPr lang="es-AR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shiftLeft</a:t>
            </a:r>
            <a:r>
              <a:rPr lang="es-AR" sz="2600"/>
              <a:t>.</a:t>
            </a:r>
            <a:endParaRPr sz="2600"/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shiftLeft</a:t>
            </a:r>
            <a:r>
              <a:rPr lang="es-AR" sz="2600"/>
              <a:t> ahora también debe correr </a:t>
            </a:r>
            <a:r>
              <a:rPr lang="es-AR" sz="2600">
                <a:solidFill>
                  <a:srgbClr val="43F5FF"/>
                </a:solidFill>
                <a:latin typeface="Roboto Mono"/>
                <a:ea typeface="Roboto Mono"/>
                <a:cs typeface="Roboto Mono"/>
                <a:sym typeface="Roboto Mono"/>
              </a:rPr>
              <a:t>priorities</a:t>
            </a:r>
            <a:r>
              <a:rPr lang="es-AR" sz="2600"/>
              <a:t>.</a:t>
            </a:r>
            <a:endParaRPr sz="2600"/>
          </a:p>
        </p:txBody>
      </p:sp>
      <p:sp>
        <p:nvSpPr>
          <p:cNvPr id="154" name="Google Shape;154;g3971c1e9b51_0_0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IMPLEMENTACIÓN ESTÁTICA</a:t>
            </a:r>
            <a:endParaRPr b="1" i="0" sz="4000" u="none" cap="none" strike="noStrike">
              <a:solidFill>
                <a:srgbClr val="FEFEF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7368fd739_0_5"/>
          <p:cNvSpPr txBox="1"/>
          <p:nvPr>
            <p:ph idx="1" type="body"/>
          </p:nvPr>
        </p:nvSpPr>
        <p:spPr>
          <a:xfrm>
            <a:off x="290946" y="2286000"/>
            <a:ext cx="11568600" cy="4255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Para </a:t>
            </a:r>
            <a:r>
              <a:rPr lang="es-AR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enqueue</a:t>
            </a:r>
            <a:r>
              <a:rPr lang="es-AR" sz="2600"/>
              <a:t>:</a:t>
            </a:r>
            <a:endParaRPr sz="2600"/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>
                <a:solidFill>
                  <a:srgbClr val="FEFEFE"/>
                </a:solidFill>
              </a:rPr>
              <a:t>Necesitamos una variable </a:t>
            </a:r>
            <a:r>
              <a:rPr lang="es-AR" sz="2600">
                <a:solidFill>
                  <a:srgbClr val="FFFF00"/>
                </a:solidFill>
                <a:latin typeface="Roboto Mono"/>
                <a:ea typeface="Roboto Mono"/>
                <a:cs typeface="Roboto Mono"/>
                <a:sym typeface="Roboto Mono"/>
              </a:rPr>
              <a:t>insertIndex</a:t>
            </a:r>
            <a:r>
              <a:rPr lang="es-AR" sz="2600">
                <a:solidFill>
                  <a:srgbClr val="FEFEFE"/>
                </a:solidFill>
              </a:rPr>
              <a:t> inicializada = </a:t>
            </a:r>
            <a:r>
              <a:rPr lang="es-AR" sz="2600">
                <a:solidFill>
                  <a:srgbClr val="43F5FF"/>
                </a:solidFill>
                <a:latin typeface="Roboto Mono"/>
                <a:ea typeface="Roboto Mono"/>
                <a:cs typeface="Roboto Mono"/>
                <a:sym typeface="Roboto Mono"/>
              </a:rPr>
              <a:t>size</a:t>
            </a:r>
            <a:r>
              <a:rPr lang="es-AR" sz="2600">
                <a:solidFill>
                  <a:srgbClr val="FEFEFE"/>
                </a:solidFill>
              </a:rPr>
              <a:t>.</a:t>
            </a:r>
            <a:endParaRPr sz="2600"/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Debemos iterar sobre </a:t>
            </a:r>
            <a:r>
              <a:rPr lang="es-AR" sz="2600">
                <a:solidFill>
                  <a:srgbClr val="43FFF5"/>
                </a:solidFill>
                <a:latin typeface="Roboto Mono"/>
                <a:ea typeface="Roboto Mono"/>
                <a:cs typeface="Roboto Mono"/>
                <a:sym typeface="Roboto Mono"/>
              </a:rPr>
              <a:t>priorities</a:t>
            </a:r>
            <a:r>
              <a:rPr lang="es-AR" sz="2600"/>
              <a:t> con </a:t>
            </a:r>
            <a:r>
              <a:rPr lang="es-AR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s-AR" sz="2600"/>
              <a:t>, de </a:t>
            </a:r>
            <a:r>
              <a:rPr lang="es-AR" sz="2600">
                <a:solidFill>
                  <a:srgbClr val="43F5FF"/>
                </a:solidFill>
                <a:latin typeface="Roboto Mono"/>
                <a:ea typeface="Roboto Mono"/>
                <a:cs typeface="Roboto Mono"/>
                <a:sym typeface="Roboto Mono"/>
              </a:rPr>
              <a:t>size</a:t>
            </a:r>
            <a:r>
              <a:rPr lang="es-AR" sz="2600"/>
              <a:t> a 0.</a:t>
            </a:r>
            <a:endParaRPr sz="2600"/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También salimos del bucle si </a:t>
            </a:r>
            <a:r>
              <a:rPr lang="es-AR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priority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 &gt;= </a:t>
            </a:r>
            <a:r>
              <a:rPr lang="es-AR" sz="2600">
                <a:solidFill>
                  <a:srgbClr val="43F5FF"/>
                </a:solidFill>
                <a:latin typeface="Roboto Mono"/>
                <a:ea typeface="Roboto Mono"/>
                <a:cs typeface="Roboto Mono"/>
                <a:sym typeface="Roboto Mono"/>
              </a:rPr>
              <a:t>priorities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[</a:t>
            </a:r>
            <a:r>
              <a:rPr lang="es-AR" sz="2600">
                <a:solidFill>
                  <a:srgbClr val="FFFF00"/>
                </a:solidFill>
                <a:latin typeface="Roboto Mono"/>
                <a:ea typeface="Roboto Mono"/>
                <a:cs typeface="Roboto Mono"/>
                <a:sym typeface="Roboto Mono"/>
              </a:rPr>
              <a:t>i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]</a:t>
            </a:r>
            <a:r>
              <a:rPr lang="es-AR" sz="2600"/>
              <a:t>.</a:t>
            </a:r>
            <a:endParaRPr sz="2600"/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Eso significa que encontramos la prioridad correcta.</a:t>
            </a:r>
            <a:endParaRPr sz="2600"/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>
                <a:solidFill>
                  <a:srgbClr val="FEFEFE"/>
                </a:solidFill>
              </a:rPr>
              <a:t>A medida que iteramos, </a:t>
            </a:r>
            <a:r>
              <a:rPr lang="es-AR" sz="2600">
                <a:solidFill>
                  <a:srgbClr val="FF7B61"/>
                </a:solidFill>
              </a:rPr>
              <a:t>corremos todo a la derecha</a:t>
            </a:r>
            <a:r>
              <a:rPr lang="es-AR" sz="2600">
                <a:solidFill>
                  <a:srgbClr val="FEFEFE"/>
                </a:solidFill>
              </a:rPr>
              <a:t>.</a:t>
            </a:r>
            <a:endParaRPr sz="2600"/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A cada paso </a:t>
            </a:r>
            <a:r>
              <a:rPr lang="es-AR" sz="2600">
                <a:solidFill>
                  <a:srgbClr val="FFFF00"/>
                </a:solidFill>
                <a:latin typeface="Roboto Mono"/>
                <a:ea typeface="Roboto Mono"/>
                <a:cs typeface="Roboto Mono"/>
                <a:sym typeface="Roboto Mono"/>
              </a:rPr>
              <a:t>insertIndex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 = </a:t>
            </a:r>
            <a:r>
              <a:rPr lang="es-AR" sz="2600">
                <a:solidFill>
                  <a:srgbClr val="FFFF00"/>
                </a:solidFill>
                <a:latin typeface="Roboto Mono"/>
                <a:ea typeface="Roboto Mono"/>
                <a:cs typeface="Roboto Mono"/>
                <a:sym typeface="Roboto Mono"/>
              </a:rPr>
              <a:t>i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 - </a:t>
            </a:r>
            <a:r>
              <a:rPr lang="es-AR" sz="2600">
                <a:solidFill>
                  <a:srgbClr val="66B0FF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s-AR" sz="2600"/>
              <a:t>.</a:t>
            </a:r>
            <a:endParaRPr sz="2600">
              <a:solidFill>
                <a:srgbClr val="FEFEFE"/>
              </a:solidFill>
            </a:endParaRPr>
          </a:p>
        </p:txBody>
      </p:sp>
      <p:sp>
        <p:nvSpPr>
          <p:cNvPr id="160" name="Google Shape;160;g397368fd739_0_5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IMPLEMENTACIÓN ESTÁTICA</a:t>
            </a:r>
            <a:endParaRPr b="1" i="0" sz="4000" u="none" cap="none" strike="noStrike">
              <a:solidFill>
                <a:srgbClr val="FEFEF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7368fd739_0_10"/>
          <p:cNvSpPr txBox="1"/>
          <p:nvPr>
            <p:ph idx="1" type="body"/>
          </p:nvPr>
        </p:nvSpPr>
        <p:spPr>
          <a:xfrm>
            <a:off x="290946" y="2286000"/>
            <a:ext cx="11568600" cy="4255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Una vez terminado el bucle (o si </a:t>
            </a:r>
            <a:r>
              <a:rPr lang="es-AR" sz="2600">
                <a:solidFill>
                  <a:srgbClr val="43F5FF"/>
                </a:solidFill>
                <a:latin typeface="Roboto Mono"/>
                <a:ea typeface="Roboto Mono"/>
                <a:cs typeface="Roboto Mono"/>
                <a:sym typeface="Roboto Mono"/>
              </a:rPr>
              <a:t>size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 = 0</a:t>
            </a:r>
            <a:r>
              <a:rPr lang="es-AR" sz="2600"/>
              <a:t> y se saltea el bucle),</a:t>
            </a:r>
            <a:br>
              <a:rPr lang="es-AR" sz="2600"/>
            </a:br>
            <a:r>
              <a:rPr lang="es-AR" sz="2600"/>
              <a:t>se asignan tanto </a:t>
            </a:r>
            <a:r>
              <a:rPr lang="es-AR" sz="2600">
                <a:solidFill>
                  <a:srgbClr val="43F5FF"/>
                </a:solidFill>
                <a:latin typeface="Roboto Mono"/>
                <a:ea typeface="Roboto Mono"/>
                <a:cs typeface="Roboto Mono"/>
                <a:sym typeface="Roboto Mono"/>
              </a:rPr>
              <a:t>elements</a:t>
            </a:r>
            <a:r>
              <a:rPr lang="es-AR" sz="2600"/>
              <a:t> como </a:t>
            </a:r>
            <a:r>
              <a:rPr lang="es-AR" sz="2600">
                <a:solidFill>
                  <a:srgbClr val="43F5FF"/>
                </a:solidFill>
                <a:latin typeface="Roboto Mono"/>
                <a:ea typeface="Roboto Mono"/>
                <a:cs typeface="Roboto Mono"/>
                <a:sym typeface="Roboto Mono"/>
              </a:rPr>
              <a:t>priority</a:t>
            </a:r>
            <a:r>
              <a:rPr lang="es-AR" sz="2600"/>
              <a:t> en </a:t>
            </a:r>
            <a:r>
              <a:rPr lang="es-AR" sz="2600">
                <a:solidFill>
                  <a:srgbClr val="FFFF00"/>
                </a:solidFill>
                <a:latin typeface="Roboto Mono"/>
                <a:ea typeface="Roboto Mono"/>
                <a:cs typeface="Roboto Mono"/>
                <a:sym typeface="Roboto Mono"/>
              </a:rPr>
              <a:t>insertIndex</a:t>
            </a:r>
            <a:r>
              <a:rPr lang="es-AR" sz="2600"/>
              <a:t>.</a:t>
            </a:r>
            <a:endParaRPr sz="2600"/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>
                <a:solidFill>
                  <a:srgbClr val="FEFEFE"/>
                </a:solidFill>
              </a:rPr>
              <a:t>De esta manera, ambos datos se insertan en el mismo lugar.</a:t>
            </a:r>
            <a:endParaRPr sz="2600"/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Todos los chequeos, validaciones y </a:t>
            </a:r>
            <a:r>
              <a:rPr lang="es-AR" sz="2600">
                <a:solidFill>
                  <a:srgbClr val="43F5FF"/>
                </a:solidFill>
                <a:latin typeface="Roboto Mono"/>
                <a:ea typeface="Roboto Mono"/>
                <a:cs typeface="Roboto Mono"/>
                <a:sym typeface="Roboto Mono"/>
              </a:rPr>
              <a:t>size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++</a:t>
            </a:r>
            <a:r>
              <a:rPr lang="es-AR" sz="2600"/>
              <a:t> se mantienen iguales.</a:t>
            </a:r>
            <a:endParaRPr sz="2600">
              <a:solidFill>
                <a:srgbClr val="FEFEFE"/>
              </a:solidFill>
            </a:endParaRPr>
          </a:p>
        </p:txBody>
      </p:sp>
      <p:sp>
        <p:nvSpPr>
          <p:cNvPr id="166" name="Google Shape;166;g397368fd739_0_10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IMPLEMENTACIÓN ESTÁTICA</a:t>
            </a:r>
            <a:endParaRPr b="1" i="0" sz="4000" u="none" cap="none" strike="noStrike">
              <a:solidFill>
                <a:srgbClr val="FEFEF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712bde053_0_315"/>
          <p:cNvSpPr txBox="1"/>
          <p:nvPr>
            <p:ph idx="4294967295" type="ctrTitle"/>
          </p:nvPr>
        </p:nvSpPr>
        <p:spPr>
          <a:xfrm>
            <a:off x="332509" y="1872886"/>
            <a:ext cx="11526900" cy="31122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FFF5"/>
              </a:buClr>
              <a:buSzPts val="6600"/>
              <a:buFont typeface="Century Gothic"/>
              <a:buNone/>
            </a:pPr>
            <a:r>
              <a:rPr b="1" i="0" lang="es-AR" sz="6600" u="none" cap="none" strike="noStrike">
                <a:solidFill>
                  <a:srgbClr val="43FFF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IMPLEMENTACIÓN</a:t>
            </a:r>
            <a:endParaRPr b="1" i="0" sz="6600" u="none" cap="none" strike="noStrike">
              <a:solidFill>
                <a:srgbClr val="43FFF5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FFF5"/>
              </a:buClr>
              <a:buSzPts val="6600"/>
              <a:buFont typeface="Century Gothic"/>
              <a:buNone/>
            </a:pPr>
            <a:r>
              <a:rPr b="1" i="0" lang="es-AR" sz="6600" u="none" cap="none" strike="noStrike">
                <a:solidFill>
                  <a:srgbClr val="43FFF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DINÁMICA</a:t>
            </a:r>
            <a:endParaRPr b="1" i="0" sz="6600" u="none" cap="none" strike="noStrike">
              <a:solidFill>
                <a:srgbClr val="43FFF5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9712bde053_0_165"/>
          <p:cNvSpPr txBox="1"/>
          <p:nvPr>
            <p:ph idx="1" type="body"/>
          </p:nvPr>
        </p:nvSpPr>
        <p:spPr>
          <a:xfrm>
            <a:off x="290946" y="2286000"/>
            <a:ext cx="11568600" cy="4124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500"/>
              <a:buFont typeface="Noto Sans Symbols"/>
              <a:buChar char="❖"/>
            </a:pPr>
            <a:r>
              <a:rPr lang="es-AR" sz="2600"/>
              <a:t>Reemplazamos el nodo por un nuevo </a:t>
            </a:r>
            <a:r>
              <a:rPr lang="es-AR" sz="2600">
                <a:solidFill>
                  <a:srgbClr val="66B0FF"/>
                </a:solidFill>
                <a:latin typeface="Roboto Mono"/>
                <a:ea typeface="Roboto Mono"/>
                <a:cs typeface="Roboto Mono"/>
                <a:sym typeface="Roboto Mono"/>
              </a:rPr>
              <a:t>PriorityLinkedNode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AR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s-AR" sz="2600"/>
              <a:t>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Igual que antes pero incluye </a:t>
            </a:r>
            <a:r>
              <a:rPr lang="es-AR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AR" sz="2600">
                <a:solidFill>
                  <a:srgbClr val="43F5FF"/>
                </a:solidFill>
                <a:latin typeface="Roboto Mono"/>
                <a:ea typeface="Roboto Mono"/>
                <a:cs typeface="Roboto Mono"/>
                <a:sym typeface="Roboto Mono"/>
              </a:rPr>
              <a:t>priority</a:t>
            </a:r>
            <a:r>
              <a:rPr lang="es-AR" sz="2600"/>
              <a:t>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getHighestPriority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()</a:t>
            </a:r>
            <a:r>
              <a:rPr lang="es-AR" sz="2600"/>
              <a:t> devuelve la </a:t>
            </a:r>
            <a:r>
              <a:rPr lang="es-AR" sz="2600">
                <a:solidFill>
                  <a:srgbClr val="43F5FF"/>
                </a:solidFill>
                <a:latin typeface="Roboto Mono"/>
                <a:ea typeface="Roboto Mono"/>
                <a:cs typeface="Roboto Mono"/>
                <a:sym typeface="Roboto Mono"/>
              </a:rPr>
              <a:t>priority</a:t>
            </a:r>
            <a:r>
              <a:rPr lang="es-AR" sz="2600"/>
              <a:t> del nodo </a:t>
            </a:r>
            <a:r>
              <a:rPr lang="es-AR" sz="2600">
                <a:solidFill>
                  <a:srgbClr val="43F5FF"/>
                </a:solidFill>
                <a:latin typeface="Roboto Mono"/>
                <a:ea typeface="Roboto Mono"/>
                <a:cs typeface="Roboto Mono"/>
                <a:sym typeface="Roboto Mono"/>
              </a:rPr>
              <a:t>first</a:t>
            </a:r>
            <a:r>
              <a:rPr lang="es-AR" sz="2600"/>
              <a:t>.</a:t>
            </a:r>
            <a:endParaRPr sz="2600"/>
          </a:p>
        </p:txBody>
      </p:sp>
      <p:sp>
        <p:nvSpPr>
          <p:cNvPr id="177" name="Google Shape;177;g39712bde053_0_165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IMPLEMENTACIÓN DINÁMICA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97368fd739_0_15"/>
          <p:cNvSpPr txBox="1"/>
          <p:nvPr>
            <p:ph idx="1" type="body"/>
          </p:nvPr>
        </p:nvSpPr>
        <p:spPr>
          <a:xfrm>
            <a:off x="290946" y="2286000"/>
            <a:ext cx="11568600" cy="4124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500"/>
              <a:buFont typeface="Noto Sans Symbols"/>
              <a:buChar char="❖"/>
            </a:pPr>
            <a:r>
              <a:rPr lang="es-AR" sz="2600"/>
              <a:t>En enqueue, si la cola está vacía el nodo es </a:t>
            </a:r>
            <a:r>
              <a:rPr lang="es-AR" sz="2600">
                <a:solidFill>
                  <a:srgbClr val="43F5FF"/>
                </a:solidFill>
                <a:latin typeface="Roboto Mono"/>
                <a:ea typeface="Roboto Mono"/>
                <a:cs typeface="Roboto Mono"/>
                <a:sym typeface="Roboto Mono"/>
              </a:rPr>
              <a:t>first</a:t>
            </a:r>
            <a:r>
              <a:rPr lang="es-AR" sz="2600"/>
              <a:t> y </a:t>
            </a:r>
            <a:r>
              <a:rPr lang="es-AR" sz="2600">
                <a:solidFill>
                  <a:srgbClr val="43F5FF"/>
                </a:solidFill>
                <a:latin typeface="Roboto Mono"/>
                <a:ea typeface="Roboto Mono"/>
                <a:cs typeface="Roboto Mono"/>
                <a:sym typeface="Roboto Mono"/>
              </a:rPr>
              <a:t>last</a:t>
            </a:r>
            <a:r>
              <a:rPr lang="es-AR" sz="2600"/>
              <a:t>.</a:t>
            </a:r>
            <a:endParaRPr sz="2600"/>
          </a:p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500"/>
              <a:buFont typeface="Noto Sans Symbols"/>
              <a:buChar char="❖"/>
            </a:pPr>
            <a:r>
              <a:rPr lang="es-AR" sz="2600"/>
              <a:t>Si no, hacemos un bucle conceptualmente similar a la estática.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En lugar de usar </a:t>
            </a:r>
            <a:r>
              <a:rPr lang="es-AR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s-AR" sz="2600"/>
              <a:t> e </a:t>
            </a:r>
            <a:r>
              <a:rPr lang="es-AR" sz="2600"/>
              <a:t>índices, usamos </a:t>
            </a:r>
            <a:r>
              <a:rPr lang="es-AR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while</a:t>
            </a:r>
            <a:r>
              <a:rPr lang="es-AR" sz="2600"/>
              <a:t> con </a:t>
            </a:r>
            <a:r>
              <a:rPr lang="es-AR" sz="2600">
                <a:solidFill>
                  <a:srgbClr val="FFFF00"/>
                </a:solidFill>
                <a:latin typeface="Roboto Mono"/>
                <a:ea typeface="Roboto Mono"/>
                <a:cs typeface="Roboto Mono"/>
                <a:sym typeface="Roboto Mono"/>
              </a:rPr>
              <a:t>current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 = </a:t>
            </a:r>
            <a:r>
              <a:rPr lang="es-AR" sz="2600">
                <a:solidFill>
                  <a:srgbClr val="43F5FF"/>
                </a:solidFill>
                <a:latin typeface="Roboto Mono"/>
                <a:ea typeface="Roboto Mono"/>
                <a:cs typeface="Roboto Mono"/>
                <a:sym typeface="Roboto Mono"/>
              </a:rPr>
              <a:t>last</a:t>
            </a:r>
            <a:r>
              <a:rPr lang="es-AR" sz="2600"/>
              <a:t>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Iteramos mientras haya un </a:t>
            </a:r>
            <a:r>
              <a:rPr lang="es-AR" sz="2600">
                <a:solidFill>
                  <a:srgbClr val="43F5FF"/>
                </a:solidFill>
                <a:latin typeface="Roboto Mono"/>
                <a:ea typeface="Roboto Mono"/>
                <a:cs typeface="Roboto Mono"/>
                <a:sym typeface="Roboto Mono"/>
              </a:rPr>
              <a:t>prev</a:t>
            </a:r>
            <a:r>
              <a:rPr lang="es-AR" sz="2600"/>
              <a:t> y </a:t>
            </a:r>
            <a:r>
              <a:rPr lang="es-AR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priority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 &lt; </a:t>
            </a:r>
            <a:r>
              <a:rPr lang="es-AR" sz="2600">
                <a:solidFill>
                  <a:srgbClr val="FFFF00"/>
                </a:solidFill>
                <a:latin typeface="Roboto Mono"/>
                <a:ea typeface="Roboto Mono"/>
                <a:cs typeface="Roboto Mono"/>
                <a:sym typeface="Roboto Mono"/>
              </a:rPr>
              <a:t>current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-AR" sz="2600">
                <a:solidFill>
                  <a:srgbClr val="43F5FF"/>
                </a:solidFill>
                <a:latin typeface="Roboto Mono"/>
                <a:ea typeface="Roboto Mono"/>
                <a:cs typeface="Roboto Mono"/>
                <a:sym typeface="Roboto Mono"/>
              </a:rPr>
              <a:t>priority</a:t>
            </a:r>
            <a:r>
              <a:rPr lang="es-AR" sz="2600"/>
              <a:t>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Si la nueva prioridad es mayor a la m</a:t>
            </a:r>
            <a:r>
              <a:rPr lang="es-AR" sz="2600"/>
              <a:t>ás alta, cambiamos </a:t>
            </a:r>
            <a:r>
              <a:rPr lang="es-AR" sz="2600">
                <a:solidFill>
                  <a:srgbClr val="43FFF5"/>
                </a:solidFill>
                <a:latin typeface="Roboto Mono"/>
                <a:ea typeface="Roboto Mono"/>
                <a:cs typeface="Roboto Mono"/>
                <a:sym typeface="Roboto Mono"/>
              </a:rPr>
              <a:t>first</a:t>
            </a:r>
            <a:r>
              <a:rPr lang="es-AR" sz="2600"/>
              <a:t>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Si no, insertamos luego de </a:t>
            </a:r>
            <a:r>
              <a:rPr lang="es-AR" sz="2600">
                <a:solidFill>
                  <a:srgbClr val="FFFF00"/>
                </a:solidFill>
                <a:latin typeface="Roboto Mono"/>
                <a:ea typeface="Roboto Mono"/>
                <a:cs typeface="Roboto Mono"/>
                <a:sym typeface="Roboto Mono"/>
              </a:rPr>
              <a:t>current</a:t>
            </a:r>
            <a:r>
              <a:rPr lang="es-AR" sz="2600"/>
              <a:t> y reconectamos nodos.</a:t>
            </a:r>
            <a:endParaRPr sz="2600"/>
          </a:p>
        </p:txBody>
      </p:sp>
      <p:sp>
        <p:nvSpPr>
          <p:cNvPr id="183" name="Google Shape;183;g397368fd739_0_15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IMPLEMENTACIÓN DINÁMICA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Quotable">
  <a:themeElements>
    <a:clrScheme name="Quotable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0A0978C92AED346A5B2D7523A4F38C1" ma:contentTypeVersion="11" ma:contentTypeDescription="Create a new document." ma:contentTypeScope="" ma:versionID="9b7c089625d03db1c6ed6f35da32867c">
  <xsd:schema xmlns:xsd="http://www.w3.org/2001/XMLSchema" xmlns:xs="http://www.w3.org/2001/XMLSchema" xmlns:p="http://schemas.microsoft.com/office/2006/metadata/properties" xmlns:ns2="6817ed02-5f63-452f-a9ab-4e2e87cdde74" xmlns:ns3="d9712c82-8ca0-418e-ada4-f7c700f483f3" targetNamespace="http://schemas.microsoft.com/office/2006/metadata/properties" ma:root="true" ma:fieldsID="3a7b83f13e99b01aa6e51fa71a333831" ns2:_="" ns3:_="">
    <xsd:import namespace="6817ed02-5f63-452f-a9ab-4e2e87cdde74"/>
    <xsd:import namespace="d9712c82-8ca0-418e-ada4-f7c700f483f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17ed02-5f63-452f-a9ab-4e2e87cdde7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80f935f-056e-43d0-a9c3-6f0a0280ba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712c82-8ca0-418e-ada4-f7c700f483f3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afaab1de-4294-47d5-a1a3-1b1d16ca90d5}" ma:internalName="TaxCatchAll" ma:showField="CatchAllData" ma:web="d9712c82-8ca0-418e-ada4-f7c700f483f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817ed02-5f63-452f-a9ab-4e2e87cdde74">
      <Terms xmlns="http://schemas.microsoft.com/office/infopath/2007/PartnerControls"/>
    </lcf76f155ced4ddcb4097134ff3c332f>
    <TaxCatchAll xmlns="d9712c82-8ca0-418e-ada4-f7c700f483f3" xsi:nil="true"/>
  </documentManagement>
</p:properties>
</file>

<file path=customXml/itemProps1.xml><?xml version="1.0" encoding="utf-8"?>
<ds:datastoreItem xmlns:ds="http://schemas.openxmlformats.org/officeDocument/2006/customXml" ds:itemID="{FC3AFDF7-36D2-4F32-90E8-F24B89C4568B}"/>
</file>

<file path=customXml/itemProps2.xml><?xml version="1.0" encoding="utf-8"?>
<ds:datastoreItem xmlns:ds="http://schemas.openxmlformats.org/officeDocument/2006/customXml" ds:itemID="{62504523-F4D4-4D31-B8AB-903698647733}"/>
</file>

<file path=customXml/itemProps3.xml><?xml version="1.0" encoding="utf-8"?>
<ds:datastoreItem xmlns:ds="http://schemas.openxmlformats.org/officeDocument/2006/customXml" ds:itemID="{70369EE2-8E9C-4B22-963F-A0B7BF6C4FAE}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Federico Pardo</dc:creator>
  <dcterms:created xsi:type="dcterms:W3CDTF">2018-04-10T17:58:03Z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0x010100B0A0978C92AED346A5B2D7523A4F38C1</vt:lpwstr>
  </property>
</Properties>
</file>