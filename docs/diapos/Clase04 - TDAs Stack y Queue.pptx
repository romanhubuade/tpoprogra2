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Roboto Mono"/>
      <p:regular r:id="rId27"/>
      <p:bold r:id="rId28"/>
      <p:italic r:id="rId29"/>
      <p:boldItalic r:id="rId30"/>
    </p:embeddedFont>
    <p:embeddedFont>
      <p:font typeface="Century Gothic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jiiYg3hALW5P1vov/jtDTNTjXN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4" Type="http://schemas.openxmlformats.org/officeDocument/2006/relationships/font" Target="fonts/CenturyGothic-boldItalic.fntdata"/><Relationship Id="rId25" Type="http://schemas.openxmlformats.org/officeDocument/2006/relationships/slide" Target="slides/slide20.xml"/><Relationship Id="rId7" Type="http://schemas.openxmlformats.org/officeDocument/2006/relationships/slide" Target="slides/slide2.xml"/><Relationship Id="rId33" Type="http://schemas.openxmlformats.org/officeDocument/2006/relationships/font" Target="fonts/CenturyGothic-italic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schemas.openxmlformats.org/officeDocument/2006/relationships/customXml" Target="../customXml/item3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font" Target="fonts/RobotoMono-italic.fntdata"/><Relationship Id="rId16" Type="http://schemas.openxmlformats.org/officeDocument/2006/relationships/slide" Target="slides/slide11.xml"/><Relationship Id="rId24" Type="http://schemas.openxmlformats.org/officeDocument/2006/relationships/slide" Target="slides/slide19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font" Target="fonts/CenturyGothic-bold.fntdata"/><Relationship Id="rId37" Type="http://schemas.openxmlformats.org/officeDocument/2006/relationships/customXml" Target="../customXml/item2.xml"/><Relationship Id="rId23" Type="http://schemas.openxmlformats.org/officeDocument/2006/relationships/slide" Target="slides/slide18.xml"/><Relationship Id="rId28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customXml" Target="../customXml/item1.xml"/><Relationship Id="rId31" Type="http://schemas.openxmlformats.org/officeDocument/2006/relationships/font" Target="fonts/CenturyGothic-regular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RobotoMono-regular.fntdata"/><Relationship Id="rId30" Type="http://schemas.openxmlformats.org/officeDocument/2006/relationships/font" Target="fonts/RobotoMono-boldItalic.fntdata"/><Relationship Id="rId35" Type="http://customschemas.google.com/relationships/presentationmetadata" Target="metadata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3" Type="http://schemas.openxmlformats.org/officeDocument/2006/relationships/presProps" Target="presProps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419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3a7326b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63a7326b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506c0aff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d506c0aff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506c0aff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d506c0aff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506c0aff5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d506c0aff5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506c0aff5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d506c0aff5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506c0aff5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d506c0aff5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506c0aff5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d506c0aff5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506c0aff5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d506c0aff5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506c0aff5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d506c0aff5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506c0aff5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d506c0aff5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6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7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9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0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1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1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1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3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3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3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4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4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4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5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5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5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6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6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6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46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7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7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7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8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8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4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9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9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9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419"/>
              <a:t>Stack y Queue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1" lang="es-419" sz="4000">
                <a:solidFill>
                  <a:srgbClr val="A5A5A5"/>
                </a:solidFill>
              </a:rPr>
              <a:t>Programación II</a:t>
            </a:r>
            <a:endParaRPr b="1" i="1" sz="4000">
              <a:solidFill>
                <a:srgbClr val="A5A5A5"/>
              </a:solidFill>
            </a:endParaRPr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3a7326bf7_0_0"/>
          <p:cNvSpPr txBox="1"/>
          <p:nvPr>
            <p:ph idx="4294967295" type="ctrTitle"/>
          </p:nvPr>
        </p:nvSpPr>
        <p:spPr>
          <a:xfrm>
            <a:off x="2426646" y="1872886"/>
            <a:ext cx="73386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419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FIFO y LIFO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FIFO y LIFO</a:t>
            </a:r>
            <a:endParaRPr/>
          </a:p>
        </p:txBody>
      </p:sp>
      <p:sp>
        <p:nvSpPr>
          <p:cNvPr id="132" name="Google Shape;132;p3"/>
          <p:cNvSpPr txBox="1"/>
          <p:nvPr>
            <p:ph idx="1" type="body"/>
          </p:nvPr>
        </p:nvSpPr>
        <p:spPr>
          <a:xfrm>
            <a:off x="300411" y="2323750"/>
            <a:ext cx="11591056" cy="429030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Son estrategias de acceso a datos en una colección.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Significan </a:t>
            </a:r>
            <a:r>
              <a:rPr b="1" lang="es-419" sz="2600">
                <a:solidFill>
                  <a:srgbClr val="FF7B61"/>
                </a:solidFill>
              </a:rPr>
              <a:t>First In, First Out</a:t>
            </a:r>
            <a:r>
              <a:rPr lang="es-419" sz="2600"/>
              <a:t> y </a:t>
            </a:r>
            <a:r>
              <a:rPr b="1" lang="es-419" sz="2600">
                <a:solidFill>
                  <a:srgbClr val="FF7B61"/>
                </a:solidFill>
              </a:rPr>
              <a:t>Last In, First Out</a:t>
            </a:r>
            <a:r>
              <a:rPr lang="es-419" sz="2600"/>
              <a:t> respectivamente.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FIFO y LIFO</a:t>
            </a:r>
            <a:endParaRPr/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286640" y="2323750"/>
            <a:ext cx="11591056" cy="113213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Según el orden</a:t>
            </a:r>
            <a:r>
              <a:rPr lang="es-419" sz="2600"/>
              <a:t> en el que los </a:t>
            </a:r>
            <a:r>
              <a:rPr lang="es-419" sz="2600">
                <a:solidFill>
                  <a:srgbClr val="FFFFFF"/>
                </a:solidFill>
              </a:rPr>
              <a:t>datos entran</a:t>
            </a:r>
            <a:r>
              <a:rPr lang="es-419" sz="2600"/>
              <a:t>, </a:t>
            </a:r>
            <a:r>
              <a:rPr lang="es-419" sz="2600">
                <a:solidFill>
                  <a:srgbClr val="FFFFFF"/>
                </a:solidFill>
              </a:rPr>
              <a:t>se elige </a:t>
            </a:r>
            <a:r>
              <a:rPr lang="es-419" sz="2600">
                <a:solidFill>
                  <a:srgbClr val="FFFFFF"/>
                </a:solidFill>
              </a:rPr>
              <a:t>cuál</a:t>
            </a:r>
            <a:r>
              <a:rPr lang="es-419" sz="2600">
                <a:solidFill>
                  <a:srgbClr val="FFFFFF"/>
                </a:solidFill>
              </a:rPr>
              <a:t> sale primero</a:t>
            </a:r>
            <a:r>
              <a:rPr lang="es-419" sz="2600"/>
              <a:t>.</a:t>
            </a:r>
            <a:endParaRPr/>
          </a:p>
        </p:txBody>
      </p:sp>
      <p:pic>
        <p:nvPicPr>
          <p:cNvPr descr="A diagram of a diagram&#10;&#10;AI-generated content may be incorrect.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8494" y="3431243"/>
            <a:ext cx="5967470" cy="310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FIFO y LIFO</a:t>
            </a:r>
            <a:endParaRPr/>
          </a:p>
        </p:txBody>
      </p:sp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286640" y="2323750"/>
            <a:ext cx="11591056" cy="113213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FFFF"/>
                </a:solidFill>
              </a:rPr>
              <a:t>Existen TDAs</a:t>
            </a:r>
            <a:r>
              <a:rPr lang="es-419" sz="2600"/>
              <a:t> para estas estrategias: </a:t>
            </a:r>
            <a:r>
              <a:rPr b="1" lang="es-419" sz="2600">
                <a:solidFill>
                  <a:srgbClr val="FF7B61"/>
                </a:solidFill>
              </a:rPr>
              <a:t>Stack </a:t>
            </a:r>
            <a:r>
              <a:rPr lang="es-419" sz="2600">
                <a:solidFill>
                  <a:srgbClr val="FFFFFF"/>
                </a:solidFill>
              </a:rPr>
              <a:t>y </a:t>
            </a:r>
            <a:r>
              <a:rPr b="1" lang="es-419" sz="2600">
                <a:solidFill>
                  <a:srgbClr val="FF7B61"/>
                </a:solidFill>
              </a:rPr>
              <a:t>Queue</a:t>
            </a:r>
            <a:r>
              <a:rPr lang="es-419" sz="2600"/>
              <a:t>.</a:t>
            </a:r>
            <a:endParaRPr/>
          </a:p>
        </p:txBody>
      </p:sp>
      <p:pic>
        <p:nvPicPr>
          <p:cNvPr descr="A diagram of a few steps&#10;&#10;AI-generated content may be incorrect."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4228" y="3431242"/>
            <a:ext cx="6100593" cy="3103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idx="4294967295" type="ctrTitle"/>
          </p:nvPr>
        </p:nvSpPr>
        <p:spPr>
          <a:xfrm>
            <a:off x="2426646" y="1872886"/>
            <a:ext cx="73386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419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STACK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STACK</a:t>
            </a:r>
            <a:endParaRPr/>
          </a:p>
        </p:txBody>
      </p:sp>
      <p:sp>
        <p:nvSpPr>
          <p:cNvPr id="157" name="Google Shape;157;p12"/>
          <p:cNvSpPr txBox="1"/>
          <p:nvPr>
            <p:ph idx="1" type="body"/>
          </p:nvPr>
        </p:nvSpPr>
        <p:spPr>
          <a:xfrm>
            <a:off x="286640" y="2323750"/>
            <a:ext cx="11591056" cy="429030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Aplica la estrategia </a:t>
            </a:r>
            <a:r>
              <a:rPr b="1" lang="es-419" sz="2600">
                <a:solidFill>
                  <a:srgbClr val="FF7B61"/>
                </a:solidFill>
              </a:rPr>
              <a:t>LIFO</a:t>
            </a:r>
            <a:r>
              <a:rPr lang="es-419" sz="2600"/>
              <a:t>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"Apila" los datos que entran, sale el que está "arriba".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STACK - FUNCIONES</a:t>
            </a: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286640" y="2323750"/>
            <a:ext cx="11591056" cy="429030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push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br>
              <a:rPr b="1" lang="es-419" sz="2600">
                <a:solidFill>
                  <a:srgbClr val="FF7B61"/>
                </a:solidFill>
              </a:rPr>
            </a:br>
            <a:r>
              <a:rPr lang="es-419" sz="2600">
                <a:solidFill>
                  <a:srgbClr val="FFFFFF"/>
                </a:solidFill>
              </a:rPr>
              <a:t>A</a:t>
            </a:r>
            <a:r>
              <a:rPr lang="es-419" sz="2600">
                <a:solidFill>
                  <a:srgbClr val="FFFFFF"/>
                </a:solidFill>
              </a:rPr>
              <a:t>grega</a:t>
            </a:r>
            <a:r>
              <a:rPr lang="es-419" sz="2600"/>
              <a:t> un elemento a la pila.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pop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br>
              <a:rPr b="1" lang="es-419" sz="2600">
                <a:solidFill>
                  <a:srgbClr val="FF7B61"/>
                </a:solidFill>
              </a:rPr>
            </a:br>
            <a:r>
              <a:rPr lang="es-419" sz="2600">
                <a:solidFill>
                  <a:srgbClr val="FFFFFF"/>
                </a:solidFill>
              </a:rPr>
              <a:t>D</a:t>
            </a:r>
            <a:r>
              <a:rPr lang="es-419" sz="2600">
                <a:solidFill>
                  <a:srgbClr val="FFFFFF"/>
                </a:solidFill>
              </a:rPr>
              <a:t>evuelve el último elemento de la pila y lo remueve.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peek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br>
              <a:rPr b="1" lang="es-419" sz="2600">
                <a:solidFill>
                  <a:srgbClr val="FF7B61"/>
                </a:solidFill>
              </a:rPr>
            </a:br>
            <a:r>
              <a:rPr lang="es-419" sz="2600"/>
              <a:t>D</a:t>
            </a:r>
            <a:r>
              <a:rPr lang="es-419" sz="2600"/>
              <a:t>evuelve el último elemento de la pila sin removerlo.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>
            <p:ph idx="4294967295" type="ctrTitle"/>
          </p:nvPr>
        </p:nvSpPr>
        <p:spPr>
          <a:xfrm>
            <a:off x="2426646" y="1872886"/>
            <a:ext cx="73386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419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QUEUE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QUEUE</a:t>
            </a:r>
            <a:endParaRPr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286640" y="2323750"/>
            <a:ext cx="11591056" cy="429030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Aplica la estrategia </a:t>
            </a:r>
            <a:r>
              <a:rPr b="1" lang="es-419" sz="2600">
                <a:solidFill>
                  <a:srgbClr val="FF7B61"/>
                </a:solidFill>
              </a:rPr>
              <a:t>FIFO</a:t>
            </a:r>
            <a:r>
              <a:rPr lang="es-419" sz="2600"/>
              <a:t>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"Encuela" los datos que entran, sale el que entró primero.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506c0aff5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TDA QUEUE - FUNCIONES</a:t>
            </a:r>
            <a:endParaRPr/>
          </a:p>
        </p:txBody>
      </p:sp>
      <p:sp>
        <p:nvSpPr>
          <p:cNvPr id="180" name="Google Shape;180;g3d506c0aff5_0_0"/>
          <p:cNvSpPr txBox="1"/>
          <p:nvPr>
            <p:ph idx="1" type="body"/>
          </p:nvPr>
        </p:nvSpPr>
        <p:spPr>
          <a:xfrm>
            <a:off x="286640" y="2323750"/>
            <a:ext cx="11591100" cy="42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enqueue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419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br>
              <a:rPr b="1" lang="es-419" sz="2600">
                <a:solidFill>
                  <a:srgbClr val="FF7B61"/>
                </a:solidFill>
              </a:rPr>
            </a:br>
            <a:r>
              <a:rPr lang="es-419" sz="2600">
                <a:solidFill>
                  <a:srgbClr val="FFFFFF"/>
                </a:solidFill>
              </a:rPr>
              <a:t>Agrega</a:t>
            </a:r>
            <a:r>
              <a:rPr lang="es-419" sz="2600"/>
              <a:t> un elemento a la cola.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dequeue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br>
              <a:rPr b="1" lang="es-419" sz="2600">
                <a:solidFill>
                  <a:srgbClr val="FF7B61"/>
                </a:solidFill>
              </a:rPr>
            </a:br>
            <a:r>
              <a:rPr lang="es-419" sz="2600">
                <a:solidFill>
                  <a:srgbClr val="FFFFFF"/>
                </a:solidFill>
              </a:rPr>
              <a:t>Devuelve el primer elemento de la cola y lo remueve.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peek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br>
              <a:rPr b="1" lang="es-419" sz="2600">
                <a:solidFill>
                  <a:srgbClr val="FF7B61"/>
                </a:solidFill>
              </a:rPr>
            </a:br>
            <a:r>
              <a:rPr lang="es-419" sz="2600"/>
              <a:t>Devuelve el primer elemento de la cola sin removerlo.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idx="4294967295" type="ctrTitle"/>
          </p:nvPr>
        </p:nvSpPr>
        <p:spPr>
          <a:xfrm>
            <a:off x="2426646" y="1872886"/>
            <a:ext cx="73386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419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FUNCIONES COMUNES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FUNCIONES COMUNES</a:t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286640" y="2323750"/>
            <a:ext cx="11591056" cy="429030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clear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: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r>
              <a:rPr lang="es-419" sz="2600"/>
              <a:t>vacía la pila / cola.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int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size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: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r>
              <a:rPr lang="es-419" sz="2600"/>
              <a:t>devuelve la cantidad de elementos.</a:t>
            </a:r>
            <a:endParaRPr sz="26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boolean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isEmpty</a:t>
            </a:r>
            <a:r>
              <a:rPr lang="es-419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s-419" sz="2600"/>
              <a:t>:</a:t>
            </a:r>
            <a:r>
              <a:rPr b="1" lang="es-419" sz="2600">
                <a:solidFill>
                  <a:srgbClr val="FF7B61"/>
                </a:solidFill>
              </a:rPr>
              <a:t> </a:t>
            </a:r>
            <a:r>
              <a:rPr lang="es-419" sz="2600">
                <a:solidFill>
                  <a:srgbClr val="FFFFFF"/>
                </a:solidFill>
              </a:rPr>
              <a:t>devuelve si la pila/ cola est</a:t>
            </a:r>
            <a:r>
              <a:rPr lang="es-419" sz="2600">
                <a:solidFill>
                  <a:srgbClr val="FFFFFF"/>
                </a:solidFill>
              </a:rPr>
              <a:t>á vacía.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506c0aff5_0_5"/>
          <p:cNvSpPr txBox="1"/>
          <p:nvPr>
            <p:ph idx="4294967295" type="ctrTitle"/>
          </p:nvPr>
        </p:nvSpPr>
        <p:spPr>
          <a:xfrm>
            <a:off x="2165850" y="1872900"/>
            <a:ext cx="7860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419" sz="6600">
                <a:solidFill>
                  <a:srgbClr val="43FFF5"/>
                </a:solidFill>
              </a:rPr>
              <a:t>IMPLEMENTACIÓN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506c0aff5_0_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IMPLEMENTACI</a:t>
            </a:r>
            <a:r>
              <a:rPr lang="es-419"/>
              <a:t>ÓN - GENERAL</a:t>
            </a:r>
            <a:endParaRPr/>
          </a:p>
        </p:txBody>
      </p:sp>
      <p:sp>
        <p:nvSpPr>
          <p:cNvPr id="202" name="Google Shape;202;g3d506c0aff5_0_9"/>
          <p:cNvSpPr txBox="1"/>
          <p:nvPr>
            <p:ph idx="1" type="body"/>
          </p:nvPr>
        </p:nvSpPr>
        <p:spPr>
          <a:xfrm>
            <a:off x="286640" y="2323750"/>
            <a:ext cx="11591100" cy="42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Java tiene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Stack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 y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Queue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Stack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 es una </a:t>
            </a:r>
            <a:r>
              <a:rPr lang="es-419" sz="2600">
                <a:solidFill>
                  <a:srgbClr val="FF7B61"/>
                </a:solidFill>
              </a:rPr>
              <a:t>clase</a:t>
            </a:r>
            <a:r>
              <a:rPr lang="es-419" sz="2600"/>
              <a:t> deprecada, su reemplazo es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Deque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Queue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 es una </a:t>
            </a:r>
            <a:r>
              <a:rPr lang="es-419" sz="2600">
                <a:solidFill>
                  <a:srgbClr val="FF7B61"/>
                </a:solidFill>
              </a:rPr>
              <a:t>interfaz</a:t>
            </a:r>
            <a:r>
              <a:rPr lang="es-419" sz="2600"/>
              <a:t> y se mantiene en uso.</a:t>
            </a:r>
            <a:endParaRPr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506c0aff5_0_1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IMPLEMENTACIÓN - GENERAL</a:t>
            </a:r>
            <a:endParaRPr/>
          </a:p>
        </p:txBody>
      </p:sp>
      <p:sp>
        <p:nvSpPr>
          <p:cNvPr id="208" name="Google Shape;208;g3d506c0aff5_0_14"/>
          <p:cNvSpPr txBox="1"/>
          <p:nvPr>
            <p:ph idx="1" type="body"/>
          </p:nvPr>
        </p:nvSpPr>
        <p:spPr>
          <a:xfrm>
            <a:off x="286640" y="2323750"/>
            <a:ext cx="11591100" cy="42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Vamos a implementar ambos TDAs de una forma “pura”, no Java.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Interfaces: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SimpleStack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 </a:t>
            </a:r>
            <a:r>
              <a:rPr lang="es-419" sz="2600"/>
              <a:t>y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SimpleQueue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Clases Stack: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SimpleArrayStack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 y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SimpleLinkedStack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Clases Queue: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SimpleArrayQueue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 y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SimpleLinkedQueue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No tenemos en cuenta la “forma Java” para tipos de retorno.</a:t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506c0aff5_0_1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IMPLEMENTACIÓN - GENERAL</a:t>
            </a:r>
            <a:endParaRPr/>
          </a:p>
        </p:txBody>
      </p:sp>
      <p:sp>
        <p:nvSpPr>
          <p:cNvPr id="214" name="Google Shape;214;g3d506c0aff5_0_19"/>
          <p:cNvSpPr txBox="1"/>
          <p:nvPr>
            <p:ph idx="1" type="body"/>
          </p:nvPr>
        </p:nvSpPr>
        <p:spPr>
          <a:xfrm>
            <a:off x="286640" y="2323750"/>
            <a:ext cx="11591100" cy="42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Las implementaciones de Stack y Queue son casi idénticas.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Lo único que cambia es si se saca el primer o último elemento.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Esto aplica para implementaciones estáticas y dinámicas.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FF7B61"/>
                </a:solidFill>
              </a:rPr>
              <a:t>No vale usar una Lista internamente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Debemos duplicar el código que tengan en común.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NoSuchElementException</a:t>
            </a:r>
            <a:r>
              <a:rPr lang="es-419" sz="2600"/>
              <a:t> si se quiere leer de una estructura vacía.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506c0aff5_0_24"/>
          <p:cNvSpPr txBox="1"/>
          <p:nvPr>
            <p:ph idx="4294967295" type="ctrTitle"/>
          </p:nvPr>
        </p:nvSpPr>
        <p:spPr>
          <a:xfrm>
            <a:off x="2165850" y="1872900"/>
            <a:ext cx="7860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419" sz="6600">
                <a:solidFill>
                  <a:srgbClr val="43FFF5"/>
                </a:solidFill>
              </a:rPr>
              <a:t>IMPLEMENTACIÓN EST</a:t>
            </a:r>
            <a:r>
              <a:rPr lang="es-419" sz="6600">
                <a:solidFill>
                  <a:srgbClr val="43FFF5"/>
                </a:solidFill>
              </a:rPr>
              <a:t>ÁTICA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506c0aff5_0_2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IMPLEMENTACIÓN EST</a:t>
            </a:r>
            <a:r>
              <a:rPr lang="es-419"/>
              <a:t>ÁTICA</a:t>
            </a:r>
            <a:endParaRPr/>
          </a:p>
        </p:txBody>
      </p:sp>
      <p:sp>
        <p:nvSpPr>
          <p:cNvPr id="225" name="Google Shape;225;g3d506c0aff5_0_28"/>
          <p:cNvSpPr txBox="1"/>
          <p:nvPr>
            <p:ph idx="1" type="body"/>
          </p:nvPr>
        </p:nvSpPr>
        <p:spPr>
          <a:xfrm>
            <a:off x="286640" y="2323750"/>
            <a:ext cx="11591100" cy="42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Internamente usamos un array.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Vuelven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elements</a:t>
            </a:r>
            <a:r>
              <a:rPr lang="es-419" sz="2600"/>
              <a:t>,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419" sz="2600"/>
              <a:t> y </a:t>
            </a:r>
            <a:r>
              <a:rPr b="1" i="1"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DEFAULT_CAPACITY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Vuelven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validateSize</a:t>
            </a:r>
            <a:r>
              <a:rPr lang="es-419" sz="2600"/>
              <a:t> y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resize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Funcionan igual que como las vimos en List.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506c0aff5_0_33"/>
          <p:cNvSpPr txBox="1"/>
          <p:nvPr>
            <p:ph idx="4294967295" type="ctrTitle"/>
          </p:nvPr>
        </p:nvSpPr>
        <p:spPr>
          <a:xfrm>
            <a:off x="2165850" y="1872900"/>
            <a:ext cx="7860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419" sz="6600">
                <a:solidFill>
                  <a:srgbClr val="43FFF5"/>
                </a:solidFill>
              </a:rPr>
              <a:t>IMPLEMENTACIÓN DIN</a:t>
            </a:r>
            <a:r>
              <a:rPr lang="es-419" sz="6600">
                <a:solidFill>
                  <a:srgbClr val="43FFF5"/>
                </a:solidFill>
              </a:rPr>
              <a:t>ÁMICA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506c0aff5_0_3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IMPLEMENTACIÓN DIN</a:t>
            </a:r>
            <a:r>
              <a:rPr lang="es-419"/>
              <a:t>ÁMICA</a:t>
            </a:r>
            <a:endParaRPr/>
          </a:p>
        </p:txBody>
      </p:sp>
      <p:sp>
        <p:nvSpPr>
          <p:cNvPr id="236" name="Google Shape;236;g3d506c0aff5_0_37"/>
          <p:cNvSpPr txBox="1"/>
          <p:nvPr>
            <p:ph idx="1" type="body"/>
          </p:nvPr>
        </p:nvSpPr>
        <p:spPr>
          <a:xfrm>
            <a:off x="286640" y="2323750"/>
            <a:ext cx="11591100" cy="429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lang="es-419" sz="2600"/>
              <a:t>Internamente usamos nodos enlazados.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Podemos importar y reutilizar </a:t>
            </a:r>
            <a:r>
              <a:rPr lang="es-419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LinkedNode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419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419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419" sz="2600"/>
              <a:t> tal cual est</a:t>
            </a:r>
            <a:r>
              <a:rPr lang="es-419" sz="2600"/>
              <a:t>á.</a:t>
            </a:r>
            <a:r>
              <a:rPr lang="es-419" sz="2600"/>
              <a:t> 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Se podría optimizar el Stack enlazando sólo al nodo anterior.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Vuelven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es-419" sz="2600"/>
              <a:t> (sólo Queue)</a:t>
            </a:r>
            <a:r>
              <a:rPr lang="es-419" sz="2600"/>
              <a:t>,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last</a:t>
            </a:r>
            <a:r>
              <a:rPr lang="es-419" sz="2600"/>
              <a:t> y </a:t>
            </a:r>
            <a:r>
              <a:rPr lang="es-419" sz="2600">
                <a:solidFill>
                  <a:srgbClr val="7FECFF"/>
                </a:solidFill>
                <a:latin typeface="Roboto Mono"/>
                <a:ea typeface="Roboto Mono"/>
                <a:cs typeface="Roboto Mono"/>
                <a:sym typeface="Roboto Mono"/>
              </a:rPr>
              <a:t>size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/>
              <a:t>Vuelve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es-419" sz="2600"/>
              <a:t> sin </a:t>
            </a:r>
            <a:r>
              <a:rPr lang="es-419" sz="2600"/>
              <a:t>í</a:t>
            </a:r>
            <a:r>
              <a:rPr lang="es-419" sz="2600"/>
              <a:t>ndice renombrada a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push</a:t>
            </a:r>
            <a:r>
              <a:rPr lang="es-419" sz="2600"/>
              <a:t>/</a:t>
            </a:r>
            <a:r>
              <a:rPr lang="es-419" sz="2600">
                <a:solidFill>
                  <a:srgbClr val="00CF37"/>
                </a:solidFill>
              </a:rPr>
              <a:t>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enqueue</a:t>
            </a:r>
            <a:r>
              <a:rPr lang="es-419" sz="2600"/>
              <a:t>.</a:t>
            </a:r>
            <a:endParaRPr sz="2600"/>
          </a:p>
          <a:p>
            <a:pPr indent="-3048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pop</a:t>
            </a:r>
            <a:r>
              <a:rPr lang="es-419" sz="2600"/>
              <a:t>/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dequeue</a:t>
            </a:r>
            <a:r>
              <a:rPr lang="es-419" sz="2600"/>
              <a:t>/ </a:t>
            </a:r>
            <a:r>
              <a:rPr lang="es-419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peek</a:t>
            </a:r>
            <a:r>
              <a:rPr lang="es-419" sz="2600"/>
              <a:t> son m</a:t>
            </a:r>
            <a:r>
              <a:rPr lang="es-419" sz="2600"/>
              <a:t>ás sencillas porque no hay búsqueda.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15F35F9D-D74D-4E2D-8CC6-D56575FFD496}"/>
</file>

<file path=customXml/itemProps2.xml><?xml version="1.0" encoding="utf-8"?>
<ds:datastoreItem xmlns:ds="http://schemas.openxmlformats.org/officeDocument/2006/customXml" ds:itemID="{B2DC0850-4E12-43CB-A5EA-3641F5C23BAA}"/>
</file>

<file path=customXml/itemProps3.xml><?xml version="1.0" encoding="utf-8"?>
<ds:datastoreItem xmlns:ds="http://schemas.openxmlformats.org/officeDocument/2006/customXml" ds:itemID="{CE545C23-8A71-42CA-9A18-F2DC12E66D0C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