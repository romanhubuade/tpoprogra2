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1fCIMJotFzxL6RcJeZ3k65uva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3.xml"/><Relationship Id="rId21" Type="http://schemas.openxmlformats.org/officeDocument/2006/relationships/font" Target="fonts/CenturyGothic-italic.fntdata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2.xml"/><Relationship Id="rId20" Type="http://schemas.openxmlformats.org/officeDocument/2006/relationships/font" Target="fonts/CenturyGothic-bold.fntdata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24" Type="http://schemas.openxmlformats.org/officeDocument/2006/relationships/customXml" Target="../customXml/item1.xml"/><Relationship Id="rId23" Type="http://customschemas.google.com/relationships/presentationmetadata" Target="metadata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font" Target="fonts/CenturyGothic-regular.fntdata"/><Relationship Id="rId22" Type="http://schemas.openxmlformats.org/officeDocument/2006/relationships/font" Target="fonts/CenturyGothic-bold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5b98ee8b6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95b98ee8b6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5b98ee8b6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95b98ee8b6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5b98ee8b6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95b98ee8b6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5b98ee8b6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95b98ee8b6_1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5ce9e650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95ce9e650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5ce9e650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95ce9e650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5ce9e6506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95ce9e6506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5ce9e650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95ce9e6506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5ce9e650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95ce9e650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5ce9e6506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95ce9e650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kklein@uade.edu.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Presentación de la Materia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idx="4294967295" type="ctrTitle"/>
          </p:nvPr>
        </p:nvSpPr>
        <p:spPr>
          <a:xfrm>
            <a:off x="2024864" y="1872886"/>
            <a:ext cx="8532299" cy="311222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OBJETIVOS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OBJETIVOS</a:t>
            </a:r>
            <a:endParaRPr/>
          </a:p>
        </p:txBody>
      </p:sp>
      <p:sp>
        <p:nvSpPr>
          <p:cNvPr id="132" name="Google Shape;132;p54"/>
          <p:cNvSpPr txBox="1"/>
          <p:nvPr>
            <p:ph idx="1" type="body"/>
          </p:nvPr>
        </p:nvSpPr>
        <p:spPr>
          <a:xfrm>
            <a:off x="288981" y="2326106"/>
            <a:ext cx="11604803" cy="427509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Comprender y saber utilizar los </a:t>
            </a:r>
            <a:r>
              <a:rPr b="1" lang="es-AR" sz="2600">
                <a:solidFill>
                  <a:srgbClr val="FF7B61"/>
                </a:solidFill>
              </a:rPr>
              <a:t>Tipos de Dato Abstractos </a:t>
            </a:r>
            <a:r>
              <a:rPr b="1" i="1" lang="es-AR" sz="2600">
                <a:solidFill>
                  <a:srgbClr val="FF7B61"/>
                </a:solidFill>
              </a:rPr>
              <a:t>(TDAs)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Expresarlos en un lenguaje de programación.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Conocer la eficiencia de los algoritmos e implementaciones.</a:t>
            </a:r>
            <a:endParaRPr sz="2600">
              <a:solidFill>
                <a:srgbClr val="FF7B61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Resolver problemas utilizando TDAs.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Encarar el desarrollo de una aplicación pequeña.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5b98ee8b6_1_0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CONTENIDO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5b98ee8b6_1_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CONTENIDO</a:t>
            </a:r>
            <a:endParaRPr/>
          </a:p>
        </p:txBody>
      </p:sp>
      <p:sp>
        <p:nvSpPr>
          <p:cNvPr id="143" name="Google Shape;143;g395b98ee8b6_1_4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TDAs</a:t>
            </a:r>
            <a:r>
              <a:rPr b="1" lang="es-AR" sz="2600">
                <a:solidFill>
                  <a:srgbClr val="FF7B61"/>
                </a:solidFill>
              </a:rPr>
              <a:t>:</a:t>
            </a:r>
            <a:r>
              <a:rPr lang="es-AR" sz="2600"/>
              <a:t> concepto, especificación e implementación de TDAs.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Estructuras</a:t>
            </a:r>
            <a:r>
              <a:rPr b="1" lang="es-AR" sz="2600">
                <a:solidFill>
                  <a:srgbClr val="FF7B61"/>
                </a:solidFill>
              </a:rPr>
              <a:t>:</a:t>
            </a:r>
            <a:r>
              <a:rPr lang="es-AR" sz="2600"/>
              <a:t> Lista, Pila, Cola (Con Prioridad), Conjunto, Diccionarios, Árboles, BST, AVL y Grafos.  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Complejidad Algorítmica</a:t>
            </a:r>
            <a:r>
              <a:rPr b="1" lang="es-AR" sz="2600">
                <a:solidFill>
                  <a:srgbClr val="FF7B61"/>
                </a:solidFill>
              </a:rPr>
              <a:t>:</a:t>
            </a:r>
            <a:r>
              <a:rPr lang="es-AR" sz="2600"/>
              <a:t> foco en complejidad temporal.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5b98ee8b6_1_9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RÉGIMEN DE APROBACIÓN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5b98ee8b6_1_3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RÉGIMEN DE APROBACIÓN</a:t>
            </a:r>
            <a:endParaRPr/>
          </a:p>
        </p:txBody>
      </p:sp>
      <p:sp>
        <p:nvSpPr>
          <p:cNvPr id="154" name="Google Shape;154;g395b98ee8b6_1_38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Final Obligatorio</a:t>
            </a:r>
            <a:r>
              <a:rPr lang="es-AR" sz="2600"/>
              <a:t>: ejercicios prácticos escritos en el momento.</a:t>
            </a:r>
            <a:endParaRPr sz="2600"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Cursada</a:t>
            </a:r>
            <a:r>
              <a:rPr b="1" lang="es-AR" sz="2600">
                <a:solidFill>
                  <a:srgbClr val="FF7B61"/>
                </a:solidFill>
              </a:rPr>
              <a:t>:</a:t>
            </a:r>
            <a:r>
              <a:rPr lang="es-AR" sz="2600"/>
              <a:t> 2 Trabajos Prácticos.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AR" sz="2600"/>
              <a:t>Entrega grupal </a:t>
            </a:r>
            <a:r>
              <a:rPr lang="es-AR" sz="2600"/>
              <a:t>en la fecha de parcial </a:t>
            </a:r>
            <a:r>
              <a:rPr i="1" lang="es-AR" sz="2600">
                <a:solidFill>
                  <a:srgbClr val="FF7B61"/>
                </a:solidFill>
              </a:rPr>
              <a:t>(hasta 5 integrantes)</a:t>
            </a:r>
            <a:r>
              <a:rPr lang="es-AR" sz="2600"/>
              <a:t>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AR" sz="2600"/>
              <a:t>Sub-entregas semanales.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AR" sz="2600"/>
              <a:t>Defensa individual oral (preguntas teóricas y del trabajo). 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Nota de parcial:</a:t>
            </a:r>
            <a:r>
              <a:rPr lang="es-AR" sz="2600"/>
              <a:t> 40% escrito, 40% oral, 20% semanal.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Punto extra</a:t>
            </a:r>
            <a:r>
              <a:rPr b="1" lang="es-AR" sz="2600">
                <a:solidFill>
                  <a:srgbClr val="FF7B61"/>
                </a:solidFill>
              </a:rPr>
              <a:t>:</a:t>
            </a:r>
            <a:r>
              <a:rPr lang="es-AR" sz="2600"/>
              <a:t> equipos que expongan en una semana </a:t>
            </a:r>
            <a:r>
              <a:rPr lang="es-AR" sz="2600">
                <a:solidFill>
                  <a:srgbClr val="FF7B61"/>
                </a:solidFill>
              </a:rPr>
              <a:t>exitosamente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5ce9e6506_0_0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DINÁMICA DE CLASE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5ce9e6506_0_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DINÁMICA DE CLASE</a:t>
            </a:r>
            <a:endParaRPr/>
          </a:p>
        </p:txBody>
      </p:sp>
      <p:sp>
        <p:nvSpPr>
          <p:cNvPr id="165" name="Google Shape;165;g395ce9e6506_0_4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Revisión de TPs semanales</a:t>
            </a:r>
            <a:r>
              <a:rPr lang="es-AR" sz="2600"/>
              <a:t>: ~30 min.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AR" sz="2600"/>
              <a:t>Revisión de todos los equipos.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AR" sz="2600"/>
              <a:t>Posibilidad de un equipo para exponer su trabajo semanal.</a:t>
            </a:r>
            <a:endParaRPr sz="2600"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Presentación de tema nuevo + TP semanal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Recreo</a:t>
            </a:r>
            <a:r>
              <a:rPr lang="es-AR" sz="2600"/>
              <a:t>.</a:t>
            </a:r>
            <a:r>
              <a:rPr lang="es-AR" sz="2600"/>
              <a:t> 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Taller</a:t>
            </a:r>
            <a:r>
              <a:rPr b="1" lang="es-AR" sz="2600">
                <a:solidFill>
                  <a:srgbClr val="FF7B61"/>
                </a:solidFill>
              </a:rPr>
              <a:t>:</a:t>
            </a:r>
            <a:r>
              <a:rPr lang="es-AR" sz="2600"/>
              <a:t> trabajo sobre el TP semanal.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5ce9e6506_0_9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RECURSOS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5ce9e6506_0_1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RECURSOS</a:t>
            </a:r>
            <a:endParaRPr/>
          </a:p>
        </p:txBody>
      </p:sp>
      <p:sp>
        <p:nvSpPr>
          <p:cNvPr id="176" name="Google Shape;176;g395ce9e6506_0_13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Eclipse Editor + JDK</a:t>
            </a:r>
            <a:r>
              <a:rPr lang="es-AR" sz="2600"/>
              <a:t>. </a:t>
            </a:r>
            <a:endParaRPr sz="2600"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Diapositivas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Consignas de TPs</a:t>
            </a:r>
            <a:r>
              <a:rPr lang="es-AR" sz="2600"/>
              <a:t>. 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Grabaciones de Clase</a:t>
            </a:r>
            <a:r>
              <a:rPr lang="es-AR" sz="2600"/>
              <a:t> </a:t>
            </a:r>
            <a:r>
              <a:rPr i="1" lang="es-AR" sz="2600"/>
              <a:t>(duran 1 mes)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ce9e6506_0_18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CONSIDERACIONES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5ce9e6506_0_2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CONSIDERACIONES</a:t>
            </a:r>
            <a:endParaRPr/>
          </a:p>
        </p:txBody>
      </p:sp>
      <p:sp>
        <p:nvSpPr>
          <p:cNvPr id="187" name="Google Shape;187;g395ce9e6506_0_22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Consultas </a:t>
            </a:r>
            <a:r>
              <a:rPr lang="es-AR" sz="2600">
                <a:solidFill>
                  <a:srgbClr val="FF7B61"/>
                </a:solidFill>
              </a:rPr>
              <a:t>puntuales</a:t>
            </a:r>
            <a:r>
              <a:rPr lang="es-AR" sz="2600"/>
              <a:t> por chat de Teams o mail:</a:t>
            </a:r>
            <a:endParaRPr sz="2600"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➢"/>
            </a:pPr>
            <a:r>
              <a:rPr lang="es-AR" sz="2600">
                <a:uFill>
                  <a:noFill/>
                </a:uFill>
                <a:hlinkClick r:id="rId3"/>
              </a:rPr>
              <a:t>kklein@uade.edu.ar</a:t>
            </a:r>
            <a:endParaRPr sz="2600"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➢"/>
            </a:pPr>
            <a:r>
              <a:rPr lang="es-AR" sz="2600"/>
              <a:t>Se recomienda incluir screenshots de código/ consola.</a:t>
            </a:r>
            <a:endParaRPr sz="2600"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➢"/>
            </a:pPr>
            <a:r>
              <a:rPr lang="es-AR" sz="2600"/>
              <a:t>No se revisan proyectos fuera de clase. </a:t>
            </a:r>
            <a:endParaRPr sz="2600"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Todo el material que puedan necesitar está en Teams.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AR" sz="2600"/>
              <a:t>Chequear antes de preguntar.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A0978C92AED346A5B2D7523A4F38C1" ma:contentTypeVersion="7" ma:contentTypeDescription="Crear nuevo documento." ma:contentTypeScope="" ma:versionID="b8f9f304219515137087e73dbb27e9d8">
  <xsd:schema xmlns:xsd="http://www.w3.org/2001/XMLSchema" xmlns:xs="http://www.w3.org/2001/XMLSchema" xmlns:p="http://schemas.microsoft.com/office/2006/metadata/properties" xmlns:ns2="6817ed02-5f63-452f-a9ab-4e2e87cdde74" targetNamespace="http://schemas.microsoft.com/office/2006/metadata/properties" ma:root="true" ma:fieldsID="7368f7f269e55e9201cd92fa5041eb77" ns2:_="">
    <xsd:import namespace="6817ed02-5f63-452f-a9ab-4e2e87cdde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C64366-F310-47D4-B55C-984A5991F5FB}"/>
</file>

<file path=customXml/itemProps2.xml><?xml version="1.0" encoding="utf-8"?>
<ds:datastoreItem xmlns:ds="http://schemas.openxmlformats.org/officeDocument/2006/customXml" ds:itemID="{E42D839B-984B-43E9-919A-B296A75C6D3E}"/>
</file>

<file path=customXml/itemProps3.xml><?xml version="1.0" encoding="utf-8"?>
<ds:datastoreItem xmlns:ds="http://schemas.openxmlformats.org/officeDocument/2006/customXml" ds:itemID="{FBF3C3CE-5869-4208-8BDA-78996DD9C285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